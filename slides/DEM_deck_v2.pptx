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50" b="1"/>
              <a:t>Median pixel error on test (BP, log1p, μ = 1)</a:t>
            </a:r>
          </a:p>
        </c:rich>
      </c:tx>
      <c:layout/>
      <c:overlay val="0"/>
    </c:title>
    <c:autoTitleDeleted val="0"/>
    <c:plotArea>
      <c:lineChart>
        <c:grouping val="standard"/>
        <c:varyColors val="0"/>
        <c:ser>
          <c:idx val="0"/>
          <c:order val="0"/>
          <c:tx>
            <c:strRef>
              <c:f>Sheet1!$B$1</c:f>
              <c:strCache>
                <c:ptCount val="1"/>
                <c:pt idx="0">
                  <c:v>BP median pixel error</c:v>
                </c:pt>
              </c:strCache>
            </c:strRef>
          </c:tx>
          <c:spPr>
            <a:ln w="25400">
              <a:solidFill>
                <a:srgbClr val="57068C"/>
              </a:solidFill>
            </a:ln>
          </c:spPr>
          <c:marker>
            <c:symbol val="circle"/>
            <c:size val="6"/>
            <c:spPr>
              <a:solidFill>
                <a:srgbClr val="57068C"/>
              </a:solidFill>
              <a:ln>
                <a:solidFill>
                  <a:srgbClr val="57068C"/>
                </a:solidFill>
              </a:ln>
            </c:spPr>
          </c:marker>
          <c:dPt>
            <c:idx val="4"/>
            <c:marker>
              <c:symbol val="circle"/>
              <c:size val="13"/>
              <c:spPr>
                <a:solidFill>
                  <a:srgbClr val="57068C"/>
                </a:solidFill>
                <a:ln>
                  <a:solidFill>
                    <a:srgbClr val="57068C"/>
                  </a:solidFill>
                </a:ln>
              </c:spPr>
            </c:marker>
          </c:dPt>
          <c:cat>
            <c:strRef>
              <c:f>Sheet1!$A$2:$A$8</c:f>
              <c:strCache>
                <c:ptCount val="7"/>
                <c:pt idx="0">
                  <c:v>20k</c:v>
                </c:pt>
                <c:pt idx="1">
                  <c:v>42k</c:v>
                </c:pt>
                <c:pt idx="2">
                  <c:v>87k</c:v>
                </c:pt>
                <c:pt idx="3">
                  <c:v>176k</c:v>
                </c:pt>
                <c:pt idx="4">
                  <c:v>360k</c:v>
                </c:pt>
                <c:pt idx="5">
                  <c:v>722k</c:v>
                </c:pt>
                <c:pt idx="6">
                  <c:v>1.43M</c:v>
                </c:pt>
              </c:strCache>
            </c:strRef>
          </c:cat>
          <c:val>
            <c:numRef>
              <c:f>Sheet1!$B$2:$B$8</c:f>
              <c:numCache>
                <c:formatCode>General</c:formatCode>
                <c:ptCount val="7"/>
                <c:pt idx="0">
                  <c:v>0.068</c:v>
                </c:pt>
                <c:pt idx="1">
                  <c:v>0.047</c:v>
                </c:pt>
                <c:pt idx="2">
                  <c:v>0.043</c:v>
                </c:pt>
                <c:pt idx="3">
                  <c:v>0.03</c:v>
                </c:pt>
                <c:pt idx="4">
                  <c:v>0.026</c:v>
                </c:pt>
                <c:pt idx="5">
                  <c:v>0.025</c:v>
                </c:pt>
                <c:pt idx="6">
                  <c:v>0.023</c:v>
                </c:pt>
              </c:numCache>
            </c:numRef>
          </c:val>
          <c:smooth val="0"/>
        </c:ser>
        <c:dLbls>
          <c:numFmt formatCode="0.000"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0.08"/>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Four things to remember; the rest of the talk is the evidence. One: we never train on a solver DEM. The network minimises the solver's own objective, and solver DEMs are only used to score. Two: a 400k-parameter MLP on one pixel's six intensities is enough; bigger models fail on rare pixels. Three: against the supervised model, which trained on the same solver's DEMs and is scored on the same pixels, we are ahead on every ElasticNet measure and on four of six BP measures. Four: the one place BP lost, flare cores, was the loss and not training, and a stiffer noise band fixed it. If asked: the final models are one MLP of width 336 per track, square root plus Fourier input, fresh pixels every epoch; BP trains on the stiff band for 120 plus 120 epochs, ElasticNet for 40. Without flare cores our BP DEM MSE is 0.102 against supervised's 0.091.</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Both solvers run one optimisation per pixel. A supervised network copies their DEMs, so it needs them as labels. A label-free network minimises the same objective directly, so it never sees a solver DEM; we use those only to evaluate. That is the point of this slide. If asked: our network outputs 54 basis weights, as the solvers do, and the DEM is B times w; the supervised model outputs the 18 DEM values directly.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Six intensities in, encoded as the supervised model does it: square root, then 12 Fourier frequencies, 150 inputs. Four hidden layers of 336 with SiLU, 54 non-negative basis weights out. The 54 weights matter: neither solver solves for the 18 bins directly. Both solve for weights on a fixed basis, a spike and two Gaussians at each bin, and report DEM = B times w. Predicting the same weights means the network searches the same space of DEMs the solver does, and BP's sparsity means the same thing for both. B and R are fixed; only the MLP is learned. If asked: 409k parameters, width chosen in Part 2; with the earlier log1p input the same width was 360k.</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The BP loss is the solver's objective: the sum of the 54 weights plus a band penalty that is zero inside the noise band, o plus or minus 1.4 sigma, and quadratic outside. There is no fit term inside the band, so any DEM within noise is equally good and sparsity breaks the tie, exactly as BP does. One difference to hold on to for Part 4: BP treats the band as a rule, our loss treats it as a price, set by the band weight mu. It was 1; the final model uses 100. ElasticNet is the solver's own objective with its settings: alpha 0.001, l1 ratio 0.5, C equal to the six channels. If asked: t = 1.4 is the solver's first tolerance level; sigma comes from the AIA error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Two years of full-disk AIA, 1,223 images, deconvolved, with a noise sigma per pixel and channel, split in time: train to June 2015, validation to September, test to December, so every test image is later than anything trained on. Training sees AIA and sigma only, with fresh pixels every epoch. Solver DEMs exist for every image: labels for the supervised model, evaluation only for us. We score on the supervised side's protocol: 153 test days, the same pixels and the same Bright cutoffs, five solver targets per image. Scores: DEM against the solver, AIA reconstruction against the observation, and, because the error is heavy-tailed, medians and percentiles. If asked: each image keeps a random 64 of its 256 blocks, chosen once; every epoch takes 512 fresh pixels from each, 30M in all. The noisy targets come from adding Gaussian noise of size sigma to the AIA before the solve; the input stays the clean AIA, so they measure the solver's own scatter, the same floor for both models. About 800M pixel-targets per solver, 705M where BP returned an answer. Pixels where deconvolution clamped a bright channel to zero, about 5%, are left out of training only. Off-disk corona pixels are real data and are used. Runs before October reused one fixed 30M-pixel sample through a seeding bug, fixed since.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On four images the patch CNN looked better than a per-pixel MLP, but that edge came from scoring pixels of images it had trained on; on held-out days it disappeared. At full scale, matched at 1.5M parameters, the MLP wins the training objective on both tracks and at every percentile. The CNN only reconstructs BP's AIA slightly better. This is the fifth comparison and none found a CNN advantage on unseen days, so the final model takes one pixel and no neighbourhood. On ElasticNet the MLP is lower at every percentile; the 4x gap in the mean is mostly a few CNN pixels, whose worst 0.1% hold 73% of its loss. If asked: the CNN sees a 9 by 9 patch, three 3 by 3 convolutions of 64 channels, then 256, 256 and 54, 1.48M parameters, against the width-680 MLP at 1.43M; the small-data story, the ablation and leave-one-day-out are in the appendix; validation agrees with test, BP 2.155 against 2.248, ElasticNet 0.0528 against 0.0683.</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We choose on the validation days: the training loss computed there, no solver DEM needed. For BP, width 336 is the validation best; 1.43M ties but only nudges the typical pixel at four times the size, and on the stiff band it blows up on a few flare-core pixels. ElasticNet is the one exception, and worth saying plainly: validation preferred the bigger models, but from 722k up they blow up on a handful of bright pixels, by orders of magnitude, that the validation sample never contained. We saw it on the test set, so 336 is the largest width that does not blow up; validating on every pixel is the clean fix. The input encoding is chosen on validation too: square root plus Fourier wins for ElasticNet by 7% and, on the stiff band, for BP. If asked: the chart is test numbers from the log1p sweep; BP validation 2.148 at 336 against 2.155 at 1.43M; ElasticNet validation 0.0575, 0.0533 and 0.0528 at 336, 722k and 1.43M, test DEM MSE 0.48, 3.24 and 36.2, AIA MSE 650, 41,849 and 908,611; the validation sample is about 131k pixels; the 10M models blew up on both tracks; 409k parameters with the 150 encoded inputs.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Same solver DEMs, same test pixels; the supervised model trained on those DEMs, ours never saw one. ElasticNet: we win all six, DEM MAE and MSE included. BP: we win DEM MAE, total- emission error, W1 and AIA MSE; supervised keeps DEM MSE and AIA MAE. DEM MSE is the one to explain, and Part 4 does: it is set by flare cores. If asked: the BP row is the stiff-band model; the old BP final had DEM MSE 4.28, EM error 19.6%, W1 0.083, AIA MSE 83. EM error is the total-emission error; W1 is in dex.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Per-pixel error is the squared error summed over the 18 bins. On the typical BP pixel we are three times closer to the solver than the supervised model, 0.036 against 0.112, and up to the 99th percentile we are level or ahead. The gap opens in the last 0.1%, the flare cores, and because the error is so heavy-tailed those pixels set the mean: the worst 1% hold 98% of our BP error and 95% of supervised's. ElasticNet: better at the median, p99 and p99.9. If asked: BP p90 1.9 against 1.9, p99 25 against 27, p99.9 170 against 162; ElasticNet median 0.85 against 1.12, p99 30 against 35, p99.9 102 against 178; the old BP final had median 0.026 and p99 71.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a recap: this is where the last meeting left off] The old BP model, width 336 with log1p input, mu = 1 and 40 epochs: flare cores, pixels at 32 times the Bright cutoff, are one in ten thousand and held 90% of its DEM error, supervised's too. There it held 40% of the solver's emission, peaked a quarter as high, 0.2 dex too cool, with extra peaks on 83% of curves. The clue: it fit the cool channels to a few percent but reproduced only 23% of 94 A, so the hot plasma was missing. We read it as a training problem, and that is where the suggestions came from: oversample, train longer, go bigger. If asked: solver noise is 0.4% of the Bright error and missed second peaks 1.2%, both ruled out; the figure is the old model at random flare cores, black solver, blue ours, orange supervised.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We ran all three on the original loss, on the square root plus Fourier input. Away from flare cores all four score the same. At flare cores oversampling and the 10M model make things worse, and 120 epochs moves emission from 35% to 37%. Training harder does not help, so the loss itself needed checking. If asked: oversampling draws pixels in proportion to brightness, 8.5 times more flare cores; the 10M model is 1,800 wide; the base DEM MSE of 4.56 is the square root plus Fourier model, the log1p final was 4.28; the solver reproduces 92% of 94 A at flare cores.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Forget the network. For one pixel, which 54 weights give the lowest possible loss? The loss is convex in the weights, so a solver finds that bottom, and no network can beat it on that pixel. We did this on 12,000 validation pixels, 6,000 of them flare cores, and scored four answers under the same loss. The network sits 1 to 4% above its best answer, 8% at flare cores: training had converged. And the best answer itself reproduces only 26% of 94 A. Look at the two terms: the solver's DEM keeps every channel in band, penalty 6, but pays 1,119 in sparsity for the hot plasma; the best answer drops it. Our loss rates the solver's DEM 2.4 times worse than a DEM without the hot plasma, so every training step moves away from the solver there. The loss, not training, was the limit. If asked: this also explains the 15% emission shortfall at ordinary pixels, where the best answer holds 82 to 86% of the solver's emission; the supervised DEM scores worst under our loss yet is closest to the solver.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 min] Why does the loss drop it? The solver's band is a rule; ours is a price: sparsity plus mu times the band penalty, with mu = 1. The response table: a unit of warm plasma lights 171, 193 and 211 A by tens of DN/s, so it has to be in the DEM anyway and its 94 A comes free. A unit of hot plasma lights no channel by more than 0.4 DN/s, so a bright 94 A reading needs hundreds of units, all paid by the sparsity term. The worked example at a typical flare core: putting the hot plasma in costs 616, leaving it out costs 85, so the best answer leaves it out. At mu = 100 leaving it out costs 8,500 and the plasma goes back in. If asked: one unit is 10^26 cm^-5 of emission measure, the DEM's own unit; the plasma is never measured, AIA measures DN/s and R is a fixed table; the full response per unit, warm (logT 6.0 to 6.1): 94 A 0.2, 131 A 0.5 to 1.2, 171 A 36 to 95, 193 A 29 to 55, 211 A 5 to 7, 335 A 0.4; hot (logT 6.9): 0.266, 0.40, 0.05, 0.34, 0.08, 0.05; the band itself is sound, the noise follows photon counting; brighter pixels draw more of their 94 A from hot plasma, which is why the share dropped grows with brightness: the best answer reproduces 91% at 1 to 1.8x the Bright level, 44% at 10 to 32x, 26% at flare cores.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The screen tests the loss, not the network: for each candidate mu we solved every validation pixel's best answer and scored it against the solver. It answers: if a network learned this loss perfectly, how close to the solver would it get? Stiffer helps bright pixels and costs faint ones, where the band is mostly noise, so Quiet error is lowest near 30 and rises beyond. mu = 100 takes most of the gain with Quiet error still below the supervised model's. On the choice: mu is one scalar chosen on validation, as any loss weight would be; training never sees a DEM; and the 94 A column, which needs no solver DEM, plateaus at 100. If asked: mu = 300 lowers DEM error from 2.32 to 1.80 but raises Quiet error to 0.048, and trained behind 100 at matched epochs; a second candidate, mu = 30 with the sparsity term divided by root brightness, screened well but trained worse (validation 22.4 against 20.1); validation holds more flare cores than the test set, so these values run higher than the test numbers.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 min] Trained on the stiff band: the band alone halves DEM MSE and lifts flare-core emission from 35% to 89%. Now the network sits far above its best answer, 118% at flare cores after 40 epochs, so training is the limit and longer training helps. 120 epochs, then 120 more continued from that checkpoint, is the final model: DEM MSE 1.75, AIA MSE 103, below supervised's 157. 240 from scratch gets the same DEM gains but breaks the band on a few rare pixels, AIA MSE 591. Oversampling still hurts and bigger models blow up. If asked: the gap after 120 epochs is 47%; 240 from scratch has a band penalty at the validation flare cores 130 times the 120-epoch model's, the continuation 13 times; log1p is worse here, 3.23; no gradient clip fits AIA better but worsens every DEM measure; an epoch is about 145 s on one GPU, so 240 epochs is about 10 hours.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Flare cores now: 93% of the solver's emission, supervised 92%; 94 A at 77% against the solver's 92% and supervised's 85%; peak height two thirds of the solver's; no temperature shift; extra peaks on 25% of curves, the solver has them on 18%. Spurious peaks were 42% of the old error and are 3.5% now. The figure is the same random draw as the failure slide. If asked: W1 at flare cores went from 0.25 to 0.03 dex; it tracks the solver's peak height to about 100 and reaches 40% above 3,000; 131 A is at 101%.</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Against supervised by brightness we are now at 0.55 on the faintest pixels, about 1 through the ordinary bright range, and 2 at flare cores; the old model was at 18 there. Flare cores still hold 94% of our BP error and set the DEM MSE gap. The remaining shortfall is 94 A at 77% against 92%; everything else is at 100%. Longer training keeps closing it: 240 from scratch cut the flare-core error another 13% but started to misfit a few pixels' AIA; a third continuation is untested. The loss was the limit; training is now the limit, and it still has room. If asked: why the median pixel error rose from 0.026 to 0.036 while Quiet MSE fell from 0.058 to 0.032 is open.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Six lessons. The two new ones are 2 and 4: check the loss before changing the training, and size has a ceiling. The others carry over: train on the objective, the simplest model scales, report medians and percentiles, and the input encoding matters.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 min] Next: keep training BP, watching the AIA fit on rare pixels; validate on every pixel, because the sampled validation set missed the blow-ups; direct 18-bin output, deferred so far; uncertainty from the noisy re-solves, and XRT for the hot plasma.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rest] Three questions. One: which metric leads the paper; DEM MSE is set by 0.01% of pixels, and up to the 99th percentile we are level or ahead on BP. Two: train longer or freeze at 1.9 times the supervised DEM MSE. Three: is AIA plus XRT in scope. If the band weight comes up: one scalar, chosen on validation like any loss weight; training never sees a DEM; the 94 A column of the screen, which needs no solver DEM, picks the same value.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band penalty 5.0, band penalty plus fit 2.6, fit-only 0.40 to 0.44. DEM MAE against BP: band penalty 0.034, band penalty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MLPs on log1p inputs does well.</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ElasticNet final: width 336 (409k parameters with the square root plus Fourier input), fresh pixels, 40 epochs, the solver's alpha 0.001, l1 ratio 0.5, C = 6. The input encoding was chosen on validation (0.0533 against log1p's 0.0575) and lifted it past the supervised model on every measure: DEM MAE 0.151 vs 0.188, DEM MSE 0.310 vs 0.318, EM error 12.2% vs 18.0%, W1 0.103 vs 0.121, AIA MAE 0.56 vs 6.32, AIA MSE 161 vs 598; median pixel error 0.85 vs 1.12, p99 30 vs 35, p99.9 102 vs 178. Flare cores (32x the Bright cutoff and above) are 0.01% of pixels and hold 44% of the ElasticNet error (supervised 34%), but they are not a failure of the kind BP had: the ElasticNet fit term is quadratic, there is no band to price, and the model reproduces the channels as the ElasticNet solver itself does (94 A 53% against the solver's 55%, 131 A 80% against 78%, 171 A 97% against 100%). From 722k parameters up, a few bright pixels blow up by orders of magnitude, so 336 is the largest stable width. Sources: results/plots/19_final_models_20261004 (tag final), 20_sqrtff_final_20261004.</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Backup, for the bimodality question. Multi-peaked means two or more interior peaks with prominence at least 0.15 of the curve maximum, counted on the full shared test set. BP is multi-peaked on 13.5% of pixels. The old BP final flagged 9.9% at 36% precision and 26% recall; the stiff-band model flags 15.5% at 53% precision and 60% recall; the supervised model flags 41.1% at 24% precision and 72% recall. Self-consistency on the width-336 model: 80 multi-peaked bright pixels, 30 BP re-solves each under photon noise; our deviation from BP is 0.97 times BP's own re-solve scatter (0.70 at single-peaked pixels), so where BP is multi-peaked our gap is the size of BP's own noise. ElasticNet is multi-peaked on 62% of pixels; we find 82% of them at 87% precision, supervised 84% at 80%. At BP flare cores, spurious extra peaks were 42% of the old error and are 3.5% now. Sources: results/plots/21_followup_20261006/bp_bright_failure_fu_bp_mu100_ep120_cont.json, 19_final_models_20261004/bp_self_consistency_h336.json, 13_bright_diagnostic_20260928.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Brief Summary</a:t>
            </a:r>
          </a:p>
        </p:txBody>
      </p:sp>
      <p:sp>
        <p:nvSpPr>
          <p:cNvPr id="3" name="Rounded Rectangle 2"/>
          <p:cNvSpPr/>
          <p:nvPr/>
        </p:nvSpPr>
        <p:spPr>
          <a:xfrm>
            <a:off x="365760" y="1005840"/>
            <a:ext cx="4114800" cy="15544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No labels needed</a:t>
            </a:r>
          </a:p>
        </p:txBody>
      </p:sp>
      <p:sp>
        <p:nvSpPr>
          <p:cNvPr id="5" name="TextBox 4"/>
          <p:cNvSpPr txBox="1"/>
          <p:nvPr/>
        </p:nvSpPr>
        <p:spPr>
          <a:xfrm>
            <a:off x="530352" y="1481328"/>
            <a:ext cx="3785616" cy="1005840"/>
          </a:xfrm>
          <a:prstGeom prst="rect">
            <a:avLst/>
          </a:prstGeom>
          <a:noFill/>
        </p:spPr>
        <p:txBody>
          <a:bodyPr wrap="square" anchor="t" lIns="0" rIns="0" tIns="0" bIns="0">
            <a:spAutoFit/>
          </a:bodyPr>
          <a:lstStyle/>
          <a:p>
            <a:pPr algn="l">
              <a:spcAft>
                <a:spcPts val="600"/>
              </a:spcAft>
            </a:pPr>
            <a:r>
              <a:rPr sz="1300" b="0" i="0">
                <a:solidFill>
                  <a:srgbClr val="333333"/>
                </a:solidFill>
              </a:rPr>
              <a:t>A network trained on the solver's own objective reproduces its DEMs. Solver DEMs are used only to evaluate.</a:t>
            </a:r>
          </a:p>
        </p:txBody>
      </p:sp>
      <p:sp>
        <p:nvSpPr>
          <p:cNvPr id="6" name="Rounded Rectangle 5"/>
          <p:cNvSpPr/>
          <p:nvPr/>
        </p:nvSpPr>
        <p:spPr>
          <a:xfrm>
            <a:off x="4663440" y="1005840"/>
            <a:ext cx="4114800" cy="15544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Small is enough</a:t>
            </a:r>
          </a:p>
        </p:txBody>
      </p:sp>
      <p:sp>
        <p:nvSpPr>
          <p:cNvPr id="8" name="TextBox 7"/>
          <p:cNvSpPr txBox="1"/>
          <p:nvPr/>
        </p:nvSpPr>
        <p:spPr>
          <a:xfrm>
            <a:off x="4828032" y="1481328"/>
            <a:ext cx="3785616" cy="1005840"/>
          </a:xfrm>
          <a:prstGeom prst="rect">
            <a:avLst/>
          </a:prstGeom>
          <a:noFill/>
        </p:spPr>
        <p:txBody>
          <a:bodyPr wrap="square" anchor="t" lIns="0" rIns="0" tIns="0" bIns="0">
            <a:spAutoFit/>
          </a:bodyPr>
          <a:lstStyle/>
          <a:p>
            <a:pPr algn="l">
              <a:spcAft>
                <a:spcPts val="600"/>
              </a:spcAft>
            </a:pPr>
            <a:r>
              <a:rPr sz="1300" b="0" i="0">
                <a:solidFill>
                  <a:srgbClr val="333333"/>
                </a:solidFill>
              </a:rPr>
              <a:t>A 400k-parameter MLP on one pixel's 6 intensities: one forward pass per pixel, no neighbourhood. Bigger models fail on rare pixels.</a:t>
            </a:r>
          </a:p>
        </p:txBody>
      </p:sp>
      <p:sp>
        <p:nvSpPr>
          <p:cNvPr id="9" name="Rounded Rectangle 8"/>
          <p:cNvSpPr/>
          <p:nvPr/>
        </p:nvSpPr>
        <p:spPr>
          <a:xfrm>
            <a:off x="365760" y="2743200"/>
            <a:ext cx="4114800" cy="15544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87121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Ahead of supervised on most measures</a:t>
            </a:r>
          </a:p>
        </p:txBody>
      </p:sp>
      <p:sp>
        <p:nvSpPr>
          <p:cNvPr id="11" name="TextBox 10"/>
          <p:cNvSpPr txBox="1"/>
          <p:nvPr/>
        </p:nvSpPr>
        <p:spPr>
          <a:xfrm>
            <a:off x="530352" y="3218688"/>
            <a:ext cx="3785616" cy="1005840"/>
          </a:xfrm>
          <a:prstGeom prst="rect">
            <a:avLst/>
          </a:prstGeom>
          <a:noFill/>
        </p:spPr>
        <p:txBody>
          <a:bodyPr wrap="square" anchor="t" lIns="0" rIns="0" tIns="0" bIns="0">
            <a:spAutoFit/>
          </a:bodyPr>
          <a:lstStyle/>
          <a:p>
            <a:pPr algn="l">
              <a:spcAft>
                <a:spcPts val="600"/>
              </a:spcAft>
            </a:pPr>
            <a:r>
              <a:rPr sz="1300" b="0" i="0">
                <a:solidFill>
                  <a:srgbClr val="333333"/>
                </a:solidFill>
              </a:rPr>
              <a:t>ElasticNet: better on every metric. BP: 4 of 6, median pixel error 3× lower (0.036 vs 0.112); DEM MSE still 1.9× higher.</a:t>
            </a:r>
          </a:p>
        </p:txBody>
      </p:sp>
      <p:sp>
        <p:nvSpPr>
          <p:cNvPr id="12" name="Rounded Rectangle 11"/>
          <p:cNvSpPr/>
          <p:nvPr/>
        </p:nvSpPr>
        <p:spPr>
          <a:xfrm>
            <a:off x="4663440" y="2743200"/>
            <a:ext cx="4114800" cy="15544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87121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Flare cores: found and fixed in the loss</a:t>
            </a:r>
          </a:p>
        </p:txBody>
      </p:sp>
      <p:sp>
        <p:nvSpPr>
          <p:cNvPr id="14" name="TextBox 13"/>
          <p:cNvSpPr txBox="1"/>
          <p:nvPr/>
        </p:nvSpPr>
        <p:spPr>
          <a:xfrm>
            <a:off x="4828032" y="3218688"/>
            <a:ext cx="3785616" cy="1005840"/>
          </a:xfrm>
          <a:prstGeom prst="rect">
            <a:avLst/>
          </a:prstGeom>
          <a:noFill/>
        </p:spPr>
        <p:txBody>
          <a:bodyPr wrap="square" anchor="t" lIns="0" rIns="0" tIns="0" bIns="0">
            <a:spAutoFit/>
          </a:bodyPr>
          <a:lstStyle/>
          <a:p>
            <a:pPr algn="l">
              <a:spcAft>
                <a:spcPts val="600"/>
              </a:spcAft>
            </a:pPr>
            <a:r>
              <a:rPr sz="1300" b="0" i="0">
                <a:solidFill>
                  <a:srgbClr val="333333"/>
                </a:solidFill>
              </a:rPr>
              <a:t>0.01% of pixels, ~94% of the BP error. The BP loss priced hot plasma out; a stiffer band puts it back (emission 40% → 93%). Without flare cores, our BP DEM MSE is only 1.1× the supervised model's.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train, and on what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optimises the solver's objective directly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a:p>
            <a:pPr algn="ctr"/>
            <a:r>
              <a:rPr sz="900">
                <a:solidFill>
                  <a:srgbClr val="FFFFFF"/>
                </a:solidFill>
              </a:rPr>
              <a:t>54 basis weights</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a:p>
            <a:pPr algn="ctr"/>
            <a:r>
              <a:rPr sz="900">
                <a:solidFill>
                  <a:srgbClr val="333333"/>
                </a:solidFill>
              </a:rPr>
              <a:t>via basis B</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409k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intensities in, encoded as √ then 12 Fourier frequencies (150 inputs; both tracks); 4 hidden layers of 336,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penalty terms act on those weights: L1 for BP, L1 and L2 for ElasticNet.</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409k parameters (width chosen in Part 2); one forward pass per pixel.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μ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 μ prices leaving it.</a:t>
            </a:r>
          </a:p>
          <a:p>
            <a:pPr algn="l" marL="182880" indent="-182880">
              <a:spcAft>
                <a:spcPts val="200"/>
              </a:spcAft>
              <a:buClr>
                <a:srgbClr val="333333"/>
              </a:buClr>
              <a:buChar char="•"/>
            </a:pPr>
            <a:r>
              <a:rPr sz="1050" b="0" i="0">
                <a:solidFill>
                  <a:srgbClr val="333333"/>
                </a:solidFill>
              </a:rPr>
              <a:t>L1 picks the sparsest DEM that fits: BP's criterion. Final model: μ = 100 (Part 4).</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and scoring: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1965960"/>
            <a:ext cx="8412480" cy="2468880"/>
          </a:xfrm>
          <a:prstGeom prst="rect">
            <a:avLst/>
          </a:prstGeom>
          <a:noFill/>
        </p:spPr>
        <p:txBody>
          <a:bodyPr wrap="square" anchor="t" lIns="0" rIns="0" tIns="0" bIns="0">
            <a:spAutoFit/>
          </a:bodyPr>
          <a:lstStyle/>
          <a:p>
            <a:pPr algn="l" marL="182880" indent="-182880">
              <a:spcAft>
                <a:spcPts val="500"/>
              </a:spcAft>
              <a:buClr>
                <a:srgbClr val="333333"/>
              </a:buClr>
              <a:buChar char="•"/>
            </a:pPr>
            <a:r>
              <a:rPr sz="1150" b="0" i="0">
                <a:solidFill>
                  <a:srgbClr val="333333"/>
                </a:solidFill>
              </a:rPr>
              <a:t>SDO/AIA, 6 EUV channels, about two images a day in 2014–2015: 1,223 full-disk images, PSF-deconvolved, with a noise σ per pixel and channel. Solver DEMs (BP, ElasticNet) for every image: labels for the supervised model, evaluation only for ours.</a:t>
            </a:r>
          </a:p>
          <a:p>
            <a:pPr algn="l" marL="182880" indent="-182880">
              <a:spcAft>
                <a:spcPts val="500"/>
              </a:spcAft>
              <a:buClr>
                <a:srgbClr val="333333"/>
              </a:buClr>
              <a:buChar char="•"/>
            </a:pPr>
            <a:r>
              <a:rPr sz="1150" b="0" i="0">
                <a:solidFill>
                  <a:srgbClr val="333333"/>
                </a:solidFill>
              </a:rPr>
              <a:t>Training sees AIA and σ only, no noise added: 917 images, each cut into 256 blocks of 128²; a random 64 kept per image (a quarter, fixed). Every epoch draws 512 fresh pixels per block. 40 epochs (final BP model: 240, Part 4).</a:t>
            </a:r>
          </a:p>
          <a:p>
            <a:pPr algn="l" marL="182880" indent="-182880">
              <a:spcAft>
                <a:spcPts val="500"/>
              </a:spcAft>
              <a:buClr>
                <a:srgbClr val="333333"/>
              </a:buClr>
              <a:buChar char="•"/>
            </a:pPr>
            <a:r>
              <a:rPr sz="1150" b="0" i="0">
                <a:solidFill>
                  <a:srgbClr val="333333"/>
                </a:solidFill>
              </a:rPr>
              <a:t>Test: 153 later days on the supervised side's protocol, the same for both models. Input: the clean AIA. Targets: 5 solver runs per image (the clean solve + 4 on noise-added copies), each scored on its own random quarter of the image: ~800M pixel DEMs (705M with a BP answer). Bright: any channel above its top-5% cutoff, ~10% of pixels.</a:t>
            </a:r>
          </a:p>
          <a:p>
            <a:pPr algn="l" marL="182880" indent="-182880">
              <a:spcAft>
                <a:spcPts val="500"/>
              </a:spcAft>
              <a:buClr>
                <a:srgbClr val="333333"/>
              </a:buClr>
              <a:buChar char="•"/>
            </a:pPr>
            <a:r>
              <a:rPr sz="1150" b="0" i="0">
                <a:solidFill>
                  <a:srgbClr val="333333"/>
                </a:solidFill>
              </a:rPr>
              <a:t>Scores: DEM against the solver (MAE, MSE, total-emission error, W1 temperature-shape distance); AIA reconstruction against the observation (MAE, MSE).</a:t>
            </a:r>
          </a:p>
          <a:p>
            <a:pPr algn="l" marL="182880" indent="-182880">
              <a:spcAft>
                <a:spcPts val="500"/>
              </a:spcAft>
              <a:buClr>
                <a:srgbClr val="333333"/>
              </a:buClr>
              <a:buChar char="•"/>
            </a:pPr>
            <a:r>
              <a:rPr sz="1150" b="0" i="0">
                <a:solidFill>
                  <a:srgbClr val="333333"/>
                </a:solidFill>
              </a:rPr>
              <a:t>And medians and percentiles, because the error is heavy-tailed: the worst 1% of pixels hold 98% of our BP error; flare cores (1 pixel in 10,000) alone hold 94%.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Getting to the model</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Which network, and how big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beat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matched at ~1.5M parameters each, fresh pixels; scored on the 153 test days. (The final model is smaller: next slide.)</a:t>
            </a:r>
          </a:p>
        </p:txBody>
      </p:sp>
      <p:graphicFrame>
        <p:nvGraphicFramePr>
          <p:cNvPr id="4" name="Table 3"/>
          <p:cNvGraphicFramePr>
            <a:graphicFrameLocks noGrp="1"/>
          </p:cNvGraphicFramePr>
          <p:nvPr/>
        </p:nvGraphicFramePr>
        <p:xfrm>
          <a:off x="365760" y="1463040"/>
          <a:ext cx="4069080" cy="1865376"/>
        </p:xfrm>
        <a:graphic>
          <a:graphicData uri="http://schemas.openxmlformats.org/drawingml/2006/table">
            <a:tbl>
              <a:tblPr firstRow="1" bandRow="1"/>
              <a:tblGrid>
                <a:gridCol w="2260600"/>
                <a:gridCol w="904240"/>
                <a:gridCol w="904240"/>
              </a:tblGrid>
              <a:tr h="310896">
                <a:tc>
                  <a:txBody>
                    <a:bodyPr wrap="square"/>
                    <a:lstStyle/>
                    <a:p>
                      <a:pPr algn="l"/>
                      <a:r>
                        <a:rPr sz="11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CNN</a:t>
                      </a:r>
                    </a:p>
                  </a:txBody>
                  <a:tcPr marL="54864" marR="54864" marT="27432" marB="27432" anchor="ctr">
                    <a:lnL w="0">
                      <a:noFill/>
                    </a:lnL>
                    <a:lnR w="0">
                      <a:noFill/>
                    </a:lnR>
                    <a:lnT w="0">
                      <a:noFill/>
                    </a:lnT>
                    <a:lnB w="6350">
                      <a:solidFill>
                        <a:srgbClr val="D9D3E3"/>
                      </a:solidFill>
                    </a:lnB>
                    <a:solidFill>
                      <a:srgbClr val="57068C"/>
                    </a:solidFill>
                  </a:tcPr>
                </a:tc>
              </a:tr>
              <a:tr h="310896">
                <a:tc>
                  <a:txBody>
                    <a:bodyPr wrap="square"/>
                    <a:lstStyle/>
                    <a:p>
                      <a:pPr algn="l"/>
                      <a:r>
                        <a:rPr sz="1100" b="0">
                          <a:solidFill>
                            <a:srgbClr val="333333"/>
                          </a:solidFill>
                        </a:rPr>
                        <a:t>Loss, typical pixel (median)</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0.98</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Loss, worst 1%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17.9</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18.8</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Loss, mean</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2.07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2.24</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4.73</a:t>
                      </a:r>
                    </a:p>
                  </a:txBody>
                  <a:tcPr marL="54864" marR="54864" marT="27432" marB="27432" anchor="ctr">
                    <a:lnL w="0">
                      <a:noFill/>
                    </a:lnL>
                    <a:lnR w="0">
                      <a:noFill/>
                    </a:lnR>
                    <a:lnT w="0">
                      <a:noFill/>
                    </a:lnT>
                    <a:lnB w="6350">
                      <a:solidFill>
                        <a:srgbClr val="D9D3E3"/>
                      </a:solidFill>
                    </a:lnB>
                    <a:solidFill>
                      <a:srgbClr val="E3DFE9"/>
                    </a:solidFill>
                  </a:tcPr>
                </a:tc>
              </a:tr>
              <a:tr h="310896">
                <a:tc>
                  <a:txBody>
                    <a:bodyPr wrap="square"/>
                    <a:lstStyle/>
                    <a:p>
                      <a:pPr algn="l"/>
                      <a:r>
                        <a:rPr sz="1100" b="0">
                          <a:solidFill>
                            <a:srgbClr val="333333"/>
                          </a:solidFill>
                        </a:rPr>
                        <a:t>Sparsity (solver: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1.90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2.03</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graphicFrame>
        <p:nvGraphicFramePr>
          <p:cNvPr id="5" name="Table 4"/>
          <p:cNvGraphicFramePr>
            <a:graphicFrameLocks noGrp="1"/>
          </p:cNvGraphicFramePr>
          <p:nvPr/>
        </p:nvGraphicFramePr>
        <p:xfrm>
          <a:off x="4709160" y="1463040"/>
          <a:ext cx="4069080" cy="1554480"/>
        </p:xfrm>
        <a:graphic>
          <a:graphicData uri="http://schemas.openxmlformats.org/drawingml/2006/table">
            <a:tbl>
              <a:tblPr firstRow="1" bandRow="1"/>
              <a:tblGrid>
                <a:gridCol w="2260600"/>
                <a:gridCol w="904240"/>
                <a:gridCol w="904240"/>
              </a:tblGrid>
              <a:tr h="310896">
                <a:tc>
                  <a:txBody>
                    <a:bodyPr wrap="square"/>
                    <a:lstStyle/>
                    <a:p>
                      <a:pPr algn="l"/>
                      <a:r>
                        <a:rPr sz="1100" b="1">
                          <a:solidFill>
                            <a:srgbClr val="FFFFFF"/>
                          </a:solidFill>
                        </a:rPr>
                        <a:t>ElasticNet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CNN</a:t>
                      </a:r>
                    </a:p>
                  </a:txBody>
                  <a:tcPr marL="54864" marR="54864" marT="27432" marB="27432" anchor="ctr">
                    <a:lnL w="0">
                      <a:noFill/>
                    </a:lnL>
                    <a:lnR w="0">
                      <a:noFill/>
                    </a:lnR>
                    <a:lnT w="0">
                      <a:noFill/>
                    </a:lnT>
                    <a:lnB w="6350">
                      <a:solidFill>
                        <a:srgbClr val="D9D3E3"/>
                      </a:solidFill>
                    </a:lnB>
                    <a:solidFill>
                      <a:srgbClr val="57068C"/>
                    </a:solidFill>
                  </a:tcPr>
                </a:tc>
              </a:tr>
              <a:tr h="310896">
                <a:tc>
                  <a:txBody>
                    <a:bodyPr wrap="square"/>
                    <a:lstStyle/>
                    <a:p>
                      <a:pPr algn="l"/>
                      <a:r>
                        <a:rPr sz="1100" b="0">
                          <a:solidFill>
                            <a:srgbClr val="333333"/>
                          </a:solidFill>
                        </a:rPr>
                        <a:t>Loss, typical pixel (median)</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0.020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0.033</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Loss, worst 1% (p99)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0.47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0.52</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Loss, mean</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0.057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0.245</a:t>
                      </a:r>
                    </a:p>
                  </a:txBody>
                  <a:tcPr marL="54864" marR="54864" marT="27432" marB="27432" anchor="ctr">
                    <a:lnL w="0">
                      <a:noFill/>
                    </a:lnL>
                    <a:lnR w="0">
                      <a:noFill/>
                    </a:lnR>
                    <a:lnT w="0">
                      <a:noFill/>
                    </a:lnT>
                    <a:lnB w="6350">
                      <a:solidFill>
                        <a:srgbClr val="D9D3E3"/>
                      </a:solidFill>
                    </a:lnB>
                    <a:solidFill>
                      <a:srgbClr val="FFFFFF"/>
                    </a:solidFill>
                  </a:tcPr>
                </a:tc>
              </a:tr>
              <a:tr h="310896">
                <a:tc>
                  <a:txBody>
                    <a:bodyPr wrap="square"/>
                    <a:lstStyle/>
                    <a:p>
                      <a:pPr algn="l"/>
                      <a:r>
                        <a:rPr sz="110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1">
                          <a:solidFill>
                            <a:srgbClr val="333333"/>
                          </a:solidFill>
                        </a:rPr>
                        <a:t>0.54</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00" b="0">
                          <a:solidFill>
                            <a:srgbClr val="333333"/>
                          </a:solidFill>
                        </a:rPr>
                        <a:t>0.82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6" name="TextBox 5"/>
          <p:cNvSpPr txBox="1"/>
          <p:nvPr/>
        </p:nvSpPr>
        <p:spPr>
          <a:xfrm>
            <a:off x="365760" y="342900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Loss = each track's own training loss on the 153 test days. Lower is better, except sparsity (closer to the solver's 1.79). Shaded = better.</a:t>
            </a:r>
          </a:p>
        </p:txBody>
      </p:sp>
      <p:sp>
        <p:nvSpPr>
          <p:cNvPr id="7" name="TextBox 6"/>
          <p:cNvSpPr txBox="1"/>
          <p:nvPr/>
        </p:nvSpPr>
        <p:spPr>
          <a:xfrm>
            <a:off x="365760" y="379476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Choosing the model: width 336, for both tracks</a:t>
            </a:r>
          </a:p>
        </p:txBody>
      </p:sp>
      <p:graphicFrame>
        <p:nvGraphicFramePr>
          <p:cNvPr id="3" name="Chart 2"/>
          <p:cNvGraphicFramePr>
            <a:graphicFrameLocks noGrp="1"/>
          </p:cNvGraphicFramePr>
          <p:nvPr/>
        </p:nvGraphicFramePr>
        <p:xfrm>
          <a:off x="365760" y="914400"/>
          <a:ext cx="484632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440680" y="960120"/>
            <a:ext cx="3337560" cy="3200400"/>
          </a:xfrm>
          <a:prstGeom prst="rect">
            <a:avLst/>
          </a:prstGeom>
          <a:noFill/>
        </p:spPr>
        <p:txBody>
          <a:bodyPr wrap="square" anchor="t" lIns="0" rIns="0" tIns="0" bIns="0">
            <a:spAutoFit/>
          </a:bodyPr>
          <a:lstStyle/>
          <a:p>
            <a:pPr algn="l" marL="182880" indent="-182880">
              <a:spcAft>
                <a:spcPts val="600"/>
              </a:spcAft>
              <a:buClr>
                <a:srgbClr val="333333"/>
              </a:buClr>
              <a:buChar char="•"/>
            </a:pPr>
            <a:r>
              <a:rPr sz="1100" b="0" i="0">
                <a:solidFill>
                  <a:srgbClr val="333333"/>
                </a:solidFill>
              </a:rPr>
              <a:t>We choose on the 153 validation days, never on test.</a:t>
            </a:r>
          </a:p>
          <a:p>
            <a:pPr algn="l" marL="182880" indent="-182880">
              <a:spcAft>
                <a:spcPts val="600"/>
              </a:spcAft>
              <a:buClr>
                <a:srgbClr val="333333"/>
              </a:buClr>
              <a:buChar char="•"/>
            </a:pPr>
            <a:r>
              <a:rPr sz="1100" b="0" i="0">
                <a:solidFill>
                  <a:srgbClr val="333333"/>
                </a:solidFill>
              </a:rPr>
              <a:t>BP: validation is best at width 336 (360k); 1.43M ties, but only nudges the typical pixel (0.026 → 0.023) at 4× the size, and on the stiff band (Part 4) it blows up on a few flare-core pixels.</a:t>
            </a:r>
          </a:p>
          <a:p>
            <a:pPr algn="l" marL="182880" indent="-182880">
              <a:spcAft>
                <a:spcPts val="600"/>
              </a:spcAft>
              <a:buClr>
                <a:srgbClr val="333333"/>
              </a:buClr>
              <a:buChar char="•"/>
            </a:pPr>
            <a:r>
              <a:rPr sz="1100" b="0" i="0">
                <a:solidFill>
                  <a:srgbClr val="333333"/>
                </a:solidFill>
              </a:rPr>
              <a:t>ElasticNet: validation favours bigger models, but from 722k up a few bright pixels blow up by orders of magnitude on the full test set (too rare for the validation sample); 336 is the largest stable width.</a:t>
            </a:r>
          </a:p>
          <a:p>
            <a:pPr algn="l" marL="182880" indent="-182880">
              <a:spcAft>
                <a:spcPts val="600"/>
              </a:spcAft>
              <a:buClr>
                <a:srgbClr val="333333"/>
              </a:buClr>
              <a:buChar char="•"/>
            </a:pPr>
            <a:r>
              <a:rPr sz="1100" b="0" i="0">
                <a:solidFill>
                  <a:srgbClr val="333333"/>
                </a:solidFill>
              </a:rPr>
              <a:t>Input, also by validation: √ + Fourier for ElasticNet (7% better) and, on the stiff band, for BP (validation DEM error 20.1 vs 29.3).</a:t>
            </a:r>
          </a:p>
        </p:txBody>
      </p:sp>
      <p:sp>
        <p:nvSpPr>
          <p:cNvPr id="5" name="TextBox 4"/>
          <p:cNvSpPr txBox="1"/>
          <p:nvPr/>
        </p:nvSpPr>
        <p:spPr>
          <a:xfrm>
            <a:off x="365760" y="4023360"/>
            <a:ext cx="8412480" cy="320040"/>
          </a:xfrm>
          <a:prstGeom prst="rect">
            <a:avLst/>
          </a:prstGeom>
          <a:noFill/>
        </p:spPr>
        <p:txBody>
          <a:bodyPr wrap="square" anchor="t" lIns="0" rIns="0" tIns="0" bIns="0">
            <a:spAutoFit/>
          </a:bodyPr>
          <a:lstStyle/>
          <a:p>
            <a:pPr algn="l">
              <a:spcAft>
                <a:spcPts val="600"/>
              </a:spcAft>
            </a:pPr>
            <a:r>
              <a:rPr sz="1300" b="1" i="0">
                <a:solidFill>
                  <a:srgbClr val="57068C"/>
                </a:solidFill>
              </a:rPr>
              <a:t>Final: one MLP of width 336 (409k parameters) per track, √ + Fourier input; BP on the stiff band (Part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Results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Against the solver and the supervised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supervised: all six on ElasticNet, four of six on BP</a:t>
            </a:r>
          </a:p>
        </p:txBody>
      </p:sp>
      <p:graphicFrame>
        <p:nvGraphicFramePr>
          <p:cNvPr id="3" name="Table 2"/>
          <p:cNvGraphicFramePr>
            <a:graphicFrameLocks noGrp="1"/>
          </p:cNvGraphicFramePr>
          <p:nvPr/>
        </p:nvGraphicFramePr>
        <p:xfrm>
          <a:off x="365760" y="1005840"/>
          <a:ext cx="8412480" cy="1920240"/>
        </p:xfrm>
        <a:graphic>
          <a:graphicData uri="http://schemas.openxmlformats.org/drawingml/2006/table">
            <a:tbl>
              <a:tblPr firstRow="1" bandRow="1"/>
              <a:tblGrid>
                <a:gridCol w="2194560"/>
                <a:gridCol w="1051560"/>
                <a:gridCol w="1051560"/>
                <a:gridCol w="1051560"/>
                <a:gridCol w="960120"/>
                <a:gridCol w="1051560"/>
                <a:gridCol w="1051560"/>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MAE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 ↓</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0.074</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0">
                          <a:solidFill>
                            <a:srgbClr val="333333"/>
                          </a:solidFill>
                        </a:rPr>
                        <a:t>1.75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11.0%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0.068</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0">
                          <a:solidFill>
                            <a:srgbClr val="333333"/>
                          </a:solidFill>
                        </a:rPr>
                        <a:t>3.48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103</a:t>
                      </a:r>
                    </a:p>
                  </a:txBody>
                  <a:tcPr marL="54864" marR="54864" marT="27432" marB="27432" anchor="ctr">
                    <a:lnL w="0">
                      <a:noFill/>
                    </a:lnL>
                    <a:lnR w="0">
                      <a:noFill/>
                    </a:lnR>
                    <a:lnT w="0">
                      <a:noFill/>
                    </a:lnT>
                    <a:lnB w="6350">
                      <a:solidFill>
                        <a:srgbClr val="D9D3E3"/>
                      </a:solidFill>
                    </a:lnB>
                    <a:solidFill>
                      <a:srgbClr val="E3DFE9"/>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19050">
                      <a:solidFill>
                        <a:srgbClr val="57068C"/>
                      </a:solidFill>
                    </a:lnB>
                    <a:solidFill>
                      <a:srgbClr val="FFFFFF"/>
                    </a:solidFill>
                  </a:tcPr>
                </a:tc>
                <a:tc>
                  <a:txBody>
                    <a:bodyPr wrap="square"/>
                    <a:lstStyle/>
                    <a:p>
                      <a:pPr algn="r"/>
                      <a:r>
                        <a:rPr sz="1200" b="0">
                          <a:solidFill>
                            <a:srgbClr val="333333"/>
                          </a:solidFill>
                        </a:rPr>
                        <a:t>0.100</a:t>
                      </a:r>
                    </a:p>
                  </a:txBody>
                  <a:tcPr marL="54864" marR="54864" marT="27432" marB="27432" anchor="ctr">
                    <a:lnL w="0">
                      <a:noFill/>
                    </a:lnL>
                    <a:lnR w="0">
                      <a:noFill/>
                    </a:lnR>
                    <a:lnT w="0">
                      <a:noFill/>
                    </a:lnT>
                    <a:lnB w="19050">
                      <a:solidFill>
                        <a:srgbClr val="57068C"/>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19050">
                      <a:solidFill>
                        <a:srgbClr val="57068C"/>
                      </a:solidFill>
                    </a:lnB>
                    <a:solidFill>
                      <a:srgbClr val="E3DFE9"/>
                    </a:solidFill>
                  </a:tcPr>
                </a:tc>
                <a:tc>
                  <a:txBody>
                    <a:bodyPr wrap="square"/>
                    <a:lstStyle/>
                    <a:p>
                      <a:pPr algn="r"/>
                      <a:r>
                        <a:rPr sz="1200" b="0">
                          <a:solidFill>
                            <a:srgbClr val="333333"/>
                          </a:solidFill>
                        </a:rPr>
                        <a:t>14.3%</a:t>
                      </a:r>
                    </a:p>
                  </a:txBody>
                  <a:tcPr marL="54864" marR="54864" marT="27432" marB="27432" anchor="ctr">
                    <a:lnL w="0">
                      <a:noFill/>
                    </a:lnL>
                    <a:lnR w="0">
                      <a:noFill/>
                    </a:lnR>
                    <a:lnT w="0">
                      <a:noFill/>
                    </a:lnT>
                    <a:lnB w="19050">
                      <a:solidFill>
                        <a:srgbClr val="57068C"/>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19050">
                      <a:solidFill>
                        <a:srgbClr val="57068C"/>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19050">
                      <a:solidFill>
                        <a:srgbClr val="57068C"/>
                      </a:solidFill>
                    </a:lnB>
                    <a:solidFill>
                      <a:srgbClr val="E3DFE9"/>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19050">
                      <a:solidFill>
                        <a:srgbClr val="57068C"/>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0.151</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0.31</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12.2%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0.103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0.56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200" b="1">
                          <a:solidFill>
                            <a:srgbClr val="333333"/>
                          </a:solidFill>
                        </a:rPr>
                        <a:t>161</a:t>
                      </a:r>
                    </a:p>
                  </a:txBody>
                  <a:tcPr marL="54864" marR="54864" marT="27432" marB="27432" anchor="ctr">
                    <a:lnL w="0">
                      <a:noFill/>
                    </a:lnL>
                    <a:lnR w="0">
                      <a:noFill/>
                    </a:lnR>
                    <a:lnT w="0">
                      <a:noFill/>
                    </a:lnT>
                    <a:lnB w="6350">
                      <a:solidFill>
                        <a:srgbClr val="D9D3E3"/>
                      </a:solidFill>
                    </a:lnB>
                    <a:solidFill>
                      <a:srgbClr val="E3DFE9"/>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82296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Lower is better in every column; shaded = better. ElasticNet: we win all six, DEM MAE and MSE included. BP: we win DEM MAE, EM error, W1 and AIA MSE; supervised keeps DEM MSE (set by flare cores, Part 4) and AIA MAE.</a:t>
            </a:r>
          </a:p>
        </p:txBody>
      </p:sp>
      <p:sp>
        <p:nvSpPr>
          <p:cNvPr id="5" name="TextBox 4"/>
          <p:cNvSpPr txBox="1"/>
          <p:nvPr/>
        </p:nvSpPr>
        <p:spPr>
          <a:xfrm>
            <a:off x="365760" y="393192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BP, label-free, is the stiff-band model of Part 4. The old BP final: DEM MSE 4.28, EM error 19.6%, W1 0.083, AIA MSE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disagree</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0.036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~3×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98%</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~3× closer to the solver than the supervised model.</a:t>
            </a:r>
          </a:p>
          <a:p>
            <a:pPr algn="l" marL="182880" indent="-182880">
              <a:spcAft>
                <a:spcPts val="1200"/>
              </a:spcAft>
              <a:buClr>
                <a:srgbClr val="333333"/>
              </a:buClr>
              <a:buChar char="•"/>
            </a:pPr>
            <a:r>
              <a:rPr sz="1300" b="0" i="0">
                <a:solidFill>
                  <a:srgbClr val="333333"/>
                </a:solidFill>
              </a:rPr>
              <a:t>Up to the 99th percentile we are level or ahead on BP (p90 1.9 vs 1.9, p99 25 vs 27); the gap opens in the last 0.1%: flare cores.</a:t>
            </a:r>
          </a:p>
          <a:p>
            <a:pPr algn="l" marL="182880" indent="-182880">
              <a:spcAft>
                <a:spcPts val="1200"/>
              </a:spcAft>
              <a:buClr>
                <a:srgbClr val="333333"/>
              </a:buClr>
              <a:buChar char="•"/>
            </a:pPr>
            <a:r>
              <a:rPr sz="1300" b="0" i="0">
                <a:solidFill>
                  <a:srgbClr val="333333"/>
                </a:solidFill>
              </a:rPr>
              <a:t>ElasticNet: ours is better at the median, p99 and p99.9.</a:t>
            </a:r>
          </a:p>
          <a:p>
            <a:pPr algn="l" marL="182880" indent="-182880">
              <a:spcAft>
                <a:spcPts val="1200"/>
              </a:spcAft>
              <a:buClr>
                <a:srgbClr val="333333"/>
              </a:buClr>
              <a:buChar char="•"/>
            </a:pPr>
            <a:r>
              <a:rPr sz="1300" b="0" i="0">
                <a:solidFill>
                  <a:srgbClr val="333333"/>
                </a:solidFill>
              </a:rPr>
              <a:t>The BP average is set by the worst 1% of pixels, for both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Flare cores: the failure and the fix</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Why BP missed them, and what fixed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held 90% of the BP error</a:t>
            </a:r>
          </a:p>
        </p:txBody>
      </p:sp>
      <p:sp>
        <p:nvSpPr>
          <p:cNvPr id="3" name="TextBox 2"/>
          <p:cNvSpPr txBox="1"/>
          <p:nvPr/>
        </p:nvSpPr>
        <p:spPr>
          <a:xfrm>
            <a:off x="365760" y="914400"/>
            <a:ext cx="3566160" cy="3474720"/>
          </a:xfrm>
          <a:prstGeom prst="rect">
            <a:avLst/>
          </a:prstGeom>
          <a:noFill/>
        </p:spPr>
        <p:txBody>
          <a:bodyPr wrap="square" anchor="t" lIns="0" rIns="0" tIns="0" bIns="0">
            <a:spAutoFit/>
          </a:bodyPr>
          <a:lstStyle/>
          <a:p>
            <a:pPr algn="l" marL="182880" indent="-182880">
              <a:spcAft>
                <a:spcPts val="800"/>
              </a:spcAft>
              <a:buClr>
                <a:srgbClr val="333333"/>
              </a:buClr>
              <a:buChar char="•"/>
            </a:pPr>
            <a:r>
              <a:rPr sz="1200" b="0" i="0">
                <a:solidFill>
                  <a:srgbClr val="333333"/>
                </a:solidFill>
              </a:rPr>
              <a:t>Old BP model (width 336, log1p input, μ = 1, 40 epochs): 0.01% of pixels, 90% of the DEM error (supervised: 90% too).</a:t>
            </a:r>
          </a:p>
          <a:p>
            <a:pPr algn="l" marL="182880" indent="-182880">
              <a:spcAft>
                <a:spcPts val="800"/>
              </a:spcAft>
              <a:buClr>
                <a:srgbClr val="333333"/>
              </a:buClr>
              <a:buChar char="•"/>
            </a:pPr>
            <a:r>
              <a:rPr sz="1200" b="0" i="0">
                <a:solidFill>
                  <a:srgbClr val="333333"/>
                </a:solidFill>
              </a:rPr>
              <a:t>There it held 40% of the solver's emission, peaked 23% as high, 0.2 dex too cool; 83% of its curves had extra peaks (solver 18%).</a:t>
            </a:r>
          </a:p>
          <a:p>
            <a:pPr algn="l" marL="182880" indent="-182880">
              <a:spcAft>
                <a:spcPts val="800"/>
              </a:spcAft>
              <a:buClr>
                <a:srgbClr val="333333"/>
              </a:buClr>
              <a:buChar char="•"/>
            </a:pPr>
            <a:r>
              <a:rPr sz="1200" b="0" i="0">
                <a:solidFill>
                  <a:srgbClr val="333333"/>
                </a:solidFill>
              </a:rPr>
              <a:t>It fit 171, 193 and 211 Å to a few percent, but reproduced only 23% of 94 Å: the hot plasma was missing.</a:t>
            </a:r>
          </a:p>
          <a:p>
            <a:pPr algn="l" marL="182880" indent="-182880">
              <a:spcAft>
                <a:spcPts val="800"/>
              </a:spcAft>
              <a:buClr>
                <a:srgbClr val="333333"/>
              </a:buClr>
              <a:buChar char="•"/>
            </a:pPr>
            <a:r>
              <a:rPr sz="1200" b="1" i="0">
                <a:solidFill>
                  <a:srgbClr val="57068C"/>
                </a:solidFill>
              </a:rPr>
              <a:t>Read as a training problem: oversample, train longer, go bigger.</a:t>
            </a:r>
          </a:p>
        </p:txBody>
      </p:sp>
      <p:pic>
        <p:nvPicPr>
          <p:cNvPr id="4" name="Picture 3" descr="fig4_example_curves_bp.png"/>
          <p:cNvPicPr>
            <a:picLocks noChangeAspect="1"/>
          </p:cNvPicPr>
          <p:nvPr/>
        </p:nvPicPr>
        <p:blipFill>
          <a:blip r:embed="rId3"/>
          <a:stretch>
            <a:fillRect/>
          </a:stretch>
        </p:blipFill>
        <p:spPr>
          <a:xfrm>
            <a:off x="3931920" y="979932"/>
            <a:ext cx="4846320" cy="3069336"/>
          </a:xfrm>
          <a:prstGeom prst="rect">
            <a:avLst/>
          </a:prstGeom>
        </p:spPr>
      </p:pic>
      <p:sp>
        <p:nvSpPr>
          <p:cNvPr id="5" name="TextBox 4"/>
          <p:cNvSpPr txBox="1"/>
          <p:nvPr/>
        </p:nvSpPr>
        <p:spPr>
          <a:xfrm>
            <a:off x="3931920" y="4069080"/>
            <a:ext cx="4846320" cy="274320"/>
          </a:xfrm>
          <a:prstGeom prst="rect">
            <a:avLst/>
          </a:prstGeom>
          <a:noFill/>
        </p:spPr>
        <p:txBody>
          <a:bodyPr wrap="square" anchor="t" lIns="0" rIns="0" tIns="0" bIns="0">
            <a:spAutoFit/>
          </a:bodyPr>
          <a:lstStyle/>
          <a:p>
            <a:pPr algn="l">
              <a:spcAft>
                <a:spcPts val="0"/>
              </a:spcAft>
            </a:pPr>
            <a:r>
              <a:rPr sz="950" b="0" i="1">
                <a:solidFill>
                  <a:srgbClr val="6B6B6B"/>
                </a:solidFill>
              </a:rPr>
              <a:t>Old BP model at random flare cores (top rows). Black solver, blue ours, orange supervised.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original loss, none of the suggestions helped</a:t>
            </a:r>
          </a:p>
        </p:txBody>
      </p:sp>
      <p:graphicFrame>
        <p:nvGraphicFramePr>
          <p:cNvPr id="3" name="Table 2"/>
          <p:cNvGraphicFramePr>
            <a:graphicFrameLocks noGrp="1"/>
          </p:cNvGraphicFramePr>
          <p:nvPr/>
        </p:nvGraphicFramePr>
        <p:xfrm>
          <a:off x="365760" y="960120"/>
          <a:ext cx="8412477" cy="1828800"/>
        </p:xfrm>
        <a:graphic>
          <a:graphicData uri="http://schemas.openxmlformats.org/drawingml/2006/table">
            <a:tbl>
              <a:tblPr firstRow="1" bandRow="1"/>
              <a:tblGrid>
                <a:gridCol w="2713703"/>
                <a:gridCol w="995024"/>
                <a:gridCol w="904567"/>
                <a:gridCol w="995024"/>
                <a:gridCol w="1447308"/>
                <a:gridCol w="1356851"/>
              </a:tblGrid>
              <a:tr h="365760">
                <a:tc>
                  <a:txBody>
                    <a:bodyPr wrap="square"/>
                    <a:lstStyle/>
                    <a:p>
                      <a:pPr algn="l"/>
                      <a:r>
                        <a:rPr sz="1150" b="1">
                          <a:solidFill>
                            <a:srgbClr val="FFFFFF"/>
                          </a:solidFill>
                        </a:rPr>
                        <a:t>BP run,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150" b="1">
                          <a:solidFill>
                            <a:srgbClr val="333333"/>
                          </a:solidFill>
                        </a:rPr>
                        <a:t>Base (√ + Fourier, 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Oversample flare cores (8.5× more)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5.05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16%</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15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0.022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063240"/>
            <a:ext cx="8412480" cy="1280160"/>
          </a:xfrm>
          <a:prstGeom prst="rect">
            <a:avLst/>
          </a:prstGeom>
          <a:noFill/>
        </p:spPr>
        <p:txBody>
          <a:bodyPr wrap="square" anchor="t" lIns="0" rIns="0" tIns="0" bIns="0">
            <a:spAutoFit/>
          </a:bodyPr>
          <a:lstStyle/>
          <a:p>
            <a:pPr algn="l" marL="182880" indent="-182880">
              <a:spcAft>
                <a:spcPts val="500"/>
              </a:spcAft>
              <a:buClr>
                <a:srgbClr val="333333"/>
              </a:buClr>
              <a:buChar char="•"/>
            </a:pPr>
            <a:r>
              <a:rPr sz="1200" b="0" i="0">
                <a:solidFill>
                  <a:srgbClr val="333333"/>
                </a:solidFill>
              </a:rPr>
              <a:t>Away from flare cores all four score the same (DEM MAE 0.105 to 0.106, Quiet MSE 0.057 to 0.058).</a:t>
            </a:r>
          </a:p>
          <a:p>
            <a:pPr algn="l" marL="182880" indent="-182880">
              <a:spcAft>
                <a:spcPts val="500"/>
              </a:spcAft>
              <a:buClr>
                <a:srgbClr val="333333"/>
              </a:buClr>
              <a:buChar char="•"/>
            </a:pPr>
            <a:r>
              <a:rPr sz="1200" b="0" i="0">
                <a:solidFill>
                  <a:srgbClr val="333333"/>
                </a:solidFill>
              </a:rPr>
              <a:t>At flare cores, oversampling and the 10M model make it worse; 120 epochs moves emission from 35% to 37% (solver 94 Å: 92%).</a:t>
            </a:r>
          </a:p>
          <a:p>
            <a:pPr algn="l" marL="182880" indent="-182880">
              <a:spcAft>
                <a:spcPts val="500"/>
              </a:spcAft>
              <a:buClr>
                <a:srgbClr val="333333"/>
              </a:buClr>
              <a:buChar char="•"/>
            </a:pPr>
            <a:r>
              <a:rPr sz="1200" b="1" i="0">
                <a:solidFill>
                  <a:srgbClr val="57068C"/>
                </a:solidFill>
              </a:rPr>
              <a:t>Training harder does not help. The loss itself needs checking.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cause: the network already sits at its loss's best answer</a:t>
            </a:r>
          </a:p>
        </p:txBody>
      </p:sp>
      <p:sp>
        <p:nvSpPr>
          <p:cNvPr id="3" name="TextBox 2"/>
          <p:cNvSpPr txBox="1"/>
          <p:nvPr/>
        </p:nvSpPr>
        <p:spPr>
          <a:xfrm>
            <a:off x="365760" y="868680"/>
            <a:ext cx="8412480" cy="68580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Per pixel, solve the loss directly (it is convex): the best answer no network can beat. 12,000 validation pixels, 6,000 of them flare cores. Our network sits 1 to 4% above it (8% at flare cores).</a:t>
            </a:r>
          </a:p>
        </p:txBody>
      </p:sp>
      <p:graphicFrame>
        <p:nvGraphicFramePr>
          <p:cNvPr id="4" name="Table 3"/>
          <p:cNvGraphicFramePr>
            <a:graphicFrameLocks noGrp="1"/>
          </p:cNvGraphicFramePr>
          <p:nvPr/>
        </p:nvGraphicFramePr>
        <p:xfrm>
          <a:off x="365760" y="1645920"/>
          <a:ext cx="8412480" cy="1737360"/>
        </p:xfrm>
        <a:graphic>
          <a:graphicData uri="http://schemas.openxmlformats.org/drawingml/2006/table">
            <a:tbl>
              <a:tblPr firstRow="1" bandRow="1"/>
              <a:tblGrid>
                <a:gridCol w="2804160"/>
                <a:gridCol w="934720"/>
                <a:gridCol w="1869440"/>
                <a:gridCol w="1402080"/>
                <a:gridCol w="1402080"/>
              </a:tblGrid>
              <a:tr h="347472">
                <a:tc>
                  <a:txBody>
                    <a:bodyPr wrap="square"/>
                    <a:lstStyle/>
                    <a:p>
                      <a:pPr algn="l"/>
                      <a:r>
                        <a:rPr sz="1150" b="1">
                          <a:solidFill>
                            <a:srgbClr val="FFFFFF"/>
                          </a:solidFill>
                        </a:rPr>
                        <a:t>Flare cores, validation, original 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Loss</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Sparsity + band penalty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94 Å reproduced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Emission vs solver</a:t>
                      </a:r>
                    </a:p>
                  </a:txBody>
                  <a:tcPr marL="54864" marR="54864" marT="27432" marB="27432" anchor="ctr">
                    <a:lnL w="0">
                      <a:noFill/>
                    </a:lnL>
                    <a:lnR w="0">
                      <a:noFill/>
                    </a:lnR>
                    <a:lnT w="0">
                      <a:noFill/>
                    </a:lnT>
                    <a:lnB w="6350">
                      <a:solidFill>
                        <a:srgbClr val="D9D3E3"/>
                      </a:solidFill>
                    </a:lnB>
                    <a:solidFill>
                      <a:srgbClr val="57068C"/>
                    </a:solidFill>
                  </a:tcPr>
                </a:tc>
              </a:tr>
              <a:tr h="347472">
                <a:tc>
                  <a:txBody>
                    <a:bodyPr wrap="square"/>
                    <a:lstStyle/>
                    <a:p>
                      <a:pPr algn="l"/>
                      <a:r>
                        <a:rPr sz="1150" b="1">
                          <a:solidFill>
                            <a:srgbClr val="333333"/>
                          </a:solidFill>
                        </a:rPr>
                        <a:t>Old BP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565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294 + 270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38%</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Best answer under the loss</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463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220 + 243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E3DFE9"/>
                    </a:solidFill>
                  </a:tcPr>
                </a:tc>
              </a:tr>
              <a:tr h="347472">
                <a:tc>
                  <a:txBody>
                    <a:bodyPr wrap="square"/>
                    <a:lstStyle/>
                    <a:p>
                      <a:pPr algn="l"/>
                      <a:r>
                        <a:rPr sz="1150" b="1">
                          <a:solidFill>
                            <a:srgbClr val="333333"/>
                          </a:solidFill>
                        </a:rPr>
                        <a:t>Solver's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1,119 + 6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47472">
                <a:tc>
                  <a:txBody>
                    <a:bodyPr wrap="square"/>
                    <a:lstStyle/>
                    <a:p>
                      <a:pPr algn="l"/>
                      <a:r>
                        <a:rPr sz="1150" b="1">
                          <a:solidFill>
                            <a:srgbClr val="333333"/>
                          </a:solidFill>
                        </a:rPr>
                        <a:t>Supervised model's DEM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1,107 + 771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352044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A perfect network would land on the best answer, which still drops the hot plasma: 26% of 94 Å.</a:t>
            </a:r>
          </a:p>
          <a:p>
            <a:pPr algn="l" marL="182880" indent="-182880">
              <a:spcAft>
                <a:spcPts val="400"/>
              </a:spcAft>
              <a:buClr>
                <a:srgbClr val="333333"/>
              </a:buClr>
              <a:buChar char="•"/>
            </a:pPr>
            <a:r>
              <a:rPr sz="1200" b="0" i="0">
                <a:solidFill>
                  <a:srgbClr val="333333"/>
                </a:solidFill>
              </a:rPr>
              <a:t>Our loss rates the solver's DEM 2.4× worse than one without the hot plasma: every training step moves away from the solver there.</a:t>
            </a:r>
          </a:p>
          <a:p>
            <a:pPr algn="l" marL="182880" indent="-182880">
              <a:spcAft>
                <a:spcPts val="400"/>
              </a:spcAft>
              <a:buClr>
                <a:srgbClr val="333333"/>
              </a:buClr>
              <a:buChar char="•"/>
            </a:pPr>
            <a:r>
              <a:rPr sz="1200" b="1" i="0">
                <a:solidFill>
                  <a:srgbClr val="57068C"/>
                </a:solidFill>
              </a:rPr>
              <a:t>The loss, not training, was the limit.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Why: hot plasma is expensive to include and cheap to leave out</a:t>
            </a:r>
          </a:p>
        </p:txBody>
      </p:sp>
      <p:sp>
        <p:nvSpPr>
          <p:cNvPr id="3" name="TextBox 2"/>
          <p:cNvSpPr txBox="1"/>
          <p:nvPr/>
        </p:nvSpPr>
        <p:spPr>
          <a:xfrm>
            <a:off x="365760" y="86868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00" b="0" i="0">
                <a:solidFill>
                  <a:srgbClr val="333333"/>
                </a:solidFill>
              </a:rPr>
              <a:t>Solver: the noise band is a rule. Our loss: the band is a price. Loss = sparsity (sum of the 54 weights) + μ × band penalty (distance outside the band, squared), with μ = 1 originally.</a:t>
            </a:r>
          </a:p>
        </p:txBody>
      </p:sp>
      <p:graphicFrame>
        <p:nvGraphicFramePr>
          <p:cNvPr id="4" name="Table 3"/>
          <p:cNvGraphicFramePr>
            <a:graphicFrameLocks noGrp="1"/>
          </p:cNvGraphicFramePr>
          <p:nvPr/>
        </p:nvGraphicFramePr>
        <p:xfrm>
          <a:off x="365760" y="1554480"/>
          <a:ext cx="5120640" cy="987552"/>
        </p:xfrm>
        <a:graphic>
          <a:graphicData uri="http://schemas.openxmlformats.org/drawingml/2006/table">
            <a:tbl>
              <a:tblPr firstRow="1" bandRow="1"/>
              <a:tblGrid>
                <a:gridCol w="1737360"/>
                <a:gridCol w="3383280"/>
              </a:tblGrid>
              <a:tr h="329184">
                <a:tc>
                  <a:txBody>
                    <a:bodyPr wrap="square"/>
                    <a:lstStyle/>
                    <a:p>
                      <a:pPr algn="l"/>
                      <a:r>
                        <a:rPr sz="1050" b="1">
                          <a:solidFill>
                            <a:srgbClr val="FFFFFF"/>
                          </a:solidFill>
                        </a:rPr>
                        <a:t>One unit of plasma at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l"/>
                      <a:r>
                        <a:rPr sz="1050" b="1">
                          <a:solidFill>
                            <a:srgbClr val="FFFFFF"/>
                          </a:solidFill>
                        </a:rPr>
                        <a:t>What AIA sees</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1 to 1.3 MK (warm)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050" b="0">
                          <a:solidFill>
                            <a:srgbClr val="333333"/>
                          </a:solidFill>
                        </a:rPr>
                        <a:t>171 Å: 36 to 95 DN/s; 193 Å: 29 to 55</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8 MK (hot)</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l"/>
                      <a:r>
                        <a:rPr sz="1050" b="0">
                          <a:solidFill>
                            <a:srgbClr val="333333"/>
                          </a:solidFill>
                        </a:rPr>
                        <a:t>94 Å: 0.266 DN/s; no channel above 0.4</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graphicFrame>
        <p:nvGraphicFramePr>
          <p:cNvPr id="5" name="Table 4"/>
          <p:cNvGraphicFramePr>
            <a:graphicFrameLocks noGrp="1"/>
          </p:cNvGraphicFramePr>
          <p:nvPr/>
        </p:nvGraphicFramePr>
        <p:xfrm>
          <a:off x="365760" y="2697480"/>
          <a:ext cx="5120640" cy="987552"/>
        </p:xfrm>
        <a:graphic>
          <a:graphicData uri="http://schemas.openxmlformats.org/drawingml/2006/table">
            <a:tbl>
              <a:tblPr firstRow="1" bandRow="1"/>
              <a:tblGrid>
                <a:gridCol w="2514600"/>
                <a:gridCol w="685800"/>
                <a:gridCol w="1371600"/>
                <a:gridCol w="548640"/>
              </a:tblGrid>
              <a:tr h="329184">
                <a:tc>
                  <a:txBody>
                    <a:bodyPr wrap="square"/>
                    <a:lstStyle/>
                    <a:p>
                      <a:pPr algn="l"/>
                      <a:r>
                        <a:rPr sz="1050" b="1">
                          <a:solidFill>
                            <a:srgbClr val="FFFFFF"/>
                          </a:solidFill>
                        </a:rPr>
                        <a:t>A flare core: 94 Å = 164 ± 11.5</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Sparsity</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Penalty (μ = 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50" b="1">
                          <a:solidFill>
                            <a:srgbClr val="FFFFFF"/>
                          </a:solidFill>
                        </a:rPr>
                        <a:t>Total</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050" b="1">
                          <a:solidFill>
                            <a:srgbClr val="333333"/>
                          </a:solidFill>
                        </a:rPr>
                        <a:t>Hot plasma in: 164 ÷ 0.266 ≈ 616 units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50" b="0">
                          <a:solidFill>
                            <a:srgbClr val="333333"/>
                          </a:solidFill>
                        </a:rPr>
                        <a:t>616</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050" b="1">
                          <a:solidFill>
                            <a:srgbClr val="333333"/>
                          </a:solidFill>
                        </a:rPr>
                        <a:t>Hot plasma out: 94 Å ≈ 0, 148 below the band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(148 ÷ 16.1)² = 85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50" b="0">
                          <a:solidFill>
                            <a:srgbClr val="333333"/>
                          </a:solidFill>
                        </a:rPr>
                        <a:t>85</a:t>
                      </a:r>
                    </a:p>
                  </a:txBody>
                  <a:tcPr marL="54864" marR="54864" marT="27432" marB="27432" anchor="ctr">
                    <a:lnL w="0">
                      <a:noFill/>
                    </a:lnL>
                    <a:lnR w="0">
                      <a:noFill/>
                    </a:lnR>
                    <a:lnT w="0">
                      <a:noFill/>
                    </a:lnT>
                    <a:lnB w="6350">
                      <a:solidFill>
                        <a:srgbClr val="D9D3E3"/>
                      </a:solidFill>
                    </a:lnB>
                    <a:solidFill>
                      <a:srgbClr val="E3DFE9"/>
                    </a:solidFill>
                  </a:tcPr>
                </a:tc>
              </a:tr>
            </a:tbl>
          </a:graphicData>
        </a:graphic>
      </p:graphicFrame>
      <p:sp>
        <p:nvSpPr>
          <p:cNvPr id="6" name="TextBox 5"/>
          <p:cNvSpPr txBox="1"/>
          <p:nvPr/>
        </p:nvSpPr>
        <p:spPr>
          <a:xfrm>
            <a:off x="365760" y="3858768"/>
            <a:ext cx="5120640" cy="548640"/>
          </a:xfrm>
          <a:prstGeom prst="rect">
            <a:avLst/>
          </a:prstGeom>
          <a:noFill/>
        </p:spPr>
        <p:txBody>
          <a:bodyPr wrap="square" anchor="t" lIns="0" rIns="0" tIns="0" bIns="0">
            <a:spAutoFit/>
          </a:bodyPr>
          <a:lstStyle/>
          <a:p>
            <a:pPr algn="l">
              <a:spcAft>
                <a:spcPts val="600"/>
              </a:spcAft>
            </a:pPr>
            <a:r>
              <a:rPr sz="1000" b="0" i="0">
                <a:solidFill>
                  <a:srgbClr val="6B6B6B"/>
                </a:solidFill>
              </a:rPr>
              <a:t>Brighter pixels draw more of their 94 Å from hot plasma: the best answer reproduces 91% of 94 Å at 1 to 1.8× the Bright level, 44% at 10 to 32×, 26% at flare cores (solver 100, 88, 94%).</a:t>
            </a:r>
          </a:p>
        </p:txBody>
      </p:sp>
      <p:sp>
        <p:nvSpPr>
          <p:cNvPr id="7" name="TextBox 6"/>
          <p:cNvSpPr txBox="1"/>
          <p:nvPr/>
        </p:nvSpPr>
        <p:spPr>
          <a:xfrm>
            <a:off x="5760720" y="1554480"/>
            <a:ext cx="3017520" cy="3017520"/>
          </a:xfrm>
          <a:prstGeom prst="rect">
            <a:avLst/>
          </a:prstGeom>
          <a:noFill/>
        </p:spPr>
        <p:txBody>
          <a:bodyPr wrap="square" anchor="t" lIns="0" rIns="0" tIns="0" bIns="0">
            <a:spAutoFit/>
          </a:bodyPr>
          <a:lstStyle/>
          <a:p>
            <a:pPr algn="l" marL="182880" indent="-182880">
              <a:spcAft>
                <a:spcPts val="500"/>
              </a:spcAft>
              <a:buClr>
                <a:srgbClr val="333333"/>
              </a:buClr>
              <a:buChar char="•"/>
            </a:pPr>
            <a:r>
              <a:rPr sz="1100" b="0" i="0">
                <a:solidFill>
                  <a:srgbClr val="333333"/>
                </a:solidFill>
              </a:rPr>
              <a:t>Warm plasma lights 171, 193, 211 Å by tens of DN/s: it has to be in the DEM, and its 94 Å comes free.</a:t>
            </a:r>
          </a:p>
          <a:p>
            <a:pPr algn="l" marL="182880" indent="-182880">
              <a:spcAft>
                <a:spcPts val="500"/>
              </a:spcAft>
              <a:buClr>
                <a:srgbClr val="333333"/>
              </a:buClr>
              <a:buChar char="•"/>
            </a:pPr>
            <a:r>
              <a:rPr sz="1100" b="0" i="0">
                <a:solidFill>
                  <a:srgbClr val="333333"/>
                </a:solidFill>
              </a:rPr>
              <a:t>Hot plasma lights no channel above 0.4 DN/s: a bright 94 Å reading needs hundreds of units, all paid for by the sparsity term.</a:t>
            </a:r>
          </a:p>
          <a:p>
            <a:pPr algn="l" marL="182880" indent="-182880">
              <a:spcAft>
                <a:spcPts val="500"/>
              </a:spcAft>
              <a:buClr>
                <a:srgbClr val="333333"/>
              </a:buClr>
              <a:buChar char="•"/>
            </a:pPr>
            <a:r>
              <a:rPr sz="1100" b="0" i="0">
                <a:solidFill>
                  <a:srgbClr val="333333"/>
                </a:solidFill>
              </a:rPr>
              <a:t>Leaving it out costs 85; putting it in costs 616. The best answer leaves it out.</a:t>
            </a:r>
          </a:p>
          <a:p>
            <a:pPr algn="l" marL="182880" indent="-182880">
              <a:spcAft>
                <a:spcPts val="500"/>
              </a:spcAft>
              <a:buClr>
                <a:srgbClr val="333333"/>
              </a:buClr>
              <a:buChar char="•"/>
            </a:pPr>
            <a:r>
              <a:rPr sz="1100" b="1" i="0">
                <a:solidFill>
                  <a:srgbClr val="57068C"/>
                </a:solidFill>
              </a:rPr>
              <a:t>At μ = 100 the penalty is 8,500: the plasma goes back 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fix: a stiffer band, chosen on validation</a:t>
            </a:r>
          </a:p>
        </p:txBody>
      </p:sp>
      <p:graphicFrame>
        <p:nvGraphicFramePr>
          <p:cNvPr id="3" name="Table 2"/>
          <p:cNvGraphicFramePr>
            <a:graphicFrameLocks noGrp="1"/>
          </p:cNvGraphicFramePr>
          <p:nvPr/>
        </p:nvGraphicFramePr>
        <p:xfrm>
          <a:off x="365760" y="960120"/>
          <a:ext cx="8412478" cy="2240280"/>
        </p:xfrm>
        <a:graphic>
          <a:graphicData uri="http://schemas.openxmlformats.org/drawingml/2006/table">
            <a:tbl>
              <a:tblPr firstRow="1" bandRow="1"/>
              <a:tblGrid>
                <a:gridCol w="3094245"/>
                <a:gridCol w="1160342"/>
                <a:gridCol w="1160342"/>
                <a:gridCol w="1450427"/>
                <a:gridCol w="1547122"/>
              </a:tblGrid>
              <a:tr h="320040">
                <a:tc>
                  <a:txBody>
                    <a:bodyPr wrap="square"/>
                    <a:lstStyle/>
                    <a:p>
                      <a:pPr algn="l"/>
                      <a:r>
                        <a:rPr sz="1150" b="1">
                          <a:solidFill>
                            <a:srgbClr val="FFFFFF"/>
                          </a:solidFill>
                        </a:rPr>
                        <a:t>Best answer under the loss, validation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DEM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Flare-core emission</a:t>
                      </a:r>
                    </a:p>
                  </a:txBody>
                  <a:tcPr marL="54864" marR="54864" marT="27432" marB="27432" anchor="ctr">
                    <a:lnL w="0">
                      <a:noFill/>
                    </a:lnL>
                    <a:lnR w="0">
                      <a:noFill/>
                    </a:lnR>
                    <a:lnT w="0">
                      <a:noFill/>
                    </a:lnT>
                    <a:lnB w="6350">
                      <a:solidFill>
                        <a:srgbClr val="D9D3E3"/>
                      </a:solidFill>
                    </a:lnB>
                    <a:solidFill>
                      <a:srgbClr val="57068C"/>
                    </a:solidFill>
                  </a:tcPr>
                </a:tc>
              </a:tr>
              <a:tr h="320040">
                <a:tc>
                  <a:txBody>
                    <a:bodyPr wrap="square"/>
                    <a:lstStyle/>
                    <a:p>
                      <a:pPr algn="l"/>
                      <a:r>
                        <a:rPr sz="1150" b="1">
                          <a:solidFill>
                            <a:srgbClr val="333333"/>
                          </a:solidFill>
                        </a:rPr>
                        <a:t>Original (μ = 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30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5.10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97%</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μ = 100</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2.32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0.041</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100%</a:t>
                      </a:r>
                    </a:p>
                  </a:txBody>
                  <a:tcPr marL="54864" marR="54864" marT="27432" marB="27432" anchor="ctr">
                    <a:lnL w="0">
                      <a:noFill/>
                    </a:lnL>
                    <a:lnR w="0">
                      <a:noFill/>
                    </a:lnR>
                    <a:lnT w="0">
                      <a:noFill/>
                    </a:lnT>
                    <a:lnB w="6350">
                      <a:solidFill>
                        <a:srgbClr val="D9D3E3"/>
                      </a:solidFill>
                    </a:lnB>
                    <a:solidFill>
                      <a:srgbClr val="E3DFE9"/>
                    </a:solidFill>
                  </a:tcPr>
                </a:tc>
              </a:tr>
              <a:tr h="320040">
                <a:tc>
                  <a:txBody>
                    <a:bodyPr wrap="square"/>
                    <a:lstStyle/>
                    <a:p>
                      <a:pPr algn="l"/>
                      <a:r>
                        <a:rPr sz="1150" b="1">
                          <a:solidFill>
                            <a:srgbClr val="333333"/>
                          </a:solidFill>
                        </a:rPr>
                        <a:t>μ = 300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0040">
                <a:tc>
                  <a:txBody>
                    <a:bodyPr wrap="square"/>
                    <a:lstStyle/>
                    <a:p>
                      <a:pPr algn="l"/>
                      <a:r>
                        <a:rPr sz="1150" b="1">
                          <a:solidFill>
                            <a:srgbClr val="333333"/>
                          </a:solidFill>
                        </a:rPr>
                        <a:t>Supervised model (a trained network)</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0.054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246120"/>
            <a:ext cx="8412480" cy="868680"/>
          </a:xfrm>
          <a:prstGeom prst="rect">
            <a:avLst/>
          </a:prstGeom>
          <a:noFill/>
        </p:spPr>
        <p:txBody>
          <a:bodyPr wrap="square" anchor="t" lIns="0" rIns="0" tIns="0" bIns="0">
            <a:spAutoFit/>
          </a:bodyPr>
          <a:lstStyle/>
          <a:p>
            <a:pPr algn="l" marL="182880" indent="-182880">
              <a:spcAft>
                <a:spcPts val="300"/>
              </a:spcAft>
              <a:buClr>
                <a:srgbClr val="333333"/>
              </a:buClr>
              <a:buChar char="•"/>
            </a:pPr>
            <a:r>
              <a:rPr sz="1150" b="0" i="0">
                <a:solidFill>
                  <a:srgbClr val="333333"/>
                </a:solidFill>
              </a:rPr>
              <a:t>If a network learned the loss perfectly, how close to the solver would it get? Solved per pixel, no network, on the validation split.</a:t>
            </a:r>
          </a:p>
          <a:p>
            <a:pPr algn="l" marL="182880" indent="-182880">
              <a:spcAft>
                <a:spcPts val="300"/>
              </a:spcAft>
              <a:buClr>
                <a:srgbClr val="333333"/>
              </a:buClr>
              <a:buChar char="•"/>
            </a:pPr>
            <a:r>
              <a:rPr sz="1150" b="0" i="0">
                <a:solidFill>
                  <a:srgbClr val="333333"/>
                </a:solidFill>
              </a:rPr>
              <a:t>Stiffer helps bright pixels and costs faint ones: at faint pixels the band is mostly noise.</a:t>
            </a:r>
          </a:p>
          <a:p>
            <a:pPr algn="l" marL="182880" indent="-182880">
              <a:spcAft>
                <a:spcPts val="300"/>
              </a:spcAft>
              <a:buClr>
                <a:srgbClr val="333333"/>
              </a:buClr>
              <a:buChar char="•"/>
            </a:pPr>
            <a:r>
              <a:rPr sz="1150" b="1" i="0">
                <a:solidFill>
                  <a:srgbClr val="57068C"/>
                </a:solidFill>
              </a:rPr>
              <a:t>μ = 100: most of the gain, Quiet error still below the supervised model's.</a:t>
            </a:r>
          </a:p>
        </p:txBody>
      </p:sp>
      <p:sp>
        <p:nvSpPr>
          <p:cNvPr id="5" name="TextBox 4"/>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μ is one scalar chosen on validation, like any loss weight; training never sees a DEM. The 94 Å column, which needs no solver DEM, plateaus at μ = 100.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the stiff band, longer training is what helps</a:t>
            </a:r>
          </a:p>
        </p:txBody>
      </p:sp>
      <p:graphicFrame>
        <p:nvGraphicFramePr>
          <p:cNvPr id="3" name="Table 2"/>
          <p:cNvGraphicFramePr>
            <a:graphicFrameLocks noGrp="1"/>
          </p:cNvGraphicFramePr>
          <p:nvPr/>
        </p:nvGraphicFramePr>
        <p:xfrm>
          <a:off x="365760" y="868680"/>
          <a:ext cx="8412476" cy="2651760"/>
        </p:xfrm>
        <a:graphic>
          <a:graphicData uri="http://schemas.openxmlformats.org/drawingml/2006/table">
            <a:tbl>
              <a:tblPr firstRow="1" bandRow="1"/>
              <a:tblGrid>
                <a:gridCol w="2341618"/>
                <a:gridCol w="780539"/>
                <a:gridCol w="693812"/>
                <a:gridCol w="780539"/>
                <a:gridCol w="780539"/>
                <a:gridCol w="1040719"/>
                <a:gridCol w="1127445"/>
                <a:gridCol w="867265"/>
              </a:tblGrid>
              <a:tr h="265176">
                <a:tc>
                  <a:txBody>
                    <a:bodyPr wrap="square"/>
                    <a:lstStyle/>
                    <a:p>
                      <a:pPr algn="l"/>
                      <a:r>
                        <a:rPr sz="1000" b="1">
                          <a:solidFill>
                            <a:srgbClr val="FFFFFF"/>
                          </a:solidFill>
                        </a:rPr>
                        <a:t>BP run, band ×100</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Median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Quiet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EM</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Flare-core 94 Å</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000" b="1">
                          <a:solidFill>
                            <a:srgbClr val="FFFFFF"/>
                          </a:solidFill>
                        </a:rPr>
                        <a:t>Validation</a:t>
                      </a:r>
                    </a:p>
                  </a:txBody>
                  <a:tcPr marL="54864" marR="54864" marT="27432" marB="27432" anchor="ctr">
                    <a:lnL w="0">
                      <a:noFill/>
                    </a:lnL>
                    <a:lnR w="0">
                      <a:noFill/>
                    </a:lnR>
                    <a:lnT w="0">
                      <a:noFill/>
                    </a:lnT>
                    <a:lnB w="6350">
                      <a:solidFill>
                        <a:srgbClr val="D9D3E3"/>
                      </a:solidFill>
                    </a:lnB>
                    <a:solidFill>
                      <a:srgbClr val="57068C"/>
                    </a:solidFill>
                  </a:tcPr>
                </a:tc>
              </a:tr>
              <a:tr h="265176">
                <a:tc>
                  <a:txBody>
                    <a:bodyPr wrap="square"/>
                    <a:lstStyle/>
                    <a:p>
                      <a:pPr algn="l"/>
                      <a:r>
                        <a:rPr sz="1000" b="1">
                          <a:solidFill>
                            <a:srgbClr val="333333"/>
                          </a:solidFill>
                        </a:rPr>
                        <a:t>Original loss, base (reference)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4.56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39.7</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40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2.37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0.062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17.8</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240 epochs from scratch</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591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14.0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120 + 120 epochs, continued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1.75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0.036</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103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0.032</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93%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77%</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000" b="0">
                          <a:solidFill>
                            <a:srgbClr val="333333"/>
                          </a:solidFill>
                        </a:rPr>
                        <a:t>15.8</a:t>
                      </a:r>
                    </a:p>
                  </a:txBody>
                  <a:tcPr marL="54864" marR="54864" marT="27432" marB="27432" anchor="ctr">
                    <a:lnL w="0">
                      <a:noFill/>
                    </a:lnL>
                    <a:lnR w="0">
                      <a:noFill/>
                    </a:lnR>
                    <a:lnT w="0">
                      <a:noFill/>
                    </a:lnT>
                    <a:lnB w="6350">
                      <a:solidFill>
                        <a:srgbClr val="D9D3E3"/>
                      </a:solidFill>
                    </a:lnB>
                    <a:solidFill>
                      <a:srgbClr val="E3DFE9"/>
                    </a:solidFill>
                  </a:tcPr>
                </a:tc>
              </a:tr>
              <a:tr h="265176">
                <a:tc>
                  <a:txBody>
                    <a:bodyPr wrap="square"/>
                    <a:lstStyle/>
                    <a:p>
                      <a:pPr algn="l"/>
                      <a:r>
                        <a:rPr sz="1000" b="1">
                          <a:solidFill>
                            <a:srgbClr val="333333"/>
                          </a:solidFill>
                        </a:rPr>
                        <a:t>+ oversample flare cores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21.1</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10M parameters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35.7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680 wide (1.43M), 120 epochs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897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21.7M</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115%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78%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4,170</a:t>
                      </a:r>
                    </a:p>
                  </a:txBody>
                  <a:tcPr marL="54864" marR="54864" marT="27432" marB="27432" anchor="ctr">
                    <a:lnL w="0">
                      <a:noFill/>
                    </a:lnL>
                    <a:lnR w="0">
                      <a:noFill/>
                    </a:lnR>
                    <a:lnT w="0">
                      <a:noFill/>
                    </a:lnT>
                    <a:lnB w="6350">
                      <a:solidFill>
                        <a:srgbClr val="D9D3E3"/>
                      </a:solidFill>
                    </a:lnB>
                    <a:solidFill>
                      <a:srgbClr val="FFFFFF"/>
                    </a:solidFill>
                  </a:tcPr>
                </a:tc>
              </a:tr>
              <a:tr h="265176">
                <a:tc>
                  <a:txBody>
                    <a:bodyPr wrap="square"/>
                    <a:lstStyle/>
                    <a:p>
                      <a:pPr algn="l"/>
                      <a:r>
                        <a:rPr sz="1000" b="1">
                          <a:solidFill>
                            <a:srgbClr val="333333"/>
                          </a:solidFill>
                        </a:rPr>
                        <a:t>Supervised model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0.112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0.034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000" b="0">
                          <a:solidFill>
                            <a:srgbClr val="333333"/>
                          </a:solidFill>
                        </a:rPr>
                        <a:t>6.10</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611880"/>
            <a:ext cx="8412480" cy="822960"/>
          </a:xfrm>
          <a:prstGeom prst="rect">
            <a:avLst/>
          </a:prstGeom>
          <a:noFill/>
        </p:spPr>
        <p:txBody>
          <a:bodyPr wrap="square" anchor="t" lIns="0" rIns="0" tIns="0" bIns="0">
            <a:spAutoFit/>
          </a:bodyPr>
          <a:lstStyle/>
          <a:p>
            <a:pPr algn="l" marL="182880" indent="-182880">
              <a:spcAft>
                <a:spcPts val="300"/>
              </a:spcAft>
              <a:buClr>
                <a:srgbClr val="333333"/>
              </a:buClr>
              <a:buChar char="•"/>
            </a:pPr>
            <a:r>
              <a:rPr sz="1150" b="0" i="0">
                <a:solidFill>
                  <a:srgbClr val="333333"/>
                </a:solidFill>
              </a:rPr>
              <a:t>The band alone halves DEM MSE; the network then sits far above its best answer (118% at flare cores), so training is the limit and longer training helps. 240 from scratch misfits rare pixels (AIA MSE 591); bigger models blow up.</a:t>
            </a:r>
          </a:p>
          <a:p>
            <a:pPr algn="l" marL="182880" indent="-182880">
              <a:spcAft>
                <a:spcPts val="300"/>
              </a:spcAft>
              <a:buClr>
                <a:srgbClr val="333333"/>
              </a:buClr>
              <a:buChar char="•"/>
            </a:pPr>
            <a:r>
              <a:rPr sz="1150" b="1" i="0">
                <a:solidFill>
                  <a:srgbClr val="57068C"/>
                </a:solidFill>
              </a:rPr>
              <a:t>Final BP model: band ×100, 120 epochs, then 120 more continued from that checkpoint.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now: 93% of the solver's emission, 77% of its 94 Å</a:t>
            </a:r>
          </a:p>
        </p:txBody>
      </p:sp>
      <p:graphicFrame>
        <p:nvGraphicFramePr>
          <p:cNvPr id="3" name="Table 2"/>
          <p:cNvGraphicFramePr>
            <a:graphicFrameLocks noGrp="1"/>
          </p:cNvGraphicFramePr>
          <p:nvPr/>
        </p:nvGraphicFramePr>
        <p:xfrm>
          <a:off x="365760" y="914400"/>
          <a:ext cx="4297679" cy="2304288"/>
        </p:xfrm>
        <a:graphic>
          <a:graphicData uri="http://schemas.openxmlformats.org/drawingml/2006/table">
            <a:tbl>
              <a:tblPr firstRow="1" bandRow="1"/>
              <a:tblGrid>
                <a:gridCol w="1637211"/>
                <a:gridCol w="573024"/>
                <a:gridCol w="573024"/>
                <a:gridCol w="900466"/>
                <a:gridCol w="613954"/>
              </a:tblGrid>
              <a:tr h="329184">
                <a:tc>
                  <a:txBody>
                    <a:bodyPr wrap="square"/>
                    <a:lstStyle/>
                    <a:p>
                      <a:pPr algn="l"/>
                      <a:r>
                        <a:rPr sz="1100" b="1">
                          <a:solidFill>
                            <a:srgbClr val="FFFFFF"/>
                          </a:solidFill>
                        </a:rPr>
                        <a:t>BP flare cores,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Old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New BP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Supervised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Solver</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00" b="1">
                          <a:solidFill>
                            <a:srgbClr val="333333"/>
                          </a:solidFill>
                        </a:rPr>
                        <a:t>Emission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94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131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Peak height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66%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Temperature shift (dex)</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0.00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0</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00" b="1">
                          <a:solidFill>
                            <a:srgbClr val="333333"/>
                          </a:solidFill>
                        </a:rPr>
                        <a:t>Curves with extra peaks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383280"/>
            <a:ext cx="4297680" cy="1051560"/>
          </a:xfrm>
          <a:prstGeom prst="rect">
            <a:avLst/>
          </a:prstGeom>
          <a:noFill/>
        </p:spPr>
        <p:txBody>
          <a:bodyPr wrap="square" anchor="t" lIns="0" rIns="0" tIns="0" bIns="0">
            <a:spAutoFit/>
          </a:bodyPr>
          <a:lstStyle/>
          <a:p>
            <a:pPr algn="l" marL="182880" indent="-182880">
              <a:spcAft>
                <a:spcPts val="400"/>
              </a:spcAft>
              <a:buClr>
                <a:srgbClr val="333333"/>
              </a:buClr>
              <a:buChar char="•"/>
            </a:pPr>
            <a:r>
              <a:rPr sz="1100" b="0" i="0">
                <a:solidFill>
                  <a:srgbClr val="333333"/>
                </a:solidFill>
              </a:rPr>
              <a:t>Spurious extra peaks were 42% of the old error; 3.5% now.</a:t>
            </a:r>
          </a:p>
          <a:p>
            <a:pPr algn="l" marL="182880" indent="-182880">
              <a:spcAft>
                <a:spcPts val="400"/>
              </a:spcAft>
              <a:buClr>
                <a:srgbClr val="333333"/>
              </a:buClr>
              <a:buChar char="•"/>
            </a:pPr>
            <a:r>
              <a:rPr sz="1100" b="0" i="0">
                <a:solidFill>
                  <a:srgbClr val="333333"/>
                </a:solidFill>
              </a:rPr>
              <a:t>It tracks the solver's peak height to ~100; above 3,000 it reaches 40%.</a:t>
            </a:r>
          </a:p>
        </p:txBody>
      </p:sp>
      <p:pic>
        <p:nvPicPr>
          <p:cNvPr id="5" name="Picture 4" descr="fig4_example_curves_bp.png"/>
          <p:cNvPicPr>
            <a:picLocks noChangeAspect="1"/>
          </p:cNvPicPr>
          <p:nvPr/>
        </p:nvPicPr>
        <p:blipFill>
          <a:blip r:embed="rId3"/>
          <a:stretch>
            <a:fillRect/>
          </a:stretch>
        </p:blipFill>
        <p:spPr>
          <a:xfrm>
            <a:off x="4709160" y="1226058"/>
            <a:ext cx="4069080" cy="2577084"/>
          </a:xfrm>
          <a:prstGeom prst="rect">
            <a:avLst/>
          </a:prstGeom>
        </p:spPr>
      </p:pic>
      <p:sp>
        <p:nvSpPr>
          <p:cNvPr id="6" name="TextBox 5"/>
          <p:cNvSpPr txBox="1"/>
          <p:nvPr/>
        </p:nvSpPr>
        <p:spPr>
          <a:xfrm>
            <a:off x="4709160" y="4114800"/>
            <a:ext cx="406908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at random flare cores (top rows), the same draw as two slides back.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remains: flare cores still set the BP DEM MSE</a:t>
            </a:r>
          </a:p>
        </p:txBody>
      </p:sp>
      <p:sp>
        <p:nvSpPr>
          <p:cNvPr id="3" name="TextBox 2"/>
          <p:cNvSpPr txBox="1"/>
          <p:nvPr/>
        </p:nvSpPr>
        <p:spPr>
          <a:xfrm>
            <a:off x="365760" y="914400"/>
            <a:ext cx="4114800" cy="3566160"/>
          </a:xfrm>
          <a:prstGeom prst="rect">
            <a:avLst/>
          </a:prstGeom>
          <a:noFill/>
        </p:spPr>
        <p:txBody>
          <a:bodyPr wrap="square" anchor="t" lIns="0" rIns="0" tIns="0" bIns="0">
            <a:spAutoFit/>
          </a:bodyPr>
          <a:lstStyle/>
          <a:p>
            <a:pPr algn="l" marL="182880" indent="-182880">
              <a:spcAft>
                <a:spcPts val="700"/>
              </a:spcAft>
              <a:buClr>
                <a:srgbClr val="333333"/>
              </a:buClr>
              <a:buChar char="•"/>
            </a:pPr>
            <a:r>
              <a:rPr sz="1150" b="0" i="0">
                <a:solidFill>
                  <a:srgbClr val="333333"/>
                </a:solidFill>
              </a:rPr>
              <a:t>Error vs supervised by brightness: 0.55 on the faintest pixels, 1.0 at 0.3–1×, 0.9 to 1.3 at 1–10×, 1.9 at 10–32×, 2.0 at flare cores (old model: 0.64, 1.8, 2 to 5, 18, 4.7).</a:t>
            </a:r>
          </a:p>
          <a:p>
            <a:pPr algn="l" marL="182880" indent="-182880">
              <a:spcAft>
                <a:spcPts val="700"/>
              </a:spcAft>
              <a:buClr>
                <a:srgbClr val="333333"/>
              </a:buClr>
              <a:buChar char="•"/>
            </a:pPr>
            <a:r>
              <a:rPr sz="1150" b="0" i="0">
                <a:solidFill>
                  <a:srgbClr val="333333"/>
                </a:solidFill>
              </a:rPr>
              <a:t>Flare cores: 94% of our BP error, and the DEM MSE gap (1.75 vs 0.91). 94 Å is at 77% of observed against the solver's 92%; every other channel is at 100%.</a:t>
            </a:r>
          </a:p>
          <a:p>
            <a:pPr algn="l" marL="182880" indent="-182880">
              <a:spcAft>
                <a:spcPts val="700"/>
              </a:spcAft>
              <a:buClr>
                <a:srgbClr val="333333"/>
              </a:buClr>
              <a:buChar char="•"/>
            </a:pPr>
            <a:r>
              <a:rPr sz="1150" b="0" i="0">
                <a:solidFill>
                  <a:srgbClr val="333333"/>
                </a:solidFill>
              </a:rPr>
              <a:t>Longer training keeps closing it; 240 epochs from scratch starts to misfit a few pixels' AIA. A third 120-epoch continuation is untested.</a:t>
            </a:r>
          </a:p>
          <a:p>
            <a:pPr algn="l" marL="182880" indent="-182880">
              <a:spcAft>
                <a:spcPts val="700"/>
              </a:spcAft>
              <a:buClr>
                <a:srgbClr val="333333"/>
              </a:buClr>
              <a:buChar char="•"/>
            </a:pPr>
            <a:r>
              <a:rPr sz="1150" b="1" i="0">
                <a:solidFill>
                  <a:srgbClr val="57068C"/>
                </a:solidFill>
              </a:rPr>
              <a:t>The BP loss was the limit; training is now the limit, and it still has room.</a:t>
            </a:r>
          </a:p>
        </p:txBody>
      </p:sp>
      <p:pic>
        <p:nvPicPr>
          <p:cNvPr id="4" name="Picture 3" descr="fig5_aia_fit_flare_cores_bp.png"/>
          <p:cNvPicPr>
            <a:picLocks noChangeAspect="1"/>
          </p:cNvPicPr>
          <p:nvPr/>
        </p:nvPicPr>
        <p:blipFill>
          <a:blip r:embed="rId3"/>
          <a:stretch>
            <a:fillRect/>
          </a:stretch>
        </p:blipFill>
        <p:spPr>
          <a:xfrm>
            <a:off x="4663440" y="889091"/>
            <a:ext cx="4114800" cy="3159578"/>
          </a:xfrm>
          <a:prstGeom prst="rect">
            <a:avLst/>
          </a:prstGeom>
        </p:spPr>
      </p:pic>
      <p:sp>
        <p:nvSpPr>
          <p:cNvPr id="5" name="TextBox 4"/>
          <p:cNvSpPr txBox="1"/>
          <p:nvPr/>
        </p:nvSpPr>
        <p:spPr>
          <a:xfrm>
            <a:off x="4663440" y="4114800"/>
            <a:ext cx="4114800" cy="274320"/>
          </a:xfrm>
          <a:prstGeom prst="rect">
            <a:avLst/>
          </a:prstGeom>
          <a:noFill/>
        </p:spPr>
        <p:txBody>
          <a:bodyPr wrap="square" anchor="t" lIns="0" rIns="0" tIns="0" bIns="0">
            <a:spAutoFit/>
          </a:bodyPr>
          <a:lstStyle/>
          <a:p>
            <a:pPr algn="l">
              <a:spcAft>
                <a:spcPts val="0"/>
              </a:spcAft>
            </a:pPr>
            <a:r>
              <a:rPr sz="950" b="0" i="1">
                <a:solidFill>
                  <a:srgbClr val="6B6B6B"/>
                </a:solidFill>
              </a:rPr>
              <a:t>New BP model: reconstructed over observed AIA at flare cores.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Next steps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What we learned, and what to decide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Rounded Rectangle 2"/>
          <p:cNvSpPr/>
          <p:nvPr/>
        </p:nvSpPr>
        <p:spPr>
          <a:xfrm>
            <a:off x="36576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1. Train on the objective</a:t>
            </a:r>
          </a:p>
        </p:txBody>
      </p:sp>
      <p:sp>
        <p:nvSpPr>
          <p:cNvPr id="5" name="TextBox 4"/>
          <p:cNvSpPr txBox="1"/>
          <p:nvPr/>
        </p:nvSpPr>
        <p:spPr>
          <a:xfrm>
            <a:off x="53035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solver's own objective reproduces its DEMs without labels.</a:t>
            </a:r>
          </a:p>
        </p:txBody>
      </p:sp>
      <p:sp>
        <p:nvSpPr>
          <p:cNvPr id="6" name="Rounded Rectangle 5"/>
          <p:cNvSpPr/>
          <p:nvPr/>
        </p:nvSpPr>
        <p:spPr>
          <a:xfrm>
            <a:off x="323088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9547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2. Check the loss first</a:t>
            </a:r>
          </a:p>
        </p:txBody>
      </p:sp>
      <p:sp>
        <p:nvSpPr>
          <p:cNvPr id="8" name="TextBox 7"/>
          <p:cNvSpPr txBox="1"/>
          <p:nvPr/>
        </p:nvSpPr>
        <p:spPr>
          <a:xfrm>
            <a:off x="339547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The BP network sat at its loss's optimum, and that optimum dropped the hot plasma. No training change could fix that; a stiffer band did.</a:t>
            </a:r>
          </a:p>
        </p:txBody>
      </p:sp>
      <p:sp>
        <p:nvSpPr>
          <p:cNvPr id="9" name="Rounded Rectangle 8"/>
          <p:cNvSpPr/>
          <p:nvPr/>
        </p:nvSpPr>
        <p:spPr>
          <a:xfrm>
            <a:off x="6096000" y="10058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0592" y="11338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3. Simple scales</a:t>
            </a:r>
          </a:p>
        </p:txBody>
      </p:sp>
      <p:sp>
        <p:nvSpPr>
          <p:cNvPr id="11" name="TextBox 10"/>
          <p:cNvSpPr txBox="1"/>
          <p:nvPr/>
        </p:nvSpPr>
        <p:spPr>
          <a:xfrm>
            <a:off x="6260592" y="14813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A centre-pixel MLP; the patch CNN never won on unseen days.</a:t>
            </a:r>
          </a:p>
        </p:txBody>
      </p:sp>
      <p:sp>
        <p:nvSpPr>
          <p:cNvPr id="12" name="Rounded Rectangle 11"/>
          <p:cNvSpPr/>
          <p:nvPr/>
        </p:nvSpPr>
        <p:spPr>
          <a:xfrm>
            <a:off x="36576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4. Size has a ceiling</a:t>
            </a:r>
          </a:p>
        </p:txBody>
      </p:sp>
      <p:sp>
        <p:nvSpPr>
          <p:cNvPr id="14" name="TextBox 13"/>
          <p:cNvSpPr txBox="1"/>
          <p:nvPr/>
        </p:nvSpPr>
        <p:spPr>
          <a:xfrm>
            <a:off x="53035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Fresh pixels pay off up to width 336; 1.43M and 10M models blow up on a few rare pixels, on both tracks.</a:t>
            </a:r>
          </a:p>
        </p:txBody>
      </p:sp>
      <p:sp>
        <p:nvSpPr>
          <p:cNvPr id="15" name="Rounded Rectangle 14"/>
          <p:cNvSpPr/>
          <p:nvPr/>
        </p:nvSpPr>
        <p:spPr>
          <a:xfrm>
            <a:off x="323088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47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5. Heavy tails</a:t>
            </a:r>
          </a:p>
        </p:txBody>
      </p:sp>
      <p:sp>
        <p:nvSpPr>
          <p:cNvPr id="17" name="TextBox 16"/>
          <p:cNvSpPr txBox="1"/>
          <p:nvPr/>
        </p:nvSpPr>
        <p:spPr>
          <a:xfrm>
            <a:off x="339547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Report medians and percentiles: a handful of pixels can own the mean, or blow up.</a:t>
            </a:r>
          </a:p>
        </p:txBody>
      </p:sp>
      <p:sp>
        <p:nvSpPr>
          <p:cNvPr id="18" name="Rounded Rectangle 17"/>
          <p:cNvSpPr/>
          <p:nvPr/>
        </p:nvSpPr>
        <p:spPr>
          <a:xfrm>
            <a:off x="6096000" y="2606040"/>
            <a:ext cx="268224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0592" y="2734056"/>
            <a:ext cx="2353056" cy="320040"/>
          </a:xfrm>
          <a:prstGeom prst="rect">
            <a:avLst/>
          </a:prstGeom>
          <a:noFill/>
        </p:spPr>
        <p:txBody>
          <a:bodyPr wrap="square" anchor="t" lIns="0" rIns="0" tIns="0" bIns="0">
            <a:spAutoFit/>
          </a:bodyPr>
          <a:lstStyle/>
          <a:p>
            <a:pPr algn="l">
              <a:spcAft>
                <a:spcPts val="600"/>
              </a:spcAft>
            </a:pPr>
            <a:r>
              <a:rPr sz="1300" b="1" i="0">
                <a:solidFill>
                  <a:srgbClr val="57068C"/>
                </a:solidFill>
              </a:rPr>
              <a:t>6. Input encoding</a:t>
            </a:r>
          </a:p>
        </p:txBody>
      </p:sp>
      <p:sp>
        <p:nvSpPr>
          <p:cNvPr id="20" name="TextBox 19"/>
          <p:cNvSpPr txBox="1"/>
          <p:nvPr/>
        </p:nvSpPr>
        <p:spPr>
          <a:xfrm>
            <a:off x="6260592" y="3081528"/>
            <a:ext cx="2353056" cy="868680"/>
          </a:xfrm>
          <a:prstGeom prst="rect">
            <a:avLst/>
          </a:prstGeom>
          <a:noFill/>
        </p:spPr>
        <p:txBody>
          <a:bodyPr wrap="square" anchor="t" lIns="0" rIns="0" tIns="0" bIns="0">
            <a:spAutoFit/>
          </a:bodyPr>
          <a:lstStyle/>
          <a:p>
            <a:pPr algn="l">
              <a:spcAft>
                <a:spcPts val="600"/>
              </a:spcAft>
            </a:pPr>
            <a:r>
              <a:rPr sz="1200" b="0" i="0">
                <a:solidFill>
                  <a:srgbClr val="333333"/>
                </a:solidFill>
              </a:rPr>
              <a:t>√ + Fourier features for both tracks: lifts ElasticNet past the supervised model and beats log1p on the stiff BP band.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Rounded Rectangle 2"/>
          <p:cNvSpPr/>
          <p:nvPr/>
        </p:nvSpPr>
        <p:spPr>
          <a:xfrm>
            <a:off x="36576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035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Keep training BP</a:t>
            </a:r>
          </a:p>
        </p:txBody>
      </p:sp>
      <p:sp>
        <p:nvSpPr>
          <p:cNvPr id="5" name="TextBox 4"/>
          <p:cNvSpPr txBox="1"/>
          <p:nvPr/>
        </p:nvSpPr>
        <p:spPr>
          <a:xfrm>
            <a:off x="53035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The stiff-band model still improves with epochs; a third 120-epoch continuation is untested. Watch the AIA fit on rare pixels.</a:t>
            </a:r>
          </a:p>
        </p:txBody>
      </p:sp>
      <p:sp>
        <p:nvSpPr>
          <p:cNvPr id="6" name="Rounded Rectangle 5"/>
          <p:cNvSpPr/>
          <p:nvPr/>
        </p:nvSpPr>
        <p:spPr>
          <a:xfrm>
            <a:off x="4663440" y="100584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28032" y="113385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Validate on every pixel</a:t>
            </a:r>
          </a:p>
        </p:txBody>
      </p:sp>
      <p:sp>
        <p:nvSpPr>
          <p:cNvPr id="8" name="TextBox 7"/>
          <p:cNvSpPr txBox="1"/>
          <p:nvPr/>
        </p:nvSpPr>
        <p:spPr>
          <a:xfrm>
            <a:off x="4828032" y="148132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sampled validation set missed the blow-ups; score all pixels.</a:t>
            </a:r>
          </a:p>
        </p:txBody>
      </p:sp>
      <p:sp>
        <p:nvSpPr>
          <p:cNvPr id="9" name="Rounded Rectangle 8"/>
          <p:cNvSpPr/>
          <p:nvPr/>
        </p:nvSpPr>
        <p:spPr>
          <a:xfrm>
            <a:off x="36576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Direct DEM output</a:t>
            </a:r>
          </a:p>
        </p:txBody>
      </p:sp>
      <p:sp>
        <p:nvSpPr>
          <p:cNvPr id="11" name="TextBox 10"/>
          <p:cNvSpPr txBox="1"/>
          <p:nvPr/>
        </p:nvSpPr>
        <p:spPr>
          <a:xfrm>
            <a:off x="53035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Predict the 18 bins instead of 54 basis weights (deferred).</a:t>
            </a:r>
          </a:p>
        </p:txBody>
      </p:sp>
      <p:sp>
        <p:nvSpPr>
          <p:cNvPr id="12" name="Rounded Rectangle 11"/>
          <p:cNvSpPr/>
          <p:nvPr/>
        </p:nvSpPr>
        <p:spPr>
          <a:xfrm>
            <a:off x="4663440" y="2651760"/>
            <a:ext cx="4114800" cy="146304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779776"/>
            <a:ext cx="3785616" cy="320040"/>
          </a:xfrm>
          <a:prstGeom prst="rect">
            <a:avLst/>
          </a:prstGeom>
          <a:noFill/>
        </p:spPr>
        <p:txBody>
          <a:bodyPr wrap="square" anchor="t" lIns="0" rIns="0" tIns="0" bIns="0">
            <a:spAutoFit/>
          </a:bodyPr>
          <a:lstStyle/>
          <a:p>
            <a:pPr algn="l">
              <a:spcAft>
                <a:spcPts val="600"/>
              </a:spcAft>
            </a:pPr>
            <a:r>
              <a:rPr sz="1300" b="1" i="0">
                <a:solidFill>
                  <a:srgbClr val="57068C"/>
                </a:solidFill>
              </a:rPr>
              <a:t>Uncertainty, AIA + XRT</a:t>
            </a:r>
          </a:p>
        </p:txBody>
      </p:sp>
      <p:sp>
        <p:nvSpPr>
          <p:cNvPr id="14" name="TextBox 13"/>
          <p:cNvSpPr txBox="1"/>
          <p:nvPr/>
        </p:nvSpPr>
        <p:spPr>
          <a:xfrm>
            <a:off x="4828032" y="3127248"/>
            <a:ext cx="3785616" cy="914400"/>
          </a:xfrm>
          <a:prstGeom prst="rect">
            <a:avLst/>
          </a:prstGeom>
          <a:noFill/>
        </p:spPr>
        <p:txBody>
          <a:bodyPr wrap="square" anchor="t" lIns="0" rIns="0" tIns="0" bIns="0">
            <a:spAutoFit/>
          </a:bodyPr>
          <a:lstStyle/>
          <a:p>
            <a:pPr algn="l">
              <a:spcAft>
                <a:spcPts val="600"/>
              </a:spcAft>
            </a:pPr>
            <a:r>
              <a:rPr sz="1300" b="0" i="0">
                <a:solidFill>
                  <a:srgbClr val="333333"/>
                </a:solidFill>
              </a:rPr>
              <a:t>A distribution over DEMs from the noisy re-solves; XRT for the hot plasma.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For discussion</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800"/>
              </a:spcAft>
              <a:buClr>
                <a:srgbClr val="333333"/>
              </a:buClr>
              <a:buChar char="•"/>
            </a:pPr>
            <a:r>
              <a:rPr sz="1500" b="0" i="0">
                <a:solidFill>
                  <a:srgbClr val="333333"/>
                </a:solidFill>
              </a:rPr>
              <a:t>Which metric should lead the paper? DEM MSE is set by 0.01% of pixels; up to the 99th percentile we are level with or ahead of the supervised model on BP.</a:t>
            </a:r>
          </a:p>
          <a:p>
            <a:pPr algn="l" marL="182880" indent="-182880">
              <a:spcAft>
                <a:spcPts val="1800"/>
              </a:spcAft>
              <a:buClr>
                <a:srgbClr val="333333"/>
              </a:buClr>
              <a:buChar char="•"/>
            </a:pPr>
            <a:r>
              <a:rPr sz="1500" b="0" i="0">
                <a:solidFill>
                  <a:srgbClr val="333333"/>
                </a:solidFill>
              </a:rPr>
              <a:t>Train the BP model longer (a third continuation), or freeze here at 1.9× the supervised DEM MSE?</a:t>
            </a:r>
          </a:p>
          <a:p>
            <a:pPr algn="l" marL="182880" indent="-182880">
              <a:spcAft>
                <a:spcPts val="1800"/>
              </a:spcAft>
              <a:buClr>
                <a:srgbClr val="333333"/>
              </a:buClr>
              <a:buChar char="•"/>
            </a:pPr>
            <a:r>
              <a:rPr sz="1500" b="0" i="0">
                <a:solidFill>
                  <a:srgbClr val="333333"/>
                </a:solidFill>
              </a:rPr>
              <a:t>Is AIA + XRT in scope for this paper?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Appendix</a:t>
            </a:r>
            <a:br/>
            <a:r>
              <a:rPr sz="4100"/>
              <a:t>Backup slides</a:t>
            </a:r>
          </a:p>
        </p:txBody>
      </p:sp>
      <p:sp>
        <p:nvSpPr>
          <p:cNvPr id="3" name="TextBox 2"/>
          <p:cNvSpPr txBox="1"/>
          <p:nvPr/>
        </p:nvSpPr>
        <p:spPr>
          <a:xfrm>
            <a:off x="457200" y="2606040"/>
            <a:ext cx="8229600" cy="457200"/>
          </a:xfrm>
          <a:prstGeom prst="rect">
            <a:avLst/>
          </a:prstGeom>
          <a:noFill/>
        </p:spPr>
        <p:txBody>
          <a:bodyPr wrap="square" anchor="t" lIns="0" rIns="0" tIns="0" bIns="0">
            <a:spAutoFit/>
          </a:bodyPr>
          <a:lstStyle/>
          <a:p>
            <a:pPr algn="ctr">
              <a:spcAft>
                <a:spcPts val="600"/>
              </a:spcAft>
            </a:pPr>
            <a:r>
              <a:rPr sz="1800" b="0" i="1">
                <a:solidFill>
                  <a:srgbClr val="6B6B6B"/>
                </a:solidFill>
              </a:rPr>
              <a:t>The history, and answers to likely 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a bounded input (log1p then, √ + Fourier now;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914400"/>
            <a:ext cx="5120640" cy="3474720"/>
          </a:xfrm>
          <a:prstGeom prst="rect">
            <a:avLst/>
          </a:prstGeom>
          <a:noFill/>
        </p:spPr>
        <p:txBody>
          <a:bodyPr wrap="square" anchor="t" lIns="0" rIns="0" tIns="0" bIns="0">
            <a:spAutoFit/>
          </a:bodyPr>
          <a:lstStyle/>
          <a:p>
            <a:pPr algn="l" marL="182880" indent="-182880">
              <a:spcAft>
                <a:spcPts val="900"/>
              </a:spcAft>
              <a:buClr>
                <a:srgbClr val="333333"/>
              </a:buClr>
              <a:buChar char="•"/>
            </a:pPr>
            <a:r>
              <a:rPr sz="1200" b="0" i="0">
                <a:solidFill>
                  <a:srgbClr val="333333"/>
                </a:solidFill>
              </a:rPr>
              <a:t>153 test days, never seen in training; each scored on random quarters of the image against 5 solver targets (the clean solve and 4 noisy re-solves).</a:t>
            </a:r>
          </a:p>
          <a:p>
            <a:pPr algn="l" marL="182880" indent="-182880">
              <a:spcAft>
                <a:spcPts val="900"/>
              </a:spcAft>
              <a:buClr>
                <a:srgbClr val="333333"/>
              </a:buClr>
              <a:buChar char="•"/>
            </a:pPr>
            <a:r>
              <a:rPr sz="1200" b="0" i="0">
                <a:solidFill>
                  <a:srgbClr val="333333"/>
                </a:solidFill>
              </a:rPr>
              <a:t>Bright = any channel above its top-5% cutoff (~10% of pixels); the rest is Quiet.</a:t>
            </a:r>
          </a:p>
          <a:p>
            <a:pPr algn="l" marL="182880" indent="-182880">
              <a:spcAft>
                <a:spcPts val="900"/>
              </a:spcAft>
              <a:buClr>
                <a:srgbClr val="333333"/>
              </a:buClr>
              <a:buChar char="•"/>
            </a:pPr>
            <a:r>
              <a:rPr sz="1200" b="0" i="0">
                <a:solidFill>
                  <a:srgbClr val="333333"/>
                </a:solidFill>
              </a:rPr>
              <a:t>DEM against the solver: MSE, total-emission error, W1 (temperature-shape distance). AIA reconstruction against the observation: MAE, MSE.</a:t>
            </a:r>
          </a:p>
          <a:p>
            <a:pPr algn="l" marL="182880" indent="-182880">
              <a:spcAft>
                <a:spcPts val="900"/>
              </a:spcAft>
              <a:buClr>
                <a:srgbClr val="333333"/>
              </a:buClr>
              <a:buChar char="•"/>
            </a:pPr>
            <a:r>
              <a:rPr sz="1200" b="0" i="0">
                <a:solidFill>
                  <a:srgbClr val="333333"/>
                </a:solidFill>
              </a:rPr>
              <a:t>We also report medians and percentiles: the error is extremely heavy-tailed. For our final BP model, the worst 1% of pixels hold 98% of the DEM error, and the flare cores (0.01% of pixels, 1 in 10,000) alone hold 94%.</a:t>
            </a:r>
          </a:p>
        </p:txBody>
      </p:sp>
      <p:sp>
        <p:nvSpPr>
          <p:cNvPr id="4" name="Rectangle 3"/>
          <p:cNvSpPr/>
          <p:nvPr/>
        </p:nvSpPr>
        <p:spPr>
          <a:xfrm>
            <a:off x="580644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6188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1733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7278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2823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739128"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94576"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5002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0547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60920" y="96012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16368"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71816"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27264"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96012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6188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278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823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912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894576"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50024" y="111556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0547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6092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16368"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71816"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27264"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82712"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38160" y="111556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0644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6188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17336"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72784"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823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739128"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89457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5002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05472"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360920"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16368"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71816"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27264" y="127101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982712"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38160" y="127101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80644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961888"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7278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2823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58368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73912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89457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05002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0547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60920"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516368"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671816"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827264"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982712" y="142646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8138160" y="142646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806440"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6188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1733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27278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823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8368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739128"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94576"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050024"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720547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736092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516368" y="158191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671816"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827264"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982712"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138160" y="158191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80644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96188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1733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27278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2823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58368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739128"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89457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05002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0547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60920"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516368"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671816"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827264"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982712" y="173736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138160" y="173736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80644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96188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117336"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27278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2823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73912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89457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05002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720547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7360920"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7516368"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7671816"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7827264"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7982712" y="189280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8138160" y="189280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80644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96188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11733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72784"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428232"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58368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739128"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89457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705002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720547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360920"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516368"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71816"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27264"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982712" y="204825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38160" y="204825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80644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961888"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11733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272784"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42823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58368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73912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689457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5002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205472"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36092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516368"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71816"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827264"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982712" y="220370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8138160" y="220370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580644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5961888"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611733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6272784"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642823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58368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73912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894576"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05002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205472"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60920"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516368"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671816"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7827264"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7982712" y="235915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138160" y="235915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5806440"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5961888"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11733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627278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642823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658368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673912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6894576"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7050024"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720547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736092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7516368"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671816" y="251460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827264"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982712"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8138160" y="251460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580644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596188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6117336"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27278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2823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58368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73912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689457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05002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205472"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360920"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7516368"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7671816"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7827264" y="2670048"/>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7982712"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8138160" y="2670048"/>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580644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596188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611733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627278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642823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658368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673912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89457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7050024" y="2825496"/>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720547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36092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516368"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71816"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27264"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982712"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38160" y="2825496"/>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580644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596188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611733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627278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642823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6583680"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6739128"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6894576"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705002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720547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736092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7516368"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ectangle 223"/>
          <p:cNvSpPr/>
          <p:nvPr/>
        </p:nvSpPr>
        <p:spPr>
          <a:xfrm>
            <a:off x="7671816"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Rectangle 224"/>
          <p:cNvSpPr/>
          <p:nvPr/>
        </p:nvSpPr>
        <p:spPr>
          <a:xfrm>
            <a:off x="7827264"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7982712" y="2980944"/>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8138160" y="2980944"/>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580644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596188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611733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ectangle 230"/>
          <p:cNvSpPr/>
          <p:nvPr/>
        </p:nvSpPr>
        <p:spPr>
          <a:xfrm>
            <a:off x="627278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642823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6583680"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673912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6894576"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705002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7205472"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736092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7516368"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7671816"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7827264"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7982712" y="3136392"/>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8138160" y="3136392"/>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580644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596188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Rectangle 245"/>
          <p:cNvSpPr/>
          <p:nvPr/>
        </p:nvSpPr>
        <p:spPr>
          <a:xfrm>
            <a:off x="611733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627278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6428232"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658368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673912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689457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705002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720547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736092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Rectangle 254"/>
          <p:cNvSpPr/>
          <p:nvPr/>
        </p:nvSpPr>
        <p:spPr>
          <a:xfrm>
            <a:off x="7516368"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7671816"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7827264"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7982712" y="3291840"/>
            <a:ext cx="155448" cy="155448"/>
          </a:xfrm>
          <a:prstGeom prst="rect">
            <a:avLst/>
          </a:prstGeom>
          <a:solidFill>
            <a:srgbClr val="57068C"/>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8138160" y="3291840"/>
            <a:ext cx="155448" cy="155448"/>
          </a:xfrm>
          <a:prstGeom prst="rect">
            <a:avLst/>
          </a:prstGeom>
          <a:solidFill>
            <a:srgbClr val="F4F1F8"/>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TextBox 259"/>
          <p:cNvSpPr txBox="1"/>
          <p:nvPr/>
        </p:nvSpPr>
        <p:spPr>
          <a:xfrm>
            <a:off x="5806440" y="3520440"/>
            <a:ext cx="2487168" cy="822960"/>
          </a:xfrm>
          <a:prstGeom prst="rect">
            <a:avLst/>
          </a:prstGeom>
          <a:noFill/>
        </p:spPr>
        <p:txBody>
          <a:bodyPr wrap="square" anchor="t" lIns="0" rIns="0" tIns="0" bIns="0">
            <a:spAutoFit/>
          </a:bodyPr>
          <a:lstStyle/>
          <a:p>
            <a:pPr algn="l">
              <a:spcAft>
                <a:spcPts val="600"/>
              </a:spcAft>
            </a:pPr>
            <a:r>
              <a:rPr sz="950" b="1" i="0">
                <a:solidFill>
                  <a:srgbClr val="57068C"/>
                </a:solidFill>
              </a:rPr>
              <a:t>One test day: </a:t>
            </a:r>
            <a:r>
              <a:rPr sz="950" b="0" i="0">
                <a:solidFill>
                  <a:srgbClr val="333333"/>
                </a:solidFill>
              </a:rPr>
              <a:t>2048² DEM image = 256 blocks of 128². One target is scored on its own random 64 (purple). × 5 targets: the clean solve + 4 noisy re-solves.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ElasticNet: the final model, and its flare cores</a:t>
            </a:r>
          </a:p>
        </p:txBody>
      </p:sp>
      <p:graphicFrame>
        <p:nvGraphicFramePr>
          <p:cNvPr id="3" name="Table 2"/>
          <p:cNvGraphicFramePr>
            <a:graphicFrameLocks noGrp="1"/>
          </p:cNvGraphicFramePr>
          <p:nvPr/>
        </p:nvGraphicFramePr>
        <p:xfrm>
          <a:off x="365760" y="914400"/>
          <a:ext cx="4571998" cy="1984248"/>
        </p:xfrm>
        <a:graphic>
          <a:graphicData uri="http://schemas.openxmlformats.org/drawingml/2006/table">
            <a:tbl>
              <a:tblPr firstRow="1" bandRow="1"/>
              <a:tblGrid>
                <a:gridCol w="1925052"/>
                <a:gridCol w="914400"/>
                <a:gridCol w="1010652"/>
                <a:gridCol w="721894"/>
              </a:tblGrid>
              <a:tr h="283464">
                <a:tc>
                  <a:txBody>
                    <a:bodyPr wrap="square"/>
                    <a:lstStyle/>
                    <a:p>
                      <a:pPr algn="l"/>
                      <a:r>
                        <a:rPr sz="1100" b="1">
                          <a:solidFill>
                            <a:srgbClr val="FFFFFF"/>
                          </a:solidFill>
                        </a:rPr>
                        <a:t>ENet flare cores,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Label-free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Supervised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00" b="1">
                          <a:solidFill>
                            <a:srgbClr val="FFFFFF"/>
                          </a:solidFill>
                        </a:rPr>
                        <a:t>Solver</a:t>
                      </a:r>
                    </a:p>
                  </a:txBody>
                  <a:tcPr marL="54864" marR="54864" marT="27432" marB="27432" anchor="ctr">
                    <a:lnL w="0">
                      <a:noFill/>
                    </a:lnL>
                    <a:lnR w="0">
                      <a:noFill/>
                    </a:lnR>
                    <a:lnT w="0">
                      <a:noFill/>
                    </a:lnT>
                    <a:lnB w="6350">
                      <a:solidFill>
                        <a:srgbClr val="D9D3E3"/>
                      </a:solidFill>
                    </a:lnB>
                    <a:solidFill>
                      <a:srgbClr val="57068C"/>
                    </a:solidFill>
                  </a:tcPr>
                </a:tc>
              </a:tr>
              <a:tr h="283464">
                <a:tc>
                  <a:txBody>
                    <a:bodyPr wrap="square"/>
                    <a:lstStyle/>
                    <a:p>
                      <a:pPr algn="l"/>
                      <a:r>
                        <a:rPr sz="1100" b="1">
                          <a:solidFill>
                            <a:srgbClr val="333333"/>
                          </a:solidFill>
                        </a:rPr>
                        <a:t>Share of ENet DEM error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34%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Emission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87%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Peak height vs solver</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94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53%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48%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55%</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171 Å reproduced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97%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70%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100%</a:t>
                      </a:r>
                    </a:p>
                  </a:txBody>
                  <a:tcPr marL="54864" marR="54864" marT="27432" marB="27432" anchor="ctr">
                    <a:lnL w="0">
                      <a:noFill/>
                    </a:lnL>
                    <a:lnR w="0">
                      <a:noFill/>
                    </a:lnR>
                    <a:lnT w="0">
                      <a:noFill/>
                    </a:lnT>
                    <a:lnB w="6350">
                      <a:solidFill>
                        <a:srgbClr val="D9D3E3"/>
                      </a:solidFill>
                    </a:lnB>
                    <a:solidFill>
                      <a:srgbClr val="FFFFFF"/>
                    </a:solidFill>
                  </a:tcPr>
                </a:tc>
              </a:tr>
              <a:tr h="283464">
                <a:tc>
                  <a:txBody>
                    <a:bodyPr wrap="square"/>
                    <a:lstStyle/>
                    <a:p>
                      <a:pPr algn="l"/>
                      <a:r>
                        <a:rPr sz="1100" b="1">
                          <a:solidFill>
                            <a:srgbClr val="333333"/>
                          </a:solidFill>
                        </a:rPr>
                        <a:t>Curves with extra peaks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18%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00" b="0">
                          <a:solidFill>
                            <a:srgbClr val="333333"/>
                          </a:solidFill>
                        </a:rPr>
                        <a:t>21%</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017520"/>
            <a:ext cx="4572000" cy="1371600"/>
          </a:xfrm>
          <a:prstGeom prst="rect">
            <a:avLst/>
          </a:prstGeom>
          <a:noFill/>
        </p:spPr>
        <p:txBody>
          <a:bodyPr wrap="square" anchor="t" lIns="0" rIns="0" tIns="0" bIns="0">
            <a:spAutoFit/>
          </a:bodyPr>
          <a:lstStyle/>
          <a:p>
            <a:pPr algn="l" marL="182880" indent="-182880">
              <a:spcAft>
                <a:spcPts val="300"/>
              </a:spcAft>
              <a:buClr>
                <a:srgbClr val="333333"/>
              </a:buClr>
              <a:buChar char="•"/>
            </a:pPr>
            <a:r>
              <a:rPr sz="1050" b="0" i="0">
                <a:solidFill>
                  <a:srgbClr val="333333"/>
                </a:solidFill>
              </a:rPr>
              <a:t>Final: width 336, √ + Fourier input (chosen on validation), 40 epochs, the solver's α = 0.001, λ = 0.5, C = 6. Ahead of supervised on all six measures (Part 3).</a:t>
            </a:r>
          </a:p>
          <a:p>
            <a:pPr algn="l" marL="182880" indent="-182880">
              <a:spcAft>
                <a:spcPts val="300"/>
              </a:spcAft>
              <a:buClr>
                <a:srgbClr val="333333"/>
              </a:buClr>
              <a:buChar char="•"/>
            </a:pPr>
            <a:r>
              <a:rPr sz="1050" b="0" i="0">
                <a:solidFill>
                  <a:srgbClr val="333333"/>
                </a:solidFill>
              </a:rPr>
              <a:t>No band to price: the fit term is quadratic. At flare cores it reproduces the channels as the solver itself does (94 Å 53% vs 55%).</a:t>
            </a:r>
          </a:p>
          <a:p>
            <a:pPr algn="l" marL="182880" indent="-182880">
              <a:spcAft>
                <a:spcPts val="300"/>
              </a:spcAft>
              <a:buClr>
                <a:srgbClr val="333333"/>
              </a:buClr>
              <a:buChar char="•"/>
            </a:pPr>
            <a:r>
              <a:rPr sz="1050" b="0" i="0">
                <a:solidFill>
                  <a:srgbClr val="333333"/>
                </a:solidFill>
              </a:rPr>
              <a:t>From 722k up, a few bright pixels blow up by orders of magnitude; 336 is the largest stable width.</a:t>
            </a:r>
          </a:p>
        </p:txBody>
      </p:sp>
      <p:pic>
        <p:nvPicPr>
          <p:cNvPr id="5" name="Picture 4" descr="fig4_example_curves_enet.png"/>
          <p:cNvPicPr>
            <a:picLocks noChangeAspect="1"/>
          </p:cNvPicPr>
          <p:nvPr/>
        </p:nvPicPr>
        <p:blipFill>
          <a:blip r:embed="rId3"/>
          <a:stretch>
            <a:fillRect/>
          </a:stretch>
        </p:blipFill>
        <p:spPr>
          <a:xfrm>
            <a:off x="5074920" y="1341882"/>
            <a:ext cx="3703320" cy="2345436"/>
          </a:xfrm>
          <a:prstGeom prst="rect">
            <a:avLst/>
          </a:prstGeom>
        </p:spPr>
      </p:pic>
      <p:sp>
        <p:nvSpPr>
          <p:cNvPr id="6" name="TextBox 5"/>
          <p:cNvSpPr txBox="1"/>
          <p:nvPr/>
        </p:nvSpPr>
        <p:spPr>
          <a:xfrm>
            <a:off x="5074920" y="4114800"/>
            <a:ext cx="3703320" cy="274320"/>
          </a:xfrm>
          <a:prstGeom prst="rect">
            <a:avLst/>
          </a:prstGeom>
          <a:noFill/>
        </p:spPr>
        <p:txBody>
          <a:bodyPr wrap="square" anchor="t" lIns="0" rIns="0" tIns="0" bIns="0">
            <a:spAutoFit/>
          </a:bodyPr>
          <a:lstStyle/>
          <a:p>
            <a:pPr algn="l">
              <a:spcAft>
                <a:spcPts val="0"/>
              </a:spcAft>
            </a:pPr>
            <a:r>
              <a:rPr sz="950" b="0" i="1">
                <a:solidFill>
                  <a:srgbClr val="6B6B6B"/>
                </a:solidFill>
              </a:rPr>
              <a:t>ElasticNet model at random flare cores (top rows). Black solver, blue ours, orange supervised.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the new BP model finds 60% of them</a:t>
            </a:r>
          </a:p>
        </p:txBody>
      </p:sp>
      <p:graphicFrame>
        <p:nvGraphicFramePr>
          <p:cNvPr id="3" name="Table 2"/>
          <p:cNvGraphicFramePr>
            <a:graphicFrameLocks noGrp="1"/>
          </p:cNvGraphicFramePr>
          <p:nvPr/>
        </p:nvGraphicFramePr>
        <p:xfrm>
          <a:off x="365760" y="960120"/>
          <a:ext cx="6035039" cy="1645920"/>
        </p:xfrm>
        <a:graphic>
          <a:graphicData uri="http://schemas.openxmlformats.org/drawingml/2006/table">
            <a:tbl>
              <a:tblPr firstRow="1" bandRow="1"/>
              <a:tblGrid>
                <a:gridCol w="2377440"/>
                <a:gridCol w="1645919"/>
                <a:gridCol w="1005840"/>
                <a:gridCol w="1005840"/>
              </a:tblGrid>
              <a:tr h="329184">
                <a:tc>
                  <a:txBody>
                    <a:bodyPr wrap="square"/>
                    <a:lstStyle/>
                    <a:p>
                      <a:pPr algn="l"/>
                      <a:r>
                        <a:rPr sz="1150" b="1">
                          <a:solidFill>
                            <a:srgbClr val="FFFFFF"/>
                          </a:solidFill>
                        </a:rPr>
                        <a:t>BP track, shared test</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1">
                          <a:solidFill>
                            <a:srgbClr val="333333"/>
                          </a:solidFill>
                        </a:rPr>
                        <a:t>Old BP model (original loss)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9.9%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26%</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1">
                          <a:solidFill>
                            <a:srgbClr val="333333"/>
                          </a:solidFill>
                        </a:rPr>
                        <a:t>New BP model (stiff band)</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15.5%</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53%</a:t>
                      </a:r>
                    </a:p>
                  </a:txBody>
                  <a:tcPr marL="54864" marR="54864" marT="27432" marB="27432" anchor="ctr">
                    <a:lnL w="0">
                      <a:noFill/>
                    </a:lnL>
                    <a:lnR w="0">
                      <a:noFill/>
                    </a:lnR>
                    <a:lnT w="0">
                      <a:noFill/>
                    </a:lnT>
                    <a:lnB w="6350">
                      <a:solidFill>
                        <a:srgbClr val="D9D3E3"/>
                      </a:solidFill>
                    </a:lnB>
                    <a:solidFill>
                      <a:srgbClr val="E3DFE9"/>
                    </a:solidFill>
                  </a:tcPr>
                </a:tc>
                <a:tc>
                  <a:txBody>
                    <a:bodyPr wrap="square"/>
                    <a:lstStyle/>
                    <a:p>
                      <a:pPr algn="r"/>
                      <a:r>
                        <a:rPr sz="1150" b="0">
                          <a:solidFill>
                            <a:srgbClr val="333333"/>
                          </a:solidFill>
                        </a:rPr>
                        <a:t>60%</a:t>
                      </a:r>
                    </a:p>
                  </a:txBody>
                  <a:tcPr marL="54864" marR="54864" marT="27432" marB="27432" anchor="ctr">
                    <a:lnL w="0">
                      <a:noFill/>
                    </a:lnL>
                    <a:lnR w="0">
                      <a:noFill/>
                    </a:lnR>
                    <a:lnT w="0">
                      <a:noFill/>
                    </a:lnT>
                    <a:lnB w="6350">
                      <a:solidFill>
                        <a:srgbClr val="D9D3E3"/>
                      </a:solidFill>
                    </a:lnB>
                    <a:solidFill>
                      <a:srgbClr val="E3DFE9"/>
                    </a:solidFill>
                  </a:tcPr>
                </a:tc>
              </a:tr>
              <a:tr h="329184">
                <a:tc>
                  <a:txBody>
                    <a:bodyPr wrap="square"/>
                    <a:lstStyle/>
                    <a:p>
                      <a:pPr algn="l"/>
                      <a:r>
                        <a:rPr sz="115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743200"/>
            <a:ext cx="8412480" cy="1645920"/>
          </a:xfrm>
          <a:prstGeom prst="rect">
            <a:avLst/>
          </a:prstGeom>
          <a:noFill/>
        </p:spPr>
        <p:txBody>
          <a:bodyPr wrap="square" anchor="t" lIns="0" rIns="0" tIns="0" bIns="0">
            <a:spAutoFit/>
          </a:bodyPr>
          <a:lstStyle/>
          <a:p>
            <a:pPr algn="l" marL="182880" indent="-182880">
              <a:spcAft>
                <a:spcPts val="400"/>
              </a:spcAft>
              <a:buClr>
                <a:srgbClr val="333333"/>
              </a:buClr>
              <a:buChar char="•"/>
            </a:pPr>
            <a:r>
              <a:rPr sz="1100" b="0" i="0">
                <a:solidFill>
                  <a:srgbClr val="333333"/>
                </a:solidFill>
              </a:rPr>
              <a:t>Multi-peaked: two or more interior peaks with prominence ≥ 0.15 of the maximum, on the full shared test set.</a:t>
            </a:r>
          </a:p>
          <a:p>
            <a:pPr algn="l" marL="182880" indent="-182880">
              <a:spcAft>
                <a:spcPts val="400"/>
              </a:spcAft>
              <a:buClr>
                <a:srgbClr val="333333"/>
              </a:buClr>
              <a:buChar char="•"/>
            </a:pPr>
            <a:r>
              <a:rPr sz="1100" b="0" i="0">
                <a:solidFill>
                  <a:srgbClr val="333333"/>
                </a:solidFill>
              </a:rPr>
              <a:t>We flag fewer pixels than the supervised model and are right more often; the stiff band lifted recall from 26% to 60%.</a:t>
            </a:r>
          </a:p>
          <a:p>
            <a:pPr algn="l" marL="182880" indent="-182880">
              <a:spcAft>
                <a:spcPts val="400"/>
              </a:spcAft>
              <a:buClr>
                <a:srgbClr val="333333"/>
              </a:buClr>
              <a:buChar char="•"/>
            </a:pPr>
            <a:r>
              <a:rPr sz="1100" b="0" i="0">
                <a:solidFill>
                  <a:srgbClr val="333333"/>
                </a:solidFill>
              </a:rPr>
              <a:t>Where BP is multi-peaked, our gap from BP is the size of BP's own re-solve scatter (0.97×; 30 re-solves under photon noise at 80 pixels; 0.70× at single-peaked pixels).</a:t>
            </a:r>
          </a:p>
          <a:p>
            <a:pPr algn="l" marL="182880" indent="-182880">
              <a:spcAft>
                <a:spcPts val="400"/>
              </a:spcAft>
              <a:buClr>
                <a:srgbClr val="333333"/>
              </a:buClr>
              <a:buChar char="•"/>
            </a:pPr>
            <a:r>
              <a:rPr sz="1100" b="0" i="0">
                <a:solidFill>
                  <a:srgbClr val="333333"/>
                </a:solidFill>
              </a:rPr>
              <a:t>ElasticNet: the solver is multi-peaked on 62% of pixels; we find 82% of them at 87% precision (supervised: 84% at 80%).</a:t>
            </a:r>
          </a:p>
          <a:p>
            <a:pPr algn="l" marL="182880" indent="-182880">
              <a:spcAft>
                <a:spcPts val="400"/>
              </a:spcAft>
              <a:buClr>
                <a:srgbClr val="333333"/>
              </a:buClr>
              <a:buChar char="•"/>
            </a:pPr>
            <a:r>
              <a:rPr sz="1100" b="0" i="0">
                <a:solidFill>
                  <a:srgbClr val="333333"/>
                </a:solidFill>
              </a:rPr>
              <a:t>At BP flare cores, spurious extra peaks were 42% of the old error and are 3.5% now.</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