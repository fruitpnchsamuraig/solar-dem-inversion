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50" b="1"/>
              <a:t>BP median pixel error by model size (lower is better)</a:t>
            </a:r>
          </a:p>
        </c:rich>
      </c:tx>
      <c:layout/>
      <c:overlay val="0"/>
    </c:title>
    <c:autoTitleDeleted val="0"/>
    <c:plotArea>
      <c:lineChart>
        <c:grouping val="standard"/>
        <c:varyColors val="0"/>
        <c:ser>
          <c:idx val="0"/>
          <c:order val="0"/>
          <c:tx>
            <c:strRef>
              <c:f>Sheet1!$B$1</c:f>
              <c:strCache>
                <c:ptCount val="1"/>
                <c:pt idx="0">
                  <c:v>BP median pixel error</c:v>
                </c:pt>
              </c:strCache>
            </c:strRef>
          </c:tx>
          <c:spPr>
            <a:ln w="25400">
              <a:solidFill>
                <a:srgbClr val="57068C"/>
              </a:solidFill>
            </a:ln>
          </c:spPr>
          <c:marker>
            <c:symbol val="circle"/>
            <c:size val="6"/>
            <c:spPr>
              <a:solidFill>
                <a:srgbClr val="57068C"/>
              </a:solidFill>
              <a:ln>
                <a:solidFill>
                  <a:srgbClr val="57068C"/>
                </a:solidFill>
              </a:ln>
            </c:spPr>
          </c:marker>
          <c:dPt>
            <c:idx val="4"/>
            <c:marker>
              <c:symbol val="circle"/>
              <c:size val="13"/>
              <c:spPr>
                <a:solidFill>
                  <a:srgbClr val="57068C"/>
                </a:solidFill>
                <a:ln>
                  <a:solidFill>
                    <a:srgbClr val="57068C"/>
                  </a:solidFill>
                </a:ln>
              </c:spPr>
            </c:marker>
          </c:dPt>
          <c:cat>
            <c:strRef>
              <c:f>Sheet1!$A$2:$A$8</c:f>
              <c:strCache>
                <c:ptCount val="7"/>
                <c:pt idx="0">
                  <c:v>20k</c:v>
                </c:pt>
                <c:pt idx="1">
                  <c:v>42k</c:v>
                </c:pt>
                <c:pt idx="2">
                  <c:v>87k</c:v>
                </c:pt>
                <c:pt idx="3">
                  <c:v>176k</c:v>
                </c:pt>
                <c:pt idx="4">
                  <c:v>360k</c:v>
                </c:pt>
                <c:pt idx="5">
                  <c:v>722k</c:v>
                </c:pt>
                <c:pt idx="6">
                  <c:v>1.43M</c:v>
                </c:pt>
              </c:strCache>
            </c:strRef>
          </c:cat>
          <c:val>
            <c:numRef>
              <c:f>Sheet1!$B$2:$B$8</c:f>
              <c:numCache>
                <c:formatCode>General</c:formatCode>
                <c:ptCount val="7"/>
                <c:pt idx="0">
                  <c:v>0.068</c:v>
                </c:pt>
                <c:pt idx="1">
                  <c:v>0.047</c:v>
                </c:pt>
                <c:pt idx="2">
                  <c:v>0.043</c:v>
                </c:pt>
                <c:pt idx="3">
                  <c:v>0.03</c:v>
                </c:pt>
                <c:pt idx="4">
                  <c:v>0.026</c:v>
                </c:pt>
                <c:pt idx="5">
                  <c:v>0.025</c:v>
                </c:pt>
                <c:pt idx="6">
                  <c:v>0.023</c:v>
                </c:pt>
              </c:numCache>
            </c:numRef>
          </c:val>
          <c:smooth val="0"/>
        </c:ser>
        <c:dLbls>
          <c:numFmt formatCode="0.000"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0.08"/>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 things to remember. Numbers are from the final models (one 360k MLP per track, fresh pixels) on the shared test set: 153 days never seen in training.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336 with SiLU, 54 non-negative basis weights out; DEM = B times w over 18 bins, logT 5.5 to 7.2; predicted AIA = R times DEM. 360k parameters, one forward pass per pixel. The size is chosen in Part 5.</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run before October seeded each block's pixel draw by the block alone, so it reused the same 30M pixels every epoch. All results from here on use fresh pixels every epoch, as described. The fixed-sample runs scored better: validation loss BP 2.156 against 2.237, ElasticNet 0.0582 against 0.0689, far beyond the 0.2 to 0.4% run-to-run spread; only ElasticNet's flare cores improved with fresh pixels.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MLPs on log1p inputs does well.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~1.5M parameters, fresh pixels, same 917 training days; scored on the 153 test days. The MLP is better on the training objective at every percentile and in every brightness decile on BP (median 0.98 vs 1.01, p99 17.9 vs 18.8, p99.9 51 vs 57). The CNN reconstructs BP's AIA slightly better. This is the fifth comparison; none found a CNN advantage on unseen days.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Fresh-pixel sweep, every width scored on the full test set (results/plots/17_sweep_resample). We choose by validation loss, never by test numbers. BP validation: 2.148 at 360k (best), 2.155 at 1.43M (a tie within run-to-run noise), 2.167 at 722k, 2.237 at 176k. ElasticNet validation is best at 1.43M (0.0528), but its 722k and 1.43M models predict a few bright pixels orders of magnitude too bright (AIA MSE 41,849 and 908,611 against 650 at 360k); validation scores a fixed 512 pixels per block and never saw them. 10k collapsed and is left off the chart. Multi-peak recall is 22-26% from 42k up; the fixed-sample cliff below 176k does not reproduce.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Label-free trains on the observation through R; supervised trains on solver DEMs. Supervised wins the DEM-against-solver metric on both tracks. On ElasticNet we win total-emission error, W1 and AIA MAE (10 times lower); on BP we win W1 and AIA MSE, and the BP DEM MSE is set by flare cores (Part 7). EM error is the total-emission error; W1 is in dex.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Per-pixel error is the squared error summed over the 18 bins. BP percentiles, label-free against supervised: median 0.026 vs 0.112, p90 3.5 vs 2.0, p99 71 vs 27. ElasticNet: median 1.07 vs 1.12, p99 35.5 vs 35.5, p99.9 155 vs 178.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Peaks are counted on the zero-padded curve with prominence 0.15 times the maximum, over the full test set. Self-consistency: 80 multi-peaked bright pixels, 30 BP re-solves each under photon noise; our deviation from BP is 0.97 times BP's own re-solve scatter (0.70 at single-peaked pixels). On ElasticNet both models find ~85% of multi-peaked pixels.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ElasticNet flare cores are close to the solver: 88% of its emission, peak 79% as high, and 20% multi-peaked against the solver's 21%.</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ElasticNet our flare-core reconstruction matches the solver's (94 A: 0.41 vs 0.55; cool channels 1.00 vs 0.98) and beats the supervised model's (0.70 to 0.76 on the cool channels). The supervised model's sqrt plus Fourier input made BP flare cores worse, consistent with a training problem rather than an input-representation one.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In one slide</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is enough</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360k-parameter MLP on one pixel's 6 intensities: one forward pass per pixel, no neighbourhood.</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Close to the supervised model</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BP: typical-pixel error 4× lower (median 0.026 vs 0.112). ElasticNet: same error on 90% of pixels, 10× lower AIA error.</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the open problem</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0.01% of pixels, ~90% of the BP error. There our BP model misses the hot channels: a training problem.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360k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336,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360k parameters (size chosen in Part 5);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fresh random pixels from each of the 58,688 blocks(917*64), for 40 epochs.</a:t>
            </a:r>
          </a:p>
          <a:p>
            <a:pPr algn="l" marL="182880" indent="-182880">
              <a:spcAft>
                <a:spcPts val="700"/>
              </a:spcAft>
              <a:buClr>
                <a:srgbClr val="333333"/>
              </a:buClr>
              <a:buChar char="•"/>
            </a:pPr>
            <a:r>
              <a:rPr sz="1250" b="0" i="0">
                <a:solidFill>
                  <a:srgbClr val="333333"/>
                </a:solidFill>
              </a:rPr>
              <a:t>Earlier runs reused one fixed ~30M-pixel sample (a sampler bug); at the old 176k size it scored better on validation (BP 4%, ElasticNet 18%).</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loss gives BP's DEMs?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on four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Scaling to the full dataset</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broke at full scale, and how we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log1p on the input only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(one pixel in 5 million once made up 94% of a model's mean loss).</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Experiments at scale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CNN or MLP, and how big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beat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matched at ~1.5M parameters each, fresh pixels; scored on the 153 test days. (The final model is smaller: next slide.)</a:t>
            </a:r>
          </a:p>
        </p:txBody>
      </p:sp>
      <p:graphicFrame>
        <p:nvGraphicFramePr>
          <p:cNvPr id="4" name="Table 3"/>
          <p:cNvGraphicFramePr>
            <a:graphicFrameLocks noGrp="1"/>
          </p:cNvGraphicFramePr>
          <p:nvPr/>
        </p:nvGraphicFramePr>
        <p:xfrm>
          <a:off x="365760" y="1417320"/>
          <a:ext cx="8412477" cy="1645920"/>
        </p:xfrm>
        <a:graphic>
          <a:graphicData uri="http://schemas.openxmlformats.org/drawingml/2006/table">
            <a:tbl>
              <a:tblPr firstRow="1" bandRow="1"/>
              <a:tblGrid>
                <a:gridCol w="2877953"/>
                <a:gridCol w="1438976"/>
                <a:gridCol w="1438976"/>
                <a:gridCol w="1328286"/>
                <a:gridCol w="1328286"/>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Training objective (test)</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2.07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0.245</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BP objective: median /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0.98 /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 / 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5.17</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4.73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0.82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24612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Choosing the model: 360k parameters, for both tracks</a:t>
            </a:r>
          </a:p>
        </p:txBody>
      </p:sp>
      <p:graphicFrame>
        <p:nvGraphicFramePr>
          <p:cNvPr id="3" name="Chart 2"/>
          <p:cNvGraphicFramePr>
            <a:graphicFrameLocks noGrp="1"/>
          </p:cNvGraphicFramePr>
          <p:nvPr/>
        </p:nvGraphicFramePr>
        <p:xfrm>
          <a:off x="365760" y="914400"/>
          <a:ext cx="484632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440680" y="960120"/>
            <a:ext cx="3337560" cy="320040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We choose by validation loss, never by the test set.</a:t>
            </a:r>
          </a:p>
          <a:p>
            <a:pPr algn="l" marL="182880" indent="-182880">
              <a:spcAft>
                <a:spcPts val="700"/>
              </a:spcAft>
              <a:buClr>
                <a:srgbClr val="333333"/>
              </a:buClr>
              <a:buChar char="•"/>
            </a:pPr>
            <a:r>
              <a:rPr sz="1150" b="0" i="0">
                <a:solidFill>
                  <a:srgbClr val="333333"/>
                </a:solidFill>
              </a:rPr>
              <a:t>BP: validation is best at 360k; 1.43M ties, but only nudges the typical pixel (0.026 → 0.023) at 4× the size and with worse tails.</a:t>
            </a:r>
          </a:p>
          <a:p>
            <a:pPr algn="l" marL="182880" indent="-182880">
              <a:spcAft>
                <a:spcPts val="700"/>
              </a:spcAft>
              <a:buClr>
                <a:srgbClr val="333333"/>
              </a:buClr>
              <a:buChar char="•"/>
            </a:pPr>
            <a:r>
              <a:rPr sz="1150" b="0" i="0">
                <a:solidFill>
                  <a:srgbClr val="333333"/>
                </a:solidFill>
              </a:rPr>
              <a:t>ElasticNet: from 722k up, a few bright pixels blow up by orders of magnitude; 360k is the largest stable size.</a:t>
            </a:r>
          </a:p>
          <a:p>
            <a:pPr algn="l" marL="182880" indent="-182880">
              <a:spcAft>
                <a:spcPts val="700"/>
              </a:spcAft>
              <a:buClr>
                <a:srgbClr val="333333"/>
              </a:buClr>
              <a:buChar char="•"/>
            </a:pPr>
            <a:r>
              <a:rPr sz="1150" b="0" i="0">
                <a:solidFill>
                  <a:srgbClr val="333333"/>
                </a:solidFill>
              </a:rPr>
              <a:t>With the old fixed sample nothing above 176k helped; with fresh pixels, size pays off up to here.</a:t>
            </a:r>
          </a:p>
        </p:txBody>
      </p:sp>
      <p:sp>
        <p:nvSpPr>
          <p:cNvPr id="5" name="TextBox 4"/>
          <p:cNvSpPr txBox="1"/>
          <p:nvPr/>
        </p:nvSpPr>
        <p:spPr>
          <a:xfrm>
            <a:off x="365760" y="4023360"/>
            <a:ext cx="8412480" cy="320040"/>
          </a:xfrm>
          <a:prstGeom prst="rect">
            <a:avLst/>
          </a:prstGeom>
          <a:noFill/>
        </p:spPr>
        <p:txBody>
          <a:bodyPr wrap="square" anchor="t" lIns="0" rIns="0" tIns="0" bIns="0">
            <a:spAutoFit/>
          </a:bodyPr>
          <a:lstStyle/>
          <a:p>
            <a:pPr algn="l">
              <a:spcAft>
                <a:spcPts val="600"/>
              </a:spcAft>
            </a:pPr>
            <a:r>
              <a:rPr sz="1300" b="1" i="0">
                <a:solidFill>
                  <a:srgbClr val="57068C"/>
                </a:solidFill>
              </a:rPr>
              <a:t>Final: one 360k-parameter MLP per track (4 hidden layers of 336).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6</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supervised: close on ElasticNet, behind on BP's DEM error</a:t>
            </a:r>
          </a:p>
        </p:txBody>
      </p:sp>
      <p:graphicFrame>
        <p:nvGraphicFramePr>
          <p:cNvPr id="3" name="Table 2"/>
          <p:cNvGraphicFramePr>
            <a:graphicFrameLocks noGrp="1"/>
          </p:cNvGraphicFramePr>
          <p:nvPr/>
        </p:nvGraphicFramePr>
        <p:xfrm>
          <a:off x="365760" y="1005840"/>
          <a:ext cx="8412476" cy="1920240"/>
        </p:xfrm>
        <a:graphic>
          <a:graphicData uri="http://schemas.openxmlformats.org/drawingml/2006/table">
            <a:tbl>
              <a:tblPr firstRow="1" bandRow="1"/>
              <a:tblGrid>
                <a:gridCol w="2503714"/>
                <a:gridCol w="1201782"/>
                <a:gridCol w="1201782"/>
                <a:gridCol w="1101634"/>
                <a:gridCol w="1201782"/>
                <a:gridCol w="1201782"/>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19.6%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12.7%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0.60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650</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8229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ElasticNet: we win emission, W1 and AIA MAE (10× lower). BP: we win W1 and AIA MSE; the DEM error is set by flare cores (Part 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0.026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~4×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98%</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~4× closer to the solver than the supervised model.</a:t>
            </a:r>
          </a:p>
          <a:p>
            <a:pPr algn="l" marL="182880" indent="-182880">
              <a:spcAft>
                <a:spcPts val="1200"/>
              </a:spcAft>
              <a:buClr>
                <a:srgbClr val="333333"/>
              </a:buClr>
              <a:buChar char="•"/>
            </a:pPr>
            <a:r>
              <a:rPr sz="1300" b="0" i="0">
                <a:solidFill>
                  <a:srgbClr val="333333"/>
                </a:solidFill>
              </a:rPr>
              <a:t>From the 90th percentile up, supervised is better on BP (p99: 27 vs 71).</a:t>
            </a:r>
          </a:p>
          <a:p>
            <a:pPr algn="l" marL="182880" indent="-182880">
              <a:spcAft>
                <a:spcPts val="1200"/>
              </a:spcAft>
              <a:buClr>
                <a:srgbClr val="333333"/>
              </a:buClr>
              <a:buChar char="•"/>
            </a:pPr>
            <a:r>
              <a:rPr sz="1300" b="0" i="0">
                <a:solidFill>
                  <a:srgbClr val="333333"/>
                </a:solidFill>
              </a:rPr>
              <a:t>ElasticNet: ours is as good or better at the median, p99 and p99.9.</a:t>
            </a:r>
          </a:p>
          <a:p>
            <a:pPr algn="l" marL="182880" indent="-182880">
              <a:spcAft>
                <a:spcPts val="1200"/>
              </a:spcAft>
              <a:buClr>
                <a:srgbClr val="333333"/>
              </a:buClr>
              <a:buChar char="•"/>
            </a:pPr>
            <a:r>
              <a:rPr sz="1300" b="0" i="0">
                <a:solidFill>
                  <a:srgbClr val="333333"/>
                </a:solidFill>
              </a:rPr>
              <a:t>The BP average is set by the worst 1% of pixels, for both models.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we find a quarter, within BP's own noise</a:t>
            </a:r>
          </a:p>
        </p:txBody>
      </p:sp>
      <p:graphicFrame>
        <p:nvGraphicFramePr>
          <p:cNvPr id="3" name="Table 2"/>
          <p:cNvGraphicFramePr>
            <a:graphicFrameLocks noGrp="1"/>
          </p:cNvGraphicFramePr>
          <p:nvPr/>
        </p:nvGraphicFramePr>
        <p:xfrm>
          <a:off x="365760" y="1005840"/>
          <a:ext cx="5669280" cy="1463040"/>
        </p:xfrm>
        <a:graphic>
          <a:graphicData uri="http://schemas.openxmlformats.org/drawingml/2006/table">
            <a:tbl>
              <a:tblPr firstRow="1" bandRow="1"/>
              <a:tblGrid>
                <a:gridCol w="1645920"/>
                <a:gridCol w="1828800"/>
                <a:gridCol w="1097280"/>
                <a:gridCol w="1097280"/>
              </a:tblGrid>
              <a:tr h="365760">
                <a:tc>
                  <a:txBody>
                    <a:bodyPr wrap="square"/>
                    <a:lstStyle/>
                    <a:p>
                      <a:pPr algn="l"/>
                      <a:r>
                        <a:rPr sz="1200" b="1">
                          <a:solidFill>
                            <a:srgbClr val="FFFFFF"/>
                          </a:solidFill>
                        </a:rPr>
                        <a:t>BP track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Flagged multi-peaked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Precision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Recall</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200" b="1">
                          <a:solidFill>
                            <a:srgbClr val="333333"/>
                          </a:solidFill>
                        </a:rPr>
                        <a:t>Solver (BP)</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13.5% of pixels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36%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72%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2697480"/>
            <a:ext cx="8412480" cy="12801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We flag few pixels and are right more often; the supervised model flags many and misses few.</a:t>
            </a:r>
          </a:p>
          <a:p>
            <a:pPr algn="l" marL="182880" indent="-182880">
              <a:spcAft>
                <a:spcPts val="600"/>
              </a:spcAft>
              <a:buClr>
                <a:srgbClr val="333333"/>
              </a:buClr>
              <a:buChar char="•"/>
            </a:pPr>
            <a:r>
              <a:rPr sz="1250" b="0" i="0">
                <a:solidFill>
                  <a:srgbClr val="333333"/>
                </a:solidFill>
              </a:rPr>
              <a:t>Where BP is multi-peaked, our gap from BP is the size of BP's own re-solve scatter (0.97×): re-solving under photon noise moves BP's answer as much.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7</a:t>
            </a:r>
            <a:br/>
            <a:r>
              <a:rPr sz="4100"/>
              <a:t>Failures: bright pixels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Where the error is,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BP error</a:t>
            </a:r>
          </a:p>
        </p:txBody>
      </p:sp>
      <p:sp>
        <p:nvSpPr>
          <p:cNvPr id="3" name="TextBox 2"/>
          <p:cNvSpPr txBox="1"/>
          <p:nvPr/>
        </p:nvSpPr>
        <p:spPr>
          <a:xfrm>
            <a:off x="365760" y="914400"/>
            <a:ext cx="320040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Pixels at 32× the Bright cutoff or more: 0.01% of pixels, 90% of our BP DEM error, 90% of the supervised model's.</a:t>
            </a:r>
          </a:p>
          <a:p>
            <a:pPr algn="l" marL="182880" indent="-182880">
              <a:spcAft>
                <a:spcPts val="1000"/>
              </a:spcAft>
              <a:buClr>
                <a:srgbClr val="333333"/>
              </a:buClr>
              <a:buChar char="•"/>
            </a:pPr>
            <a:r>
              <a:rPr sz="1250" b="0" i="0">
                <a:solidFill>
                  <a:srgbClr val="333333"/>
                </a:solidFill>
              </a:rPr>
              <a:t>So the squared-error metric itself is set by flare cores, for both models.</a:t>
            </a:r>
          </a:p>
          <a:p>
            <a:pPr algn="l" marL="182880" indent="-182880">
              <a:spcAft>
                <a:spcPts val="1000"/>
              </a:spcAft>
              <a:buClr>
                <a:srgbClr val="333333"/>
              </a:buClr>
              <a:buChar char="•"/>
            </a:pPr>
            <a:r>
              <a:rPr sz="1250" b="0" i="0">
                <a:solidFill>
                  <a:srgbClr val="333333"/>
                </a:solidFill>
              </a:rPr>
              <a:t>Ordinary Bright pixels (1–10×): 10% of pixels, 4% of our error (supervised 5.5%).</a:t>
            </a:r>
          </a:p>
        </p:txBody>
      </p:sp>
      <p:pic>
        <p:nvPicPr>
          <p:cNvPr id="4" name="Picture 3" descr="fig1_error_share_by_brightness.png"/>
          <p:cNvPicPr>
            <a:picLocks noChangeAspect="1"/>
          </p:cNvPicPr>
          <p:nvPr/>
        </p:nvPicPr>
        <p:blipFill>
          <a:blip r:embed="rId2"/>
          <a:stretch>
            <a:fillRect/>
          </a:stretch>
        </p:blipFill>
        <p:spPr>
          <a:xfrm>
            <a:off x="3703320" y="1159727"/>
            <a:ext cx="5074920" cy="284690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BP, our gap grows with brightness; on ElasticNet it stays small</a:t>
            </a:r>
          </a:p>
        </p:txBody>
      </p:sp>
      <p:sp>
        <p:nvSpPr>
          <p:cNvPr id="3" name="TextBox 2"/>
          <p:cNvSpPr txBox="1"/>
          <p:nvPr/>
        </p:nvSpPr>
        <p:spPr>
          <a:xfrm>
            <a:off x="365760" y="868680"/>
            <a:ext cx="8412480" cy="8229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our error / supervised: 0.64 on the faintest pixels, 1.8 at 0.3–1×, 5 at 3–10×, 18 at 10–32×.</a:t>
            </a:r>
          </a:p>
          <a:p>
            <a:pPr algn="l" marL="182880" indent="-182880">
              <a:spcAft>
                <a:spcPts val="400"/>
              </a:spcAft>
              <a:buClr>
                <a:srgbClr val="333333"/>
              </a:buClr>
              <a:buChar char="•"/>
            </a:pPr>
            <a:r>
              <a:rPr sz="1200" b="0" i="0">
                <a:solidFill>
                  <a:srgbClr val="333333"/>
                </a:solidFill>
              </a:rPr>
              <a:t>ElasticNet: 1.0–1.07 below 3× (90% of pixels), 1.5 at 3–10×, 7 at 10–32×, 1.6 at flare cores.</a:t>
            </a:r>
          </a:p>
        </p:txBody>
      </p:sp>
      <p:pic>
        <p:nvPicPr>
          <p:cNvPr id="4" name="Picture 3" descr="fig2_relative_error_by_brightness.png"/>
          <p:cNvPicPr>
            <a:picLocks noChangeAspect="1"/>
          </p:cNvPicPr>
          <p:nvPr/>
        </p:nvPicPr>
        <p:blipFill>
          <a:blip r:embed="rId2"/>
          <a:stretch>
            <a:fillRect/>
          </a:stretch>
        </p:blipFill>
        <p:spPr>
          <a:xfrm>
            <a:off x="1435395" y="1691640"/>
            <a:ext cx="6273209" cy="26974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under-predicts and runs too cool</a:t>
            </a:r>
          </a:p>
        </p:txBody>
      </p:sp>
      <p:sp>
        <p:nvSpPr>
          <p:cNvPr id="3" name="TextBox 2"/>
          <p:cNvSpPr txBox="1"/>
          <p:nvPr/>
        </p:nvSpPr>
        <p:spPr>
          <a:xfrm>
            <a:off x="365760" y="914400"/>
            <a:ext cx="329184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BP flare cores: 40% of the solver's emission, peak 23% as high, 0.2 dex too cool.</a:t>
            </a:r>
          </a:p>
          <a:p>
            <a:pPr algn="l" marL="182880" indent="-182880">
              <a:spcAft>
                <a:spcPts val="1000"/>
              </a:spcAft>
              <a:buClr>
                <a:srgbClr val="333333"/>
              </a:buClr>
              <a:buChar char="•"/>
            </a:pPr>
            <a:r>
              <a:rPr sz="1250" b="0" i="0">
                <a:solidFill>
                  <a:srgbClr val="333333"/>
                </a:solidFill>
              </a:rPr>
              <a:t>83% of our flare-core DEMs have extra peaks (solver 18%); those spurious peaks are 42% of our BP error.</a:t>
            </a:r>
          </a:p>
          <a:p>
            <a:pPr algn="l" marL="182880" indent="-182880">
              <a:spcAft>
                <a:spcPts val="1000"/>
              </a:spcAft>
              <a:buClr>
                <a:srgbClr val="333333"/>
              </a:buClr>
              <a:buChar char="•"/>
            </a:pPr>
            <a:r>
              <a:rPr sz="1250" b="0" i="0">
                <a:solidFill>
                  <a:srgbClr val="333333"/>
                </a:solidFill>
              </a:rPr>
              <a:t>It tracks the solver's peak height up to a peak of ~100, then falls away.</a:t>
            </a:r>
          </a:p>
        </p:txBody>
      </p:sp>
      <p:pic>
        <p:nvPicPr>
          <p:cNvPr id="4" name="Picture 3" descr="fig4_example_curves_bp.png"/>
          <p:cNvPicPr>
            <a:picLocks noChangeAspect="1"/>
          </p:cNvPicPr>
          <p:nvPr/>
        </p:nvPicPr>
        <p:blipFill>
          <a:blip r:embed="rId3"/>
          <a:stretch>
            <a:fillRect/>
          </a:stretch>
        </p:blipFill>
        <p:spPr>
          <a:xfrm>
            <a:off x="3749039" y="990600"/>
            <a:ext cx="5029200" cy="3185160"/>
          </a:xfrm>
          <a:prstGeom prst="rect">
            <a:avLst/>
          </a:prstGeom>
        </p:spPr>
      </p:pic>
      <p:sp>
        <p:nvSpPr>
          <p:cNvPr id="5" name="TextBox 4"/>
          <p:cNvSpPr txBox="1"/>
          <p:nvPr/>
        </p:nvSpPr>
        <p:spPr>
          <a:xfrm>
            <a:off x="3749039" y="4206240"/>
            <a:ext cx="5029200" cy="274320"/>
          </a:xfrm>
          <a:prstGeom prst="rect">
            <a:avLst/>
          </a:prstGeom>
          <a:noFill/>
        </p:spPr>
        <p:txBody>
          <a:bodyPr wrap="square" anchor="t" lIns="0" rIns="0" tIns="0" bIns="0">
            <a:spAutoFit/>
          </a:bodyPr>
          <a:lstStyle/>
          <a:p>
            <a:pPr algn="l">
              <a:spcAft>
                <a:spcPts val="0"/>
              </a:spcAft>
            </a:pPr>
            <a:r>
              <a:rPr sz="950" b="0" i="1">
                <a:solidFill>
                  <a:srgbClr val="6B6B6B"/>
                </a:solidFill>
              </a:rPr>
              <a:t>Random BP pixels, top rows flare cores. Black solver, blue ours, orange supervised.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fails its own objective</a:t>
            </a:r>
          </a:p>
        </p:txBody>
      </p:sp>
      <p:sp>
        <p:nvSpPr>
          <p:cNvPr id="3" name="TextBox 2"/>
          <p:cNvSpPr txBox="1"/>
          <p:nvPr/>
        </p:nvSpPr>
        <p:spPr>
          <a:xfrm>
            <a:off x="365760" y="86868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the solver's DEM reproduces 92% of the observed 94 Å; ours reproduces 23% (131 Å: 76%). The cool channels are fit to within a few percent.</a:t>
            </a:r>
          </a:p>
          <a:p>
            <a:pPr algn="l" marL="182880" indent="-182880">
              <a:spcAft>
                <a:spcPts val="400"/>
              </a:spcAft>
              <a:buClr>
                <a:srgbClr val="333333"/>
              </a:buClr>
              <a:buChar char="•"/>
            </a:pPr>
            <a:r>
              <a:rPr sz="1200" b="1" i="0">
                <a:solidFill>
                  <a:srgbClr val="57068C"/>
                </a:solidFill>
              </a:rPr>
              <a:t>So better DEMs exist inside our basis: a training problem, not a representation limit.</a:t>
            </a:r>
          </a:p>
        </p:txBody>
      </p:sp>
      <p:pic>
        <p:nvPicPr>
          <p:cNvPr id="4" name="Picture 3" descr="fig5_aia_fit_flare_cores.png"/>
          <p:cNvPicPr>
            <a:picLocks noChangeAspect="1"/>
          </p:cNvPicPr>
          <p:nvPr/>
        </p:nvPicPr>
        <p:blipFill>
          <a:blip r:embed="rId3"/>
          <a:stretch>
            <a:fillRect/>
          </a:stretch>
        </p:blipFill>
        <p:spPr>
          <a:xfrm>
            <a:off x="1334386" y="1737360"/>
            <a:ext cx="6475227" cy="26517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0.4%</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Bright error comes from the solver's own spread across its 5 targets (ENet 6%)</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1.2%</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comes from missing the solver's second peak</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Solver noise: re-solving under photon noise barely moves the solver at bright pixels, so it is not the label.</a:t>
            </a:r>
          </a:p>
          <a:p>
            <a:pPr algn="l" marL="182880" indent="-182880">
              <a:spcAft>
                <a:spcPts val="1200"/>
              </a:spcAft>
              <a:buClr>
                <a:srgbClr val="333333"/>
              </a:buClr>
              <a:buChar char="•"/>
            </a:pPr>
            <a:r>
              <a:rPr sz="1300" b="0" i="0">
                <a:solidFill>
                  <a:srgbClr val="333333"/>
                </a:solidFill>
              </a:rPr>
              <a:t>Missed double peaks: small.</a:t>
            </a:r>
          </a:p>
          <a:p>
            <a:pPr algn="l" marL="182880" indent="-182880">
              <a:spcAft>
                <a:spcPts val="1200"/>
              </a:spcAft>
              <a:buClr>
                <a:srgbClr val="333333"/>
              </a:buClr>
              <a:buChar char="•"/>
            </a:pPr>
            <a:r>
              <a:rPr sz="1300" b="1" i="0">
                <a:solidFill>
                  <a:srgbClr val="57068C"/>
                </a:solidFill>
              </a:rPr>
              <a:t>What remains is the BP flare-core shortfall and the spurious peaks.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8</a:t>
            </a:r>
            <a:br/>
            <a:r>
              <a:rPr sz="4100"/>
              <a:t>Lessons and 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Simple scales</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A centre-pixel MLP; the patch CNN never won on unseen days.</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Size needs data</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With one fixed 30M-pixel sample, nothing above 176k helped; with fresh pixels, size pays off up to 360k.</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Heavy tails</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Report medians and percentiles: a handful of pixels can own the mean, or blow up.</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The open failure</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BP flare cores. The model misses the hot channels there: a training problem.</a:t>
            </a:r>
          </a:p>
        </p:txBody>
      </p:sp>
      <p:sp>
        <p:nvSpPr>
          <p:cNvPr id="18" name="Rounded Rectangle 17"/>
          <p:cNvSpPr/>
          <p:nvPr/>
        </p:nvSpPr>
        <p:spPr>
          <a:xfrm>
            <a:off x="609600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059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6. Tried, didn't help</a:t>
            </a:r>
          </a:p>
        </p:txBody>
      </p:sp>
      <p:sp>
        <p:nvSpPr>
          <p:cNvPr id="20" name="TextBox 19"/>
          <p:cNvSpPr txBox="1"/>
          <p:nvPr/>
        </p:nvSpPr>
        <p:spPr>
          <a:xfrm>
            <a:off x="626059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supervised model's sqrt + Fourier input made BP flare cores worse.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BP: oversample or up-weight the brightest pixels. ElasticNet: keep big models from blowing up on rare pixels.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Validate on every pixel</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sampled validation set missed the ElasticNet blow-ups; score all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Predict the 18 bins instead of 54 basis weights (deferred).</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 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distribution over DEMs from the noisy re-solves; XRT for the hot plasma.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0" i="0">
                <a:solidFill>
                  <a:srgbClr val="333333"/>
                </a:solidFill>
              </a:rPr>
              <a:t>Which metric should lead the paper? DEM MSE is set by 0.01% of pixels; the median, W1 and AIA reconstruction tell a different story.</a:t>
            </a:r>
          </a:p>
          <a:p>
            <a:pPr algn="l" marL="182880" indent="-182880">
              <a:spcAft>
                <a:spcPts val="1400"/>
              </a:spcAft>
              <a:buClr>
                <a:srgbClr val="333333"/>
              </a:buClr>
              <a:buChar char="•"/>
            </a:pPr>
            <a:r>
              <a:rPr sz="1400" b="0" i="0">
                <a:solidFill>
                  <a:srgbClr val="333333"/>
                </a:solidFill>
              </a:rPr>
              <a:t>Is fixing flare cores worth changing the training objective, or do we report it as the known limitation?</a:t>
            </a:r>
          </a:p>
          <a:p>
            <a:pPr algn="l" marL="182880" indent="-182880">
              <a:spcAft>
                <a:spcPts val="1400"/>
              </a:spcAft>
              <a:buClr>
                <a:srgbClr val="333333"/>
              </a:buClr>
              <a:buChar char="•"/>
            </a:pPr>
            <a:r>
              <a:rPr sz="1400" b="0" i="0">
                <a:solidFill>
                  <a:srgbClr val="333333"/>
                </a:solidFill>
              </a:rPr>
              <a:t>Next model change: up-weight flare cores, or predict the 18 bins directly?</a:t>
            </a:r>
          </a:p>
          <a:p>
            <a:pPr algn="l" marL="182880" indent="-182880">
              <a:spcAft>
                <a:spcPts val="1400"/>
              </a:spcAft>
              <a:buClr>
                <a:srgbClr val="333333"/>
              </a:buClr>
              <a:buChar char="•"/>
            </a:pPr>
            <a:r>
              <a:rPr sz="1400" b="0" i="0">
                <a:solidFill>
                  <a:srgbClr val="333333"/>
                </a:solidFill>
              </a:rPr>
              <a:t>Is AIA + XRT in scope for this paper?</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