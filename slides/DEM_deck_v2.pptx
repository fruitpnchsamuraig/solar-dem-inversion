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1,223 Hofmeister-deconvolved timestamps, split by day into 917 train, 153 validation and 153 test. The networks never see a test day in training. DEM metrics compare each network with the solver's DEM: MSE, total-emission error and W1. AIA reconstruction compares all three with the observation: MAE and MSE.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Label-free (ours)</a:t>
            </a:r>
          </a:p>
          <a:p>
            <a:pPr algn="l">
              <a:spcAft>
                <a:spcPts val="200"/>
              </a:spcAft>
            </a:pPr>
            <a:r>
              <a:rPr sz="1000" b="0" i="0">
                <a:solidFill>
                  <a:srgbClr val="6B6B6B"/>
                </a:solidFill>
              </a:rPr>
              <a:t>learns the solver's objective</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 0, as in the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1" i="0">
                <a:solidFill>
                  <a:srgbClr val="57068C"/>
                </a:solidFill>
              </a:rPr>
              <a:t>Why weights, not bins: the solvers work this way. </a:t>
            </a: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Three routes to a DEM, compared on the same test</a:t>
            </a:r>
          </a:p>
        </p:txBody>
      </p:sp>
      <p:sp>
        <p:nvSpPr>
          <p:cNvPr id="3" name="TextBox 2"/>
          <p:cNvSpPr txBox="1"/>
          <p:nvPr/>
        </p:nvSpPr>
        <p:spPr>
          <a:xfrm>
            <a:off x="365760" y="1005840"/>
            <a:ext cx="8412480" cy="301752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1" i="0">
                <a:solidFill>
                  <a:srgbClr val="57068C"/>
                </a:solidFill>
              </a:rPr>
              <a:t>Solver (BP, ElasticNet): </a:t>
            </a:r>
            <a:r>
              <a:rPr sz="1400" b="0" i="0">
                <a:solidFill>
                  <a:srgbClr val="333333"/>
                </a:solidFill>
              </a:rPr>
              <a:t>optimises its objective for each pixel. This is the reference.</a:t>
            </a:r>
          </a:p>
          <a:p>
            <a:pPr algn="l" marL="182880" indent="-182880">
              <a:spcAft>
                <a:spcPts val="1400"/>
              </a:spcAft>
              <a:buClr>
                <a:srgbClr val="333333"/>
              </a:buClr>
              <a:buChar char="•"/>
            </a:pPr>
            <a:r>
              <a:rPr sz="1400" b="1" i="0">
                <a:solidFill>
                  <a:srgbClr val="57068C"/>
                </a:solidFill>
              </a:rPr>
              <a:t>Supervised network: </a:t>
            </a:r>
            <a:r>
              <a:rPr sz="1400" b="0" i="0">
                <a:solidFill>
                  <a:srgbClr val="333333"/>
                </a:solidFill>
              </a:rPr>
              <a:t>learns to predict the solver's DEMs, so it needs them as labels.</a:t>
            </a:r>
          </a:p>
          <a:p>
            <a:pPr algn="l" marL="182880" indent="-182880">
              <a:spcAft>
                <a:spcPts val="1400"/>
              </a:spcAft>
              <a:buClr>
                <a:srgbClr val="333333"/>
              </a:buClr>
              <a:buChar char="•"/>
            </a:pPr>
            <a:r>
              <a:rPr sz="1400" b="1" i="0">
                <a:solidFill>
                  <a:srgbClr val="57068C"/>
                </a:solidFill>
              </a:rPr>
              <a:t>Label-free network (ours): </a:t>
            </a:r>
            <a:r>
              <a:rPr sz="1400" b="0" i="0">
                <a:solidFill>
                  <a:srgbClr val="333333"/>
                </a:solidFill>
              </a:rPr>
              <a:t>learns to minimise the solver's objective, with no labels.</a:t>
            </a:r>
          </a:p>
          <a:p>
            <a:pPr algn="l" marL="182880" indent="-182880">
              <a:spcAft>
                <a:spcPts val="1400"/>
              </a:spcAft>
              <a:buClr>
                <a:srgbClr val="333333"/>
              </a:buClr>
              <a:buChar char="•"/>
            </a:pPr>
            <a:r>
              <a:rPr sz="1400" b="1" i="0">
                <a:solidFill>
                  <a:srgbClr val="57068C"/>
                </a:solidFill>
              </a:rPr>
              <a:t>Same test for all: </a:t>
            </a:r>
            <a:r>
              <a:rPr sz="1400" b="0" i="0">
                <a:solidFill>
                  <a:srgbClr val="333333"/>
                </a:solidFill>
              </a:rPr>
              <a:t>153 days never seen in training, identical pixels. DEM metrics against the solver; AIA reconstruction against the observation.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