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log-intensities in, four hidden layers of 232 with SiLU, 54 non-negative basis weights out; DEM = B times w over 18 bins, logT 5.5 to 7.2; predicted AIA = R times DEM. 176k parameters, one forward pass per pixel.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split is chronological, so every test image is later than anything seen in training. Each epoch draws 512 pixels from each of 58,688 training blocks: 917 images times 64 blocks of 256 squared. The test set uses 64 random 128-squared blocks of each test image per solver target, five targets per image: one clean solve and four re-solves under simulated photon noise of the same observation. Pixels where deconvolution clamped a bright channel to zero, about 5%, are excluded.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of Part 3 uses four images: two X-class flares, quiet Sun and moderate activity. The first MLP is the same architecture as today's production model, four hidden layers with SiLU and a softplus output, at width 256 with raw intensities as input. Its noise was put down at the time to the overlapping basis amplifying small weight errors, and to the problem's non-uniqueness. Its checkpoint was not kept, so there is no figure of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shuffled-patch CNN applies a fixed random permutation to the 81 patch pixels and nearly matches the CNN, so the gain came from neighbouring values more than from geometry. The flat-patch MLP was erratic across images: 1.61 on the X2.1 flare, 2.27 on quiet Sun. Capacity and setup were never fully separated: the 213k MLP took raw intensities, and at full scale a 176k MLP on log1p inputs is smooth.</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Held-out sparsity by fold, MLP against CNN, with BP in brackets: X2.1 flare 1.59 vs 1.64 (1.97); quiet Sun 1.78 vs 1.61 (1.67); moderate 1.83 vs 1.83 (1.82); X1.6 flare 1.96 vs 2.31 (1.71). The ablation's in-sample edge, 1.70 vs 1.89, came from scoring pixels of images the model trained on. Four folds is a small sample; scaling is the real test.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learns the solver's objective implicitly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176k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log-intensities in; 4 hidden layers of 232,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176k parameters; one forward pass per pixel.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2011680"/>
            <a:ext cx="8412480" cy="2377440"/>
          </a:xfrm>
          <a:prstGeom prst="rect">
            <a:avLst/>
          </a:prstGeom>
          <a:noFill/>
        </p:spPr>
        <p:txBody>
          <a:bodyPr wrap="square" anchor="t" lIns="0" rIns="0" tIns="0" bIns="0">
            <a:spAutoFit/>
          </a:bodyPr>
          <a:lstStyle/>
          <a:p>
            <a:pPr algn="l" marL="182880" indent="-182880">
              <a:spcAft>
                <a:spcPts val="700"/>
              </a:spcAft>
              <a:buClr>
                <a:srgbClr val="333333"/>
              </a:buClr>
              <a:buChar char="•"/>
            </a:pPr>
            <a:r>
              <a:rPr sz="1250" b="0" i="0">
                <a:solidFill>
                  <a:srgbClr val="333333"/>
                </a:solidFill>
              </a:rPr>
              <a:t>SDO/AIA, 6 EUV channels, about two images a day in 2014–2015: 1,223 full-disk images.</a:t>
            </a:r>
          </a:p>
          <a:p>
            <a:pPr algn="l" marL="182880" indent="-182880">
              <a:spcAft>
                <a:spcPts val="700"/>
              </a:spcAft>
              <a:buClr>
                <a:srgbClr val="333333"/>
              </a:buClr>
              <a:buChar char="•"/>
            </a:pPr>
            <a:r>
              <a:rPr sz="1250" b="0" i="0">
                <a:solidFill>
                  <a:srgbClr val="333333"/>
                </a:solidFill>
              </a:rPr>
              <a:t>PSF-deconvolved (Hofmeister); a noise σ per pixel and channel from the AIA error model; DEMs on a 2048² grid.</a:t>
            </a:r>
          </a:p>
          <a:p>
            <a:pPr algn="l" marL="182880" indent="-182880">
              <a:spcAft>
                <a:spcPts val="700"/>
              </a:spcAft>
              <a:buClr>
                <a:srgbClr val="333333"/>
              </a:buClr>
              <a:buChar char="•"/>
            </a:pPr>
            <a:r>
              <a:rPr sz="1250" b="0" i="0">
                <a:solidFill>
                  <a:srgbClr val="333333"/>
                </a:solidFill>
              </a:rPr>
              <a:t>Our model trains on AIA and σ only: each training image is cut into 64 blocks of 256×256 per image. Each epoch draws 512 random pixels from each of the 58,688 blocks(917*64), for 40 epochs.</a:t>
            </a:r>
          </a:p>
          <a:p>
            <a:pPr algn="l" marL="182880" indent="-182880">
              <a:spcAft>
                <a:spcPts val="700"/>
              </a:spcAft>
              <a:buClr>
                <a:srgbClr val="333333"/>
              </a:buClr>
              <a:buChar char="•"/>
            </a:pPr>
            <a:r>
              <a:rPr sz="1250" b="0" i="0">
                <a:solidFill>
                  <a:srgbClr val="333333"/>
                </a:solidFill>
              </a:rPr>
              <a:t>Solver DEMs (BP, ElasticNet) for every image: labels for the supervised model, evaluation only for ours.</a:t>
            </a:r>
          </a:p>
          <a:p>
            <a:pPr algn="l" marL="182880" indent="-182880">
              <a:spcAft>
                <a:spcPts val="700"/>
              </a:spcAft>
              <a:buClr>
                <a:srgbClr val="333333"/>
              </a:buClr>
              <a:buChar char="•"/>
            </a:pPr>
            <a:r>
              <a:rPr sz="1250" b="0" i="0">
                <a:solidFill>
                  <a:srgbClr val="333333"/>
                </a:solidFill>
              </a:rPr>
              <a:t>Test: ~700M pixel DEMs per solver, the clean solve plus 4 noise re-solves(only supervised).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Finding a trainable objective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3</a:t>
            </a:r>
            <a:br/>
            <a:r>
              <a:rPr sz="4100"/>
              <a:t>Architecture on small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per-pixel MLP drew noisy DEMs; a patch CNN fixed it</a:t>
            </a:r>
          </a:p>
        </p:txBody>
      </p:sp>
      <p:sp>
        <p:nvSpPr>
          <p:cNvPr id="3" name="TextBox 2"/>
          <p:cNvSpPr txBox="1"/>
          <p:nvPr/>
        </p:nvSpPr>
        <p:spPr>
          <a:xfrm>
            <a:off x="365760" y="914400"/>
            <a:ext cx="4937760" cy="329184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1" i="0">
                <a:solidFill>
                  <a:srgbClr val="57068C"/>
                </a:solidFill>
              </a:rPr>
              <a:t>First try: </a:t>
            </a:r>
            <a:r>
              <a:rPr sz="1250" b="0" i="0">
                <a:solidFill>
                  <a:srgbClr val="333333"/>
                </a:solidFill>
              </a:rPr>
              <a:t>the 6 intensities of one pixel → MLP (213k params) → 54 weights, trained on the BP loss over ~221k pixels. The loss converged, but per-pixel curves oscillated.</a:t>
            </a:r>
          </a:p>
          <a:p>
            <a:pPr algn="l" marL="182880" indent="-182880">
              <a:spcAft>
                <a:spcPts val="1000"/>
              </a:spcAft>
              <a:buClr>
                <a:srgbClr val="333333"/>
              </a:buClr>
              <a:buChar char="•"/>
            </a:pPr>
            <a:r>
              <a:rPr sz="1250" b="1" i="0">
                <a:solidFill>
                  <a:srgbClr val="57068C"/>
                </a:solidFill>
              </a:rPr>
              <a:t>Patch CNN: </a:t>
            </a:r>
            <a:r>
              <a:rPr sz="1250" b="0" i="0">
                <a:solidFill>
                  <a:srgbClr val="333333"/>
                </a:solidFill>
              </a:rPr>
              <a:t>a 9×9 neighbourhood → CNN (~1.5M params) → 54 weights. Smooth, single-peaked curves at BP's temperatures, sparsity close to BP's on held-out pixels.</a:t>
            </a:r>
          </a:p>
          <a:p>
            <a:pPr algn="l" marL="182880" indent="-182880">
              <a:spcAft>
                <a:spcPts val="1000"/>
              </a:spcAft>
              <a:buClr>
                <a:srgbClr val="333333"/>
              </a:buClr>
              <a:buChar char="•"/>
            </a:pPr>
            <a:r>
              <a:rPr sz="1250" b="0" i="0">
                <a:solidFill>
                  <a:srgbClr val="333333"/>
                </a:solidFill>
              </a:rPr>
              <a:t>Trained on one image, then on all 4 jointly; zeroing the neighbourhood for 10% of batches kept it usable on a single pixel.</a:t>
            </a:r>
          </a:p>
        </p:txBody>
      </p:sp>
      <p:pic>
        <p:nvPicPr>
          <p:cNvPr id="4" name="Picture 3" descr="patch_cnn.png"/>
          <p:cNvPicPr>
            <a:picLocks noChangeAspect="1"/>
          </p:cNvPicPr>
          <p:nvPr/>
        </p:nvPicPr>
        <p:blipFill>
          <a:blip r:embed="rId3"/>
          <a:stretch>
            <a:fillRect/>
          </a:stretch>
        </p:blipFill>
        <p:spPr>
          <a:xfrm>
            <a:off x="5723610" y="822960"/>
            <a:ext cx="2817420" cy="3200400"/>
          </a:xfrm>
          <a:prstGeom prst="rect">
            <a:avLst/>
          </a:prstGeom>
        </p:spPr>
      </p:pic>
      <p:sp>
        <p:nvSpPr>
          <p:cNvPr id="5" name="TextBox 4"/>
          <p:cNvSpPr txBox="1"/>
          <p:nvPr/>
        </p:nvSpPr>
        <p:spPr>
          <a:xfrm>
            <a:off x="5486400" y="406908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Patch CNN (dotted) vs BP, X2.1 flare image.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Ablation: the noise was capacity, not missing context</a:t>
            </a:r>
          </a:p>
        </p:txBody>
      </p:sp>
      <p:sp>
        <p:nvSpPr>
          <p:cNvPr id="3" name="TextBox 2"/>
          <p:cNvSpPr txBox="1"/>
          <p:nvPr/>
        </p:nvSpPr>
        <p:spPr>
          <a:xfrm>
            <a:off x="365760" y="1307592"/>
            <a:ext cx="2286000" cy="256032"/>
          </a:xfrm>
          <a:prstGeom prst="rect">
            <a:avLst/>
          </a:prstGeom>
          <a:noFill/>
        </p:spPr>
        <p:txBody>
          <a:bodyPr wrap="square" anchor="t" lIns="0" rIns="0" tIns="0" bIns="0">
            <a:spAutoFit/>
          </a:bodyPr>
          <a:lstStyle/>
          <a:p>
            <a:pPr algn="l">
              <a:spcAft>
                <a:spcPts val="600"/>
              </a:spcAft>
            </a:pPr>
            <a:r>
              <a:rPr sz="1200" b="1" i="0">
                <a:solidFill>
                  <a:srgbClr val="57068C"/>
                </a:solidFill>
              </a:rPr>
              <a:t>Patch CNN</a:t>
            </a:r>
          </a:p>
        </p:txBody>
      </p:sp>
      <p:cxnSp>
        <p:nvCxnSpPr>
          <p:cNvPr id="4" name="Connector 3"/>
          <p:cNvCxnSpPr/>
          <p:nvPr/>
        </p:nvCxnSpPr>
        <p:spPr>
          <a:xfrm>
            <a:off x="2743200" y="1426464"/>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082795" y="1348740"/>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79391" y="1307592"/>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1.70</a:t>
            </a:r>
          </a:p>
        </p:txBody>
      </p:sp>
      <p:sp>
        <p:nvSpPr>
          <p:cNvPr id="7" name="TextBox 6"/>
          <p:cNvSpPr txBox="1"/>
          <p:nvPr/>
        </p:nvSpPr>
        <p:spPr>
          <a:xfrm>
            <a:off x="365760" y="1691640"/>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Shuffled-patch CNN</a:t>
            </a:r>
          </a:p>
        </p:txBody>
      </p:sp>
      <p:cxnSp>
        <p:nvCxnSpPr>
          <p:cNvPr id="8" name="Connector 7"/>
          <p:cNvCxnSpPr/>
          <p:nvPr/>
        </p:nvCxnSpPr>
        <p:spPr>
          <a:xfrm>
            <a:off x="2743200" y="1810512"/>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633971" y="1732788"/>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0567" y="1691640"/>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1.88</a:t>
            </a:r>
          </a:p>
        </p:txBody>
      </p:sp>
      <p:sp>
        <p:nvSpPr>
          <p:cNvPr id="11" name="TextBox 10"/>
          <p:cNvSpPr txBox="1"/>
          <p:nvPr/>
        </p:nvSpPr>
        <p:spPr>
          <a:xfrm>
            <a:off x="365760" y="2075688"/>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Centre-pixel MLP</a:t>
            </a:r>
          </a:p>
        </p:txBody>
      </p:sp>
      <p:cxnSp>
        <p:nvCxnSpPr>
          <p:cNvPr id="12" name="Connector 11"/>
          <p:cNvCxnSpPr/>
          <p:nvPr/>
        </p:nvCxnSpPr>
        <p:spPr>
          <a:xfrm>
            <a:off x="2743200" y="2194560"/>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75703" y="2116836"/>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72299" y="2075688"/>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1.89</a:t>
            </a:r>
          </a:p>
        </p:txBody>
      </p:sp>
      <p:sp>
        <p:nvSpPr>
          <p:cNvPr id="15" name="TextBox 14"/>
          <p:cNvSpPr txBox="1"/>
          <p:nvPr/>
        </p:nvSpPr>
        <p:spPr>
          <a:xfrm>
            <a:off x="365760" y="2459736"/>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Flat-patch MLP</a:t>
            </a:r>
          </a:p>
        </p:txBody>
      </p:sp>
      <p:cxnSp>
        <p:nvCxnSpPr>
          <p:cNvPr id="16" name="Connector 15"/>
          <p:cNvCxnSpPr/>
          <p:nvPr/>
        </p:nvCxnSpPr>
        <p:spPr>
          <a:xfrm>
            <a:off x="2743200" y="2578608"/>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626095" y="2500884"/>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22691" y="2459736"/>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1.95</a:t>
            </a:r>
          </a:p>
        </p:txBody>
      </p:sp>
      <p:cxnSp>
        <p:nvCxnSpPr>
          <p:cNvPr id="19" name="Connector 18"/>
          <p:cNvCxnSpPr/>
          <p:nvPr/>
        </p:nvCxnSpPr>
        <p:spPr>
          <a:xfrm>
            <a:off x="2743200" y="2770632"/>
            <a:ext cx="5669280" cy="0"/>
          </a:xfrm>
          <a:prstGeom prst="line">
            <a:avLst/>
          </a:prstGeom>
          <a:ln w="12700">
            <a:solidFill>
              <a:srgbClr val="B9B4C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46888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1.6</a:t>
            </a:r>
          </a:p>
        </p:txBody>
      </p:sp>
      <p:sp>
        <p:nvSpPr>
          <p:cNvPr id="21" name="TextBox 20"/>
          <p:cNvSpPr txBox="1"/>
          <p:nvPr/>
        </p:nvSpPr>
        <p:spPr>
          <a:xfrm>
            <a:off x="388619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1.7</a:t>
            </a:r>
          </a:p>
        </p:txBody>
      </p:sp>
      <p:sp>
        <p:nvSpPr>
          <p:cNvPr id="22" name="TextBox 21"/>
          <p:cNvSpPr txBox="1"/>
          <p:nvPr/>
        </p:nvSpPr>
        <p:spPr>
          <a:xfrm>
            <a:off x="530352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1.8</a:t>
            </a:r>
          </a:p>
        </p:txBody>
      </p:sp>
      <p:sp>
        <p:nvSpPr>
          <p:cNvPr id="23" name="TextBox 22"/>
          <p:cNvSpPr txBox="1"/>
          <p:nvPr/>
        </p:nvSpPr>
        <p:spPr>
          <a:xfrm>
            <a:off x="672083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1.9</a:t>
            </a:r>
          </a:p>
        </p:txBody>
      </p:sp>
      <p:sp>
        <p:nvSpPr>
          <p:cNvPr id="24" name="TextBox 23"/>
          <p:cNvSpPr txBox="1"/>
          <p:nvPr/>
        </p:nvSpPr>
        <p:spPr>
          <a:xfrm>
            <a:off x="813816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2.0</a:t>
            </a:r>
          </a:p>
        </p:txBody>
      </p:sp>
      <p:cxnSp>
        <p:nvCxnSpPr>
          <p:cNvPr id="25" name="Connector 24"/>
          <p:cNvCxnSpPr/>
          <p:nvPr/>
        </p:nvCxnSpPr>
        <p:spPr>
          <a:xfrm>
            <a:off x="5436108" y="1143000"/>
            <a:ext cx="0" cy="1627632"/>
          </a:xfrm>
          <a:prstGeom prst="line">
            <a:avLst/>
          </a:prstGeom>
          <a:ln w="15875">
            <a:solidFill>
              <a:srgbClr val="333333"/>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978908" y="886968"/>
            <a:ext cx="914400" cy="237744"/>
          </a:xfrm>
          <a:prstGeom prst="rect">
            <a:avLst/>
          </a:prstGeom>
          <a:noFill/>
        </p:spPr>
        <p:txBody>
          <a:bodyPr wrap="square" anchor="t" lIns="0" rIns="0" tIns="0" bIns="0">
            <a:spAutoFit/>
          </a:bodyPr>
          <a:lstStyle/>
          <a:p>
            <a:pPr algn="ctr">
              <a:spcAft>
                <a:spcPts val="600"/>
              </a:spcAft>
            </a:pPr>
            <a:r>
              <a:rPr sz="1100" b="1" i="0">
                <a:solidFill>
                  <a:srgbClr val="333333"/>
                </a:solidFill>
              </a:rPr>
              <a:t>BP 1.79</a:t>
            </a:r>
          </a:p>
        </p:txBody>
      </p:sp>
      <p:sp>
        <p:nvSpPr>
          <p:cNvPr id="27" name="TextBox 26"/>
          <p:cNvSpPr txBox="1"/>
          <p:nvPr/>
        </p:nvSpPr>
        <p:spPr>
          <a:xfrm>
            <a:off x="2743200" y="3026664"/>
            <a:ext cx="5669280" cy="274320"/>
          </a:xfrm>
          <a:prstGeom prst="rect">
            <a:avLst/>
          </a:prstGeom>
          <a:noFill/>
        </p:spPr>
        <p:txBody>
          <a:bodyPr wrap="square" anchor="t" lIns="0" rIns="0" tIns="0" bIns="0">
            <a:spAutoFit/>
          </a:bodyPr>
          <a:lstStyle/>
          <a:p>
            <a:pPr algn="l">
              <a:spcAft>
                <a:spcPts val="0"/>
              </a:spcAft>
            </a:pPr>
            <a:r>
              <a:rPr sz="950" b="0" i="1">
                <a:solidFill>
                  <a:srgbClr val="6B6B6B"/>
                </a:solidFill>
              </a:rPr>
              <a:t>Effective number of active basis weights, mean over 4 images (lower = sparser).</a:t>
            </a:r>
          </a:p>
        </p:txBody>
      </p:sp>
      <p:sp>
        <p:nvSpPr>
          <p:cNvPr id="28" name="TextBox 27"/>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Four variants at ~1.45M params, same BP loss, same 4 images.</a:t>
            </a:r>
          </a:p>
          <a:p>
            <a:pPr algn="l" marL="182880" indent="-182880">
              <a:spcAft>
                <a:spcPts val="500"/>
              </a:spcAft>
              <a:buClr>
                <a:srgbClr val="333333"/>
              </a:buClr>
              <a:buChar char="•"/>
            </a:pPr>
            <a:r>
              <a:rPr sz="1250" b="0" i="0">
                <a:solidFill>
                  <a:srgbClr val="333333"/>
                </a:solidFill>
              </a:rPr>
              <a:t>A centre-pixel MLP this size was smooth too: the first MLP's noise was not about the neighbourhood.</a:t>
            </a:r>
          </a:p>
          <a:p>
            <a:pPr algn="l" marL="182880" indent="-182880">
              <a:spcAft>
                <a:spcPts val="500"/>
              </a:spcAft>
              <a:buClr>
                <a:srgbClr val="333333"/>
              </a:buClr>
              <a:buChar char="•"/>
            </a:pPr>
            <a:r>
              <a:rPr sz="1250" b="0" i="0">
                <a:solidFill>
                  <a:srgbClr val="333333"/>
                </a:solidFill>
              </a:rPr>
              <a:t>The patch CNN was sparsest, but measured on held-out pixels of the training images.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edge disappeared</a:t>
            </a:r>
          </a:p>
        </p:txBody>
      </p:sp>
      <p:sp>
        <p:nvSpPr>
          <p:cNvPr id="3" name="TextBox 2"/>
          <p:cNvSpPr txBox="1"/>
          <p:nvPr/>
        </p:nvSpPr>
        <p:spPr>
          <a:xfrm>
            <a:off x="365760" y="914400"/>
            <a:ext cx="493776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Leave one image out: train on 3, test on the 4th; patch CNN and centre-pixel MLP, 4 folds.</a:t>
            </a:r>
          </a:p>
          <a:p>
            <a:pPr algn="l" marL="182880" indent="-182880">
              <a:spcAft>
                <a:spcPts val="900"/>
              </a:spcAft>
              <a:buClr>
                <a:srgbClr val="333333"/>
              </a:buClr>
              <a:buChar char="•"/>
            </a:pPr>
            <a:r>
              <a:rPr sz="1250" b="0" i="0">
                <a:solidFill>
                  <a:srgbClr val="333333"/>
                </a:solidFill>
              </a:rPr>
              <a:t>Held-out sparsity: CNN lower on 1 day, MLP on 2, tied on 1; the MLP fit AIA better on 3 of 4.</a:t>
            </a:r>
          </a:p>
          <a:p>
            <a:pPr algn="l" marL="182880" indent="-182880">
              <a:spcAft>
                <a:spcPts val="900"/>
              </a:spcAft>
              <a:buClr>
                <a:srgbClr val="333333"/>
              </a:buClr>
              <a:buChar char="•"/>
            </a:pPr>
            <a:r>
              <a:rPr sz="1250" b="0" i="0">
                <a:solidFill>
                  <a:srgbClr val="333333"/>
                </a:solidFill>
              </a:rPr>
              <a:t>Little overfitting (held-out within ±0.2 of in-sample on 3 folds), except the X1.6 flare: peaks too cool (logT ~6.1 vs BP ~6.4), with one other flare image in training.</a:t>
            </a:r>
          </a:p>
          <a:p>
            <a:pPr algn="l" marL="182880" indent="-182880">
              <a:spcAft>
                <a:spcPts val="900"/>
              </a:spcAft>
              <a:buClr>
                <a:srgbClr val="333333"/>
              </a:buClr>
              <a:buChar char="•"/>
            </a:pPr>
            <a:r>
              <a:rPr sz="1250" b="1" i="0">
                <a:solidFill>
                  <a:srgbClr val="57068C"/>
                </a:solidFill>
              </a:rPr>
              <a:t>Carry the simpler centre-pixel MLP forward, and get more flare data → scaling.</a:t>
            </a:r>
          </a:p>
        </p:txBody>
      </p:sp>
      <p:pic>
        <p:nvPicPr>
          <p:cNvPr id="4" name="Picture 3" descr="loo_flare.png"/>
          <p:cNvPicPr>
            <a:picLocks noChangeAspect="1"/>
          </p:cNvPicPr>
          <p:nvPr/>
        </p:nvPicPr>
        <p:blipFill>
          <a:blip r:embed="rId3"/>
          <a:stretch>
            <a:fillRect/>
          </a:stretch>
        </p:blipFill>
        <p:spPr>
          <a:xfrm>
            <a:off x="5486400" y="827579"/>
            <a:ext cx="3291840" cy="3282601"/>
          </a:xfrm>
          <a:prstGeom prst="rect">
            <a:avLst/>
          </a:prstGeom>
        </p:spPr>
      </p:pic>
      <p:sp>
        <p:nvSpPr>
          <p:cNvPr id="5" name="TextBox 4"/>
          <p:cNvSpPr txBox="1"/>
          <p:nvPr/>
        </p:nvSpPr>
        <p:spPr>
          <a:xfrm>
            <a:off x="5486400" y="411480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X1.6 flare image: CNN and MLP (dashed) vs BP.</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