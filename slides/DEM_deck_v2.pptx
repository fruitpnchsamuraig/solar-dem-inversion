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5" r:id="rId4"/>
  </p:sldMasterIdLst>
  <p:notesMasterIdLst>
    <p:notesMasterId r:id="rId5"/>
  </p:notesMasterIdLst>
  <p:sldIdLst>
    <p:sldId id="256" r:id="rId6"/>
    <p:sldId id="257" r:id="rId7"/>
    <p:sldId id="258" r:id="rId18"/>
    <p:sldId id="259" r:id="rId19"/>
    <p:sldId id="260" r:id="rId20"/>
    <p:sldId id="261" r:id="rId21"/>
    <p:sldId id="262" r:id="rId22"/>
    <p:sldId id="263" r:id="rId23"/>
    <p:sldId id="264" r:id="rId24"/>
    <p:sldId id="265" r:id="rId25"/>
    <p:sldId id="266" r:id="rId26"/>
    <p:sldId id="267" r:id="rId27"/>
    <p:sldId id="268" r:id="rId28"/>
    <p:sldId id="269" r:id="rId29"/>
    <p:sldId id="270" r:id="rId30"/>
    <p:sldId id="271" r:id="rId31"/>
    <p:sldId id="272" r:id="rId32"/>
    <p:sldId id="273" r:id="rId33"/>
    <p:sldId id="274" r:id="rId34"/>
    <p:sldId id="275" r:id="rId35"/>
    <p:sldId id="276" r:id="rId36"/>
    <p:sldId id="277" r:id="rId37"/>
    <p:sldId id="278" r:id="rId38"/>
    <p:sldId id="279" r:id="rId39"/>
    <p:sldId id="280" r:id="rId40"/>
    <p:sldId id="281" r:id="rId41"/>
    <p:sldId id="282" r:id="rId42"/>
    <p:sldId id="283" r:id="rId43"/>
    <p:sldId id="284" r:id="rId44"/>
    <p:sldId id="285" r:id="rId45"/>
    <p:sldId id="286" r:id="rId46"/>
    <p:sldId id="287" r:id="rId47"/>
  </p:sldIdLst>
  <p:sldSz cy="5143500" cx="9144000"/>
  <p:notesSz cx="6858000" cy="9144000"/>
  <p:embeddedFontLst>
    <p:embeddedFont>
      <p:font typeface="Montserrat SemiBold"/>
      <p:regular r:id="rId8"/>
      <p:bold r:id="rId9"/>
      <p:italic r:id="rId10"/>
      <p:boldItalic r:id="rId11"/>
    </p:embeddedFont>
    <p:embeddedFont>
      <p:font typeface="Montserrat"/>
      <p:regular r:id="rId12"/>
      <p:bold r:id="rId13"/>
      <p:italic r:id="rId14"/>
      <p:boldItalic r:id="rId15"/>
    </p:embeddedFont>
    <p:embeddedFont>
      <p:font typeface="Frank Ruhl Libre"/>
      <p:regular r:id="rId16"/>
      <p:bold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font" Target="fonts/MontserratSemiBold-regular.fntdata"/><Relationship Id="rId9" Type="http://schemas.openxmlformats.org/officeDocument/2006/relationships/font" Target="fonts/MontserratSemiBold-bold.fntdata"/><Relationship Id="rId10" Type="http://schemas.openxmlformats.org/officeDocument/2006/relationships/font" Target="fonts/MontserratSemiBold-italic.fntdata"/><Relationship Id="rId11" Type="http://schemas.openxmlformats.org/officeDocument/2006/relationships/font" Target="fonts/MontserratSemiBold-boldItalic.fntdata"/><Relationship Id="rId12" Type="http://schemas.openxmlformats.org/officeDocument/2006/relationships/font" Target="fonts/Montserrat-regular.fntdata"/><Relationship Id="rId13" Type="http://schemas.openxmlformats.org/officeDocument/2006/relationships/font" Target="fonts/Montserrat-bold.fntdata"/><Relationship Id="rId14" Type="http://schemas.openxmlformats.org/officeDocument/2006/relationships/font" Target="fonts/Montserrat-italic.fntdata"/><Relationship Id="rId15" Type="http://schemas.openxmlformats.org/officeDocument/2006/relationships/font" Target="fonts/Montserrat-boldItalic.fntdata"/><Relationship Id="rId16" Type="http://schemas.openxmlformats.org/officeDocument/2006/relationships/font" Target="fonts/FrankRuhlLibre-regular.fntdata"/><Relationship Id="rId17" Type="http://schemas.openxmlformats.org/officeDocument/2006/relationships/font" Target="fonts/FrankRuhlLibre-bold.fntdata"/><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slide" Target="slides/slide31.xml"/><Relationship Id="rId47" Type="http://schemas.openxmlformats.org/officeDocument/2006/relationships/slide" Target="slides/slide3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50" b="1"/>
              <a:t>BP median pixel error by model size (lower is better)</a:t>
            </a:r>
          </a:p>
        </c:rich>
      </c:tx>
      <c:layout/>
      <c:overlay val="0"/>
    </c:title>
    <c:autoTitleDeleted val="0"/>
    <c:plotArea>
      <c:lineChart>
        <c:grouping val="standard"/>
        <c:varyColors val="0"/>
        <c:ser>
          <c:idx val="0"/>
          <c:order val="0"/>
          <c:tx>
            <c:strRef>
              <c:f>Sheet1!$B$1</c:f>
              <c:strCache>
                <c:ptCount val="1"/>
                <c:pt idx="0">
                  <c:v>BP median pixel error</c:v>
                </c:pt>
              </c:strCache>
            </c:strRef>
          </c:tx>
          <c:spPr>
            <a:ln w="25400">
              <a:solidFill>
                <a:srgbClr val="57068C"/>
              </a:solidFill>
            </a:ln>
          </c:spPr>
          <c:marker>
            <c:symbol val="circle"/>
            <c:size val="6"/>
            <c:spPr>
              <a:solidFill>
                <a:srgbClr val="57068C"/>
              </a:solidFill>
              <a:ln>
                <a:solidFill>
                  <a:srgbClr val="57068C"/>
                </a:solidFill>
              </a:ln>
            </c:spPr>
          </c:marker>
          <c:dPt>
            <c:idx val="4"/>
            <c:marker>
              <c:symbol val="circle"/>
              <c:size val="13"/>
              <c:spPr>
                <a:solidFill>
                  <a:srgbClr val="57068C"/>
                </a:solidFill>
                <a:ln>
                  <a:solidFill>
                    <a:srgbClr val="57068C"/>
                  </a:solidFill>
                </a:ln>
              </c:spPr>
            </c:marker>
          </c:dPt>
          <c:cat>
            <c:strRef>
              <c:f>Sheet1!$A$2:$A$8</c:f>
              <c:strCache>
                <c:ptCount val="7"/>
                <c:pt idx="0">
                  <c:v>20k</c:v>
                </c:pt>
                <c:pt idx="1">
                  <c:v>42k</c:v>
                </c:pt>
                <c:pt idx="2">
                  <c:v>87k</c:v>
                </c:pt>
                <c:pt idx="3">
                  <c:v>176k</c:v>
                </c:pt>
                <c:pt idx="4">
                  <c:v>360k</c:v>
                </c:pt>
                <c:pt idx="5">
                  <c:v>722k</c:v>
                </c:pt>
                <c:pt idx="6">
                  <c:v>1.43M</c:v>
                </c:pt>
              </c:strCache>
            </c:strRef>
          </c:cat>
          <c:val>
            <c:numRef>
              <c:f>Sheet1!$B$2:$B$8</c:f>
              <c:numCache>
                <c:formatCode>General</c:formatCode>
                <c:ptCount val="7"/>
                <c:pt idx="0">
                  <c:v>0.068</c:v>
                </c:pt>
                <c:pt idx="1">
                  <c:v>0.047</c:v>
                </c:pt>
                <c:pt idx="2">
                  <c:v>0.043</c:v>
                </c:pt>
                <c:pt idx="3">
                  <c:v>0.03</c:v>
                </c:pt>
                <c:pt idx="4">
                  <c:v>0.026</c:v>
                </c:pt>
                <c:pt idx="5">
                  <c:v>0.025</c:v>
                </c:pt>
                <c:pt idx="6">
                  <c:v>0.023</c:v>
                </c:pt>
              </c:numCache>
            </c:numRef>
          </c:val>
          <c:smooth val="0"/>
        </c:ser>
        <c:dLbls>
          <c:numFmt formatCode="0.000" sourceLinked="0"/>
          <c:txPr>
            <a:bodyPr/>
            <a:lstStyle/>
            <a:p>
              <a:pPr>
                <a:defRPr sz="900"/>
              </a:pPr>
            </a:p>
          </c:txPr>
          <c:dLblPos val="t"/>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900"/>
            </a:pPr>
          </a:p>
        </c:txPr>
        <c:crossAx val="2140495176"/>
        <c:crosses val="autoZero"/>
        <c:auto val="1"/>
        <c:lblAlgn val="ctr"/>
        <c:lblOffset val="100"/>
        <c:noMultiLvlLbl val="0"/>
      </c:catAx>
      <c:valAx>
        <c:axId val="2140495176"/>
        <c:scaling>
          <c:max val="0.08"/>
          <c:min val="0.0"/>
        </c:scaling>
        <c:delete val="0"/>
        <c:axPos val="l"/>
        <c:majorGridlines>
          <c:spPr>
            <a:ln>
              <a:solidFill>
                <a:srgbClr val="ECEBE8"/>
              </a:solidFill>
            </a:ln>
          </c:spPr>
        </c:majorGridlines>
        <c:majorTickMark val="out"/>
        <c:minorTickMark val="none"/>
        <c:tickLblPos val="nextTo"/>
        <c:txPr>
          <a:bodyPr/>
          <a:lstStyle/>
          <a:p>
            <a:pPr>
              <a:defRPr sz="900"/>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four things to remember. Numbers are from the final models (one 360k MLP per track, fresh pixels) on the shared test set: 153 days never seen in training.</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audience knows the inverse problem. This slide only says what is different about our training signal. BP and ElasticNet solve one optimisation per pixel. A supervised network learns to reproduce the solver's DEMs, so it needs them as labels. Ours learns to minimise the solver's objective directly, so it never sees a solver DEM; we use those only to evaluate.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solvers never solve for the 18 bins directly: both solve for weights on a fixed basis, a spike and two Gaussians at each bin, and report DEM = B times x. We predict the same weights, so the network searches the same space of DEMs the solver does, and BP's sparsity criterion means the same thing for both. Only the MLP is learned. Per pixel: six intensities in (log1p for BP; for ElasticNet the supervised model's encoding, square root then Fourier features), four hidden layers of 336 with SiLU, 54 non-negative basis weights out; DEM = B times w over 18 bins, logT 5.5 to 7.2; predicted AIA = R times DEM. 360k parameters, one forward pass per pixel. The size is chosen in Part 5.</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BP track: the penalty is zero anywhere inside the noise band, o plus or minus 1.4 sigma, and quadratic outside, scaled by the band width. There is no fit term inside the band, so any DEM within noise is equally good, and the L1 term on the basis weights then picks the sparsest one: BP's own criterion. ElasticNet track: the solver's ElasticNet objective with its settings, alpha 0.001, l1 ratio 0.5, C equal to the six channels, using the same noise scaling. In both, y-hat is R times B times w, and w is non-negative.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run before October seeded each block's pixel draw by the block alone, so it reused the same 30M pixels every epoch. All results from here on use fresh pixels every epoch, as described. The fixed-sample runs scored better: validation loss BP 2.156 against 2.237, ElasticNet 0.0582 against 0.0689, far beyond the 0.2 to 0.4% run-to-run spread; only ElasticNet's flare cores improved with fresh pixels. The split is chronological, so every test image is later than anything seen in training. Each epoch draws 512 pixels from each of 58,688 training blocks: 917 images times 64 blocks of 256 squared. The test set uses 64 random 128-squared blocks of each test image per solver target, five targets per image: one clean solve and four re-solves under simulated photon noise of the same observation. Pixels where deconvolution clamped a bright channel to zero, about 5%, are excluded.</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Before any network, five losses optimised directly per pixel on 4 timestamps. Averages: AIA MAE against the observation, BP 5.2, barrier 5.0, barrier plus fit 2.6, fit-only 0.40 to 0.44. DEM MAE against BP: barrier 0.034, barrier plus fit 0.043, fit-only 0.18 to 0.20. W1 on the brightest 5% of pixels: 0.030 and 0.033 against 0.15 to 0.18. Six equations, eighteen unknowns: many DEMs fit within noise, so whatever breaks the tie decides the shape. L-BFGS and Adam reach the same curves; SGD often fails to converge.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June write-up called the first MLP's curves noisy and oscillating, but no figure of them survives and its checkpoint was not kept. Retrained with the unchanged June code, its curves are smooth: none has three or more peaks. The real difference is accuracy, on 400 held-out pixels per image: mean DEM error against BP 0.078 against the CNN's 0.047, W1 0.055 against 0.048 dex. It had even seen these pixels in training. It is the same architecture as today's production model, at width 256 with raw intensities.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shuffled-patch CNN applies a fixed random permutation to the 81 patch pixels. It was less sparse than the CNN on all 4 images, 1.88 against 1.70 on average, level with the centre-pixel MLP, so the spatial arrangement of the neighbours mattered. The flat-patch MLP was erratic across images: 1.61 on the X2.1 flare, 2.27 on quiet Sun. The centre-pixel MLP was closest to BP on 3 of 4 images; the CNN on the X1.6 flare. So the CNN's lower sparsity did not mean DEMs closer to BP. Capacity and input scaling were not separated: the 213k MLP took raw intensities, and at full scale MLPs on log1p inputs does well.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Closer to BP's sparsity: the CNN on 2 images, the MLP on 1, one tie; the MLP is closer on average, 0.19 against 0.25, because of the X1.6 flare image. Held-out sparsity by fold, MLP against CNN, with BP in brackets: X2.1 flare 1.59 vs 1.64 (1.97); quiet Sun 1.78 vs 1.61 (1.67); moderate 1.83 vs 1.83 (1.82); X1.6 flare 1.96 vs 2.31 (1.71). The ablation's in-sample edge, 1.70 vs 1.89, came from scoring pixels of images the model trained on. Four folds is a small sample; scaling is the real test.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submissions died the same way before the fix; the cause was visible at step 0, before any weight update. Gradient clipping does not help, because Adam normalises the step size.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Bright cutoffs and the test set come from the supervised side's protocol, so both models are scored on identical pixels. W1 treats each DEM as a distribution over logT.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Both ~1.5M parameters, fresh pixels, same 917 training days; scored on the 153 test days. The MLP is better on the training objective at every percentile and in every brightness decile on BP (median 0.98 vs 1.01, p99 17.9 vs 18.8, p99.9 51 vs 57). The CNN reconstructs BP's AIA slightly better. This is the fifth comparison; none found a CNN advantage on unseen days.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Fresh-pixel sweep, every width scored on the full test set (results/plots/17_sweep_resample). We choose by validation loss, never by test numbers. BP validation: 2.148 at 360k (best), 2.155 at 1.43M (a tie within run-to-run noise), 2.167 at 722k, 2.237 at 176k. ElasticNet validation is best at 1.43M (0.0528), but its 722k and 1.43M models predict a few bright pixels orders of magnitude too bright (AIA MSE 41,849 and 908,611 against 650 at 360k); validation scores a fixed 512 pixels per block and never saw them. 10k collapsed and is left off the chart. Multi-peak recall is 22-26% from 42k up; the fixed-sample cliff below 176k does not reproduce. With the old fixed sample nothing above 176k helped; with fresh pixels size pays off up to 360k. Input encoding: BP validation 2.1472 with square root plus Fourier features against 2.1478 with log1p, a tie, so the simpler log1p stays; ElasticNet 0.0533 against 0.0575.</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Label-free trains on the observation through R; supervised trains on solver DEMs. Supervised wins the DEM-against-solver metric on BP. On ElasticNet, with the square-root plus Fourier input, we win all six, DEM MAE and MSE included (MAE 0.151 vs 0.188, MSE 0.310 vs 0.318). On BP we win W1 and AIA MSE, and the BP DEM MSE is set by flare cores (Part 7). EM error is the total-emission error; W1 is in dex.</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Per-pixel error is the squared error summed over the 18 bins. BP percentiles, label-free against supervised: median 0.026 vs 0.112, p90 3.5 vs 2.0, p99 71 vs 27. ElasticNet: median 0.85 vs 1.12, p99 30 vs 35, p99.9 102 vs 178.</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ElasticNet flare cores match the solver: 99% of its emission, peak 101% as high, and 18% multi-peaked against the solver's 21%.</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 ElasticNet our flare-core reconstruction matches the solver's (94 A: 0.53 vs 0.55; cool channels 0.97 vs 0.98 to 1.00) and beats the supervised model's (0.70 to 0.76 on the cool channels). On BP, the supervised model's square-root plus Fourier input does not fix flare cores either (94 A 0.15 vs 0.23), consistent with a training problem rather than an input-representation one.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2.png"/><Relationship Id="rId4"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type="title">
  <p:cSld name="TITLE">
    <p:bg>
      <p:bgPr>
        <a:solidFill>
          <a:srgbClr val="220337"/>
        </a:solidFill>
      </p:bgPr>
    </p:bg>
    <p:spTree>
      <p:nvGrpSpPr>
        <p:cNvPr id="8" name="Shape 8"/>
        <p:cNvGrpSpPr/>
        <p:nvPr/>
      </p:nvGrpSpPr>
      <p:grpSpPr>
        <a:xfrm>
          <a:off x="0" y="0"/>
          <a:ext cx="0" cy="0"/>
          <a:chOff x="0" y="0"/>
          <a:chExt cx="0" cy="0"/>
        </a:xfrm>
      </p:grpSpPr>
      <p:pic>
        <p:nvPicPr>
          <p:cNvPr id="9" name="Google Shape;9;p2"/>
          <p:cNvPicPr preferRelativeResize="0"/>
          <p:nvPr/>
        </p:nvPicPr>
        <p:blipFill rotWithShape="1">
          <a:blip r:embed="rId2">
            <a:alphaModFix/>
          </a:blip>
          <a:srcRect b="0" l="0" r="0" t="0"/>
          <a:stretch/>
        </p:blipFill>
        <p:spPr>
          <a:xfrm>
            <a:off x="0" y="0"/>
            <a:ext cx="9144003" cy="5143501"/>
          </a:xfrm>
          <a:prstGeom prst="rect">
            <a:avLst/>
          </a:prstGeom>
          <a:noFill/>
          <a:ln>
            <a:noFill/>
          </a:ln>
        </p:spPr>
      </p:pic>
      <p:pic>
        <p:nvPicPr>
          <p:cNvPr id="10" name="Google Shape;10;p2"/>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1" name="Google Shape;11;p2"/>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None/>
              <a:defRPr sz="7200">
                <a:solidFill>
                  <a:schemeClr val="accent2"/>
                </a:solidFill>
              </a:defRPr>
            </a:lvl1pPr>
            <a:lvl2pPr lvl="1">
              <a:spcBef>
                <a:spcPts val="0"/>
              </a:spcBef>
              <a:spcAft>
                <a:spcPts val="0"/>
              </a:spcAft>
              <a:buNone/>
              <a:defRPr>
                <a:solidFill>
                  <a:srgbClr val="FFFFFF"/>
                </a:solidFill>
              </a:defRPr>
            </a:lvl2pPr>
            <a:lvl3pPr lvl="2">
              <a:spcBef>
                <a:spcPts val="0"/>
              </a:spcBef>
              <a:spcAft>
                <a:spcPts val="0"/>
              </a:spcAft>
              <a:buNone/>
              <a:defRPr>
                <a:solidFill>
                  <a:srgbClr val="FFFFFF"/>
                </a:solidFill>
              </a:defRPr>
            </a:lvl3pPr>
            <a:lvl4pPr lvl="3">
              <a:spcBef>
                <a:spcPts val="0"/>
              </a:spcBef>
              <a:spcAft>
                <a:spcPts val="0"/>
              </a:spcAft>
              <a:buNone/>
              <a:defRPr>
                <a:solidFill>
                  <a:srgbClr val="FFFFFF"/>
                </a:solidFill>
              </a:defRPr>
            </a:lvl4pPr>
            <a:lvl5pPr lvl="4">
              <a:spcBef>
                <a:spcPts val="0"/>
              </a:spcBef>
              <a:spcAft>
                <a:spcPts val="0"/>
              </a:spcAft>
              <a:buNone/>
              <a:defRPr>
                <a:solidFill>
                  <a:srgbClr val="FFFFFF"/>
                </a:solidFill>
              </a:defRPr>
            </a:lvl5pPr>
            <a:lvl6pPr lvl="5">
              <a:spcBef>
                <a:spcPts val="0"/>
              </a:spcBef>
              <a:spcAft>
                <a:spcPts val="0"/>
              </a:spcAft>
              <a:buNone/>
              <a:defRPr>
                <a:solidFill>
                  <a:srgbClr val="FFFFFF"/>
                </a:solidFill>
              </a:defRPr>
            </a:lvl6pPr>
            <a:lvl7pPr lvl="6">
              <a:spcBef>
                <a:spcPts val="0"/>
              </a:spcBef>
              <a:spcAft>
                <a:spcPts val="0"/>
              </a:spcAft>
              <a:buNone/>
              <a:defRPr>
                <a:solidFill>
                  <a:srgbClr val="FFFFFF"/>
                </a:solidFill>
              </a:defRPr>
            </a:lvl7pPr>
            <a:lvl8pPr lvl="7">
              <a:spcBef>
                <a:spcPts val="0"/>
              </a:spcBef>
              <a:spcAft>
                <a:spcPts val="0"/>
              </a:spcAft>
              <a:buNone/>
              <a:defRPr>
                <a:solidFill>
                  <a:srgbClr val="FFFFFF"/>
                </a:solidFill>
              </a:defRPr>
            </a:lvl8pPr>
            <a:lvl9pPr lvl="8">
              <a:spcBef>
                <a:spcPts val="0"/>
              </a:spcBef>
              <a:spcAft>
                <a:spcPts val="0"/>
              </a:spcAft>
              <a:buNone/>
              <a:defRPr>
                <a:solidFill>
                  <a:srgbClr val="FFFFFF"/>
                </a:solidFill>
              </a:defRPr>
            </a:lvl9pPr>
          </a:lstStyle>
          <a:p/>
        </p:txBody>
      </p:sp>
      <p:sp>
        <p:nvSpPr>
          <p:cNvPr id="12" name="Google Shape;12;p2"/>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1pPr>
            <a:lvl2pPr indent="-292100" lvl="1" marL="914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9pPr>
          </a:lstStyle>
          <a:p/>
        </p:txBody>
      </p:sp>
      <p:sp>
        <p:nvSpPr>
          <p:cNvPr id="13" name="Google Shape;13;p2"/>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chemeClr val="accent2"/>
                </a:solidFill>
              </a:defRPr>
            </a:lvl1pPr>
            <a:lvl2pPr lvl="1" rtl="0">
              <a:spcBef>
                <a:spcPts val="1600"/>
              </a:spcBef>
              <a:spcAft>
                <a:spcPts val="0"/>
              </a:spcAft>
              <a:buNone/>
              <a:defRPr>
                <a:solidFill>
                  <a:schemeClr val="accent2"/>
                </a:solidFill>
              </a:defRPr>
            </a:lvl2pPr>
            <a:lvl3pPr lvl="2" rtl="0">
              <a:spcBef>
                <a:spcPts val="1600"/>
              </a:spcBef>
              <a:spcAft>
                <a:spcPts val="0"/>
              </a:spcAft>
              <a:buNone/>
              <a:defRPr>
                <a:solidFill>
                  <a:schemeClr val="accent2"/>
                </a:solidFill>
              </a:defRPr>
            </a:lvl3pPr>
            <a:lvl4pPr lvl="3" rtl="0">
              <a:spcBef>
                <a:spcPts val="1600"/>
              </a:spcBef>
              <a:spcAft>
                <a:spcPts val="0"/>
              </a:spcAft>
              <a:buNone/>
              <a:defRPr>
                <a:solidFill>
                  <a:schemeClr val="accent2"/>
                </a:solidFill>
              </a:defRPr>
            </a:lvl4pPr>
            <a:lvl5pPr lvl="4" rtl="0">
              <a:spcBef>
                <a:spcPts val="1600"/>
              </a:spcBef>
              <a:spcAft>
                <a:spcPts val="0"/>
              </a:spcAft>
              <a:buNone/>
              <a:defRPr>
                <a:solidFill>
                  <a:schemeClr val="accent2"/>
                </a:solidFill>
              </a:defRPr>
            </a:lvl5pPr>
            <a:lvl6pPr lvl="5" rtl="0">
              <a:spcBef>
                <a:spcPts val="1600"/>
              </a:spcBef>
              <a:spcAft>
                <a:spcPts val="0"/>
              </a:spcAft>
              <a:buNone/>
              <a:defRPr>
                <a:solidFill>
                  <a:schemeClr val="accent2"/>
                </a:solidFill>
              </a:defRPr>
            </a:lvl6pPr>
            <a:lvl7pPr lvl="6" rtl="0">
              <a:spcBef>
                <a:spcPts val="1600"/>
              </a:spcBef>
              <a:spcAft>
                <a:spcPts val="0"/>
              </a:spcAft>
              <a:buNone/>
              <a:defRPr>
                <a:solidFill>
                  <a:schemeClr val="accent2"/>
                </a:solidFill>
              </a:defRPr>
            </a:lvl7pPr>
            <a:lvl8pPr lvl="7" rtl="0">
              <a:spcBef>
                <a:spcPts val="1600"/>
              </a:spcBef>
              <a:spcAft>
                <a:spcPts val="0"/>
              </a:spcAft>
              <a:buNone/>
              <a:defRPr>
                <a:solidFill>
                  <a:schemeClr val="accent2"/>
                </a:solidFill>
              </a:defRPr>
            </a:lvl8pPr>
            <a:lvl9pPr lvl="8" rtl="0">
              <a:spcBef>
                <a:spcPts val="1600"/>
              </a:spcBef>
              <a:spcAft>
                <a:spcPts val="1600"/>
              </a:spcAft>
              <a:buNone/>
              <a:defRPr>
                <a:solidFill>
                  <a:schemeClr val="accent2"/>
                </a:solidFil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1_1_1_1">
    <p:bg>
      <p:bgPr>
        <a:solidFill>
          <a:srgbClr val="220337"/>
        </a:solidFill>
      </p:bgPr>
    </p:bg>
    <p:spTree>
      <p:nvGrpSpPr>
        <p:cNvPr id="14" name="Shape 14"/>
        <p:cNvGrpSpPr/>
        <p:nvPr/>
      </p:nvGrpSpPr>
      <p:grpSpPr>
        <a:xfrm>
          <a:off x="0" y="0"/>
          <a:ext cx="0" cy="0"/>
          <a:chOff x="0" y="0"/>
          <a:chExt cx="0" cy="0"/>
        </a:xfrm>
      </p:grpSpPr>
      <p:pic>
        <p:nvPicPr>
          <p:cNvPr id="15" name="Google Shape;15;p3"/>
          <p:cNvPicPr preferRelativeResize="0"/>
          <p:nvPr/>
        </p:nvPicPr>
        <p:blipFill rotWithShape="1">
          <a:blip r:embed="rId2">
            <a:alphaModFix/>
          </a:blip>
          <a:srcRect b="367" l="308" r="328" t="357"/>
          <a:stretch/>
        </p:blipFill>
        <p:spPr>
          <a:xfrm>
            <a:off x="0" y="250"/>
            <a:ext cx="9143997" cy="5143501"/>
          </a:xfrm>
          <a:prstGeom prst="rect">
            <a:avLst/>
          </a:prstGeom>
          <a:noFill/>
          <a:ln>
            <a:noFill/>
          </a:ln>
        </p:spPr>
      </p:pic>
      <p:pic>
        <p:nvPicPr>
          <p:cNvPr descr="New York University logo" id="16" name="Google Shape;16;p3"/>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7" name="Google Shape;17;p3"/>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rtl="0" algn="ctr">
              <a:lnSpc>
                <a:spcPct val="80000"/>
              </a:lnSpc>
              <a:spcBef>
                <a:spcPts val="0"/>
              </a:spcBef>
              <a:spcAft>
                <a:spcPts val="0"/>
              </a:spcAft>
              <a:buNone/>
              <a:defRPr sz="72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18" name="Google Shape;18;p3"/>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1pPr>
            <a:lvl2pPr indent="-292100" lvl="1" marL="914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9pPr>
          </a:lstStyle>
          <a:p/>
        </p:txBody>
      </p:sp>
      <p:sp>
        <p:nvSpPr>
          <p:cNvPr id="19" name="Google Shape;19;p3"/>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rgbClr val="FFFFFF"/>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2"/>
        </a:solidFill>
      </p:bgPr>
    </p:bg>
    <p:spTree>
      <p:nvGrpSpPr>
        <p:cNvPr id="20" name="Shape 20"/>
        <p:cNvGrpSpPr/>
        <p:nvPr/>
      </p:nvGrpSpPr>
      <p:grpSpPr>
        <a:xfrm>
          <a:off x="0" y="0"/>
          <a:ext cx="0" cy="0"/>
          <a:chOff x="0" y="0"/>
          <a:chExt cx="0" cy="0"/>
        </a:xfrm>
      </p:grpSpPr>
      <p:pic>
        <p:nvPicPr>
          <p:cNvPr id="21" name="Google Shape;21;p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22" name="Google Shape;22;p4"/>
          <p:cNvSpPr txBox="1"/>
          <p:nvPr>
            <p:ph type="title"/>
          </p:nvPr>
        </p:nvSpPr>
        <p:spPr>
          <a:xfrm>
            <a:off x="1506000" y="1385509"/>
            <a:ext cx="6131700" cy="1638600"/>
          </a:xfrm>
          <a:prstGeom prst="rect">
            <a:avLst/>
          </a:prstGeom>
        </p:spPr>
        <p:txBody>
          <a:bodyPr anchorCtr="0" anchor="b" bIns="91425" lIns="91425" spcFirstLastPara="1" rIns="91425" wrap="square" tIns="91425">
            <a:noAutofit/>
          </a:bodyPr>
          <a:lstStyle>
            <a:lvl1pPr lvl="0" algn="ctr">
              <a:lnSpc>
                <a:spcPct val="80000"/>
              </a:lnSpc>
              <a:spcBef>
                <a:spcPts val="0"/>
              </a:spcBef>
              <a:spcAft>
                <a:spcPts val="0"/>
              </a:spcAft>
              <a:buNone/>
              <a:defRPr sz="6000"/>
            </a:lvl1pPr>
            <a:lvl2pPr lvl="1">
              <a:spcBef>
                <a:spcPts val="0"/>
              </a:spcBef>
              <a:spcAft>
                <a:spcPts val="0"/>
              </a:spcAft>
              <a:buNone/>
              <a:defRPr>
                <a:latin typeface="Montserrat"/>
                <a:ea typeface="Montserrat"/>
                <a:cs typeface="Montserrat"/>
                <a:sym typeface="Montserrat"/>
              </a:defRPr>
            </a:lvl2pPr>
            <a:lvl3pPr lvl="2">
              <a:spcBef>
                <a:spcPts val="0"/>
              </a:spcBef>
              <a:spcAft>
                <a:spcPts val="0"/>
              </a:spcAft>
              <a:buNone/>
              <a:defRPr>
                <a:latin typeface="Montserrat"/>
                <a:ea typeface="Montserrat"/>
                <a:cs typeface="Montserrat"/>
                <a:sym typeface="Montserrat"/>
              </a:defRPr>
            </a:lvl3pPr>
            <a:lvl4pPr lvl="3">
              <a:spcBef>
                <a:spcPts val="0"/>
              </a:spcBef>
              <a:spcAft>
                <a:spcPts val="0"/>
              </a:spcAft>
              <a:buNone/>
              <a:defRPr>
                <a:latin typeface="Montserrat"/>
                <a:ea typeface="Montserrat"/>
                <a:cs typeface="Montserrat"/>
                <a:sym typeface="Montserrat"/>
              </a:defRPr>
            </a:lvl4pPr>
            <a:lvl5pPr lvl="4">
              <a:spcBef>
                <a:spcPts val="0"/>
              </a:spcBef>
              <a:spcAft>
                <a:spcPts val="0"/>
              </a:spcAft>
              <a:buNone/>
              <a:defRPr>
                <a:latin typeface="Montserrat"/>
                <a:ea typeface="Montserrat"/>
                <a:cs typeface="Montserrat"/>
                <a:sym typeface="Montserrat"/>
              </a:defRPr>
            </a:lvl5pPr>
            <a:lvl6pPr lvl="5">
              <a:spcBef>
                <a:spcPts val="0"/>
              </a:spcBef>
              <a:spcAft>
                <a:spcPts val="0"/>
              </a:spcAft>
              <a:buNone/>
              <a:defRPr>
                <a:latin typeface="Montserrat"/>
                <a:ea typeface="Montserrat"/>
                <a:cs typeface="Montserrat"/>
                <a:sym typeface="Montserrat"/>
              </a:defRPr>
            </a:lvl6pPr>
            <a:lvl7pPr lvl="6">
              <a:spcBef>
                <a:spcPts val="0"/>
              </a:spcBef>
              <a:spcAft>
                <a:spcPts val="0"/>
              </a:spcAft>
              <a:buNone/>
              <a:defRPr>
                <a:latin typeface="Montserrat"/>
                <a:ea typeface="Montserrat"/>
                <a:cs typeface="Montserrat"/>
                <a:sym typeface="Montserrat"/>
              </a:defRPr>
            </a:lvl7pPr>
            <a:lvl8pPr lvl="7">
              <a:spcBef>
                <a:spcPts val="0"/>
              </a:spcBef>
              <a:spcAft>
                <a:spcPts val="0"/>
              </a:spcAft>
              <a:buNone/>
              <a:defRPr>
                <a:latin typeface="Montserrat"/>
                <a:ea typeface="Montserrat"/>
                <a:cs typeface="Montserrat"/>
                <a:sym typeface="Montserrat"/>
              </a:defRPr>
            </a:lvl8pPr>
            <a:lvl9pPr lvl="8">
              <a:spcBef>
                <a:spcPts val="0"/>
              </a:spcBef>
              <a:spcAft>
                <a:spcPts val="0"/>
              </a:spcAft>
              <a:buNone/>
              <a:defRPr>
                <a:latin typeface="Montserrat"/>
                <a:ea typeface="Montserrat"/>
                <a:cs typeface="Montserrat"/>
                <a:sym typeface="Montserrat"/>
              </a:defRPr>
            </a:lvl9pPr>
          </a:lstStyle>
          <a:p/>
        </p:txBody>
      </p:sp>
      <p:sp>
        <p:nvSpPr>
          <p:cNvPr id="23" name="Google Shape;23;p4"/>
          <p:cNvSpPr txBox="1"/>
          <p:nvPr>
            <p:ph idx="1" type="subTitle"/>
          </p:nvPr>
        </p:nvSpPr>
        <p:spPr>
          <a:xfrm>
            <a:off x="2462575" y="2959018"/>
            <a:ext cx="4218600" cy="7341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 name="Shape 24"/>
        <p:cNvGrpSpPr/>
        <p:nvPr/>
      </p:nvGrpSpPr>
      <p:grpSpPr>
        <a:xfrm>
          <a:off x="0" y="0"/>
          <a:ext cx="0" cy="0"/>
          <a:chOff x="0" y="0"/>
          <a:chExt cx="0" cy="0"/>
        </a:xfrm>
      </p:grpSpPr>
      <p:sp>
        <p:nvSpPr>
          <p:cNvPr id="25" name="Google Shape;25;p5"/>
          <p:cNvSpPr txBox="1"/>
          <p:nvPr/>
        </p:nvSpPr>
        <p:spPr>
          <a:xfrm>
            <a:off x="4583948"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descr=" " id="26" name="Google Shape;26;p5"/>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27" name="Google Shape;27;p5"/>
          <p:cNvSpPr txBox="1"/>
          <p:nvPr>
            <p:ph type="title"/>
          </p:nvPr>
        </p:nvSpPr>
        <p:spPr>
          <a:xfrm>
            <a:off x="311700" y="587975"/>
            <a:ext cx="6551100" cy="6579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800"/>
              <a:buNone/>
              <a:defRPr sz="48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8" name="Google Shape;28;p5"/>
          <p:cNvSpPr txBox="1"/>
          <p:nvPr>
            <p:ph idx="1" type="body"/>
          </p:nvPr>
        </p:nvSpPr>
        <p:spPr>
          <a:xfrm>
            <a:off x="311700" y="1448400"/>
            <a:ext cx="6551100" cy="2246700"/>
          </a:xfrm>
          <a:prstGeom prst="rect">
            <a:avLst/>
          </a:prstGeom>
        </p:spPr>
        <p:txBody>
          <a:bodyPr anchorCtr="0" anchor="t" bIns="91425" lIns="91425" spcFirstLastPara="1" rIns="91425" wrap="square" tIns="91425">
            <a:noAutofit/>
          </a:bodyPr>
          <a:lstStyle>
            <a:lvl1pPr indent="-342900" lvl="0" marL="457200">
              <a:lnSpc>
                <a:spcPct val="125000"/>
              </a:lnSpc>
              <a:spcBef>
                <a:spcPts val="0"/>
              </a:spcBef>
              <a:spcAft>
                <a:spcPts val="0"/>
              </a:spcAft>
              <a:buSzPts val="1800"/>
              <a:buChar char="●"/>
              <a:defRPr/>
            </a:lvl1pPr>
            <a:lvl2pPr indent="-317500" lvl="1" marL="914400">
              <a:spcBef>
                <a:spcPts val="1000"/>
              </a:spcBef>
              <a:spcAft>
                <a:spcPts val="0"/>
              </a:spcAft>
              <a:buSzPts val="1400"/>
              <a:buChar char="○"/>
              <a:defRPr/>
            </a:lvl2pPr>
            <a:lvl3pPr indent="-317500" lvl="2" marL="1371600">
              <a:spcBef>
                <a:spcPts val="1000"/>
              </a:spcBef>
              <a:spcAft>
                <a:spcPts val="0"/>
              </a:spcAft>
              <a:buSzPts val="1400"/>
              <a:buChar char="■"/>
              <a:defRPr/>
            </a:lvl3pPr>
            <a:lvl4pPr indent="-317500" lvl="3" marL="1828800">
              <a:spcBef>
                <a:spcPts val="1000"/>
              </a:spcBef>
              <a:spcAft>
                <a:spcPts val="0"/>
              </a:spcAft>
              <a:buSzPts val="1400"/>
              <a:buChar char="●"/>
              <a:defRPr/>
            </a:lvl4pPr>
            <a:lvl5pPr indent="-317500" lvl="4" marL="2286000">
              <a:spcBef>
                <a:spcPts val="1000"/>
              </a:spcBef>
              <a:spcAft>
                <a:spcPts val="0"/>
              </a:spcAft>
              <a:buSzPts val="1400"/>
              <a:buChar char="○"/>
              <a:defRPr/>
            </a:lvl5pPr>
            <a:lvl6pPr indent="-317500" lvl="5" marL="2743200">
              <a:spcBef>
                <a:spcPts val="1000"/>
              </a:spcBef>
              <a:spcAft>
                <a:spcPts val="0"/>
              </a:spcAft>
              <a:buSzPts val="1400"/>
              <a:buChar char="■"/>
              <a:defRPr/>
            </a:lvl6pPr>
            <a:lvl7pPr indent="-317500" lvl="6" marL="3200400">
              <a:spcBef>
                <a:spcPts val="1000"/>
              </a:spcBef>
              <a:spcAft>
                <a:spcPts val="0"/>
              </a:spcAft>
              <a:buSzPts val="1400"/>
              <a:buChar char="●"/>
              <a:defRPr/>
            </a:lvl7pPr>
            <a:lvl8pPr indent="-317500" lvl="7" marL="3657600">
              <a:spcBef>
                <a:spcPts val="1000"/>
              </a:spcBef>
              <a:spcAft>
                <a:spcPts val="0"/>
              </a:spcAft>
              <a:buSzPts val="1400"/>
              <a:buChar char="○"/>
              <a:defRPr/>
            </a:lvl8pPr>
            <a:lvl9pPr indent="-317500" lvl="8" marL="4114800">
              <a:spcBef>
                <a:spcPts val="1000"/>
              </a:spcBef>
              <a:spcAft>
                <a:spcPts val="1000"/>
              </a:spcAft>
              <a:buSzPts val="1400"/>
              <a:buChar char="■"/>
              <a:defRPr/>
            </a:lvl9pPr>
          </a:lstStyle>
          <a:p/>
        </p:txBody>
      </p:sp>
      <p:pic>
        <p:nvPicPr>
          <p:cNvPr id="29" name="Google Shape;29;p5"/>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 name="Shape 30"/>
        <p:cNvGrpSpPr/>
        <p:nvPr/>
      </p:nvGrpSpPr>
      <p:grpSpPr>
        <a:xfrm>
          <a:off x="0" y="0"/>
          <a:ext cx="0" cy="0"/>
          <a:chOff x="0" y="0"/>
          <a:chExt cx="0" cy="0"/>
        </a:xfrm>
      </p:grpSpPr>
      <p:sp>
        <p:nvSpPr>
          <p:cNvPr id="31" name="Google Shape;31;p6"/>
          <p:cNvSpPr txBox="1"/>
          <p:nvPr>
            <p:ph type="title"/>
          </p:nvPr>
        </p:nvSpPr>
        <p:spPr>
          <a:xfrm>
            <a:off x="311700" y="587970"/>
            <a:ext cx="4945500" cy="1137300"/>
          </a:xfrm>
          <a:prstGeom prst="rect">
            <a:avLst/>
          </a:prstGeom>
        </p:spPr>
        <p:txBody>
          <a:bodyPr anchorCtr="0" anchor="t" bIns="91425" lIns="91425" spcFirstLastPara="1" rIns="91425" wrap="square" tIns="91425">
            <a:noAutofit/>
          </a:bodyPr>
          <a:lstStyle>
            <a:lvl1pPr lvl="0">
              <a:lnSpc>
                <a:spcPct val="80000"/>
              </a:lnSpc>
              <a:spcBef>
                <a:spcPts val="0"/>
              </a:spcBef>
              <a:spcAft>
                <a:spcPts val="0"/>
              </a:spcAft>
              <a:buClr>
                <a:srgbClr val="57068C"/>
              </a:buClr>
              <a:buSzPts val="4800"/>
              <a:buNone/>
              <a:defRPr sz="4800">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6"/>
          <p:cNvSpPr txBox="1"/>
          <p:nvPr>
            <p:ph idx="1" type="body"/>
          </p:nvPr>
        </p:nvSpPr>
        <p:spPr>
          <a:xfrm>
            <a:off x="311700"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sp>
        <p:nvSpPr>
          <p:cNvPr id="33" name="Google Shape;33;p6"/>
          <p:cNvSpPr txBox="1"/>
          <p:nvPr>
            <p:ph idx="2" type="body"/>
          </p:nvPr>
        </p:nvSpPr>
        <p:spPr>
          <a:xfrm>
            <a:off x="4619925"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pic>
        <p:nvPicPr>
          <p:cNvPr descr=" " id="34" name="Google Shape;34;p6"/>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35" name="Google Shape;35;p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36" name="Google Shape;36;p6"/>
          <p:cNvSpPr txBox="1"/>
          <p:nvPr>
            <p:ph idx="3" type="subTitle"/>
          </p:nvPr>
        </p:nvSpPr>
        <p:spPr>
          <a:xfrm>
            <a:off x="311700" y="2054620"/>
            <a:ext cx="3999900" cy="411600"/>
          </a:xfrm>
          <a:prstGeom prst="rect">
            <a:avLst/>
          </a:prstGeom>
        </p:spPr>
        <p:txBody>
          <a:bodyPr anchorCtr="0" anchor="t" bIns="91425" lIns="91425" spcFirstLastPara="1" rIns="91425" wrap="square" tIns="91425">
            <a:noAutofit/>
          </a:bodyPr>
          <a:lstStyle>
            <a:lvl1pPr lvl="0">
              <a:spcBef>
                <a:spcPts val="0"/>
              </a:spcBef>
              <a:spcAft>
                <a:spcPts val="0"/>
              </a:spcAft>
              <a:buNone/>
              <a:defRPr b="1" sz="1400">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
        <p:nvSpPr>
          <p:cNvPr id="37" name="Google Shape;37;p6"/>
          <p:cNvSpPr txBox="1"/>
          <p:nvPr>
            <p:ph idx="4" type="subTitle"/>
          </p:nvPr>
        </p:nvSpPr>
        <p:spPr>
          <a:xfrm>
            <a:off x="4619925" y="2054620"/>
            <a:ext cx="3999900" cy="411600"/>
          </a:xfrm>
          <a:prstGeom prst="rect">
            <a:avLst/>
          </a:prstGeom>
        </p:spPr>
        <p:txBody>
          <a:bodyPr anchorCtr="0" anchor="t" bIns="91425" lIns="91425" spcFirstLastPara="1" rIns="91425" wrap="square" tIns="91425">
            <a:noAutofit/>
          </a:bodyPr>
          <a:lstStyle>
            <a:lvl1pPr lvl="0" rtl="0">
              <a:spcBef>
                <a:spcPts val="0"/>
              </a:spcBef>
              <a:spcAft>
                <a:spcPts val="0"/>
              </a:spcAft>
              <a:buNone/>
              <a:defRPr b="1" sz="1400">
                <a:solidFill>
                  <a:schemeClr val="dk1"/>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pic>
        <p:nvPicPr>
          <p:cNvPr id="38" name="Google Shape;38;p6"/>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9" name="Shape 39"/>
        <p:cNvGrpSpPr/>
        <p:nvPr/>
      </p:nvGrpSpPr>
      <p:grpSpPr>
        <a:xfrm>
          <a:off x="0" y="0"/>
          <a:ext cx="0" cy="0"/>
          <a:chOff x="0" y="0"/>
          <a:chExt cx="0" cy="0"/>
        </a:xfrm>
      </p:grpSpPr>
      <p:sp>
        <p:nvSpPr>
          <p:cNvPr id="40" name="Google Shape;40;p7"/>
          <p:cNvSpPr txBox="1"/>
          <p:nvPr>
            <p:ph type="title"/>
          </p:nvPr>
        </p:nvSpPr>
        <p:spPr>
          <a:xfrm>
            <a:off x="311700" y="530680"/>
            <a:ext cx="8424900" cy="572700"/>
          </a:xfrm>
          <a:prstGeom prst="rect">
            <a:avLst/>
          </a:prstGeom>
        </p:spPr>
        <p:txBody>
          <a:bodyPr anchorCtr="0" anchor="t" bIns="91425" lIns="91425" spcFirstLastPara="1" rIns="91425" wrap="square" tIns="91425">
            <a:noAutofit/>
          </a:bodyPr>
          <a:lstStyle>
            <a:lvl1pPr lvl="0">
              <a:spcBef>
                <a:spcPts val="0"/>
              </a:spcBef>
              <a:spcAft>
                <a:spcPts val="0"/>
              </a:spcAft>
              <a:buClr>
                <a:srgbClr val="57068C"/>
              </a:buClr>
              <a:buSzPts val="3600"/>
              <a:buNone/>
              <a:defRPr>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pic>
        <p:nvPicPr>
          <p:cNvPr descr=" " id="41" name="Google Shape;41;p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2" name="Google Shape;42;p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3" name="Google Shape;43;p7"/>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4" name="Shape 44"/>
        <p:cNvGrpSpPr/>
        <p:nvPr/>
      </p:nvGrpSpPr>
      <p:grpSpPr>
        <a:xfrm>
          <a:off x="0" y="0"/>
          <a:ext cx="0" cy="0"/>
          <a:chOff x="0" y="0"/>
          <a:chExt cx="0" cy="0"/>
        </a:xfrm>
      </p:grpSpPr>
      <p:sp>
        <p:nvSpPr>
          <p:cNvPr id="45" name="Google Shape;45;p8"/>
          <p:cNvSpPr txBox="1"/>
          <p:nvPr>
            <p:ph type="title"/>
          </p:nvPr>
        </p:nvSpPr>
        <p:spPr>
          <a:xfrm>
            <a:off x="311700" y="708000"/>
            <a:ext cx="3132300" cy="755700"/>
          </a:xfrm>
          <a:prstGeom prst="rect">
            <a:avLst/>
          </a:prstGeom>
        </p:spPr>
        <p:txBody>
          <a:bodyPr anchorCtr="0" anchor="b" bIns="91425" lIns="91425" spcFirstLastPara="1" rIns="91425" wrap="square" tIns="91425">
            <a:noAutofit/>
          </a:bodyPr>
          <a:lstStyle>
            <a:lvl1pPr lvl="0">
              <a:spcBef>
                <a:spcPts val="0"/>
              </a:spcBef>
              <a:spcAft>
                <a:spcPts val="0"/>
              </a:spcAft>
              <a:buClr>
                <a:srgbClr val="57068C"/>
              </a:buClr>
              <a:buSzPts val="2400"/>
              <a:buNone/>
              <a:defRPr sz="2400">
                <a:solidFill>
                  <a:srgbClr val="57068C"/>
                </a:solidFill>
              </a:defRPr>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6" name="Google Shape;46;p8"/>
          <p:cNvSpPr txBox="1"/>
          <p:nvPr>
            <p:ph idx="1" type="body"/>
          </p:nvPr>
        </p:nvSpPr>
        <p:spPr>
          <a:xfrm>
            <a:off x="311700" y="1542000"/>
            <a:ext cx="3054600" cy="28860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000"/>
              </a:spcBef>
              <a:spcAft>
                <a:spcPts val="0"/>
              </a:spcAft>
              <a:buSzPts val="1200"/>
              <a:buChar char="○"/>
              <a:defRPr sz="1200"/>
            </a:lvl2pPr>
            <a:lvl3pPr indent="-304800" lvl="2" marL="1371600">
              <a:spcBef>
                <a:spcPts val="1000"/>
              </a:spcBef>
              <a:spcAft>
                <a:spcPts val="0"/>
              </a:spcAft>
              <a:buSzPts val="1200"/>
              <a:buChar char="■"/>
              <a:defRPr sz="1200"/>
            </a:lvl3pPr>
            <a:lvl4pPr indent="-304800" lvl="3" marL="1828800">
              <a:spcBef>
                <a:spcPts val="1000"/>
              </a:spcBef>
              <a:spcAft>
                <a:spcPts val="0"/>
              </a:spcAft>
              <a:buSzPts val="1200"/>
              <a:buChar char="●"/>
              <a:defRPr sz="1200"/>
            </a:lvl4pPr>
            <a:lvl5pPr indent="-304800" lvl="4" marL="2286000">
              <a:spcBef>
                <a:spcPts val="1000"/>
              </a:spcBef>
              <a:spcAft>
                <a:spcPts val="0"/>
              </a:spcAft>
              <a:buSzPts val="1200"/>
              <a:buChar char="○"/>
              <a:defRPr sz="1200"/>
            </a:lvl5pPr>
            <a:lvl6pPr indent="-304800" lvl="5" marL="2743200">
              <a:spcBef>
                <a:spcPts val="1000"/>
              </a:spcBef>
              <a:spcAft>
                <a:spcPts val="0"/>
              </a:spcAft>
              <a:buSzPts val="1200"/>
              <a:buChar char="■"/>
              <a:defRPr sz="1200"/>
            </a:lvl6pPr>
            <a:lvl7pPr indent="-304800" lvl="6" marL="3200400">
              <a:spcBef>
                <a:spcPts val="1000"/>
              </a:spcBef>
              <a:spcAft>
                <a:spcPts val="0"/>
              </a:spcAft>
              <a:buSzPts val="1200"/>
              <a:buChar char="●"/>
              <a:defRPr sz="1200"/>
            </a:lvl7pPr>
            <a:lvl8pPr indent="-304800" lvl="7" marL="3657600">
              <a:spcBef>
                <a:spcPts val="1000"/>
              </a:spcBef>
              <a:spcAft>
                <a:spcPts val="0"/>
              </a:spcAft>
              <a:buSzPts val="1200"/>
              <a:buChar char="○"/>
              <a:defRPr sz="1200"/>
            </a:lvl8pPr>
            <a:lvl9pPr indent="-304800" lvl="8" marL="4114800">
              <a:spcBef>
                <a:spcPts val="1000"/>
              </a:spcBef>
              <a:spcAft>
                <a:spcPts val="1000"/>
              </a:spcAft>
              <a:buSzPts val="1200"/>
              <a:buChar char="■"/>
              <a:defRPr sz="1200"/>
            </a:lvl9pPr>
          </a:lstStyle>
          <a:p/>
        </p:txBody>
      </p:sp>
      <p:pic>
        <p:nvPicPr>
          <p:cNvPr descr=" " id="47" name="Google Shape;47;p8"/>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8" name="Google Shape;48;p8"/>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9" name="Google Shape;49;p8"/>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50" name="Shape 50"/>
        <p:cNvGrpSpPr/>
        <p:nvPr/>
      </p:nvGrpSpPr>
      <p:grpSpPr>
        <a:xfrm>
          <a:off x="0" y="0"/>
          <a:ext cx="0" cy="0"/>
          <a:chOff x="0" y="0"/>
          <a:chExt cx="0" cy="0"/>
        </a:xfrm>
      </p:grpSpPr>
      <p:sp>
        <p:nvSpPr>
          <p:cNvPr id="51" name="Google Shape;51;p9"/>
          <p:cNvSpPr txBox="1"/>
          <p:nvPr>
            <p:ph type="title"/>
          </p:nvPr>
        </p:nvSpPr>
        <p:spPr>
          <a:xfrm>
            <a:off x="1772975" y="528144"/>
            <a:ext cx="5597700" cy="24753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Clr>
                <a:srgbClr val="57068C"/>
              </a:buClr>
              <a:buSzPts val="5600"/>
              <a:buNone/>
              <a:defRPr sz="5600">
                <a:solidFill>
                  <a:srgbClr val="57068C"/>
                </a:solidFill>
              </a:defRPr>
            </a:lvl1pPr>
            <a:lvl2pPr lvl="1">
              <a:lnSpc>
                <a:spcPct val="80000"/>
              </a:lnSpc>
              <a:spcBef>
                <a:spcPts val="0"/>
              </a:spcBef>
              <a:spcAft>
                <a:spcPts val="0"/>
              </a:spcAft>
              <a:buSzPts val="4800"/>
              <a:buNone/>
              <a:defRPr sz="4800"/>
            </a:lvl2pPr>
            <a:lvl3pPr lvl="2">
              <a:lnSpc>
                <a:spcPct val="80000"/>
              </a:lnSpc>
              <a:spcBef>
                <a:spcPts val="0"/>
              </a:spcBef>
              <a:spcAft>
                <a:spcPts val="0"/>
              </a:spcAft>
              <a:buSzPts val="4800"/>
              <a:buNone/>
              <a:defRPr sz="4800"/>
            </a:lvl3pPr>
            <a:lvl4pPr lvl="3">
              <a:lnSpc>
                <a:spcPct val="80000"/>
              </a:lnSpc>
              <a:spcBef>
                <a:spcPts val="0"/>
              </a:spcBef>
              <a:spcAft>
                <a:spcPts val="0"/>
              </a:spcAft>
              <a:buSzPts val="4800"/>
              <a:buNone/>
              <a:defRPr sz="4800"/>
            </a:lvl4pPr>
            <a:lvl5pPr lvl="4">
              <a:lnSpc>
                <a:spcPct val="80000"/>
              </a:lnSpc>
              <a:spcBef>
                <a:spcPts val="0"/>
              </a:spcBef>
              <a:spcAft>
                <a:spcPts val="0"/>
              </a:spcAft>
              <a:buSzPts val="4800"/>
              <a:buNone/>
              <a:defRPr sz="4800"/>
            </a:lvl5pPr>
            <a:lvl6pPr lvl="5">
              <a:lnSpc>
                <a:spcPct val="80000"/>
              </a:lnSpc>
              <a:spcBef>
                <a:spcPts val="0"/>
              </a:spcBef>
              <a:spcAft>
                <a:spcPts val="0"/>
              </a:spcAft>
              <a:buSzPts val="4800"/>
              <a:buNone/>
              <a:defRPr sz="4800"/>
            </a:lvl6pPr>
            <a:lvl7pPr lvl="6">
              <a:lnSpc>
                <a:spcPct val="80000"/>
              </a:lnSpc>
              <a:spcBef>
                <a:spcPts val="0"/>
              </a:spcBef>
              <a:spcAft>
                <a:spcPts val="0"/>
              </a:spcAft>
              <a:buSzPts val="4800"/>
              <a:buNone/>
              <a:defRPr sz="4800"/>
            </a:lvl7pPr>
            <a:lvl8pPr lvl="7">
              <a:lnSpc>
                <a:spcPct val="80000"/>
              </a:lnSpc>
              <a:spcBef>
                <a:spcPts val="0"/>
              </a:spcBef>
              <a:spcAft>
                <a:spcPts val="0"/>
              </a:spcAft>
              <a:buSzPts val="4800"/>
              <a:buNone/>
              <a:defRPr sz="4800"/>
            </a:lvl8pPr>
            <a:lvl9pPr lvl="8">
              <a:lnSpc>
                <a:spcPct val="80000"/>
              </a:lnSpc>
              <a:spcBef>
                <a:spcPts val="0"/>
              </a:spcBef>
              <a:spcAft>
                <a:spcPts val="0"/>
              </a:spcAft>
              <a:buSzPts val="4800"/>
              <a:buNone/>
              <a:defRPr sz="4800"/>
            </a:lvl9pPr>
          </a:lstStyle>
          <a:p/>
        </p:txBody>
      </p:sp>
      <p:pic>
        <p:nvPicPr>
          <p:cNvPr descr=" " id="52" name="Google Shape;52;p9"/>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53" name="Google Shape;53;p9"/>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54" name="Google Shape;54;p9"/>
          <p:cNvSpPr txBox="1"/>
          <p:nvPr>
            <p:ph idx="1" type="body"/>
          </p:nvPr>
        </p:nvSpPr>
        <p:spPr>
          <a:xfrm>
            <a:off x="2120250" y="2660325"/>
            <a:ext cx="4903500" cy="1615500"/>
          </a:xfrm>
          <a:prstGeom prst="rect">
            <a:avLst/>
          </a:prstGeom>
        </p:spPr>
        <p:txBody>
          <a:bodyPr anchorCtr="0" anchor="t" bIns="91425" lIns="91425" spcFirstLastPara="1" rIns="91425" wrap="square" tIns="91425">
            <a:noAutofit/>
          </a:bodyPr>
          <a:lstStyle>
            <a:lvl1pPr indent="-330200" lvl="0" marL="457200" algn="ctr">
              <a:lnSpc>
                <a:spcPct val="125000"/>
              </a:lnSpc>
              <a:spcBef>
                <a:spcPts val="0"/>
              </a:spcBef>
              <a:spcAft>
                <a:spcPts val="0"/>
              </a:spcAft>
              <a:buSzPts val="1600"/>
              <a:buChar char="●"/>
              <a:defRPr sz="1600"/>
            </a:lvl1pPr>
            <a:lvl2pPr indent="-330200" lvl="1" marL="914400" algn="ctr">
              <a:lnSpc>
                <a:spcPct val="125000"/>
              </a:lnSpc>
              <a:spcBef>
                <a:spcPts val="0"/>
              </a:spcBef>
              <a:spcAft>
                <a:spcPts val="0"/>
              </a:spcAft>
              <a:buSzPts val="1600"/>
              <a:buChar char="○"/>
              <a:defRPr sz="1600"/>
            </a:lvl2pPr>
            <a:lvl3pPr indent="-330200" lvl="2" marL="1371600" algn="ctr">
              <a:lnSpc>
                <a:spcPct val="125000"/>
              </a:lnSpc>
              <a:spcBef>
                <a:spcPts val="0"/>
              </a:spcBef>
              <a:spcAft>
                <a:spcPts val="0"/>
              </a:spcAft>
              <a:buSzPts val="1600"/>
              <a:buChar char="■"/>
              <a:defRPr sz="1600"/>
            </a:lvl3pPr>
            <a:lvl4pPr indent="-330200" lvl="3" marL="1828800" algn="ctr">
              <a:lnSpc>
                <a:spcPct val="125000"/>
              </a:lnSpc>
              <a:spcBef>
                <a:spcPts val="0"/>
              </a:spcBef>
              <a:spcAft>
                <a:spcPts val="0"/>
              </a:spcAft>
              <a:buSzPts val="1600"/>
              <a:buChar char="●"/>
              <a:defRPr sz="1600"/>
            </a:lvl4pPr>
            <a:lvl5pPr indent="-330200" lvl="4" marL="2286000" algn="ctr">
              <a:lnSpc>
                <a:spcPct val="125000"/>
              </a:lnSpc>
              <a:spcBef>
                <a:spcPts val="0"/>
              </a:spcBef>
              <a:spcAft>
                <a:spcPts val="0"/>
              </a:spcAft>
              <a:buSzPts val="1600"/>
              <a:buChar char="○"/>
              <a:defRPr sz="1600"/>
            </a:lvl5pPr>
            <a:lvl6pPr indent="-330200" lvl="5" marL="2743200" algn="ctr">
              <a:lnSpc>
                <a:spcPct val="125000"/>
              </a:lnSpc>
              <a:spcBef>
                <a:spcPts val="0"/>
              </a:spcBef>
              <a:spcAft>
                <a:spcPts val="0"/>
              </a:spcAft>
              <a:buSzPts val="1600"/>
              <a:buChar char="■"/>
              <a:defRPr sz="1600"/>
            </a:lvl6pPr>
            <a:lvl7pPr indent="-330200" lvl="6" marL="3200400" algn="ctr">
              <a:lnSpc>
                <a:spcPct val="125000"/>
              </a:lnSpc>
              <a:spcBef>
                <a:spcPts val="0"/>
              </a:spcBef>
              <a:spcAft>
                <a:spcPts val="0"/>
              </a:spcAft>
              <a:buSzPts val="1600"/>
              <a:buChar char="●"/>
              <a:defRPr sz="1600"/>
            </a:lvl7pPr>
            <a:lvl8pPr indent="-330200" lvl="7" marL="3657600" algn="ctr">
              <a:lnSpc>
                <a:spcPct val="125000"/>
              </a:lnSpc>
              <a:spcBef>
                <a:spcPts val="0"/>
              </a:spcBef>
              <a:spcAft>
                <a:spcPts val="0"/>
              </a:spcAft>
              <a:buSzPts val="1600"/>
              <a:buChar char="○"/>
              <a:defRPr sz="1600"/>
            </a:lvl8pPr>
            <a:lvl9pPr indent="-330200" lvl="8" marL="4114800" algn="ctr">
              <a:lnSpc>
                <a:spcPct val="125000"/>
              </a:lnSpc>
              <a:spcBef>
                <a:spcPts val="0"/>
              </a:spcBef>
              <a:spcAft>
                <a:spcPts val="0"/>
              </a:spcAft>
              <a:buSzPts val="1600"/>
              <a:buChar char="■"/>
              <a:defRPr sz="16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5" name="Shape 55"/>
        <p:cNvGrpSpPr/>
        <p:nvPr/>
      </p:nvGrpSpPr>
      <p:grpSpPr>
        <a:xfrm>
          <a:off x="0" y="0"/>
          <a:ext cx="0" cy="0"/>
          <a:chOff x="0" y="0"/>
          <a:chExt cx="0" cy="0"/>
        </a:xfrm>
      </p:grpSpPr>
      <p:sp>
        <p:nvSpPr>
          <p:cNvPr descr=" " id="56" name="Google Shape;56;p10"/>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10"/>
          <p:cNvSpPr txBox="1"/>
          <p:nvPr>
            <p:ph type="title"/>
          </p:nvPr>
        </p:nvSpPr>
        <p:spPr>
          <a:xfrm>
            <a:off x="294375" y="1233175"/>
            <a:ext cx="4079100" cy="1482300"/>
          </a:xfrm>
          <a:prstGeom prst="rect">
            <a:avLst/>
          </a:prstGeom>
        </p:spPr>
        <p:txBody>
          <a:bodyPr anchorCtr="0" anchor="b" bIns="91425" lIns="91425" spcFirstLastPara="1" rIns="91425" wrap="square" tIns="91425">
            <a:noAutofit/>
          </a:bodyPr>
          <a:lstStyle>
            <a:lvl1pPr lvl="0">
              <a:lnSpc>
                <a:spcPct val="80000"/>
              </a:lnSpc>
              <a:spcBef>
                <a:spcPts val="0"/>
              </a:spcBef>
              <a:spcAft>
                <a:spcPts val="0"/>
              </a:spcAft>
              <a:buClr>
                <a:srgbClr val="57068C"/>
              </a:buClr>
              <a:buSzPts val="3600"/>
              <a:buNone/>
              <a:defRPr sz="3600">
                <a:solidFill>
                  <a:srgbClr val="57068C"/>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58" name="Google Shape;58;p10"/>
          <p:cNvSpPr txBox="1"/>
          <p:nvPr>
            <p:ph idx="1" type="subTitle"/>
          </p:nvPr>
        </p:nvSpPr>
        <p:spPr>
          <a:xfrm>
            <a:off x="294375" y="2803075"/>
            <a:ext cx="3616800" cy="12351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Clr>
                <a:srgbClr val="9A6ABA"/>
              </a:buClr>
              <a:buSzPts val="1800"/>
              <a:buNone/>
              <a:defRPr>
                <a:solidFill>
                  <a:srgbClr val="9A6ABA"/>
                </a:solidFill>
              </a:defRPr>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59" name="Google Shape;59;p10"/>
          <p:cNvSpPr txBox="1"/>
          <p:nvPr>
            <p:ph idx="2" type="body"/>
          </p:nvPr>
        </p:nvSpPr>
        <p:spPr>
          <a:xfrm>
            <a:off x="4939500" y="724075"/>
            <a:ext cx="3837000" cy="35517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pic>
        <p:nvPicPr>
          <p:cNvPr descr=" " id="60" name="Google Shape;60;p10"/>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1" name="Google Shape;61;p10"/>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2" name="Shape 62"/>
        <p:cNvGrpSpPr/>
        <p:nvPr/>
      </p:nvGrpSpPr>
      <p:grpSpPr>
        <a:xfrm>
          <a:off x="0" y="0"/>
          <a:ext cx="0" cy="0"/>
          <a:chOff x="0" y="0"/>
          <a:chExt cx="0" cy="0"/>
        </a:xfrm>
      </p:grpSpPr>
      <p:pic>
        <p:nvPicPr>
          <p:cNvPr descr=" " id="63" name="Google Shape;63;p11"/>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4" name="Google Shape;64;p11"/>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65" name="Google Shape;65;p11"/>
          <p:cNvSpPr txBox="1"/>
          <p:nvPr>
            <p:ph type="title"/>
          </p:nvPr>
        </p:nvSpPr>
        <p:spPr>
          <a:xfrm>
            <a:off x="311700" y="3619355"/>
            <a:ext cx="4511700" cy="605100"/>
          </a:xfrm>
          <a:prstGeom prst="rect">
            <a:avLst/>
          </a:prstGeom>
        </p:spPr>
        <p:txBody>
          <a:bodyPr anchorCtr="0" anchor="b" bIns="91425" lIns="91425" spcFirstLastPara="1" rIns="91425" wrap="square" tIns="91425">
            <a:noAutofit/>
          </a:bodyPr>
          <a:lstStyle>
            <a:lvl1pPr lvl="0">
              <a:spcBef>
                <a:spcPts val="0"/>
              </a:spcBef>
              <a:spcAft>
                <a:spcPts val="0"/>
              </a:spcAft>
              <a:buClr>
                <a:srgbClr val="333333"/>
              </a:buClr>
              <a:buSzPts val="1800"/>
              <a:buFont typeface="Montserrat"/>
              <a:buNone/>
              <a:defRPr b="0" sz="1800">
                <a:solidFill>
                  <a:srgbClr val="333333"/>
                </a:solidFill>
                <a:latin typeface="Montserrat"/>
                <a:ea typeface="Montserrat"/>
                <a:cs typeface="Montserrat"/>
                <a:sym typeface="Montserrat"/>
              </a:defRPr>
            </a:lvl1pPr>
            <a:lvl2pPr lvl="1">
              <a:spcBef>
                <a:spcPts val="0"/>
              </a:spcBef>
              <a:spcAft>
                <a:spcPts val="0"/>
              </a:spcAft>
              <a:buSzPts val="2800"/>
              <a:buNone/>
              <a:defRPr>
                <a:latin typeface="Montserrat"/>
                <a:ea typeface="Montserrat"/>
                <a:cs typeface="Montserrat"/>
                <a:sym typeface="Montserrat"/>
              </a:defRPr>
            </a:lvl2pPr>
            <a:lvl3pPr lvl="2">
              <a:spcBef>
                <a:spcPts val="0"/>
              </a:spcBef>
              <a:spcAft>
                <a:spcPts val="0"/>
              </a:spcAft>
              <a:buSzPts val="2800"/>
              <a:buNone/>
              <a:defRPr>
                <a:latin typeface="Montserrat"/>
                <a:ea typeface="Montserrat"/>
                <a:cs typeface="Montserrat"/>
                <a:sym typeface="Montserrat"/>
              </a:defRPr>
            </a:lvl3pPr>
            <a:lvl4pPr lvl="3">
              <a:spcBef>
                <a:spcPts val="0"/>
              </a:spcBef>
              <a:spcAft>
                <a:spcPts val="0"/>
              </a:spcAft>
              <a:buSzPts val="2800"/>
              <a:buNone/>
              <a:defRPr>
                <a:latin typeface="Montserrat"/>
                <a:ea typeface="Montserrat"/>
                <a:cs typeface="Montserrat"/>
                <a:sym typeface="Montserrat"/>
              </a:defRPr>
            </a:lvl4pPr>
            <a:lvl5pPr lvl="4">
              <a:spcBef>
                <a:spcPts val="0"/>
              </a:spcBef>
              <a:spcAft>
                <a:spcPts val="0"/>
              </a:spcAft>
              <a:buSzPts val="2800"/>
              <a:buNone/>
              <a:defRPr>
                <a:latin typeface="Montserrat"/>
                <a:ea typeface="Montserrat"/>
                <a:cs typeface="Montserrat"/>
                <a:sym typeface="Montserrat"/>
              </a:defRPr>
            </a:lvl5pPr>
            <a:lvl6pPr lvl="5">
              <a:spcBef>
                <a:spcPts val="0"/>
              </a:spcBef>
              <a:spcAft>
                <a:spcPts val="0"/>
              </a:spcAft>
              <a:buSzPts val="2800"/>
              <a:buNone/>
              <a:defRPr>
                <a:latin typeface="Montserrat"/>
                <a:ea typeface="Montserrat"/>
                <a:cs typeface="Montserrat"/>
                <a:sym typeface="Montserrat"/>
              </a:defRPr>
            </a:lvl6pPr>
            <a:lvl7pPr lvl="6">
              <a:spcBef>
                <a:spcPts val="0"/>
              </a:spcBef>
              <a:spcAft>
                <a:spcPts val="0"/>
              </a:spcAft>
              <a:buSzPts val="2800"/>
              <a:buNone/>
              <a:defRPr>
                <a:latin typeface="Montserrat"/>
                <a:ea typeface="Montserrat"/>
                <a:cs typeface="Montserrat"/>
                <a:sym typeface="Montserrat"/>
              </a:defRPr>
            </a:lvl7pPr>
            <a:lvl8pPr lvl="7">
              <a:spcBef>
                <a:spcPts val="0"/>
              </a:spcBef>
              <a:spcAft>
                <a:spcPts val="0"/>
              </a:spcAft>
              <a:buSzPts val="2800"/>
              <a:buNone/>
              <a:defRPr>
                <a:latin typeface="Montserrat"/>
                <a:ea typeface="Montserrat"/>
                <a:cs typeface="Montserrat"/>
                <a:sym typeface="Montserrat"/>
              </a:defRPr>
            </a:lvl8pPr>
            <a:lvl9pPr lvl="8">
              <a:spcBef>
                <a:spcPts val="0"/>
              </a:spcBef>
              <a:spcAft>
                <a:spcPts val="0"/>
              </a:spcAft>
              <a:buSzPts val="2800"/>
              <a:buNone/>
              <a:defRPr>
                <a:latin typeface="Montserrat"/>
                <a:ea typeface="Montserrat"/>
                <a:cs typeface="Montserrat"/>
                <a:sym typeface="Montserrat"/>
              </a:defRPr>
            </a:lvl9pPr>
          </a:lstStyle>
          <a:p/>
        </p:txBody>
      </p:sp>
      <p:pic>
        <p:nvPicPr>
          <p:cNvPr id="66" name="Google Shape;66;p11"/>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67" name="Shape 67"/>
        <p:cNvGrpSpPr/>
        <p:nvPr/>
      </p:nvGrpSpPr>
      <p:grpSpPr>
        <a:xfrm>
          <a:off x="0" y="0"/>
          <a:ext cx="0" cy="0"/>
          <a:chOff x="0" y="0"/>
          <a:chExt cx="0" cy="0"/>
        </a:xfrm>
      </p:grpSpPr>
      <p:pic>
        <p:nvPicPr>
          <p:cNvPr id="68" name="Google Shape;68;p12"/>
          <p:cNvPicPr preferRelativeResize="0"/>
          <p:nvPr/>
        </p:nvPicPr>
        <p:blipFill rotWithShape="1">
          <a:blip r:embed="rId2">
            <a:alphaModFix/>
          </a:blip>
          <a:srcRect b="0" l="0" r="0" t="0"/>
          <a:stretch/>
        </p:blipFill>
        <p:spPr>
          <a:xfrm>
            <a:off x="3965" y="0"/>
            <a:ext cx="9136072" cy="5143501"/>
          </a:xfrm>
          <a:prstGeom prst="rect">
            <a:avLst/>
          </a:prstGeom>
          <a:noFill/>
          <a:ln>
            <a:noFill/>
          </a:ln>
        </p:spPr>
      </p:pic>
      <p:sp>
        <p:nvSpPr>
          <p:cNvPr id="69" name="Google Shape;69;p12"/>
          <p:cNvSpPr txBox="1"/>
          <p:nvPr>
            <p:ph hasCustomPrompt="1" type="title"/>
          </p:nvPr>
        </p:nvSpPr>
        <p:spPr>
          <a:xfrm>
            <a:off x="311700" y="606575"/>
            <a:ext cx="8520600" cy="1671000"/>
          </a:xfrm>
          <a:prstGeom prst="rect">
            <a:avLst/>
          </a:prstGeom>
        </p:spPr>
        <p:txBody>
          <a:bodyPr anchorCtr="0" anchor="t" bIns="91425" lIns="91425" spcFirstLastPara="1" rIns="91425" wrap="square" tIns="91425">
            <a:noAutofit/>
          </a:bodyPr>
          <a:lstStyle>
            <a:lvl1pPr lvl="0" algn="ctr">
              <a:spcBef>
                <a:spcPts val="0"/>
              </a:spcBef>
              <a:spcAft>
                <a:spcPts val="0"/>
              </a:spcAft>
              <a:buClr>
                <a:srgbClr val="57068C"/>
              </a:buClr>
              <a:buSzPts val="13000"/>
              <a:buNone/>
              <a:defRPr sz="13000">
                <a:solidFill>
                  <a:srgbClr val="57068C"/>
                </a:solidFill>
              </a:defRPr>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70" name="Google Shape;70;p12"/>
          <p:cNvSpPr txBox="1"/>
          <p:nvPr>
            <p:ph idx="1" type="body"/>
          </p:nvPr>
        </p:nvSpPr>
        <p:spPr>
          <a:xfrm>
            <a:off x="3007950" y="3094875"/>
            <a:ext cx="3128100" cy="11868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SzPts val="1100"/>
              <a:buChar char="●"/>
              <a:defRPr sz="1100"/>
            </a:lvl1pPr>
            <a:lvl2pPr indent="-298450" lvl="1" marL="914400" algn="ctr">
              <a:spcBef>
                <a:spcPts val="0"/>
              </a:spcBef>
              <a:spcAft>
                <a:spcPts val="0"/>
              </a:spcAft>
              <a:buSzPts val="1100"/>
              <a:buChar char="○"/>
              <a:defRPr sz="1100"/>
            </a:lvl2pPr>
            <a:lvl3pPr indent="-298450" lvl="2" marL="1371600" algn="ctr">
              <a:spcBef>
                <a:spcPts val="0"/>
              </a:spcBef>
              <a:spcAft>
                <a:spcPts val="0"/>
              </a:spcAft>
              <a:buSzPts val="1100"/>
              <a:buChar char="■"/>
              <a:defRPr sz="1100"/>
            </a:lvl3pPr>
            <a:lvl4pPr indent="-298450" lvl="3" marL="1828800" algn="ctr">
              <a:spcBef>
                <a:spcPts val="0"/>
              </a:spcBef>
              <a:spcAft>
                <a:spcPts val="0"/>
              </a:spcAft>
              <a:buSzPts val="1100"/>
              <a:buChar char="●"/>
              <a:defRPr sz="1100"/>
            </a:lvl4pPr>
            <a:lvl5pPr indent="-298450" lvl="4" marL="2286000" algn="ctr">
              <a:spcBef>
                <a:spcPts val="0"/>
              </a:spcBef>
              <a:spcAft>
                <a:spcPts val="0"/>
              </a:spcAft>
              <a:buSzPts val="1100"/>
              <a:buChar char="○"/>
              <a:defRPr sz="1100"/>
            </a:lvl5pPr>
            <a:lvl6pPr indent="-298450" lvl="5" marL="2743200" algn="ctr">
              <a:spcBef>
                <a:spcPts val="0"/>
              </a:spcBef>
              <a:spcAft>
                <a:spcPts val="0"/>
              </a:spcAft>
              <a:buSzPts val="1100"/>
              <a:buChar char="■"/>
              <a:defRPr sz="1100"/>
            </a:lvl6pPr>
            <a:lvl7pPr indent="-298450" lvl="6" marL="3200400" algn="ctr">
              <a:spcBef>
                <a:spcPts val="0"/>
              </a:spcBef>
              <a:spcAft>
                <a:spcPts val="0"/>
              </a:spcAft>
              <a:buSzPts val="1100"/>
              <a:buChar char="●"/>
              <a:defRPr sz="1100"/>
            </a:lvl7pPr>
            <a:lvl8pPr indent="-298450" lvl="7" marL="3657600" algn="ctr">
              <a:spcBef>
                <a:spcPts val="0"/>
              </a:spcBef>
              <a:spcAft>
                <a:spcPts val="0"/>
              </a:spcAft>
              <a:buSzPts val="1100"/>
              <a:buChar char="○"/>
              <a:defRPr sz="1100"/>
            </a:lvl8pPr>
            <a:lvl9pPr indent="-298450" lvl="8" marL="4114800" algn="ctr">
              <a:spcBef>
                <a:spcPts val="0"/>
              </a:spcBef>
              <a:spcAft>
                <a:spcPts val="0"/>
              </a:spcAft>
              <a:buSzPts val="1100"/>
              <a:buChar char="■"/>
              <a:defRPr sz="1100"/>
            </a:lvl9pPr>
          </a:lstStyle>
          <a:p/>
        </p:txBody>
      </p:sp>
      <p:pic>
        <p:nvPicPr>
          <p:cNvPr descr=" " id="71" name="Google Shape;71;p12"/>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2" name="Google Shape;72;p12"/>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3" name="Google Shape;73;p12"/>
          <p:cNvSpPr txBox="1"/>
          <p:nvPr>
            <p:ph idx="2" type="subTitle"/>
          </p:nvPr>
        </p:nvSpPr>
        <p:spPr>
          <a:xfrm>
            <a:off x="1429500" y="2353776"/>
            <a:ext cx="6285000" cy="4638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b="1" sz="2800">
                <a:solidFill>
                  <a:schemeClr val="accent1"/>
                </a:solidFill>
                <a:latin typeface="Frank Ruhl Libre"/>
                <a:ea typeface="Frank Ruhl Libre"/>
                <a:cs typeface="Frank Ruhl Libre"/>
                <a:sym typeface="Frank Ruhl Libre"/>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and Text">
  <p:cSld name="CUSTOM">
    <p:spTree>
      <p:nvGrpSpPr>
        <p:cNvPr id="74" name="Shape 74"/>
        <p:cNvGrpSpPr/>
        <p:nvPr/>
      </p:nvGrpSpPr>
      <p:grpSpPr>
        <a:xfrm>
          <a:off x="0" y="0"/>
          <a:ext cx="0" cy="0"/>
          <a:chOff x="0" y="0"/>
          <a:chExt cx="0" cy="0"/>
        </a:xfrm>
      </p:grpSpPr>
      <p:pic>
        <p:nvPicPr>
          <p:cNvPr id="75" name="Google Shape;75;p13"/>
          <p:cNvPicPr preferRelativeResize="0"/>
          <p:nvPr/>
        </p:nvPicPr>
        <p:blipFill>
          <a:blip r:embed="rId2">
            <a:alphaModFix/>
          </a:blip>
          <a:stretch>
            <a:fillRect/>
          </a:stretch>
        </p:blipFill>
        <p:spPr>
          <a:xfrm>
            <a:off x="0" y="0"/>
            <a:ext cx="9143997" cy="5143510"/>
          </a:xfrm>
          <a:prstGeom prst="rect">
            <a:avLst/>
          </a:prstGeom>
          <a:noFill/>
          <a:ln>
            <a:noFill/>
          </a:ln>
        </p:spPr>
      </p:pic>
      <p:pic>
        <p:nvPicPr>
          <p:cNvPr descr=" " id="76" name="Google Shape;76;p13"/>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7" name="Google Shape;77;p13"/>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8" name="Google Shape;78;p13"/>
          <p:cNvSpPr txBox="1"/>
          <p:nvPr>
            <p:ph type="title"/>
          </p:nvPr>
        </p:nvSpPr>
        <p:spPr>
          <a:xfrm>
            <a:off x="4969800" y="1412750"/>
            <a:ext cx="3766800" cy="1374600"/>
          </a:xfrm>
          <a:prstGeom prst="rect">
            <a:avLst/>
          </a:prstGeom>
        </p:spPr>
        <p:txBody>
          <a:bodyPr anchorCtr="0" anchor="b" bIns="91425" lIns="91425" spcFirstLastPara="1" rIns="91425" wrap="square" tIns="91425">
            <a:noAutofit/>
          </a:bodyPr>
          <a:lstStyle>
            <a:lvl1pPr lvl="0" rtl="0">
              <a:lnSpc>
                <a:spcPct val="80000"/>
              </a:lnSpc>
              <a:spcBef>
                <a:spcPts val="0"/>
              </a:spcBef>
              <a:spcAft>
                <a:spcPts val="0"/>
              </a:spcAft>
              <a:buClr>
                <a:srgbClr val="57068C"/>
              </a:buClr>
              <a:buSzPts val="3600"/>
              <a:buNone/>
              <a:defRPr>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79" name="Google Shape;79;p13"/>
          <p:cNvSpPr txBox="1"/>
          <p:nvPr>
            <p:ph idx="1" type="body"/>
          </p:nvPr>
        </p:nvSpPr>
        <p:spPr>
          <a:xfrm>
            <a:off x="4969675" y="2901150"/>
            <a:ext cx="3766800" cy="1374600"/>
          </a:xfrm>
          <a:prstGeom prst="rect">
            <a:avLst/>
          </a:prstGeom>
        </p:spPr>
        <p:txBody>
          <a:bodyPr anchorCtr="0" anchor="t" bIns="91425" lIns="91425" spcFirstLastPara="1" rIns="91425" wrap="square" tIns="91425">
            <a:noAutofit/>
          </a:bodyPr>
          <a:lstStyle>
            <a:lvl1pPr indent="-298450" lvl="0" marL="457200" rtl="0">
              <a:lnSpc>
                <a:spcPct val="125000"/>
              </a:lnSpc>
              <a:spcBef>
                <a:spcPts val="0"/>
              </a:spcBef>
              <a:spcAft>
                <a:spcPts val="0"/>
              </a:spcAft>
              <a:buSzPts val="1100"/>
              <a:buChar char="●"/>
              <a:defRPr sz="1100"/>
            </a:lvl1pPr>
            <a:lvl2pPr indent="-298450" lvl="1" marL="914400" rtl="0">
              <a:lnSpc>
                <a:spcPct val="125000"/>
              </a:lnSpc>
              <a:spcBef>
                <a:spcPts val="800"/>
              </a:spcBef>
              <a:spcAft>
                <a:spcPts val="0"/>
              </a:spcAft>
              <a:buSzPts val="1100"/>
              <a:buChar char="○"/>
              <a:defRPr sz="1100"/>
            </a:lvl2pPr>
            <a:lvl3pPr indent="-298450" lvl="2" marL="1371600" rtl="0">
              <a:lnSpc>
                <a:spcPct val="125000"/>
              </a:lnSpc>
              <a:spcBef>
                <a:spcPts val="800"/>
              </a:spcBef>
              <a:spcAft>
                <a:spcPts val="0"/>
              </a:spcAft>
              <a:buSzPts val="1100"/>
              <a:buChar char="■"/>
              <a:defRPr sz="1100"/>
            </a:lvl3pPr>
            <a:lvl4pPr indent="-298450" lvl="3" marL="1828800" rtl="0">
              <a:lnSpc>
                <a:spcPct val="125000"/>
              </a:lnSpc>
              <a:spcBef>
                <a:spcPts val="800"/>
              </a:spcBef>
              <a:spcAft>
                <a:spcPts val="0"/>
              </a:spcAft>
              <a:buSzPts val="1100"/>
              <a:buChar char="●"/>
              <a:defRPr sz="1100"/>
            </a:lvl4pPr>
            <a:lvl5pPr indent="-298450" lvl="4" marL="2286000" rtl="0">
              <a:lnSpc>
                <a:spcPct val="125000"/>
              </a:lnSpc>
              <a:spcBef>
                <a:spcPts val="800"/>
              </a:spcBef>
              <a:spcAft>
                <a:spcPts val="0"/>
              </a:spcAft>
              <a:buSzPts val="1100"/>
              <a:buChar char="○"/>
              <a:defRPr sz="1100"/>
            </a:lvl5pPr>
            <a:lvl6pPr indent="-298450" lvl="5" marL="2743200" rtl="0">
              <a:lnSpc>
                <a:spcPct val="125000"/>
              </a:lnSpc>
              <a:spcBef>
                <a:spcPts val="800"/>
              </a:spcBef>
              <a:spcAft>
                <a:spcPts val="0"/>
              </a:spcAft>
              <a:buSzPts val="1100"/>
              <a:buChar char="■"/>
              <a:defRPr sz="1100"/>
            </a:lvl6pPr>
            <a:lvl7pPr indent="-298450" lvl="6" marL="3200400" rtl="0">
              <a:lnSpc>
                <a:spcPct val="125000"/>
              </a:lnSpc>
              <a:spcBef>
                <a:spcPts val="800"/>
              </a:spcBef>
              <a:spcAft>
                <a:spcPts val="0"/>
              </a:spcAft>
              <a:buSzPts val="1100"/>
              <a:buChar char="●"/>
              <a:defRPr sz="1100"/>
            </a:lvl7pPr>
            <a:lvl8pPr indent="-298450" lvl="7" marL="3657600" rtl="0">
              <a:lnSpc>
                <a:spcPct val="125000"/>
              </a:lnSpc>
              <a:spcBef>
                <a:spcPts val="800"/>
              </a:spcBef>
              <a:spcAft>
                <a:spcPts val="0"/>
              </a:spcAft>
              <a:buSzPts val="1100"/>
              <a:buChar char="○"/>
              <a:defRPr sz="1100"/>
            </a:lvl8pPr>
            <a:lvl9pPr indent="-298450" lvl="8" marL="4114800" rtl="0">
              <a:lnSpc>
                <a:spcPct val="125000"/>
              </a:lnSpc>
              <a:spcBef>
                <a:spcPts val="800"/>
              </a:spcBef>
              <a:spcAft>
                <a:spcPts val="800"/>
              </a:spcAft>
              <a:buSzPts val="1100"/>
              <a:buChar char="■"/>
              <a:defRPr sz="11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st">
  <p:cSld name="CUSTOM_1">
    <p:spTree>
      <p:nvGrpSpPr>
        <p:cNvPr id="80" name="Shape 80"/>
        <p:cNvGrpSpPr/>
        <p:nvPr/>
      </p:nvGrpSpPr>
      <p:grpSpPr>
        <a:xfrm>
          <a:off x="0" y="0"/>
          <a:ext cx="0" cy="0"/>
          <a:chOff x="0" y="0"/>
          <a:chExt cx="0" cy="0"/>
        </a:xfrm>
      </p:grpSpPr>
      <p:pic>
        <p:nvPicPr>
          <p:cNvPr descr=" " id="81" name="Google Shape;81;p14"/>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82" name="Google Shape;82;p14"/>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83" name="Google Shape;83;p14"/>
          <p:cNvSpPr txBox="1"/>
          <p:nvPr>
            <p:ph type="title"/>
          </p:nvPr>
        </p:nvSpPr>
        <p:spPr>
          <a:xfrm>
            <a:off x="311700" y="587975"/>
            <a:ext cx="3610800" cy="8916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000"/>
              <a:buNone/>
              <a:defRPr sz="40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4" name="Google Shape;84;p14"/>
          <p:cNvSpPr txBox="1"/>
          <p:nvPr>
            <p:ph idx="1" type="body"/>
          </p:nvPr>
        </p:nvSpPr>
        <p:spPr>
          <a:xfrm>
            <a:off x="311700" y="1836175"/>
            <a:ext cx="3610800" cy="2439600"/>
          </a:xfrm>
          <a:prstGeom prst="rect">
            <a:avLst/>
          </a:prstGeom>
        </p:spPr>
        <p:txBody>
          <a:bodyPr anchorCtr="0" anchor="t" bIns="91425" lIns="91425" spcFirstLastPara="1" rIns="91425" wrap="square" tIns="91425">
            <a:noAutofit/>
          </a:bodyPr>
          <a:lstStyle>
            <a:lvl1pPr indent="-317500" lvl="0" marL="457200" rtl="0">
              <a:lnSpc>
                <a:spcPct val="125000"/>
              </a:lnSpc>
              <a:spcBef>
                <a:spcPts val="0"/>
              </a:spcBef>
              <a:spcAft>
                <a:spcPts val="0"/>
              </a:spcAft>
              <a:buSzPts val="1400"/>
              <a:buChar char="●"/>
              <a:defRPr sz="1400"/>
            </a:lvl1pPr>
            <a:lvl2pPr indent="-317500" lvl="1" marL="914400" rtl="0">
              <a:lnSpc>
                <a:spcPct val="125000"/>
              </a:lnSpc>
              <a:spcBef>
                <a:spcPts val="800"/>
              </a:spcBef>
              <a:spcAft>
                <a:spcPts val="0"/>
              </a:spcAft>
              <a:buSzPts val="1400"/>
              <a:buChar char="○"/>
              <a:defRPr/>
            </a:lvl2pPr>
            <a:lvl3pPr indent="-317500" lvl="2" marL="1371600" rtl="0">
              <a:lnSpc>
                <a:spcPct val="125000"/>
              </a:lnSpc>
              <a:spcBef>
                <a:spcPts val="800"/>
              </a:spcBef>
              <a:spcAft>
                <a:spcPts val="0"/>
              </a:spcAft>
              <a:buSzPts val="1400"/>
              <a:buChar char="■"/>
              <a:defRPr/>
            </a:lvl3pPr>
            <a:lvl4pPr indent="-317500" lvl="3" marL="1828800" rtl="0">
              <a:lnSpc>
                <a:spcPct val="125000"/>
              </a:lnSpc>
              <a:spcBef>
                <a:spcPts val="800"/>
              </a:spcBef>
              <a:spcAft>
                <a:spcPts val="0"/>
              </a:spcAft>
              <a:buSzPts val="1400"/>
              <a:buChar char="●"/>
              <a:defRPr/>
            </a:lvl4pPr>
            <a:lvl5pPr indent="-317500" lvl="4" marL="2286000" rtl="0">
              <a:lnSpc>
                <a:spcPct val="125000"/>
              </a:lnSpc>
              <a:spcBef>
                <a:spcPts val="800"/>
              </a:spcBef>
              <a:spcAft>
                <a:spcPts val="0"/>
              </a:spcAft>
              <a:buSzPts val="1400"/>
              <a:buChar char="○"/>
              <a:defRPr/>
            </a:lvl5pPr>
            <a:lvl6pPr indent="-317500" lvl="5" marL="2743200" rtl="0">
              <a:lnSpc>
                <a:spcPct val="125000"/>
              </a:lnSpc>
              <a:spcBef>
                <a:spcPts val="800"/>
              </a:spcBef>
              <a:spcAft>
                <a:spcPts val="0"/>
              </a:spcAft>
              <a:buSzPts val="1400"/>
              <a:buChar char="■"/>
              <a:defRPr/>
            </a:lvl6pPr>
            <a:lvl7pPr indent="-317500" lvl="6" marL="3200400" rtl="0">
              <a:lnSpc>
                <a:spcPct val="125000"/>
              </a:lnSpc>
              <a:spcBef>
                <a:spcPts val="800"/>
              </a:spcBef>
              <a:spcAft>
                <a:spcPts val="0"/>
              </a:spcAft>
              <a:buSzPts val="1400"/>
              <a:buChar char="●"/>
              <a:defRPr/>
            </a:lvl7pPr>
            <a:lvl8pPr indent="-317500" lvl="7" marL="3657600" rtl="0">
              <a:lnSpc>
                <a:spcPct val="125000"/>
              </a:lnSpc>
              <a:spcBef>
                <a:spcPts val="800"/>
              </a:spcBef>
              <a:spcAft>
                <a:spcPts val="0"/>
              </a:spcAft>
              <a:buSzPts val="1400"/>
              <a:buChar char="○"/>
              <a:defRPr/>
            </a:lvl8pPr>
            <a:lvl9pPr indent="-317500" lvl="8" marL="4114800" rtl="0">
              <a:lnSpc>
                <a:spcPct val="125000"/>
              </a:lnSpc>
              <a:spcBef>
                <a:spcPts val="800"/>
              </a:spcBef>
              <a:spcAft>
                <a:spcPts val="800"/>
              </a:spcAft>
              <a:buSzPts val="1400"/>
              <a:buChar char="■"/>
              <a:defRPr/>
            </a:lvl9pPr>
          </a:lstStyle>
          <a:p/>
        </p:txBody>
      </p:sp>
      <p:sp>
        <p:nvSpPr>
          <p:cNvPr id="85" name="Google Shape;85;p14"/>
          <p:cNvSpPr txBox="1"/>
          <p:nvPr/>
        </p:nvSpPr>
        <p:spPr>
          <a:xfrm>
            <a:off x="5958050" y="683000"/>
            <a:ext cx="2778600" cy="1096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latin typeface="Montserrat"/>
              <a:ea typeface="Montserrat"/>
              <a:cs typeface="Montserrat"/>
              <a:sym typeface="Montserrat"/>
            </a:endParaRPr>
          </a:p>
        </p:txBody>
      </p:sp>
      <p:sp>
        <p:nvSpPr>
          <p:cNvPr id="86" name="Google Shape;86;p14"/>
          <p:cNvSpPr txBox="1"/>
          <p:nvPr>
            <p:ph idx="2" type="body"/>
          </p:nvPr>
        </p:nvSpPr>
        <p:spPr>
          <a:xfrm>
            <a:off x="5824575" y="683050"/>
            <a:ext cx="2911800" cy="1096800"/>
          </a:xfrm>
          <a:prstGeom prst="rect">
            <a:avLst/>
          </a:prstGeom>
        </p:spPr>
        <p:txBody>
          <a:bodyPr anchorCtr="0" anchor="ctr" bIns="91425" lIns="91425" spcFirstLastPara="1" rIns="91425" wrap="square" tIns="91425">
            <a:noAutofit/>
          </a:bodyPr>
          <a:lstStyle>
            <a:lvl1pPr indent="-292100" lvl="0" marL="457200">
              <a:spcBef>
                <a:spcPts val="0"/>
              </a:spcBef>
              <a:spcAft>
                <a:spcPts val="0"/>
              </a:spcAft>
              <a:buSzPts val="1000"/>
              <a:buChar char="●"/>
              <a:defRPr sz="1000"/>
            </a:lvl1pPr>
            <a:lvl2pPr indent="-292100" lvl="1" marL="914400">
              <a:spcBef>
                <a:spcPts val="600"/>
              </a:spcBef>
              <a:spcAft>
                <a:spcPts val="0"/>
              </a:spcAft>
              <a:buSzPts val="1000"/>
              <a:buChar char="○"/>
              <a:defRPr sz="1000"/>
            </a:lvl2pPr>
            <a:lvl3pPr indent="-292100" lvl="2" marL="1371600">
              <a:spcBef>
                <a:spcPts val="600"/>
              </a:spcBef>
              <a:spcAft>
                <a:spcPts val="0"/>
              </a:spcAft>
              <a:buSzPts val="1000"/>
              <a:buChar char="■"/>
              <a:defRPr sz="1000"/>
            </a:lvl3pPr>
            <a:lvl4pPr indent="-292100" lvl="3" marL="1828800">
              <a:spcBef>
                <a:spcPts val="600"/>
              </a:spcBef>
              <a:spcAft>
                <a:spcPts val="0"/>
              </a:spcAft>
              <a:buSzPts val="1000"/>
              <a:buChar char="●"/>
              <a:defRPr sz="1000"/>
            </a:lvl4pPr>
            <a:lvl5pPr indent="-292100" lvl="4" marL="2286000">
              <a:spcBef>
                <a:spcPts val="600"/>
              </a:spcBef>
              <a:spcAft>
                <a:spcPts val="0"/>
              </a:spcAft>
              <a:buSzPts val="1000"/>
              <a:buChar char="○"/>
              <a:defRPr sz="1000"/>
            </a:lvl5pPr>
            <a:lvl6pPr indent="-292100" lvl="5" marL="2743200">
              <a:spcBef>
                <a:spcPts val="600"/>
              </a:spcBef>
              <a:spcAft>
                <a:spcPts val="0"/>
              </a:spcAft>
              <a:buSzPts val="1000"/>
              <a:buChar char="■"/>
              <a:defRPr sz="1000"/>
            </a:lvl6pPr>
            <a:lvl7pPr indent="-292100" lvl="6" marL="3200400">
              <a:spcBef>
                <a:spcPts val="600"/>
              </a:spcBef>
              <a:spcAft>
                <a:spcPts val="0"/>
              </a:spcAft>
              <a:buSzPts val="1000"/>
              <a:buChar char="●"/>
              <a:defRPr sz="1000"/>
            </a:lvl7pPr>
            <a:lvl8pPr indent="-292100" lvl="7" marL="3657600">
              <a:spcBef>
                <a:spcPts val="600"/>
              </a:spcBef>
              <a:spcAft>
                <a:spcPts val="0"/>
              </a:spcAft>
              <a:buSzPts val="1000"/>
              <a:buChar char="○"/>
              <a:defRPr sz="1000"/>
            </a:lvl8pPr>
            <a:lvl9pPr indent="-292100" lvl="8" marL="4114800">
              <a:spcBef>
                <a:spcPts val="600"/>
              </a:spcBef>
              <a:spcAft>
                <a:spcPts val="600"/>
              </a:spcAft>
              <a:buSzPts val="1000"/>
              <a:buChar char="■"/>
              <a:defRPr sz="1000"/>
            </a:lvl9pPr>
          </a:lstStyle>
          <a:p/>
        </p:txBody>
      </p:sp>
      <p:sp>
        <p:nvSpPr>
          <p:cNvPr id="87" name="Google Shape;87;p14"/>
          <p:cNvSpPr txBox="1"/>
          <p:nvPr>
            <p:ph idx="3" type="body"/>
          </p:nvPr>
        </p:nvSpPr>
        <p:spPr>
          <a:xfrm>
            <a:off x="5824575" y="1931875"/>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sp>
        <p:nvSpPr>
          <p:cNvPr id="88" name="Google Shape;88;p14"/>
          <p:cNvSpPr txBox="1"/>
          <p:nvPr>
            <p:ph idx="4" type="body"/>
          </p:nvPr>
        </p:nvSpPr>
        <p:spPr>
          <a:xfrm>
            <a:off x="5824575" y="3180700"/>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pic>
        <p:nvPicPr>
          <p:cNvPr id="89" name="Google Shape;89;p14"/>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pos="2880">
          <p15:clr>
            <a:srgbClr val="FA7B17"/>
          </p15:clr>
        </p15:guide>
        <p15:guide id="2" orient="horz" pos="432">
          <p15:clr>
            <a:srgbClr val="FA7B17"/>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1">
  <p:cSld name="CUSTOM_2">
    <p:bg>
      <p:bgPr>
        <a:solidFill>
          <a:srgbClr val="220337"/>
        </a:solidFill>
      </p:bgPr>
    </p:bg>
    <p:spTree>
      <p:nvGrpSpPr>
        <p:cNvPr id="90" name="Shape 90"/>
        <p:cNvGrpSpPr/>
        <p:nvPr/>
      </p:nvGrpSpPr>
      <p:grpSpPr>
        <a:xfrm>
          <a:off x="0" y="0"/>
          <a:ext cx="0" cy="0"/>
          <a:chOff x="0" y="0"/>
          <a:chExt cx="0" cy="0"/>
        </a:xfrm>
      </p:grpSpPr>
      <p:pic>
        <p:nvPicPr>
          <p:cNvPr id="91" name="Google Shape;91;p15"/>
          <p:cNvPicPr preferRelativeResize="0"/>
          <p:nvPr/>
        </p:nvPicPr>
        <p:blipFill>
          <a:blip r:embed="rId2">
            <a:alphaModFix/>
          </a:blip>
          <a:stretch>
            <a:fillRect/>
          </a:stretch>
        </p:blipFill>
        <p:spPr>
          <a:xfrm>
            <a:off x="0" y="0"/>
            <a:ext cx="9144003" cy="5143501"/>
          </a:xfrm>
          <a:prstGeom prst="rect">
            <a:avLst/>
          </a:prstGeom>
          <a:noFill/>
          <a:ln>
            <a:noFill/>
          </a:ln>
        </p:spPr>
      </p:pic>
      <p:pic>
        <p:nvPicPr>
          <p:cNvPr descr=" " id="92" name="Google Shape;92;p15"/>
          <p:cNvPicPr preferRelativeResize="0"/>
          <p:nvPr/>
        </p:nvPicPr>
        <p:blipFill rotWithShape="1">
          <a:blip r:embed="rId3">
            <a:alphaModFix/>
          </a:blip>
          <a:srcRect b="0" l="0" r="0" t="0"/>
          <a:stretch/>
        </p:blipFill>
        <p:spPr>
          <a:xfrm>
            <a:off x="407175" y="4539121"/>
            <a:ext cx="776077" cy="263400"/>
          </a:xfrm>
          <a:prstGeom prst="rect">
            <a:avLst/>
          </a:prstGeom>
          <a:noFill/>
          <a:ln>
            <a:noFill/>
          </a:ln>
        </p:spPr>
      </p:pic>
      <p:sp>
        <p:nvSpPr>
          <p:cNvPr id="93" name="Google Shape;93;p15"/>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rgbClr val="FFFFFF"/>
                </a:solidFill>
                <a:latin typeface="Montserrat"/>
                <a:ea typeface="Montserrat"/>
                <a:cs typeface="Montserrat"/>
                <a:sym typeface="Montserrat"/>
              </a:rPr>
              <a:t>‹#›</a:t>
            </a:fld>
            <a:endParaRPr b="1" sz="700">
              <a:solidFill>
                <a:srgbClr val="FFFFFF"/>
              </a:solidFill>
              <a:latin typeface="Montserrat"/>
              <a:ea typeface="Montserrat"/>
              <a:cs typeface="Montserrat"/>
              <a:sym typeface="Montserrat"/>
            </a:endParaRPr>
          </a:p>
        </p:txBody>
      </p:sp>
      <p:sp>
        <p:nvSpPr>
          <p:cNvPr id="94" name="Google Shape;94;p15"/>
          <p:cNvSpPr txBox="1"/>
          <p:nvPr>
            <p:ph type="title"/>
          </p:nvPr>
        </p:nvSpPr>
        <p:spPr>
          <a:xfrm>
            <a:off x="904850" y="1264532"/>
            <a:ext cx="6710700" cy="15951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95" name="Google Shape;95;p15"/>
          <p:cNvSpPr txBox="1"/>
          <p:nvPr>
            <p:ph idx="1" type="subTitle"/>
          </p:nvPr>
        </p:nvSpPr>
        <p:spPr>
          <a:xfrm>
            <a:off x="974919" y="3029082"/>
            <a:ext cx="3715200" cy="500700"/>
          </a:xfrm>
          <a:prstGeom prst="rect">
            <a:avLst/>
          </a:prstGeom>
        </p:spPr>
        <p:txBody>
          <a:bodyPr anchorCtr="0" anchor="t" bIns="91425" lIns="91425" spcFirstLastPara="1" rIns="91425" wrap="square" tIns="91425">
            <a:noAutofit/>
          </a:bodyPr>
          <a:lstStyle>
            <a:lvl1pPr lvl="0">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pic>
        <p:nvPicPr>
          <p:cNvPr descr=" " id="96" name="Google Shape;96;p15"/>
          <p:cNvPicPr preferRelativeResize="0"/>
          <p:nvPr/>
        </p:nvPicPr>
        <p:blipFill>
          <a:blip r:embed="rId4">
            <a:alphaModFix/>
          </a:blip>
          <a:stretch>
            <a:fillRect/>
          </a:stretch>
        </p:blipFill>
        <p:spPr>
          <a:xfrm>
            <a:off x="407175" y="4539121"/>
            <a:ext cx="776077" cy="2634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2">
  <p:cSld name="CUSTOM_3">
    <p:bg>
      <p:bgPr>
        <a:solidFill>
          <a:schemeClr val="lt2"/>
        </a:solidFill>
      </p:bgPr>
    </p:bg>
    <p:spTree>
      <p:nvGrpSpPr>
        <p:cNvPr id="97" name="Shape 97"/>
        <p:cNvGrpSpPr/>
        <p:nvPr/>
      </p:nvGrpSpPr>
      <p:grpSpPr>
        <a:xfrm>
          <a:off x="0" y="0"/>
          <a:ext cx="0" cy="0"/>
          <a:chOff x="0" y="0"/>
          <a:chExt cx="0" cy="0"/>
        </a:xfrm>
      </p:grpSpPr>
      <p:pic>
        <p:nvPicPr>
          <p:cNvPr id="98" name="Google Shape;98;p16"/>
          <p:cNvPicPr preferRelativeResize="0"/>
          <p:nvPr/>
        </p:nvPicPr>
        <p:blipFill>
          <a:blip r:embed="rId2">
            <a:alphaModFix/>
          </a:blip>
          <a:stretch>
            <a:fillRect/>
          </a:stretch>
        </p:blipFill>
        <p:spPr>
          <a:xfrm>
            <a:off x="-62802" y="-34225"/>
            <a:ext cx="9269596" cy="5180999"/>
          </a:xfrm>
          <a:prstGeom prst="rect">
            <a:avLst/>
          </a:prstGeom>
          <a:noFill/>
          <a:ln>
            <a:noFill/>
          </a:ln>
        </p:spPr>
      </p:pic>
      <p:pic>
        <p:nvPicPr>
          <p:cNvPr descr=" " id="99" name="Google Shape;99;p16"/>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100" name="Google Shape;100;p1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101" name="Google Shape;101;p16"/>
          <p:cNvSpPr txBox="1"/>
          <p:nvPr>
            <p:ph type="title"/>
          </p:nvPr>
        </p:nvSpPr>
        <p:spPr>
          <a:xfrm>
            <a:off x="592275" y="522825"/>
            <a:ext cx="8144400" cy="37530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chemeClr val="dk1"/>
                </a:solidFill>
              </a:defRPr>
            </a:lvl2pPr>
            <a:lvl3pPr lvl="2" rtl="0">
              <a:spcBef>
                <a:spcPts val="0"/>
              </a:spcBef>
              <a:spcAft>
                <a:spcPts val="0"/>
              </a:spcAft>
              <a:buNone/>
              <a:defRPr>
                <a:solidFill>
                  <a:schemeClr val="dk1"/>
                </a:solidFill>
              </a:defRPr>
            </a:lvl3pPr>
            <a:lvl4pPr lvl="3" rtl="0">
              <a:spcBef>
                <a:spcPts val="0"/>
              </a:spcBef>
              <a:spcAft>
                <a:spcPts val="0"/>
              </a:spcAft>
              <a:buNone/>
              <a:defRPr>
                <a:solidFill>
                  <a:schemeClr val="dk1"/>
                </a:solidFill>
              </a:defRPr>
            </a:lvl4pPr>
            <a:lvl5pPr lvl="4" rtl="0">
              <a:spcBef>
                <a:spcPts val="0"/>
              </a:spcBef>
              <a:spcAft>
                <a:spcPts val="0"/>
              </a:spcAft>
              <a:buNone/>
              <a:defRPr>
                <a:solidFill>
                  <a:schemeClr val="dk1"/>
                </a:solidFill>
              </a:defRPr>
            </a:lvl5pPr>
            <a:lvl6pPr lvl="5" rtl="0">
              <a:spcBef>
                <a:spcPts val="0"/>
              </a:spcBef>
              <a:spcAft>
                <a:spcPts val="0"/>
              </a:spcAft>
              <a:buNone/>
              <a:defRPr>
                <a:solidFill>
                  <a:schemeClr val="dk1"/>
                </a:solidFill>
              </a:defRPr>
            </a:lvl6pPr>
            <a:lvl7pPr lvl="6" rtl="0">
              <a:spcBef>
                <a:spcPts val="0"/>
              </a:spcBef>
              <a:spcAft>
                <a:spcPts val="0"/>
              </a:spcAft>
              <a:buNone/>
              <a:defRPr>
                <a:solidFill>
                  <a:schemeClr val="dk1"/>
                </a:solidFill>
              </a:defRPr>
            </a:lvl7pPr>
            <a:lvl8pPr lvl="7" rtl="0">
              <a:spcBef>
                <a:spcPts val="0"/>
              </a:spcBef>
              <a:spcAft>
                <a:spcPts val="0"/>
              </a:spcAft>
              <a:buNone/>
              <a:defRPr>
                <a:solidFill>
                  <a:schemeClr val="dk1"/>
                </a:solidFill>
              </a:defRPr>
            </a:lvl8pPr>
            <a:lvl9pPr lvl="8" rtl="0">
              <a:spcBef>
                <a:spcPts val="0"/>
              </a:spcBef>
              <a:spcAft>
                <a:spcPts val="0"/>
              </a:spcAft>
              <a:buNone/>
              <a:defRPr>
                <a:solidFill>
                  <a:schemeClr val="dk1"/>
                </a:solidFil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folio" type="blank">
  <p:cSld name="BLANK">
    <p:spTree>
      <p:nvGrpSpPr>
        <p:cNvPr id="102" name="Shape 102"/>
        <p:cNvGrpSpPr/>
        <p:nvPr/>
      </p:nvGrpSpPr>
      <p:grpSpPr>
        <a:xfrm>
          <a:off x="0" y="0"/>
          <a:ext cx="0" cy="0"/>
          <a:chOff x="0" y="0"/>
          <a:chExt cx="0" cy="0"/>
        </a:xfrm>
      </p:grpSpPr>
      <p:pic>
        <p:nvPicPr>
          <p:cNvPr descr=" " id="103" name="Google Shape;103;p1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104" name="Google Shape;104;p1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05" name="Shape 10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368825"/>
            <a:ext cx="8424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rgbClr val="57068C"/>
              </a:buClr>
              <a:buSzPts val="3600"/>
              <a:buFont typeface="Frank Ruhl Libre"/>
              <a:buNone/>
              <a:defRPr b="1" sz="3600">
                <a:solidFill>
                  <a:srgbClr val="57068C"/>
                </a:solidFill>
                <a:latin typeface="Frank Ruhl Libre"/>
                <a:ea typeface="Frank Ruhl Libre"/>
                <a:cs typeface="Frank Ruhl Libre"/>
                <a:sym typeface="Frank Ruhl Libre"/>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424900" cy="31233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rgbClr val="57068C"/>
              </a:buClr>
              <a:buSzPts val="1800"/>
              <a:buFont typeface="Montserrat"/>
              <a:buChar char="●"/>
              <a:defRPr sz="1800">
                <a:solidFill>
                  <a:srgbClr val="333333"/>
                </a:solidFill>
                <a:latin typeface="Montserrat"/>
                <a:ea typeface="Montserrat"/>
                <a:cs typeface="Montserrat"/>
                <a:sym typeface="Montserrat"/>
              </a:defRPr>
            </a:lvl1pPr>
            <a:lvl2pPr indent="-317500" lvl="1" marL="914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2pPr>
            <a:lvl3pPr indent="-317500" lvl="2" marL="1371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3pPr>
            <a:lvl4pPr indent="-317500" lvl="3" marL="18288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4pPr>
            <a:lvl5pPr indent="-317500" lvl="4" marL="22860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5pPr>
            <a:lvl6pPr indent="-317500" lvl="5" marL="27432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6pPr>
            <a:lvl7pPr indent="-317500" lvl="6" marL="3200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7pPr>
            <a:lvl8pPr indent="-317500" lvl="7" marL="3657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8pPr>
            <a:lvl9pPr indent="-317500" lvl="8" marL="4114800">
              <a:lnSpc>
                <a:spcPct val="115000"/>
              </a:lnSpc>
              <a:spcBef>
                <a:spcPts val="1600"/>
              </a:spcBef>
              <a:spcAft>
                <a:spcPts val="1600"/>
              </a:spcAft>
              <a:buClr>
                <a:srgbClr val="57068C"/>
              </a:buClr>
              <a:buSzPts val="1400"/>
              <a:buFont typeface="Montserrat"/>
              <a:buChar char="■"/>
              <a:defRPr>
                <a:solidFill>
                  <a:srgbClr val="333333"/>
                </a:solidFill>
                <a:latin typeface="Montserrat"/>
                <a:ea typeface="Montserrat"/>
                <a:cs typeface="Montserrat"/>
                <a:sym typeface="Montserrat"/>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256">
          <p15:clr>
            <a:srgbClr val="EA4335"/>
          </p15:clr>
        </p15:guide>
        <p15:guide id="2" orient="horz" pos="3025">
          <p15:clr>
            <a:srgbClr val="EA4335"/>
          </p15:clr>
        </p15:guide>
        <p15:guide id="3" pos="5503">
          <p15:clr>
            <a:srgbClr val="EA4335"/>
          </p15:clr>
        </p15:guide>
        <p15:guide id="4" orient="horz" pos="2693">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xml"/><Relationship Id="rId3" Type="http://schemas.openxmlformats.org/officeDocument/2006/relationships/chart" Target="../charts/char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 Id="rId3" Type="http://schemas.openxmlformats.org/officeDocument/2006/relationships/image" Target="../media/image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8.xml"/><Relationship Id="rId3"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9"/>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Predicting DEM label-free</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In one slide</a:t>
            </a:r>
          </a:p>
        </p:txBody>
      </p:sp>
      <p:sp>
        <p:nvSpPr>
          <p:cNvPr id="3" name="Rounded Rectangle 2"/>
          <p:cNvSpPr/>
          <p:nvPr/>
        </p:nvSpPr>
        <p:spPr>
          <a:xfrm>
            <a:off x="365760" y="100584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113385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No labels needed</a:t>
            </a:r>
          </a:p>
        </p:txBody>
      </p:sp>
      <p:sp>
        <p:nvSpPr>
          <p:cNvPr id="5" name="TextBox 4"/>
          <p:cNvSpPr txBox="1"/>
          <p:nvPr/>
        </p:nvSpPr>
        <p:spPr>
          <a:xfrm>
            <a:off x="530352" y="1481328"/>
            <a:ext cx="3785616" cy="914400"/>
          </a:xfrm>
          <a:prstGeom prst="rect">
            <a:avLst/>
          </a:prstGeom>
          <a:noFill/>
        </p:spPr>
        <p:txBody>
          <a:bodyPr wrap="square" anchor="t" lIns="0" rIns="0" tIns="0" bIns="0">
            <a:spAutoFit/>
          </a:bodyPr>
          <a:lstStyle/>
          <a:p>
            <a:pPr algn="l">
              <a:spcAft>
                <a:spcPts val="600"/>
              </a:spcAft>
            </a:pPr>
            <a:r>
              <a:rPr sz="1350" b="0" i="0">
                <a:solidFill>
                  <a:srgbClr val="333333"/>
                </a:solidFill>
              </a:rPr>
              <a:t>A network trained on the solver's own objective reproduces its DEMs. Solver DEMs are used only to evaluate.</a:t>
            </a:r>
          </a:p>
        </p:txBody>
      </p:sp>
      <p:sp>
        <p:nvSpPr>
          <p:cNvPr id="6" name="Rounded Rectangle 5"/>
          <p:cNvSpPr/>
          <p:nvPr/>
        </p:nvSpPr>
        <p:spPr>
          <a:xfrm>
            <a:off x="4663440" y="100584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828032" y="113385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Small is enough</a:t>
            </a:r>
          </a:p>
        </p:txBody>
      </p:sp>
      <p:sp>
        <p:nvSpPr>
          <p:cNvPr id="8" name="TextBox 7"/>
          <p:cNvSpPr txBox="1"/>
          <p:nvPr/>
        </p:nvSpPr>
        <p:spPr>
          <a:xfrm>
            <a:off x="4828032" y="1481328"/>
            <a:ext cx="3785616" cy="914400"/>
          </a:xfrm>
          <a:prstGeom prst="rect">
            <a:avLst/>
          </a:prstGeom>
          <a:noFill/>
        </p:spPr>
        <p:txBody>
          <a:bodyPr wrap="square" anchor="t" lIns="0" rIns="0" tIns="0" bIns="0">
            <a:spAutoFit/>
          </a:bodyPr>
          <a:lstStyle/>
          <a:p>
            <a:pPr algn="l">
              <a:spcAft>
                <a:spcPts val="600"/>
              </a:spcAft>
            </a:pPr>
            <a:r>
              <a:rPr sz="1350" b="0" i="0">
                <a:solidFill>
                  <a:srgbClr val="333333"/>
                </a:solidFill>
              </a:rPr>
              <a:t>A 360k-parameter MLP on one pixel's 6 intensities: one forward pass per pixel, no neighbourhood.</a:t>
            </a:r>
          </a:p>
        </p:txBody>
      </p:sp>
      <p:sp>
        <p:nvSpPr>
          <p:cNvPr id="9" name="Rounded Rectangle 8"/>
          <p:cNvSpPr/>
          <p:nvPr/>
        </p:nvSpPr>
        <p:spPr>
          <a:xfrm>
            <a:off x="365760" y="265176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277977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Beats the supervised model on ElasticNet</a:t>
            </a:r>
          </a:p>
        </p:txBody>
      </p:sp>
      <p:sp>
        <p:nvSpPr>
          <p:cNvPr id="11" name="TextBox 10"/>
          <p:cNvSpPr txBox="1"/>
          <p:nvPr/>
        </p:nvSpPr>
        <p:spPr>
          <a:xfrm>
            <a:off x="530352" y="3127248"/>
            <a:ext cx="3785616" cy="914400"/>
          </a:xfrm>
          <a:prstGeom prst="rect">
            <a:avLst/>
          </a:prstGeom>
          <a:noFill/>
        </p:spPr>
        <p:txBody>
          <a:bodyPr wrap="square" anchor="t" lIns="0" rIns="0" tIns="0" bIns="0">
            <a:spAutoFit/>
          </a:bodyPr>
          <a:lstStyle/>
          <a:p>
            <a:pPr algn="l">
              <a:spcAft>
                <a:spcPts val="600"/>
              </a:spcAft>
            </a:pPr>
            <a:r>
              <a:rPr sz="1350" b="0" i="0">
                <a:solidFill>
                  <a:srgbClr val="333333"/>
                </a:solidFill>
              </a:rPr>
              <a:t>ElasticNet: better on every metric, DEM error included. BP: typical-pixel error 4× lower (median 0.026 vs 0.112).</a:t>
            </a:r>
          </a:p>
        </p:txBody>
      </p:sp>
      <p:sp>
        <p:nvSpPr>
          <p:cNvPr id="12" name="Rounded Rectangle 11"/>
          <p:cNvSpPr/>
          <p:nvPr/>
        </p:nvSpPr>
        <p:spPr>
          <a:xfrm>
            <a:off x="4663440" y="265176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28032" y="277977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Flare cores: the open problem</a:t>
            </a:r>
          </a:p>
        </p:txBody>
      </p:sp>
      <p:sp>
        <p:nvSpPr>
          <p:cNvPr id="14" name="TextBox 13"/>
          <p:cNvSpPr txBox="1"/>
          <p:nvPr/>
        </p:nvSpPr>
        <p:spPr>
          <a:xfrm>
            <a:off x="4828032" y="3127248"/>
            <a:ext cx="3785616" cy="914400"/>
          </a:xfrm>
          <a:prstGeom prst="rect">
            <a:avLst/>
          </a:prstGeom>
          <a:noFill/>
        </p:spPr>
        <p:txBody>
          <a:bodyPr wrap="square" anchor="t" lIns="0" rIns="0" tIns="0" bIns="0">
            <a:spAutoFit/>
          </a:bodyPr>
          <a:lstStyle/>
          <a:p>
            <a:pPr algn="l">
              <a:spcAft>
                <a:spcPts val="600"/>
              </a:spcAft>
            </a:pPr>
            <a:r>
              <a:rPr sz="1350" b="0" i="0">
                <a:solidFill>
                  <a:srgbClr val="333333"/>
                </a:solidFill>
              </a:rPr>
              <a:t>0.01% of pixels, ~90% of the BP error. There our BP model misses the hot channels: a training problem.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1</a:t>
            </a:r>
            <a:br/>
            <a:r>
              <a:rPr sz="4100"/>
              <a:t>Problem and approach</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What we train, and on what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Same physics, different training signal</a:t>
            </a:r>
          </a:p>
        </p:txBody>
      </p:sp>
      <p:sp>
        <p:nvSpPr>
          <p:cNvPr id="3" name="TextBox 2"/>
          <p:cNvSpPr txBox="1"/>
          <p:nvPr/>
        </p:nvSpPr>
        <p:spPr>
          <a:xfrm>
            <a:off x="365760" y="914400"/>
            <a:ext cx="8412480" cy="365760"/>
          </a:xfrm>
          <a:prstGeom prst="rect">
            <a:avLst/>
          </a:prstGeom>
          <a:noFill/>
        </p:spPr>
        <p:txBody>
          <a:bodyPr wrap="square" anchor="t" lIns="0" rIns="0" tIns="0" bIns="0">
            <a:spAutoFit/>
          </a:bodyPr>
          <a:lstStyle/>
          <a:p>
            <a:pPr algn="l">
              <a:spcAft>
                <a:spcPts val="600"/>
              </a:spcAft>
            </a:pPr>
            <a:r>
              <a:rPr sz="1250" b="0" i="0">
                <a:solidFill>
                  <a:srgbClr val="333333"/>
                </a:solidFill>
              </a:rPr>
              <a:t>Solvers (BP, ElasticNet) run one optimisation per pixel: accurate, but slow at full resolution.</a:t>
            </a:r>
          </a:p>
        </p:txBody>
      </p:sp>
      <p:sp>
        <p:nvSpPr>
          <p:cNvPr id="4" name="TextBox 3"/>
          <p:cNvSpPr txBox="1"/>
          <p:nvPr/>
        </p:nvSpPr>
        <p:spPr>
          <a:xfrm>
            <a:off x="365760" y="1536192"/>
            <a:ext cx="1325880" cy="722376"/>
          </a:xfrm>
          <a:prstGeom prst="rect">
            <a:avLst/>
          </a:prstGeom>
          <a:noFill/>
        </p:spPr>
        <p:txBody>
          <a:bodyPr wrap="square" anchor="t" lIns="0" rIns="0" tIns="0" bIns="0">
            <a:spAutoFit/>
          </a:bodyPr>
          <a:lstStyle/>
          <a:p>
            <a:pPr algn="l">
              <a:spcAft>
                <a:spcPts val="200"/>
              </a:spcAft>
            </a:pPr>
            <a:r>
              <a:rPr sz="1250" b="1" i="0">
                <a:solidFill>
                  <a:srgbClr val="57068C"/>
                </a:solidFill>
              </a:rPr>
              <a:t>Supervised</a:t>
            </a:r>
          </a:p>
          <a:p>
            <a:pPr algn="l">
              <a:spcAft>
                <a:spcPts val="200"/>
              </a:spcAft>
            </a:pPr>
            <a:r>
              <a:rPr sz="1000" b="0" i="0">
                <a:solidFill>
                  <a:srgbClr val="6B6B6B"/>
                </a:solidFill>
              </a:rPr>
              <a:t>learns the solver's DEMs</a:t>
            </a:r>
          </a:p>
        </p:txBody>
      </p:sp>
      <p:sp>
        <p:nvSpPr>
          <p:cNvPr id="5" name="Rounded Rectangle 4"/>
          <p:cNvSpPr/>
          <p:nvPr/>
        </p:nvSpPr>
        <p:spPr>
          <a:xfrm>
            <a:off x="1783080"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6" name="Rounded Rectangle 5"/>
          <p:cNvSpPr/>
          <p:nvPr/>
        </p:nvSpPr>
        <p:spPr>
          <a:xfrm>
            <a:off x="3090672" y="146304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Model</a:t>
            </a:r>
          </a:p>
        </p:txBody>
      </p:sp>
      <p:sp>
        <p:nvSpPr>
          <p:cNvPr id="7" name="Rounded Rectangle 6"/>
          <p:cNvSpPr/>
          <p:nvPr/>
        </p:nvSpPr>
        <p:spPr>
          <a:xfrm>
            <a:off x="4398264"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cxnSp>
        <p:nvCxnSpPr>
          <p:cNvPr id="8" name="Connector 7"/>
          <p:cNvCxnSpPr/>
          <p:nvPr/>
        </p:nvCxnSpPr>
        <p:spPr>
          <a:xfrm>
            <a:off x="2834640"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42232"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016752" y="146304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Solver's DEM</a:t>
            </a:r>
          </a:p>
          <a:p>
            <a:pPr algn="ctr"/>
            <a:r>
              <a:rPr sz="900">
                <a:solidFill>
                  <a:srgbClr val="333333"/>
                </a:solidFill>
              </a:rPr>
              <a:t>label</a:t>
            </a:r>
          </a:p>
        </p:txBody>
      </p:sp>
      <p:cxnSp>
        <p:nvCxnSpPr>
          <p:cNvPr id="11" name="Connector 10"/>
          <p:cNvCxnSpPr/>
          <p:nvPr/>
        </p:nvCxnSpPr>
        <p:spPr>
          <a:xfrm>
            <a:off x="5449824" y="178308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522976" y="166420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13" name="TextBox 12"/>
          <p:cNvSpPr txBox="1"/>
          <p:nvPr/>
        </p:nvSpPr>
        <p:spPr>
          <a:xfrm>
            <a:off x="365760" y="2633472"/>
            <a:ext cx="1325880" cy="722376"/>
          </a:xfrm>
          <a:prstGeom prst="rect">
            <a:avLst/>
          </a:prstGeom>
          <a:noFill/>
        </p:spPr>
        <p:txBody>
          <a:bodyPr wrap="square" anchor="t" lIns="0" rIns="0" tIns="0" bIns="0">
            <a:spAutoFit/>
          </a:bodyPr>
          <a:lstStyle/>
          <a:p>
            <a:pPr algn="l">
              <a:spcAft>
                <a:spcPts val="200"/>
              </a:spcAft>
            </a:pPr>
            <a:r>
              <a:rPr sz="1250" b="1" i="0">
                <a:solidFill>
                  <a:srgbClr val="57068C"/>
                </a:solidFill>
              </a:rPr>
              <a:t>Label-free (unsupervised)</a:t>
            </a:r>
          </a:p>
          <a:p>
            <a:pPr algn="l">
              <a:spcAft>
                <a:spcPts val="200"/>
              </a:spcAft>
            </a:pPr>
            <a:r>
              <a:rPr sz="1000" b="0" i="0">
                <a:solidFill>
                  <a:srgbClr val="6B6B6B"/>
                </a:solidFill>
              </a:rPr>
              <a:t>learns the solver's objective implicitly</a:t>
            </a:r>
          </a:p>
        </p:txBody>
      </p:sp>
      <p:sp>
        <p:nvSpPr>
          <p:cNvPr id="14" name="Rounded Rectangle 13"/>
          <p:cNvSpPr/>
          <p:nvPr/>
        </p:nvSpPr>
        <p:spPr>
          <a:xfrm>
            <a:off x="1783080"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15" name="Rounded Rectangle 14"/>
          <p:cNvSpPr/>
          <p:nvPr/>
        </p:nvSpPr>
        <p:spPr>
          <a:xfrm>
            <a:off x="3090672" y="256032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Model</a:t>
            </a:r>
          </a:p>
        </p:txBody>
      </p:sp>
      <p:sp>
        <p:nvSpPr>
          <p:cNvPr id="16" name="Rounded Rectangle 15"/>
          <p:cNvSpPr/>
          <p:nvPr/>
        </p:nvSpPr>
        <p:spPr>
          <a:xfrm>
            <a:off x="4398264"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sp>
        <p:nvSpPr>
          <p:cNvPr id="17" name="Rounded Rectangle 16"/>
          <p:cNvSpPr/>
          <p:nvPr/>
        </p:nvSpPr>
        <p:spPr>
          <a:xfrm>
            <a:off x="5705856"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Predicted AIA</a:t>
            </a:r>
          </a:p>
          <a:p>
            <a:pPr algn="ctr"/>
            <a:r>
              <a:rPr sz="900">
                <a:solidFill>
                  <a:srgbClr val="333333"/>
                </a:solidFill>
              </a:rPr>
              <a:t>via response R</a:t>
            </a:r>
          </a:p>
        </p:txBody>
      </p:sp>
      <p:cxnSp>
        <p:nvCxnSpPr>
          <p:cNvPr id="18" name="Connector 17"/>
          <p:cNvCxnSpPr/>
          <p:nvPr/>
        </p:nvCxnSpPr>
        <p:spPr>
          <a:xfrm>
            <a:off x="2834640"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142232"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449824"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324344" y="256032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Observed AIA</a:t>
            </a:r>
          </a:p>
          <a:p>
            <a:pPr algn="ctr"/>
            <a:r>
              <a:rPr sz="900">
                <a:solidFill>
                  <a:srgbClr val="333333"/>
                </a:solidFill>
              </a:rPr>
              <a:t>6 channels</a:t>
            </a:r>
          </a:p>
        </p:txBody>
      </p:sp>
      <p:cxnSp>
        <p:nvCxnSpPr>
          <p:cNvPr id="22" name="Connector 21"/>
          <p:cNvCxnSpPr/>
          <p:nvPr/>
        </p:nvCxnSpPr>
        <p:spPr>
          <a:xfrm>
            <a:off x="6757416" y="288036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830568" y="276148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24" name="TextBox 23"/>
          <p:cNvSpPr txBox="1"/>
          <p:nvPr/>
        </p:nvSpPr>
        <p:spPr>
          <a:xfrm>
            <a:off x="365760" y="3566160"/>
            <a:ext cx="8412480" cy="457200"/>
          </a:xfrm>
          <a:prstGeom prst="rect">
            <a:avLst/>
          </a:prstGeom>
          <a:noFill/>
        </p:spPr>
        <p:txBody>
          <a:bodyPr wrap="square" anchor="t" lIns="0" rIns="0" tIns="0" bIns="0">
            <a:spAutoFit/>
          </a:bodyPr>
          <a:lstStyle/>
          <a:p>
            <a:pPr algn="l">
              <a:spcAft>
                <a:spcPts val="600"/>
              </a:spcAft>
            </a:pPr>
            <a:r>
              <a:rPr sz="1250" b="1" i="0">
                <a:solidFill>
                  <a:srgbClr val="57068C"/>
                </a:solidFill>
              </a:rPr>
              <a:t>We never train on the solver's DEMs; we use them only to evaluate.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model: a small MLP feeding a fixed forward model</a:t>
            </a:r>
          </a:p>
        </p:txBody>
      </p:sp>
      <p:sp>
        <p:nvSpPr>
          <p:cNvPr id="3" name="Rounded Rectangle 2"/>
          <p:cNvSpPr/>
          <p:nvPr/>
        </p:nvSpPr>
        <p:spPr>
          <a:xfrm>
            <a:off x="36576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Observed AIA</a:t>
            </a:r>
          </a:p>
          <a:p>
            <a:pPr algn="ctr"/>
            <a:r>
              <a:rPr sz="1000">
                <a:solidFill>
                  <a:srgbClr val="333333"/>
                </a:solidFill>
              </a:rPr>
              <a:t>6 channels</a:t>
            </a:r>
          </a:p>
        </p:txBody>
      </p:sp>
      <p:sp>
        <p:nvSpPr>
          <p:cNvPr id="4" name="Rounded Rectangle 3"/>
          <p:cNvSpPr/>
          <p:nvPr/>
        </p:nvSpPr>
        <p:spPr>
          <a:xfrm>
            <a:off x="2125980" y="1188720"/>
            <a:ext cx="1371600" cy="8686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FFFFFF"/>
                </a:solidFill>
              </a:rPr>
              <a:t>MLP</a:t>
            </a:r>
          </a:p>
          <a:p>
            <a:pPr algn="ctr"/>
            <a:r>
              <a:rPr sz="1000">
                <a:solidFill>
                  <a:srgbClr val="FFFFFF"/>
                </a:solidFill>
              </a:rPr>
              <a:t>360k params</a:t>
            </a:r>
          </a:p>
        </p:txBody>
      </p:sp>
      <p:sp>
        <p:nvSpPr>
          <p:cNvPr id="5" name="Rounded Rectangle 4"/>
          <p:cNvSpPr/>
          <p:nvPr/>
        </p:nvSpPr>
        <p:spPr>
          <a:xfrm>
            <a:off x="388620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Basis weights</a:t>
            </a:r>
          </a:p>
          <a:p>
            <a:pPr algn="ctr"/>
            <a:r>
              <a:rPr sz="1000">
                <a:solidFill>
                  <a:srgbClr val="333333"/>
                </a:solidFill>
              </a:rPr>
              <a:t>54, same as solver</a:t>
            </a:r>
          </a:p>
        </p:txBody>
      </p:sp>
      <p:sp>
        <p:nvSpPr>
          <p:cNvPr id="6" name="Rounded Rectangle 5"/>
          <p:cNvSpPr/>
          <p:nvPr/>
        </p:nvSpPr>
        <p:spPr>
          <a:xfrm>
            <a:off x="564642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DEM</a:t>
            </a:r>
          </a:p>
          <a:p>
            <a:pPr algn="ctr"/>
            <a:r>
              <a:rPr sz="1000">
                <a:solidFill>
                  <a:srgbClr val="333333"/>
                </a:solidFill>
              </a:rPr>
              <a:t>18 bins, logT 5.5–7.2</a:t>
            </a:r>
          </a:p>
        </p:txBody>
      </p:sp>
      <p:sp>
        <p:nvSpPr>
          <p:cNvPr id="7" name="Rounded Rectangle 6"/>
          <p:cNvSpPr/>
          <p:nvPr/>
        </p:nvSpPr>
        <p:spPr>
          <a:xfrm>
            <a:off x="740664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Predicted AIA</a:t>
            </a:r>
          </a:p>
          <a:p>
            <a:pPr algn="ctr"/>
            <a:r>
              <a:rPr sz="1000">
                <a:solidFill>
                  <a:srgbClr val="333333"/>
                </a:solidFill>
              </a:rPr>
              <a:t>via response R</a:t>
            </a:r>
          </a:p>
        </p:txBody>
      </p:sp>
      <p:cxnSp>
        <p:nvCxnSpPr>
          <p:cNvPr id="8" name="Connector 7"/>
          <p:cNvCxnSpPr/>
          <p:nvPr/>
        </p:nvCxnSpPr>
        <p:spPr>
          <a:xfrm>
            <a:off x="173736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49758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25780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01802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125980" y="2514600"/>
            <a:ext cx="6652260" cy="548640"/>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57068C"/>
                </a:solidFill>
              </a:rPr>
              <a:t>Loss: the solver's objective, predicted against observed AIA</a:t>
            </a:r>
          </a:p>
        </p:txBody>
      </p:sp>
      <p:cxnSp>
        <p:nvCxnSpPr>
          <p:cNvPr id="13" name="Connector 12"/>
          <p:cNvCxnSpPr/>
          <p:nvPr/>
        </p:nvCxnSpPr>
        <p:spPr>
          <a:xfrm>
            <a:off x="8092440" y="2057400"/>
            <a:ext cx="0" cy="45720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51560" y="2057400"/>
            <a:ext cx="0" cy="731520"/>
          </a:xfrm>
          <a:prstGeom prst="line">
            <a:avLst/>
          </a:prstGeom>
          <a:ln w="19050">
            <a:solidFill>
              <a:srgbClr val="57068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51560" y="2788920"/>
            <a:ext cx="10744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65760" y="3154680"/>
            <a:ext cx="8412480" cy="1280160"/>
          </a:xfrm>
          <a:prstGeom prst="rect">
            <a:avLst/>
          </a:prstGeom>
          <a:noFill/>
        </p:spPr>
        <p:txBody>
          <a:bodyPr wrap="square" anchor="t" lIns="0" rIns="0" tIns="0" bIns="0">
            <a:spAutoFit/>
          </a:bodyPr>
          <a:lstStyle/>
          <a:p>
            <a:pPr algn="l" marL="182880" indent="-182880">
              <a:spcAft>
                <a:spcPts val="400"/>
              </a:spcAft>
              <a:buClr>
                <a:srgbClr val="333333"/>
              </a:buClr>
              <a:buChar char="•"/>
            </a:pPr>
            <a:r>
              <a:rPr sz="1200" b="0" i="0">
                <a:solidFill>
                  <a:srgbClr val="333333"/>
                </a:solidFill>
              </a:rPr>
              <a:t>6 intensities in (log1p for BP; √ + Fourier features for ElasticNet); 4 hidden layers of 336, SiLU; 54 non-negative basis weights out.</a:t>
            </a:r>
          </a:p>
          <a:p>
            <a:pPr algn="l" marL="182880" indent="-182880">
              <a:spcAft>
                <a:spcPts val="400"/>
              </a:spcAft>
              <a:buClr>
                <a:srgbClr val="333333"/>
              </a:buClr>
              <a:buChar char="•"/>
            </a:pPr>
            <a:r>
              <a:rPr sz="1200" b="0" i="0">
                <a:solidFill>
                  <a:srgbClr val="333333"/>
                </a:solidFill>
              </a:rPr>
              <a:t>BP and ElasticNet solve for the same 54 weights (at each of 18 bins, a spike and Gaussians 0.1 and 0.2 dex wide), and their L1 term acts on those weights.</a:t>
            </a:r>
          </a:p>
          <a:p>
            <a:pPr algn="l" marL="182880" indent="-182880">
              <a:spcAft>
                <a:spcPts val="400"/>
              </a:spcAft>
              <a:buClr>
                <a:srgbClr val="333333"/>
              </a:buClr>
              <a:buChar char="•"/>
            </a:pPr>
            <a:r>
              <a:rPr sz="1200" b="0" i="0">
                <a:solidFill>
                  <a:srgbClr val="333333"/>
                </a:solidFill>
              </a:rPr>
              <a:t>DEM = B·w over 18 bins; predicted AIA = R·DEM. B and R are fixed; only the MLP is learned.</a:t>
            </a:r>
          </a:p>
          <a:p>
            <a:pPr algn="l" marL="182880" indent="-182880">
              <a:spcAft>
                <a:spcPts val="400"/>
              </a:spcAft>
              <a:buClr>
                <a:srgbClr val="333333"/>
              </a:buClr>
              <a:buChar char="•"/>
            </a:pPr>
            <a:r>
              <a:rPr sz="1200" b="0" i="0">
                <a:solidFill>
                  <a:srgbClr val="333333"/>
                </a:solidFill>
              </a:rPr>
              <a:t>360k parameters (size chosen in Part 5); one forward pass per pixel.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loss is the solver's own objective</a:t>
            </a:r>
          </a:p>
        </p:txBody>
      </p:sp>
      <p:sp>
        <p:nvSpPr>
          <p:cNvPr id="3" name="Rounded Rectangle 2"/>
          <p:cNvSpPr/>
          <p:nvPr/>
        </p:nvSpPr>
        <p:spPr>
          <a:xfrm>
            <a:off x="365760" y="9144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241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BP track</a:t>
            </a:r>
          </a:p>
        </p:txBody>
      </p:sp>
      <p:sp>
        <p:nvSpPr>
          <p:cNvPr id="5" name="TextBox 4"/>
          <p:cNvSpPr txBox="1"/>
          <p:nvPr/>
        </p:nvSpPr>
        <p:spPr>
          <a:xfrm>
            <a:off x="548640" y="13258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Σ</a:t>
            </a:r>
            <a:r>
              <a:rPr sz="1300" b="0" i="0" baseline="-25000">
                <a:solidFill>
                  <a:srgbClr val="333333"/>
                </a:solidFill>
                <a:latin typeface="Cambria"/>
              </a:rPr>
              <a:t>c</a:t>
            </a:r>
            <a:r>
              <a:rPr sz="1300" b="0" i="0">
                <a:solidFill>
                  <a:srgbClr val="333333"/>
                </a:solidFill>
                <a:latin typeface="Cambria"/>
              </a:rPr>
              <a:t> [ max(0,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p>
        </p:txBody>
      </p:sp>
      <p:sp>
        <p:nvSpPr>
          <p:cNvPr id="6" name="TextBox 5"/>
          <p:cNvSpPr txBox="1"/>
          <p:nvPr/>
        </p:nvSpPr>
        <p:spPr>
          <a:xfrm>
            <a:off x="548640" y="17190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Zero inside the noise band (t = 1.4), quadratic outside.</a:t>
            </a:r>
          </a:p>
          <a:p>
            <a:pPr algn="l" marL="182880" indent="-182880">
              <a:spcAft>
                <a:spcPts val="200"/>
              </a:spcAft>
              <a:buClr>
                <a:srgbClr val="333333"/>
              </a:buClr>
              <a:buChar char="•"/>
            </a:pPr>
            <a:r>
              <a:rPr sz="1050" b="0" i="0">
                <a:solidFill>
                  <a:srgbClr val="333333"/>
                </a:solidFill>
              </a:rPr>
              <a:t>Then the L1 term picks the sparsest DEM that fits: BP's criterion.</a:t>
            </a:r>
          </a:p>
        </p:txBody>
      </p:sp>
      <p:sp>
        <p:nvSpPr>
          <p:cNvPr id="7" name="Rounded Rectangle 6"/>
          <p:cNvSpPr/>
          <p:nvPr/>
        </p:nvSpPr>
        <p:spPr>
          <a:xfrm>
            <a:off x="365760" y="25146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6243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ElasticNet track</a:t>
            </a:r>
          </a:p>
        </p:txBody>
      </p:sp>
      <p:sp>
        <p:nvSpPr>
          <p:cNvPr id="9" name="TextBox 8"/>
          <p:cNvSpPr txBox="1"/>
          <p:nvPr/>
        </p:nvSpPr>
        <p:spPr>
          <a:xfrm>
            <a:off x="548640" y="29260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(1/2C) Σ</a:t>
            </a:r>
            <a:r>
              <a:rPr sz="1300" b="0" i="0" baseline="-25000">
                <a:solidFill>
                  <a:srgbClr val="333333"/>
                </a:solidFill>
                <a:latin typeface="Cambria"/>
              </a:rPr>
              <a:t>c</a:t>
            </a:r>
            <a:r>
              <a:rPr sz="1300" b="0" i="0">
                <a:solidFill>
                  <a:srgbClr val="333333"/>
                </a:solidFill>
                <a:latin typeface="Cambria"/>
              </a:rPr>
              <a:t> [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αλ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  +  ½α(1−λ)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²</a:t>
            </a:r>
          </a:p>
        </p:txBody>
      </p:sp>
      <p:sp>
        <p:nvSpPr>
          <p:cNvPr id="10" name="TextBox 9"/>
          <p:cNvSpPr txBox="1"/>
          <p:nvPr/>
        </p:nvSpPr>
        <p:spPr>
          <a:xfrm>
            <a:off x="548640" y="33192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The solver's settings: α = 0.001, λ = 0.5, C = 6.</a:t>
            </a:r>
          </a:p>
        </p:txBody>
      </p:sp>
      <p:sp>
        <p:nvSpPr>
          <p:cNvPr id="11" name="TextBox 10"/>
          <p:cNvSpPr txBox="1"/>
          <p:nvPr/>
        </p:nvSpPr>
        <p:spPr>
          <a:xfrm>
            <a:off x="365760" y="4160520"/>
            <a:ext cx="5029200" cy="274320"/>
          </a:xfrm>
          <a:prstGeom prst="rect">
            <a:avLst/>
          </a:prstGeom>
          <a:noFill/>
        </p:spPr>
        <p:txBody>
          <a:bodyPr wrap="square" anchor="t" lIns="0" rIns="0" tIns="0" bIns="0">
            <a:spAutoFit/>
          </a:bodyPr>
          <a:lstStyle/>
          <a:p>
            <a:pPr algn="l">
              <a:spcAft>
                <a:spcPts val="600"/>
              </a:spcAft>
            </a:pPr>
            <a:r>
              <a:rPr sz="1100" b="0" i="0">
                <a:solidFill>
                  <a:srgbClr val="6B6B6B"/>
                </a:solidFill>
              </a:rPr>
              <a:t>In both: ŷ = R·B·w, with w ≥ 0.</a:t>
            </a:r>
          </a:p>
        </p:txBody>
      </p:sp>
      <p:pic>
        <p:nvPicPr>
          <p:cNvPr id="12" name="Picture 11" descr="band_penalty.png"/>
          <p:cNvPicPr>
            <a:picLocks noChangeAspect="1"/>
          </p:cNvPicPr>
          <p:nvPr/>
        </p:nvPicPr>
        <p:blipFill>
          <a:blip r:embed="rId3"/>
          <a:stretch>
            <a:fillRect/>
          </a:stretch>
        </p:blipFill>
        <p:spPr>
          <a:xfrm>
            <a:off x="5623560" y="1221959"/>
            <a:ext cx="3154680" cy="2128082"/>
          </a:xfrm>
          <a:prstGeom prst="rect">
            <a:avLst/>
          </a:prstGeom>
        </p:spPr>
      </p:pic>
      <p:sp>
        <p:nvSpPr>
          <p:cNvPr id="13" name="TextBox 12"/>
          <p:cNvSpPr txBox="1"/>
          <p:nvPr/>
        </p:nvSpPr>
        <p:spPr>
          <a:xfrm>
            <a:off x="5623560" y="3429000"/>
            <a:ext cx="3154680" cy="274320"/>
          </a:xfrm>
          <a:prstGeom prst="rect">
            <a:avLst/>
          </a:prstGeom>
          <a:noFill/>
        </p:spPr>
        <p:txBody>
          <a:bodyPr wrap="square" anchor="t" lIns="0" rIns="0" tIns="0" bIns="0">
            <a:spAutoFit/>
          </a:bodyPr>
          <a:lstStyle/>
          <a:p>
            <a:pPr algn="l">
              <a:spcAft>
                <a:spcPts val="0"/>
              </a:spcAft>
            </a:pPr>
            <a:r>
              <a:rPr sz="950" b="0" i="1">
                <a:solidFill>
                  <a:srgbClr val="6B6B6B"/>
                </a:solidFill>
              </a:rPr>
              <a:t>The BP band penalty for one channel.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Data: two years of full-disk AIA, split in time</a:t>
            </a:r>
          </a:p>
        </p:txBody>
      </p:sp>
      <p:sp>
        <p:nvSpPr>
          <p:cNvPr id="3" name="Rounded Rectangle 2"/>
          <p:cNvSpPr/>
          <p:nvPr/>
        </p:nvSpPr>
        <p:spPr>
          <a:xfrm>
            <a:off x="365760" y="1005840"/>
            <a:ext cx="6067425" cy="566928"/>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FFFFFF"/>
                </a:solidFill>
              </a:rPr>
              <a:t>Train</a:t>
            </a:r>
          </a:p>
          <a:p>
            <a:pPr algn="ctr"/>
            <a:r>
              <a:rPr sz="950">
                <a:solidFill>
                  <a:srgbClr val="FFFFFF"/>
                </a:solidFill>
              </a:rPr>
              <a:t>917 images</a:t>
            </a:r>
          </a:p>
        </p:txBody>
      </p:sp>
      <p:sp>
        <p:nvSpPr>
          <p:cNvPr id="4" name="Rounded Rectangle 3"/>
          <p:cNvSpPr/>
          <p:nvPr/>
        </p:nvSpPr>
        <p:spPr>
          <a:xfrm>
            <a:off x="6478905" y="1005840"/>
            <a:ext cx="1109472" cy="566928"/>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57068C"/>
                </a:solidFill>
              </a:rPr>
              <a:t>Validation</a:t>
            </a:r>
          </a:p>
          <a:p>
            <a:pPr algn="ctr"/>
            <a:r>
              <a:rPr sz="950">
                <a:solidFill>
                  <a:srgbClr val="57068C"/>
                </a:solidFill>
              </a:rPr>
              <a:t>153</a:t>
            </a:r>
          </a:p>
        </p:txBody>
      </p:sp>
      <p:sp>
        <p:nvSpPr>
          <p:cNvPr id="5" name="Rounded Rectangle 4"/>
          <p:cNvSpPr/>
          <p:nvPr/>
        </p:nvSpPr>
        <p:spPr>
          <a:xfrm>
            <a:off x="7634097" y="1005840"/>
            <a:ext cx="1144143" cy="566928"/>
          </a:xfrm>
          <a:prstGeom prst="roundRect">
            <a:avLst>
              <a:gd name="adj" fmla="val 6000"/>
            </a:avLst>
          </a:prstGeom>
          <a:solidFill>
            <a:srgbClr val="330662"/>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FFFFFF"/>
                </a:solidFill>
              </a:rPr>
              <a:t>Test</a:t>
            </a:r>
          </a:p>
          <a:p>
            <a:pPr algn="ctr"/>
            <a:r>
              <a:rPr sz="950">
                <a:solidFill>
                  <a:srgbClr val="FFFFFF"/>
                </a:solidFill>
              </a:rPr>
              <a:t>153</a:t>
            </a:r>
          </a:p>
        </p:txBody>
      </p:sp>
      <p:sp>
        <p:nvSpPr>
          <p:cNvPr id="6" name="TextBox 5"/>
          <p:cNvSpPr txBox="1"/>
          <p:nvPr/>
        </p:nvSpPr>
        <p:spPr>
          <a:xfrm>
            <a:off x="365760" y="1618488"/>
            <a:ext cx="822960" cy="228600"/>
          </a:xfrm>
          <a:prstGeom prst="rect">
            <a:avLst/>
          </a:prstGeom>
          <a:noFill/>
        </p:spPr>
        <p:txBody>
          <a:bodyPr wrap="square" anchor="t" lIns="0" rIns="0" tIns="0" bIns="0">
            <a:spAutoFit/>
          </a:bodyPr>
          <a:lstStyle/>
          <a:p>
            <a:pPr algn="l">
              <a:spcAft>
                <a:spcPts val="600"/>
              </a:spcAft>
            </a:pPr>
            <a:r>
              <a:rPr sz="950" b="0" i="0">
                <a:solidFill>
                  <a:srgbClr val="6B6B6B"/>
                </a:solidFill>
              </a:rPr>
              <a:t>Jan 2014</a:t>
            </a:r>
          </a:p>
        </p:txBody>
      </p:sp>
      <p:sp>
        <p:nvSpPr>
          <p:cNvPr id="7" name="TextBox 6"/>
          <p:cNvSpPr txBox="1"/>
          <p:nvPr/>
        </p:nvSpPr>
        <p:spPr>
          <a:xfrm>
            <a:off x="6088380" y="1618488"/>
            <a:ext cx="822960" cy="228600"/>
          </a:xfrm>
          <a:prstGeom prst="rect">
            <a:avLst/>
          </a:prstGeom>
          <a:noFill/>
        </p:spPr>
        <p:txBody>
          <a:bodyPr wrap="square" anchor="t" lIns="0" rIns="0" tIns="0" bIns="0">
            <a:spAutoFit/>
          </a:bodyPr>
          <a:lstStyle/>
          <a:p>
            <a:pPr algn="ctr">
              <a:spcAft>
                <a:spcPts val="600"/>
              </a:spcAft>
            </a:pPr>
            <a:r>
              <a:rPr sz="950" b="0" i="0">
                <a:solidFill>
                  <a:srgbClr val="6B6B6B"/>
                </a:solidFill>
              </a:rPr>
              <a:t>Jun 2015</a:t>
            </a:r>
          </a:p>
        </p:txBody>
      </p:sp>
      <p:sp>
        <p:nvSpPr>
          <p:cNvPr id="8" name="TextBox 7"/>
          <p:cNvSpPr txBox="1"/>
          <p:nvPr/>
        </p:nvSpPr>
        <p:spPr>
          <a:xfrm>
            <a:off x="7210043" y="1618488"/>
            <a:ext cx="822960" cy="228600"/>
          </a:xfrm>
          <a:prstGeom prst="rect">
            <a:avLst/>
          </a:prstGeom>
          <a:noFill/>
        </p:spPr>
        <p:txBody>
          <a:bodyPr wrap="square" anchor="t" lIns="0" rIns="0" tIns="0" bIns="0">
            <a:spAutoFit/>
          </a:bodyPr>
          <a:lstStyle/>
          <a:p>
            <a:pPr algn="ctr">
              <a:spcAft>
                <a:spcPts val="600"/>
              </a:spcAft>
            </a:pPr>
            <a:r>
              <a:rPr sz="950" b="0" i="0">
                <a:solidFill>
                  <a:srgbClr val="6B6B6B"/>
                </a:solidFill>
              </a:rPr>
              <a:t>Sep 2015</a:t>
            </a:r>
          </a:p>
        </p:txBody>
      </p:sp>
      <p:sp>
        <p:nvSpPr>
          <p:cNvPr id="9" name="TextBox 8"/>
          <p:cNvSpPr txBox="1"/>
          <p:nvPr/>
        </p:nvSpPr>
        <p:spPr>
          <a:xfrm>
            <a:off x="7955280" y="1618488"/>
            <a:ext cx="822960" cy="228600"/>
          </a:xfrm>
          <a:prstGeom prst="rect">
            <a:avLst/>
          </a:prstGeom>
          <a:noFill/>
        </p:spPr>
        <p:txBody>
          <a:bodyPr wrap="square" anchor="t" lIns="0" rIns="0" tIns="0" bIns="0">
            <a:spAutoFit/>
          </a:bodyPr>
          <a:lstStyle/>
          <a:p>
            <a:pPr algn="r">
              <a:spcAft>
                <a:spcPts val="600"/>
              </a:spcAft>
            </a:pPr>
            <a:r>
              <a:rPr sz="950" b="0" i="0">
                <a:solidFill>
                  <a:srgbClr val="6B6B6B"/>
                </a:solidFill>
              </a:rPr>
              <a:t>Dec 2015</a:t>
            </a:r>
          </a:p>
        </p:txBody>
      </p:sp>
      <p:sp>
        <p:nvSpPr>
          <p:cNvPr id="10" name="TextBox 9"/>
          <p:cNvSpPr txBox="1"/>
          <p:nvPr/>
        </p:nvSpPr>
        <p:spPr>
          <a:xfrm>
            <a:off x="365760" y="2011680"/>
            <a:ext cx="8412480" cy="2377440"/>
          </a:xfrm>
          <a:prstGeom prst="rect">
            <a:avLst/>
          </a:prstGeom>
          <a:noFill/>
        </p:spPr>
        <p:txBody>
          <a:bodyPr wrap="square" anchor="t" lIns="0" rIns="0" tIns="0" bIns="0">
            <a:spAutoFit/>
          </a:bodyPr>
          <a:lstStyle/>
          <a:p>
            <a:pPr algn="l" marL="182880" indent="-182880">
              <a:spcAft>
                <a:spcPts val="700"/>
              </a:spcAft>
              <a:buClr>
                <a:srgbClr val="333333"/>
              </a:buClr>
              <a:buChar char="•"/>
            </a:pPr>
            <a:r>
              <a:rPr sz="1250" b="0" i="0">
                <a:solidFill>
                  <a:srgbClr val="333333"/>
                </a:solidFill>
              </a:rPr>
              <a:t>SDO/AIA, 6 EUV channels, about two images a day in 2014–2015: 1,223 full-disk images.</a:t>
            </a:r>
          </a:p>
          <a:p>
            <a:pPr algn="l" marL="182880" indent="-182880">
              <a:spcAft>
                <a:spcPts val="700"/>
              </a:spcAft>
              <a:buClr>
                <a:srgbClr val="333333"/>
              </a:buClr>
              <a:buChar char="•"/>
            </a:pPr>
            <a:r>
              <a:rPr sz="1250" b="0" i="0">
                <a:solidFill>
                  <a:srgbClr val="333333"/>
                </a:solidFill>
              </a:rPr>
              <a:t>PSF-deconvolved (Hofmeister); a noise σ per pixel and channel from the AIA error model; DEMs on a 2048² grid.</a:t>
            </a:r>
          </a:p>
          <a:p>
            <a:pPr algn="l" marL="182880" indent="-182880">
              <a:spcAft>
                <a:spcPts val="700"/>
              </a:spcAft>
              <a:buClr>
                <a:srgbClr val="333333"/>
              </a:buClr>
              <a:buChar char="•"/>
            </a:pPr>
            <a:r>
              <a:rPr sz="1250" b="0" i="0">
                <a:solidFill>
                  <a:srgbClr val="333333"/>
                </a:solidFill>
              </a:rPr>
              <a:t>Our model trains on AIA and σ only: each training image is cut into 64 blocks of 256×256 per image. Each epoch draws 512 fresh random pixels from each of the 58,688 blocks(917*64), for 40 epochs.</a:t>
            </a:r>
          </a:p>
          <a:p>
            <a:pPr algn="l" marL="182880" indent="-182880">
              <a:spcAft>
                <a:spcPts val="700"/>
              </a:spcAft>
              <a:buClr>
                <a:srgbClr val="333333"/>
              </a:buClr>
              <a:buChar char="•"/>
            </a:pPr>
            <a:r>
              <a:rPr sz="1250" b="0" i="0">
                <a:solidFill>
                  <a:srgbClr val="333333"/>
                </a:solidFill>
              </a:rPr>
              <a:t>Earlier runs reused one fixed ~30M-pixel sample (a sampler bug); at the old 176k size it scored better on validation (BP 4%, ElasticNet 18%).</a:t>
            </a:r>
          </a:p>
          <a:p>
            <a:pPr algn="l" marL="182880" indent="-182880">
              <a:spcAft>
                <a:spcPts val="700"/>
              </a:spcAft>
              <a:buClr>
                <a:srgbClr val="333333"/>
              </a:buClr>
              <a:buChar char="•"/>
            </a:pPr>
            <a:r>
              <a:rPr sz="1250" b="0" i="0">
                <a:solidFill>
                  <a:srgbClr val="333333"/>
                </a:solidFill>
              </a:rPr>
              <a:t>Solver DEMs (BP, ElasticNet) for every image: labels for the supervised model, evaluation only for ours.</a:t>
            </a:r>
          </a:p>
          <a:p>
            <a:pPr algn="l" marL="182880" indent="-182880">
              <a:spcAft>
                <a:spcPts val="700"/>
              </a:spcAft>
              <a:buClr>
                <a:srgbClr val="333333"/>
              </a:buClr>
              <a:buChar char="•"/>
            </a:pPr>
            <a:r>
              <a:rPr sz="1250" b="0" i="0">
                <a:solidFill>
                  <a:srgbClr val="333333"/>
                </a:solidFill>
              </a:rPr>
              <a:t>Test: ~700M pixel DEMs per solver, the clean solve plus 4 noise re-solves.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2</a:t>
            </a:r>
            <a:br/>
            <a:r>
              <a:rPr sz="4100"/>
              <a:t>Finding a trainable objective</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Which loss gives BP's DEMs?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Six channels underdetermine the DEM: the regulariser picks it</a:t>
            </a:r>
          </a:p>
        </p:txBody>
      </p:sp>
      <p:sp>
        <p:nvSpPr>
          <p:cNvPr id="3" name="TextBox 2"/>
          <p:cNvSpPr txBox="1"/>
          <p:nvPr/>
        </p:nvSpPr>
        <p:spPr>
          <a:xfrm>
            <a:off x="365760" y="914400"/>
            <a:ext cx="8412480" cy="1371600"/>
          </a:xfrm>
          <a:prstGeom prst="rect">
            <a:avLst/>
          </a:prstGeom>
          <a:noFill/>
        </p:spPr>
        <p:txBody>
          <a:bodyPr wrap="square" anchor="t" lIns="0" rIns="0" tIns="0" bIns="0">
            <a:spAutoFit/>
          </a:bodyPr>
          <a:lstStyle/>
          <a:p>
            <a:pPr algn="l" marL="182880" indent="-182880">
              <a:spcAft>
                <a:spcPts val="500"/>
              </a:spcAft>
              <a:buClr>
                <a:srgbClr val="333333"/>
              </a:buClr>
              <a:buChar char="•"/>
            </a:pPr>
            <a:r>
              <a:rPr sz="1250" b="0" i="0">
                <a:solidFill>
                  <a:srgbClr val="333333"/>
                </a:solidFill>
              </a:rPr>
              <a:t>Before any network: five losses optimised directly, pixel by pixel, on 4 timestamps, each compared with BP.</a:t>
            </a:r>
          </a:p>
          <a:p>
            <a:pPr algn="l" marL="182880" indent="-182880">
              <a:spcAft>
                <a:spcPts val="500"/>
              </a:spcAft>
              <a:buClr>
                <a:srgbClr val="333333"/>
              </a:buClr>
              <a:buChar char="•"/>
            </a:pPr>
            <a:r>
              <a:rPr sz="1250" b="0" i="0">
                <a:solidFill>
                  <a:srgbClr val="333333"/>
                </a:solidFill>
              </a:rPr>
              <a:t>Fit-only losses (χ² + smoothness, max entropy, Tikhonov) reconstruct AIA ~12x better than BP, yet land ~5x further from its DEM.</a:t>
            </a:r>
          </a:p>
          <a:p>
            <a:pPr algn="l" marL="182880" indent="-182880">
              <a:spcAft>
                <a:spcPts val="500"/>
              </a:spcAft>
              <a:buClr>
                <a:srgbClr val="333333"/>
              </a:buClr>
              <a:buChar char="•"/>
            </a:pPr>
            <a:r>
              <a:rPr sz="1250" b="0" i="0">
                <a:solidFill>
                  <a:srgbClr val="333333"/>
                </a:solidFill>
              </a:rPr>
              <a:t>BP's own terms (noise band + L1) land on BP's DEM: MAE 0.03 vs 0.18–0.20.</a:t>
            </a:r>
          </a:p>
        </p:txBody>
      </p:sp>
      <p:pic>
        <p:nvPicPr>
          <p:cNvPr id="4" name="Picture 3" descr="loss_pixels.png"/>
          <p:cNvPicPr>
            <a:picLocks noChangeAspect="1"/>
          </p:cNvPicPr>
          <p:nvPr/>
        </p:nvPicPr>
        <p:blipFill>
          <a:blip r:embed="rId3"/>
          <a:stretch>
            <a:fillRect/>
          </a:stretch>
        </p:blipFill>
        <p:spPr>
          <a:xfrm>
            <a:off x="365760" y="1949398"/>
            <a:ext cx="8412480" cy="1807060"/>
          </a:xfrm>
          <a:prstGeom prst="rect">
            <a:avLst/>
          </a:prstGeom>
        </p:spPr>
      </p:pic>
      <p:sp>
        <p:nvSpPr>
          <p:cNvPr id="5" name="TextBox 4"/>
          <p:cNvSpPr txBox="1"/>
          <p:nvPr/>
        </p:nvSpPr>
        <p:spPr>
          <a:xfrm>
            <a:off x="365760" y="3794760"/>
            <a:ext cx="8412480" cy="274320"/>
          </a:xfrm>
          <a:prstGeom prst="rect">
            <a:avLst/>
          </a:prstGeom>
          <a:noFill/>
        </p:spPr>
        <p:txBody>
          <a:bodyPr wrap="square" anchor="t" lIns="0" rIns="0" tIns="0" bIns="0">
            <a:spAutoFit/>
          </a:bodyPr>
          <a:lstStyle/>
          <a:p>
            <a:pPr algn="l">
              <a:spcAft>
                <a:spcPts val="0"/>
              </a:spcAft>
            </a:pPr>
            <a:r>
              <a:rPr sz="950" b="0" i="1">
                <a:solidFill>
                  <a:srgbClr val="6B6B6B"/>
                </a:solidFill>
              </a:rPr>
              <a:t>Two example pixels; BP in black. Legend MAE is AIA reconstruction error.</a:t>
            </a:r>
          </a:p>
        </p:txBody>
      </p:sp>
      <p:sp>
        <p:nvSpPr>
          <p:cNvPr id="6" name="TextBox 5"/>
          <p:cNvSpPr txBox="1"/>
          <p:nvPr/>
        </p:nvSpPr>
        <p:spPr>
          <a:xfrm>
            <a:off x="365760" y="4114800"/>
            <a:ext cx="8412480" cy="274320"/>
          </a:xfrm>
          <a:prstGeom prst="rect">
            <a:avLst/>
          </a:prstGeom>
          <a:noFill/>
        </p:spPr>
        <p:txBody>
          <a:bodyPr wrap="square" anchor="t" lIns="0" rIns="0" tIns="0" bIns="0">
            <a:spAutoFit/>
          </a:bodyPr>
          <a:lstStyle/>
          <a:p>
            <a:pPr algn="l">
              <a:spcAft>
                <a:spcPts val="600"/>
              </a:spcAft>
            </a:pPr>
            <a:r>
              <a:rPr sz="1250" b="1" i="0">
                <a:solidFill>
                  <a:srgbClr val="57068C"/>
                </a:solidFill>
              </a:rPr>
              <a:t>So the network has to train on the solver's objective, not on fit.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3</a:t>
            </a:r>
            <a:br/>
            <a:r>
              <a:rPr sz="4100"/>
              <a:t>Architecture on small data</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Which network, on four images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 per-pixel MLP missed BP's shape; a patch CNN tracked it</a:t>
            </a:r>
          </a:p>
        </p:txBody>
      </p:sp>
      <p:sp>
        <p:nvSpPr>
          <p:cNvPr id="3" name="TextBox 2"/>
          <p:cNvSpPr txBox="1"/>
          <p:nvPr/>
        </p:nvSpPr>
        <p:spPr>
          <a:xfrm>
            <a:off x="365760" y="868680"/>
            <a:ext cx="8412480" cy="274320"/>
          </a:xfrm>
          <a:prstGeom prst="rect">
            <a:avLst/>
          </a:prstGeom>
          <a:noFill/>
        </p:spPr>
        <p:txBody>
          <a:bodyPr wrap="square" anchor="t" lIns="0" rIns="0" tIns="0" bIns="0">
            <a:spAutoFit/>
          </a:bodyPr>
          <a:lstStyle/>
          <a:p>
            <a:pPr algn="l">
              <a:spcAft>
                <a:spcPts val="600"/>
              </a:spcAft>
            </a:pPr>
            <a:r>
              <a:rPr sz="1050" b="0" i="0">
                <a:solidFill>
                  <a:srgbClr val="6B6B6B"/>
                </a:solidFill>
              </a:rPr>
              <a:t>4 images: X2.1 flare (2011), quiet Sun (2012), moderate activity (2013), X1.6 flare (2014); small crops near disk centre.</a:t>
            </a:r>
          </a:p>
        </p:txBody>
      </p:sp>
      <p:sp>
        <p:nvSpPr>
          <p:cNvPr id="4" name="TextBox 3"/>
          <p:cNvSpPr txBox="1"/>
          <p:nvPr/>
        </p:nvSpPr>
        <p:spPr>
          <a:xfrm>
            <a:off x="365760" y="1280160"/>
            <a:ext cx="4937760" cy="3017520"/>
          </a:xfrm>
          <a:prstGeom prst="rect">
            <a:avLst/>
          </a:prstGeom>
          <a:noFill/>
        </p:spPr>
        <p:txBody>
          <a:bodyPr wrap="square" anchor="t" lIns="0" rIns="0" tIns="0" bIns="0">
            <a:spAutoFit/>
          </a:bodyPr>
          <a:lstStyle/>
          <a:p>
            <a:pPr algn="l" marL="182880" indent="-182880">
              <a:spcAft>
                <a:spcPts val="1000"/>
              </a:spcAft>
              <a:buClr>
                <a:srgbClr val="333333"/>
              </a:buClr>
              <a:buChar char="•"/>
            </a:pPr>
            <a:r>
              <a:rPr sz="1250" b="1" i="0">
                <a:solidFill>
                  <a:srgbClr val="57068C"/>
                </a:solidFill>
              </a:rPr>
              <a:t>First try: </a:t>
            </a:r>
            <a:r>
              <a:rPr sz="1250" b="0" i="0">
                <a:solidFill>
                  <a:srgbClr val="333333"/>
                </a:solidFill>
              </a:rPr>
              <a:t>the 6 intensities of one pixel → MLP (213k params) → 54 weights, trained on the BP loss over ~221k pixels. Smooth, single-peaked curves, but further from BP: DEM error 0.078 vs the CNN's 0.047.</a:t>
            </a:r>
          </a:p>
          <a:p>
            <a:pPr algn="l" marL="182880" indent="-182880">
              <a:spcAft>
                <a:spcPts val="1000"/>
              </a:spcAft>
              <a:buClr>
                <a:srgbClr val="333333"/>
              </a:buClr>
              <a:buChar char="•"/>
            </a:pPr>
            <a:r>
              <a:rPr sz="1250" b="1" i="0">
                <a:solidFill>
                  <a:srgbClr val="57068C"/>
                </a:solidFill>
              </a:rPr>
              <a:t>Patch CNN: </a:t>
            </a:r>
            <a:r>
              <a:rPr sz="1250" b="0" i="0">
                <a:solidFill>
                  <a:srgbClr val="333333"/>
                </a:solidFill>
              </a:rPr>
              <a:t>a 9×9 neighbourhood → CNN (~1.5M params) → 54 weights. Tracked BP's shape, with sparsity close to BP's on held-out pixels.</a:t>
            </a:r>
          </a:p>
          <a:p>
            <a:pPr algn="l" marL="182880" indent="-182880">
              <a:spcAft>
                <a:spcPts val="1000"/>
              </a:spcAft>
              <a:buClr>
                <a:srgbClr val="333333"/>
              </a:buClr>
              <a:buChar char="•"/>
            </a:pPr>
            <a:r>
              <a:rPr sz="1250" b="0" i="0">
                <a:solidFill>
                  <a:srgbClr val="333333"/>
                </a:solidFill>
              </a:rPr>
              <a:t>Trained on one image, then on all 4 jointly; zeroing the neighbourhood for 10% of batches kept it usable on a single pixel.</a:t>
            </a:r>
          </a:p>
        </p:txBody>
      </p:sp>
      <p:pic>
        <p:nvPicPr>
          <p:cNvPr id="5" name="Picture 4" descr="first_mlp_vs_cnn.png"/>
          <p:cNvPicPr>
            <a:picLocks noChangeAspect="1"/>
          </p:cNvPicPr>
          <p:nvPr/>
        </p:nvPicPr>
        <p:blipFill>
          <a:blip r:embed="rId3"/>
          <a:stretch>
            <a:fillRect/>
          </a:stretch>
        </p:blipFill>
        <p:spPr>
          <a:xfrm>
            <a:off x="6042660" y="1188720"/>
            <a:ext cx="2179320" cy="2971800"/>
          </a:xfrm>
          <a:prstGeom prst="rect">
            <a:avLst/>
          </a:prstGeom>
        </p:spPr>
      </p:pic>
      <p:sp>
        <p:nvSpPr>
          <p:cNvPr id="6" name="TextBox 5"/>
          <p:cNvSpPr txBox="1"/>
          <p:nvPr/>
        </p:nvSpPr>
        <p:spPr>
          <a:xfrm>
            <a:off x="5486400" y="4206240"/>
            <a:ext cx="3291840" cy="274320"/>
          </a:xfrm>
          <a:prstGeom prst="rect">
            <a:avLst/>
          </a:prstGeom>
          <a:noFill/>
        </p:spPr>
        <p:txBody>
          <a:bodyPr wrap="square" anchor="t" lIns="0" rIns="0" tIns="0" bIns="0">
            <a:spAutoFit/>
          </a:bodyPr>
          <a:lstStyle/>
          <a:p>
            <a:pPr algn="l">
              <a:spcAft>
                <a:spcPts val="0"/>
              </a:spcAft>
            </a:pPr>
            <a:r>
              <a:rPr sz="950" b="0" i="1">
                <a:solidFill>
                  <a:srgbClr val="6B6B6B"/>
                </a:solidFill>
              </a:rPr>
              <a:t>Held-out pixels, X2.1 flare image.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Ablation: the gap was capacity, not missing context</a:t>
            </a:r>
          </a:p>
        </p:txBody>
      </p:sp>
      <p:sp>
        <p:nvSpPr>
          <p:cNvPr id="3" name="TextBox 2"/>
          <p:cNvSpPr txBox="1"/>
          <p:nvPr/>
        </p:nvSpPr>
        <p:spPr>
          <a:xfrm>
            <a:off x="365760" y="1307592"/>
            <a:ext cx="2286000" cy="256032"/>
          </a:xfrm>
          <a:prstGeom prst="rect">
            <a:avLst/>
          </a:prstGeom>
          <a:noFill/>
        </p:spPr>
        <p:txBody>
          <a:bodyPr wrap="square" anchor="t" lIns="0" rIns="0" tIns="0" bIns="0">
            <a:spAutoFit/>
          </a:bodyPr>
          <a:lstStyle/>
          <a:p>
            <a:pPr algn="l">
              <a:spcAft>
                <a:spcPts val="600"/>
              </a:spcAft>
            </a:pPr>
            <a:r>
              <a:rPr sz="1200" b="1" i="0">
                <a:solidFill>
                  <a:srgbClr val="57068C"/>
                </a:solidFill>
              </a:rPr>
              <a:t>Patch CNN</a:t>
            </a:r>
          </a:p>
        </p:txBody>
      </p:sp>
      <p:cxnSp>
        <p:nvCxnSpPr>
          <p:cNvPr id="4" name="Connector 3"/>
          <p:cNvCxnSpPr/>
          <p:nvPr/>
        </p:nvCxnSpPr>
        <p:spPr>
          <a:xfrm>
            <a:off x="2743200" y="1426464"/>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082795" y="1348740"/>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279391" y="1307592"/>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1.70</a:t>
            </a:r>
          </a:p>
        </p:txBody>
      </p:sp>
      <p:sp>
        <p:nvSpPr>
          <p:cNvPr id="7" name="TextBox 6"/>
          <p:cNvSpPr txBox="1"/>
          <p:nvPr/>
        </p:nvSpPr>
        <p:spPr>
          <a:xfrm>
            <a:off x="365760" y="1691640"/>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Shuffled-patch CNN</a:t>
            </a:r>
          </a:p>
        </p:txBody>
      </p:sp>
      <p:cxnSp>
        <p:nvCxnSpPr>
          <p:cNvPr id="8" name="Connector 7"/>
          <p:cNvCxnSpPr/>
          <p:nvPr/>
        </p:nvCxnSpPr>
        <p:spPr>
          <a:xfrm>
            <a:off x="2743200" y="1810512"/>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6633971" y="1732788"/>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30567" y="1691640"/>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1.88</a:t>
            </a:r>
          </a:p>
        </p:txBody>
      </p:sp>
      <p:sp>
        <p:nvSpPr>
          <p:cNvPr id="11" name="TextBox 10"/>
          <p:cNvSpPr txBox="1"/>
          <p:nvPr/>
        </p:nvSpPr>
        <p:spPr>
          <a:xfrm>
            <a:off x="365760" y="2075688"/>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Centre-pixel MLP</a:t>
            </a:r>
          </a:p>
        </p:txBody>
      </p:sp>
      <p:cxnSp>
        <p:nvCxnSpPr>
          <p:cNvPr id="12" name="Connector 11"/>
          <p:cNvCxnSpPr/>
          <p:nvPr/>
        </p:nvCxnSpPr>
        <p:spPr>
          <a:xfrm>
            <a:off x="2743200" y="2194560"/>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775703" y="2116836"/>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72299" y="2075688"/>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1.89</a:t>
            </a:r>
          </a:p>
        </p:txBody>
      </p:sp>
      <p:sp>
        <p:nvSpPr>
          <p:cNvPr id="15" name="TextBox 14"/>
          <p:cNvSpPr txBox="1"/>
          <p:nvPr/>
        </p:nvSpPr>
        <p:spPr>
          <a:xfrm>
            <a:off x="365760" y="2459736"/>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Flat-patch MLP</a:t>
            </a:r>
          </a:p>
        </p:txBody>
      </p:sp>
      <p:cxnSp>
        <p:nvCxnSpPr>
          <p:cNvPr id="16" name="Connector 15"/>
          <p:cNvCxnSpPr/>
          <p:nvPr/>
        </p:nvCxnSpPr>
        <p:spPr>
          <a:xfrm>
            <a:off x="2743200" y="2578608"/>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7626095" y="2500884"/>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22691" y="2459736"/>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1.95</a:t>
            </a:r>
          </a:p>
        </p:txBody>
      </p:sp>
      <p:cxnSp>
        <p:nvCxnSpPr>
          <p:cNvPr id="19" name="Connector 18"/>
          <p:cNvCxnSpPr/>
          <p:nvPr/>
        </p:nvCxnSpPr>
        <p:spPr>
          <a:xfrm>
            <a:off x="2743200" y="2770632"/>
            <a:ext cx="5669280" cy="0"/>
          </a:xfrm>
          <a:prstGeom prst="line">
            <a:avLst/>
          </a:prstGeom>
          <a:ln w="12700">
            <a:solidFill>
              <a:srgbClr val="B9B4C2"/>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46888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1.6</a:t>
            </a:r>
          </a:p>
        </p:txBody>
      </p:sp>
      <p:sp>
        <p:nvSpPr>
          <p:cNvPr id="21" name="TextBox 20"/>
          <p:cNvSpPr txBox="1"/>
          <p:nvPr/>
        </p:nvSpPr>
        <p:spPr>
          <a:xfrm>
            <a:off x="3886199"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1.7</a:t>
            </a:r>
          </a:p>
        </p:txBody>
      </p:sp>
      <p:sp>
        <p:nvSpPr>
          <p:cNvPr id="22" name="TextBox 21"/>
          <p:cNvSpPr txBox="1"/>
          <p:nvPr/>
        </p:nvSpPr>
        <p:spPr>
          <a:xfrm>
            <a:off x="530352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1.8</a:t>
            </a:r>
          </a:p>
        </p:txBody>
      </p:sp>
      <p:sp>
        <p:nvSpPr>
          <p:cNvPr id="23" name="TextBox 22"/>
          <p:cNvSpPr txBox="1"/>
          <p:nvPr/>
        </p:nvSpPr>
        <p:spPr>
          <a:xfrm>
            <a:off x="6720839"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1.9</a:t>
            </a:r>
          </a:p>
        </p:txBody>
      </p:sp>
      <p:sp>
        <p:nvSpPr>
          <p:cNvPr id="24" name="TextBox 23"/>
          <p:cNvSpPr txBox="1"/>
          <p:nvPr/>
        </p:nvSpPr>
        <p:spPr>
          <a:xfrm>
            <a:off x="813816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2.0</a:t>
            </a:r>
          </a:p>
        </p:txBody>
      </p:sp>
      <p:cxnSp>
        <p:nvCxnSpPr>
          <p:cNvPr id="25" name="Connector 24"/>
          <p:cNvCxnSpPr/>
          <p:nvPr/>
        </p:nvCxnSpPr>
        <p:spPr>
          <a:xfrm>
            <a:off x="5436108" y="1143000"/>
            <a:ext cx="0" cy="1627632"/>
          </a:xfrm>
          <a:prstGeom prst="line">
            <a:avLst/>
          </a:prstGeom>
          <a:ln w="15875">
            <a:solidFill>
              <a:srgbClr val="333333"/>
            </a:solidFill>
            <a:prstDash val="dash"/>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978908" y="886968"/>
            <a:ext cx="914400" cy="237744"/>
          </a:xfrm>
          <a:prstGeom prst="rect">
            <a:avLst/>
          </a:prstGeom>
          <a:noFill/>
        </p:spPr>
        <p:txBody>
          <a:bodyPr wrap="square" anchor="t" lIns="0" rIns="0" tIns="0" bIns="0">
            <a:spAutoFit/>
          </a:bodyPr>
          <a:lstStyle/>
          <a:p>
            <a:pPr algn="ctr">
              <a:spcAft>
                <a:spcPts val="600"/>
              </a:spcAft>
            </a:pPr>
            <a:r>
              <a:rPr sz="1100" b="1" i="0">
                <a:solidFill>
                  <a:srgbClr val="333333"/>
                </a:solidFill>
              </a:rPr>
              <a:t>BP 1.79</a:t>
            </a:r>
          </a:p>
        </p:txBody>
      </p:sp>
      <p:sp>
        <p:nvSpPr>
          <p:cNvPr id="27" name="TextBox 26"/>
          <p:cNvSpPr txBox="1"/>
          <p:nvPr/>
        </p:nvSpPr>
        <p:spPr>
          <a:xfrm>
            <a:off x="2743200" y="3026664"/>
            <a:ext cx="5669280" cy="274320"/>
          </a:xfrm>
          <a:prstGeom prst="rect">
            <a:avLst/>
          </a:prstGeom>
          <a:noFill/>
        </p:spPr>
        <p:txBody>
          <a:bodyPr wrap="square" anchor="t" lIns="0" rIns="0" tIns="0" bIns="0">
            <a:spAutoFit/>
          </a:bodyPr>
          <a:lstStyle/>
          <a:p>
            <a:pPr algn="l">
              <a:spcAft>
                <a:spcPts val="0"/>
              </a:spcAft>
            </a:pPr>
            <a:r>
              <a:rPr sz="950" b="0" i="1">
                <a:solidFill>
                  <a:srgbClr val="6B6B6B"/>
                </a:solidFill>
              </a:rPr>
              <a:t>Effective number of active basis weights, mean over 4 images (lower = sparser).</a:t>
            </a:r>
          </a:p>
        </p:txBody>
      </p:sp>
      <p:sp>
        <p:nvSpPr>
          <p:cNvPr id="28" name="TextBox 27"/>
          <p:cNvSpPr txBox="1"/>
          <p:nvPr/>
        </p:nvSpPr>
        <p:spPr>
          <a:xfrm>
            <a:off x="365760" y="3246120"/>
            <a:ext cx="8412480" cy="1097280"/>
          </a:xfrm>
          <a:prstGeom prst="rect">
            <a:avLst/>
          </a:prstGeom>
          <a:noFill/>
        </p:spPr>
        <p:txBody>
          <a:bodyPr wrap="square" anchor="t" lIns="0" rIns="0" tIns="0" bIns="0">
            <a:spAutoFit/>
          </a:bodyPr>
          <a:lstStyle/>
          <a:p>
            <a:pPr algn="l" marL="182880" indent="-182880">
              <a:spcAft>
                <a:spcPts val="500"/>
              </a:spcAft>
              <a:buClr>
                <a:srgbClr val="333333"/>
              </a:buClr>
              <a:buChar char="•"/>
            </a:pPr>
            <a:r>
              <a:rPr sz="1250" b="0" i="0">
                <a:solidFill>
                  <a:srgbClr val="333333"/>
                </a:solidFill>
              </a:rPr>
              <a:t>Four variants at ~1.45M params, same BP loss, same 4 images.</a:t>
            </a:r>
          </a:p>
          <a:p>
            <a:pPr algn="l" marL="182880" indent="-182880">
              <a:spcAft>
                <a:spcPts val="500"/>
              </a:spcAft>
              <a:buClr>
                <a:srgbClr val="333333"/>
              </a:buClr>
              <a:buChar char="•"/>
            </a:pPr>
            <a:r>
              <a:rPr sz="1250" b="0" i="0">
                <a:solidFill>
                  <a:srgbClr val="333333"/>
                </a:solidFill>
              </a:rPr>
              <a:t>Size, not neighbours, closed the gap: DEM error vs BP 0.042 for the 1.43M centre-pixel MLP, 0.047 for the patch CNN, 0.078 for the first MLP.</a:t>
            </a:r>
          </a:p>
          <a:p>
            <a:pPr algn="l" marL="182880" indent="-182880">
              <a:spcAft>
                <a:spcPts val="500"/>
              </a:spcAft>
              <a:buClr>
                <a:srgbClr val="333333"/>
              </a:buClr>
              <a:buChar char="•"/>
            </a:pPr>
            <a:r>
              <a:rPr sz="1250" b="0" i="0">
                <a:solidFill>
                  <a:srgbClr val="333333"/>
                </a:solidFill>
              </a:rPr>
              <a:t>The patch CNN was sparsest, but measured on held-out pixels of the training images.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On unseen days, the patch CNN's edge disappeared</a:t>
            </a:r>
          </a:p>
        </p:txBody>
      </p:sp>
      <p:sp>
        <p:nvSpPr>
          <p:cNvPr id="3" name="TextBox 2"/>
          <p:cNvSpPr txBox="1"/>
          <p:nvPr/>
        </p:nvSpPr>
        <p:spPr>
          <a:xfrm>
            <a:off x="365760" y="914400"/>
            <a:ext cx="4937760" cy="3383280"/>
          </a:xfrm>
          <a:prstGeom prst="rect">
            <a:avLst/>
          </a:prstGeom>
          <a:noFill/>
        </p:spPr>
        <p:txBody>
          <a:bodyPr wrap="square" anchor="t" lIns="0" rIns="0" tIns="0" bIns="0">
            <a:spAutoFit/>
          </a:bodyPr>
          <a:lstStyle/>
          <a:p>
            <a:pPr algn="l" marL="182880" indent="-182880">
              <a:spcAft>
                <a:spcPts val="900"/>
              </a:spcAft>
              <a:buClr>
                <a:srgbClr val="333333"/>
              </a:buClr>
              <a:buChar char="•"/>
            </a:pPr>
            <a:r>
              <a:rPr sz="1250" b="0" i="0">
                <a:solidFill>
                  <a:srgbClr val="333333"/>
                </a:solidFill>
              </a:rPr>
              <a:t>Leave one image out: train on 3, test on the 4th; patch CNN and centre-pixel MLP, 4 folds.</a:t>
            </a:r>
          </a:p>
          <a:p>
            <a:pPr algn="l" marL="182880" indent="-182880">
              <a:spcAft>
                <a:spcPts val="900"/>
              </a:spcAft>
              <a:buClr>
                <a:srgbClr val="333333"/>
              </a:buClr>
              <a:buChar char="•"/>
            </a:pPr>
            <a:r>
              <a:rPr sz="1250" b="0" i="0">
                <a:solidFill>
                  <a:srgbClr val="333333"/>
                </a:solidFill>
              </a:rPr>
              <a:t>Neither is consistently closer to BP's sparsity on the unseen image; the MLP fits AIA better on 3 of 4.</a:t>
            </a:r>
          </a:p>
          <a:p>
            <a:pPr algn="l" marL="182880" indent="-182880">
              <a:spcAft>
                <a:spcPts val="900"/>
              </a:spcAft>
              <a:buClr>
                <a:srgbClr val="333333"/>
              </a:buClr>
              <a:buChar char="•"/>
            </a:pPr>
            <a:r>
              <a:rPr sz="1250" b="0" i="0">
                <a:solidFill>
                  <a:srgbClr val="333333"/>
                </a:solidFill>
              </a:rPr>
              <a:t>Little overfitting (held-out within ±0.2 of in-sample on 3 folds), except the X1.6 flare: peaks too cool (logT ~6.1 vs BP ~6.4), with one other flare image in training.</a:t>
            </a:r>
          </a:p>
          <a:p>
            <a:pPr algn="l" marL="182880" indent="-182880">
              <a:spcAft>
                <a:spcPts val="900"/>
              </a:spcAft>
              <a:buClr>
                <a:srgbClr val="333333"/>
              </a:buClr>
              <a:buChar char="•"/>
            </a:pPr>
            <a:r>
              <a:rPr sz="1250" b="1" i="0">
                <a:solidFill>
                  <a:srgbClr val="57068C"/>
                </a:solidFill>
              </a:rPr>
              <a:t>Carry the simpler centre-pixel MLP forward, and get more flare data → scaling.</a:t>
            </a:r>
          </a:p>
        </p:txBody>
      </p:sp>
      <p:pic>
        <p:nvPicPr>
          <p:cNvPr id="4" name="Picture 3" descr="loo_flare.png"/>
          <p:cNvPicPr>
            <a:picLocks noChangeAspect="1"/>
          </p:cNvPicPr>
          <p:nvPr/>
        </p:nvPicPr>
        <p:blipFill>
          <a:blip r:embed="rId3"/>
          <a:stretch>
            <a:fillRect/>
          </a:stretch>
        </p:blipFill>
        <p:spPr>
          <a:xfrm>
            <a:off x="5486400" y="827579"/>
            <a:ext cx="3291840" cy="3282601"/>
          </a:xfrm>
          <a:prstGeom prst="rect">
            <a:avLst/>
          </a:prstGeom>
        </p:spPr>
      </p:pic>
      <p:sp>
        <p:nvSpPr>
          <p:cNvPr id="5" name="TextBox 4"/>
          <p:cNvSpPr txBox="1"/>
          <p:nvPr/>
        </p:nvSpPr>
        <p:spPr>
          <a:xfrm>
            <a:off x="5486400" y="4114800"/>
            <a:ext cx="3291840" cy="274320"/>
          </a:xfrm>
          <a:prstGeom prst="rect">
            <a:avLst/>
          </a:prstGeom>
          <a:noFill/>
        </p:spPr>
        <p:txBody>
          <a:bodyPr wrap="square" anchor="t" lIns="0" rIns="0" tIns="0" bIns="0">
            <a:spAutoFit/>
          </a:bodyPr>
          <a:lstStyle/>
          <a:p>
            <a:pPr algn="l">
              <a:spcAft>
                <a:spcPts val="0"/>
              </a:spcAft>
            </a:pPr>
            <a:r>
              <a:rPr sz="950" b="0" i="1">
                <a:solidFill>
                  <a:srgbClr val="6B6B6B"/>
                </a:solidFill>
              </a:rPr>
              <a:t>Held-out X1.6 flare image: CNN and MLP (dashed) vs BP.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4</a:t>
            </a:r>
            <a:br/>
            <a:r>
              <a:rPr sz="4100"/>
              <a:t>Scaling to the full dataset</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What broke at full scale, and how we score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first full-disk runs collapsed to an all-zero DEM</a:t>
            </a:r>
          </a:p>
        </p:txBody>
      </p:sp>
      <p:sp>
        <p:nvSpPr>
          <p:cNvPr id="3" name="TextBox 2"/>
          <p:cNvSpPr txBox="1"/>
          <p:nvPr/>
        </p:nvSpPr>
        <p:spPr>
          <a:xfrm>
            <a:off x="365760" y="914400"/>
            <a:ext cx="5212080" cy="3383280"/>
          </a:xfrm>
          <a:prstGeom prst="rect">
            <a:avLst/>
          </a:prstGeom>
          <a:noFill/>
        </p:spPr>
        <p:txBody>
          <a:bodyPr wrap="square" anchor="t" lIns="0" rIns="0" tIns="0" bIns="0">
            <a:spAutoFit/>
          </a:bodyPr>
          <a:lstStyle/>
          <a:p>
            <a:pPr algn="l" marL="182880" indent="-182880">
              <a:spcAft>
                <a:spcPts val="900"/>
              </a:spcAft>
              <a:buClr>
                <a:srgbClr val="333333"/>
              </a:buClr>
              <a:buChar char="•"/>
            </a:pPr>
            <a:r>
              <a:rPr sz="1250" b="0" i="0">
                <a:solidFill>
                  <a:srgbClr val="333333"/>
                </a:solidFill>
              </a:rPr>
              <a:t>Full-disk intensities span ~7 decades (10⁻³ off-limb to 10⁴ in flare cores); the small crops spanned about one.</a:t>
            </a:r>
          </a:p>
          <a:p>
            <a:pPr algn="l" marL="182880" indent="-182880">
              <a:spcAft>
                <a:spcPts val="900"/>
              </a:spcAft>
              <a:buClr>
                <a:srgbClr val="333333"/>
              </a:buClr>
              <a:buChar char="•"/>
            </a:pPr>
            <a:r>
              <a:rPr sz="1250" b="0" i="0">
                <a:solidFill>
                  <a:srgbClr val="333333"/>
                </a:solidFill>
              </a:rPr>
              <a:t>Fed raw, the untrained network predicted AIA ~7× outside the noise band: loss 5×10¹³ at step 0. The output softplus underflowed, its gradient became exactly zero, and every pixel predicted zero.</a:t>
            </a:r>
          </a:p>
          <a:p>
            <a:pPr algn="l" marL="182880" indent="-182880">
              <a:spcAft>
                <a:spcPts val="900"/>
              </a:spcAft>
              <a:buClr>
                <a:srgbClr val="333333"/>
              </a:buClr>
              <a:buChar char="•"/>
            </a:pPr>
            <a:r>
              <a:rPr sz="1250" b="0" i="0">
                <a:solidFill>
                  <a:srgbClr val="333333"/>
                </a:solidFill>
              </a:rPr>
              <a:t>Fix: log1p on the input only (loss and metrics stay in physical units), learning-rate warmup, a clamped softplus whose gradient cannot vanish, and a guard that stops a run whose loss freezes.</a:t>
            </a:r>
          </a:p>
          <a:p>
            <a:pPr algn="l" marL="182880" indent="-182880">
              <a:spcAft>
                <a:spcPts val="900"/>
              </a:spcAft>
              <a:buClr>
                <a:srgbClr val="333333"/>
              </a:buClr>
              <a:buChar char="•"/>
            </a:pPr>
            <a:r>
              <a:rPr sz="1250" b="1" i="0">
                <a:solidFill>
                  <a:srgbClr val="57068C"/>
                </a:solidFill>
              </a:rPr>
              <a:t>A 64-block smoke test could not catch it: it never drew a flare pixel.</a:t>
            </a:r>
          </a:p>
        </p:txBody>
      </p:sp>
      <p:sp>
        <p:nvSpPr>
          <p:cNvPr id="4" name="Rounded Rectangle 3"/>
          <p:cNvSpPr/>
          <p:nvPr/>
        </p:nvSpPr>
        <p:spPr>
          <a:xfrm>
            <a:off x="6035040" y="1097280"/>
            <a:ext cx="2651760" cy="7315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Raw intensity</a:t>
            </a:r>
          </a:p>
          <a:p>
            <a:pPr algn="ctr"/>
            <a:r>
              <a:rPr sz="1100">
                <a:solidFill>
                  <a:srgbClr val="333333"/>
                </a:solidFill>
              </a:rPr>
              <a:t>10⁻³ … 10⁴</a:t>
            </a:r>
          </a:p>
        </p:txBody>
      </p:sp>
      <p:sp>
        <p:nvSpPr>
          <p:cNvPr id="5" name="Rounded Rectangle 4"/>
          <p:cNvSpPr/>
          <p:nvPr/>
        </p:nvSpPr>
        <p:spPr>
          <a:xfrm>
            <a:off x="6035040" y="2194560"/>
            <a:ext cx="2651760" cy="73152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FFFFFF"/>
                </a:solidFill>
              </a:rPr>
              <a:t>log1p</a:t>
            </a:r>
          </a:p>
          <a:p>
            <a:pPr algn="ctr"/>
            <a:r>
              <a:rPr sz="1100">
                <a:solidFill>
                  <a:srgbClr val="FFFFFF"/>
                </a:solidFill>
              </a:rPr>
              <a:t>input only</a:t>
            </a:r>
          </a:p>
        </p:txBody>
      </p:sp>
      <p:cxnSp>
        <p:nvCxnSpPr>
          <p:cNvPr id="6" name="Connector 5"/>
          <p:cNvCxnSpPr/>
          <p:nvPr/>
        </p:nvCxnSpPr>
        <p:spPr>
          <a:xfrm>
            <a:off x="7360920" y="1828800"/>
            <a:ext cx="0" cy="36576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035040" y="3291840"/>
            <a:ext cx="2651760" cy="7315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Network input</a:t>
            </a:r>
          </a:p>
          <a:p>
            <a:pPr algn="ctr"/>
            <a:r>
              <a:rPr sz="1100">
                <a:solidFill>
                  <a:srgbClr val="333333"/>
                </a:solidFill>
              </a:rPr>
              <a:t>0 … 9.2</a:t>
            </a:r>
          </a:p>
        </p:txBody>
      </p:sp>
      <p:cxnSp>
        <p:nvCxnSpPr>
          <p:cNvPr id="8" name="Connector 7"/>
          <p:cNvCxnSpPr/>
          <p:nvPr/>
        </p:nvCxnSpPr>
        <p:spPr>
          <a:xfrm>
            <a:off x="7360920" y="2926080"/>
            <a:ext cx="0" cy="36576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How we score at scale</a:t>
            </a:r>
          </a:p>
        </p:txBody>
      </p:sp>
      <p:sp>
        <p:nvSpPr>
          <p:cNvPr id="3" name="TextBox 2"/>
          <p:cNvSpPr txBox="1"/>
          <p:nvPr/>
        </p:nvSpPr>
        <p:spPr>
          <a:xfrm>
            <a:off x="365760" y="914400"/>
            <a:ext cx="5120640" cy="3474720"/>
          </a:xfrm>
          <a:prstGeom prst="rect">
            <a:avLst/>
          </a:prstGeom>
          <a:noFill/>
        </p:spPr>
        <p:txBody>
          <a:bodyPr wrap="square" anchor="t" lIns="0" rIns="0" tIns="0" bIns="0">
            <a:spAutoFit/>
          </a:bodyPr>
          <a:lstStyle/>
          <a:p>
            <a:pPr algn="l" marL="182880" indent="-182880">
              <a:spcAft>
                <a:spcPts val="900"/>
              </a:spcAft>
              <a:buClr>
                <a:srgbClr val="333333"/>
              </a:buClr>
              <a:buChar char="•"/>
            </a:pPr>
            <a:r>
              <a:rPr sz="1200" b="0" i="0">
                <a:solidFill>
                  <a:srgbClr val="333333"/>
                </a:solidFill>
              </a:rPr>
              <a:t>153 test days, never seen in training; each scored on random quarters of the image against 5 solver targets (the clean solve and 4 noisy re-solves).</a:t>
            </a:r>
          </a:p>
          <a:p>
            <a:pPr algn="l" marL="182880" indent="-182880">
              <a:spcAft>
                <a:spcPts val="900"/>
              </a:spcAft>
              <a:buClr>
                <a:srgbClr val="333333"/>
              </a:buClr>
              <a:buChar char="•"/>
            </a:pPr>
            <a:r>
              <a:rPr sz="1200" b="0" i="0">
                <a:solidFill>
                  <a:srgbClr val="333333"/>
                </a:solidFill>
              </a:rPr>
              <a:t>Bright = any channel above its top-5% cutoff (~10% of pixels); the rest is Quiet.</a:t>
            </a:r>
          </a:p>
          <a:p>
            <a:pPr algn="l" marL="182880" indent="-182880">
              <a:spcAft>
                <a:spcPts val="900"/>
              </a:spcAft>
              <a:buClr>
                <a:srgbClr val="333333"/>
              </a:buClr>
              <a:buChar char="•"/>
            </a:pPr>
            <a:r>
              <a:rPr sz="1200" b="0" i="0">
                <a:solidFill>
                  <a:srgbClr val="333333"/>
                </a:solidFill>
              </a:rPr>
              <a:t>DEM against the solver: MSE, total-emission error, W1 (temperature-shape distance). AIA reconstruction against the observation: MAE, MSE.</a:t>
            </a:r>
          </a:p>
          <a:p>
            <a:pPr algn="l" marL="182880" indent="-182880">
              <a:spcAft>
                <a:spcPts val="900"/>
              </a:spcAft>
              <a:buClr>
                <a:srgbClr val="333333"/>
              </a:buClr>
              <a:buChar char="•"/>
            </a:pPr>
            <a:r>
              <a:rPr sz="1200" b="0" i="0">
                <a:solidFill>
                  <a:srgbClr val="333333"/>
                </a:solidFill>
              </a:rPr>
              <a:t>We also report medians and percentiles: the error is extremely heavy-tailed. For our final BP model, the worst 1% of pixels hold 98% of the DEM error, and the flare cores (0.01% of pixels, 1 in 10,000) alone hold 90%.</a:t>
            </a:r>
          </a:p>
        </p:txBody>
      </p:sp>
      <p:sp>
        <p:nvSpPr>
          <p:cNvPr id="4" name="Rectangle 3"/>
          <p:cNvSpPr/>
          <p:nvPr/>
        </p:nvSpPr>
        <p:spPr>
          <a:xfrm>
            <a:off x="5806440" y="96012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61888"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17336"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72784"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28232"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0"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739128" y="96012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94576" y="96012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050024"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05472"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60920" y="96012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516368"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671816"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27264"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82712"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806440"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961888"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17336"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72784"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28232"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0"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9128"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894576"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050024"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05472"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60920"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516368"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671816"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827264"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982712"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38160"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06440"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961888"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17336"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272784"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28232"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0"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739128"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894576"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050024"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205472"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360920"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516368"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671816"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827264"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982712"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138160"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806440"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961888"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117336"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272784"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428232"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583680"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739128" y="142646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894576"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050024"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7205472"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360920"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7516368" y="142646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671816"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7827264"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7982712"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8138160" y="142646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806440"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61888"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117336"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6272784"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428232"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583680"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739128"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894576"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7050024"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7205472"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7360920"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7516368"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7671816"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7827264"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7982712"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8138160"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5806440"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5961888"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117336"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272784"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6428232"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583680"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739128"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6894576"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7050024"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7205472"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7360920"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7516368"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7671816"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7827264"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7982712"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8138160"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5806440" y="189280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961888"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6117336" y="189280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272784"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6428232"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583680"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6739128"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6894576"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7050024"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7205472"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7360920"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7516368"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7671816"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7827264"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7982712"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8138160" y="189280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5806440"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5961888"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6117336"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6272784" y="204825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428232" y="204825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6583680"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6739128" y="204825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6894576"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7050024"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7205472"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7360920"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516368"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7671816"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7827264"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7982712"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8138160" y="204825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5806440"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5961888" y="220370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6117336"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6272784" y="220370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6428232"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6583680"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6739128"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6894576"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7050024"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7205472"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360920"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7516368"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7671816"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7827264"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7982712" y="220370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8138160"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5806440"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5961888"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6117336"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6272784"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6428232"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6583680"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6739128"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6894576"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7050024"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7205472"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7360920"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7516368"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7671816"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7827264"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ectangle 161"/>
          <p:cNvSpPr/>
          <p:nvPr/>
        </p:nvSpPr>
        <p:spPr>
          <a:xfrm>
            <a:off x="7982712"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ectangle 162"/>
          <p:cNvSpPr/>
          <p:nvPr/>
        </p:nvSpPr>
        <p:spPr>
          <a:xfrm>
            <a:off x="8138160"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5806440"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5961888"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6117336"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Rectangle 166"/>
          <p:cNvSpPr/>
          <p:nvPr/>
        </p:nvSpPr>
        <p:spPr>
          <a:xfrm>
            <a:off x="6272784"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ectangle 167"/>
          <p:cNvSpPr/>
          <p:nvPr/>
        </p:nvSpPr>
        <p:spPr>
          <a:xfrm>
            <a:off x="6428232"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ectangle 168"/>
          <p:cNvSpPr/>
          <p:nvPr/>
        </p:nvSpPr>
        <p:spPr>
          <a:xfrm>
            <a:off x="6583680"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6739128"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6894576"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ectangle 171"/>
          <p:cNvSpPr/>
          <p:nvPr/>
        </p:nvSpPr>
        <p:spPr>
          <a:xfrm>
            <a:off x="7050024"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7205472"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7360920"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Rectangle 174"/>
          <p:cNvSpPr/>
          <p:nvPr/>
        </p:nvSpPr>
        <p:spPr>
          <a:xfrm>
            <a:off x="7516368"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ectangle 175"/>
          <p:cNvSpPr/>
          <p:nvPr/>
        </p:nvSpPr>
        <p:spPr>
          <a:xfrm>
            <a:off x="7671816"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Rectangle 176"/>
          <p:cNvSpPr/>
          <p:nvPr/>
        </p:nvSpPr>
        <p:spPr>
          <a:xfrm>
            <a:off x="7827264"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ectangle 177"/>
          <p:cNvSpPr/>
          <p:nvPr/>
        </p:nvSpPr>
        <p:spPr>
          <a:xfrm>
            <a:off x="7982712"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Rectangle 178"/>
          <p:cNvSpPr/>
          <p:nvPr/>
        </p:nvSpPr>
        <p:spPr>
          <a:xfrm>
            <a:off x="8138160"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ectangle 179"/>
          <p:cNvSpPr/>
          <p:nvPr/>
        </p:nvSpPr>
        <p:spPr>
          <a:xfrm>
            <a:off x="5806440" y="267004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ectangle 180"/>
          <p:cNvSpPr/>
          <p:nvPr/>
        </p:nvSpPr>
        <p:spPr>
          <a:xfrm>
            <a:off x="5961888"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6117336" y="267004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Rectangle 182"/>
          <p:cNvSpPr/>
          <p:nvPr/>
        </p:nvSpPr>
        <p:spPr>
          <a:xfrm>
            <a:off x="6272784"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Rectangle 183"/>
          <p:cNvSpPr/>
          <p:nvPr/>
        </p:nvSpPr>
        <p:spPr>
          <a:xfrm>
            <a:off x="6428232"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Rectangle 184"/>
          <p:cNvSpPr/>
          <p:nvPr/>
        </p:nvSpPr>
        <p:spPr>
          <a:xfrm>
            <a:off x="6583680"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6739128"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Rectangle 186"/>
          <p:cNvSpPr/>
          <p:nvPr/>
        </p:nvSpPr>
        <p:spPr>
          <a:xfrm>
            <a:off x="6894576"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7050024"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Rectangle 188"/>
          <p:cNvSpPr/>
          <p:nvPr/>
        </p:nvSpPr>
        <p:spPr>
          <a:xfrm>
            <a:off x="7205472"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Rectangle 189"/>
          <p:cNvSpPr/>
          <p:nvPr/>
        </p:nvSpPr>
        <p:spPr>
          <a:xfrm>
            <a:off x="7360920"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Rectangle 190"/>
          <p:cNvSpPr/>
          <p:nvPr/>
        </p:nvSpPr>
        <p:spPr>
          <a:xfrm>
            <a:off x="7516368"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Rectangle 191"/>
          <p:cNvSpPr/>
          <p:nvPr/>
        </p:nvSpPr>
        <p:spPr>
          <a:xfrm>
            <a:off x="7671816"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Rectangle 192"/>
          <p:cNvSpPr/>
          <p:nvPr/>
        </p:nvSpPr>
        <p:spPr>
          <a:xfrm>
            <a:off x="7827264"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Rectangle 193"/>
          <p:cNvSpPr/>
          <p:nvPr/>
        </p:nvSpPr>
        <p:spPr>
          <a:xfrm>
            <a:off x="7982712" y="267004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Rectangle 194"/>
          <p:cNvSpPr/>
          <p:nvPr/>
        </p:nvSpPr>
        <p:spPr>
          <a:xfrm>
            <a:off x="8138160" y="267004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ectangle 195"/>
          <p:cNvSpPr/>
          <p:nvPr/>
        </p:nvSpPr>
        <p:spPr>
          <a:xfrm>
            <a:off x="5806440"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5961888"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6117336"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6272784"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Rectangle 199"/>
          <p:cNvSpPr/>
          <p:nvPr/>
        </p:nvSpPr>
        <p:spPr>
          <a:xfrm>
            <a:off x="6428232"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ectangle 200"/>
          <p:cNvSpPr/>
          <p:nvPr/>
        </p:nvSpPr>
        <p:spPr>
          <a:xfrm>
            <a:off x="6583680"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Rectangle 201"/>
          <p:cNvSpPr/>
          <p:nvPr/>
        </p:nvSpPr>
        <p:spPr>
          <a:xfrm>
            <a:off x="6739128"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ectangle 202"/>
          <p:cNvSpPr/>
          <p:nvPr/>
        </p:nvSpPr>
        <p:spPr>
          <a:xfrm>
            <a:off x="6894576"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ectangle 203"/>
          <p:cNvSpPr/>
          <p:nvPr/>
        </p:nvSpPr>
        <p:spPr>
          <a:xfrm>
            <a:off x="7050024" y="282549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ectangle 204"/>
          <p:cNvSpPr/>
          <p:nvPr/>
        </p:nvSpPr>
        <p:spPr>
          <a:xfrm>
            <a:off x="7205472"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Rectangle 205"/>
          <p:cNvSpPr/>
          <p:nvPr/>
        </p:nvSpPr>
        <p:spPr>
          <a:xfrm>
            <a:off x="7360920"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Rectangle 206"/>
          <p:cNvSpPr/>
          <p:nvPr/>
        </p:nvSpPr>
        <p:spPr>
          <a:xfrm>
            <a:off x="7516368"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Rectangle 207"/>
          <p:cNvSpPr/>
          <p:nvPr/>
        </p:nvSpPr>
        <p:spPr>
          <a:xfrm>
            <a:off x="7671816"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ectangle 208"/>
          <p:cNvSpPr/>
          <p:nvPr/>
        </p:nvSpPr>
        <p:spPr>
          <a:xfrm>
            <a:off x="7827264"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7982712"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Rectangle 210"/>
          <p:cNvSpPr/>
          <p:nvPr/>
        </p:nvSpPr>
        <p:spPr>
          <a:xfrm>
            <a:off x="8138160"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Rectangle 211"/>
          <p:cNvSpPr/>
          <p:nvPr/>
        </p:nvSpPr>
        <p:spPr>
          <a:xfrm>
            <a:off x="5806440"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Rectangle 212"/>
          <p:cNvSpPr/>
          <p:nvPr/>
        </p:nvSpPr>
        <p:spPr>
          <a:xfrm>
            <a:off x="5961888"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Rectangle 213"/>
          <p:cNvSpPr/>
          <p:nvPr/>
        </p:nvSpPr>
        <p:spPr>
          <a:xfrm>
            <a:off x="6117336"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Rectangle 214"/>
          <p:cNvSpPr/>
          <p:nvPr/>
        </p:nvSpPr>
        <p:spPr>
          <a:xfrm>
            <a:off x="6272784"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Rectangle 215"/>
          <p:cNvSpPr/>
          <p:nvPr/>
        </p:nvSpPr>
        <p:spPr>
          <a:xfrm>
            <a:off x="6428232"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Rectangle 216"/>
          <p:cNvSpPr/>
          <p:nvPr/>
        </p:nvSpPr>
        <p:spPr>
          <a:xfrm>
            <a:off x="6583680"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Rectangle 217"/>
          <p:cNvSpPr/>
          <p:nvPr/>
        </p:nvSpPr>
        <p:spPr>
          <a:xfrm>
            <a:off x="6739128" y="298094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Rectangle 218"/>
          <p:cNvSpPr/>
          <p:nvPr/>
        </p:nvSpPr>
        <p:spPr>
          <a:xfrm>
            <a:off x="6894576" y="298094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7050024"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Rectangle 220"/>
          <p:cNvSpPr/>
          <p:nvPr/>
        </p:nvSpPr>
        <p:spPr>
          <a:xfrm>
            <a:off x="7205472"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Rectangle 221"/>
          <p:cNvSpPr/>
          <p:nvPr/>
        </p:nvSpPr>
        <p:spPr>
          <a:xfrm>
            <a:off x="7360920" y="298094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Rectangle 222"/>
          <p:cNvSpPr/>
          <p:nvPr/>
        </p:nvSpPr>
        <p:spPr>
          <a:xfrm>
            <a:off x="7516368"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Rectangle 223"/>
          <p:cNvSpPr/>
          <p:nvPr/>
        </p:nvSpPr>
        <p:spPr>
          <a:xfrm>
            <a:off x="7671816"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Rectangle 224"/>
          <p:cNvSpPr/>
          <p:nvPr/>
        </p:nvSpPr>
        <p:spPr>
          <a:xfrm>
            <a:off x="7827264"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Rectangle 225"/>
          <p:cNvSpPr/>
          <p:nvPr/>
        </p:nvSpPr>
        <p:spPr>
          <a:xfrm>
            <a:off x="7982712"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8138160" y="298094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5806440"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ectangle 228"/>
          <p:cNvSpPr/>
          <p:nvPr/>
        </p:nvSpPr>
        <p:spPr>
          <a:xfrm>
            <a:off x="5961888"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Rectangle 229"/>
          <p:cNvSpPr/>
          <p:nvPr/>
        </p:nvSpPr>
        <p:spPr>
          <a:xfrm>
            <a:off x="6117336"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Rectangle 230"/>
          <p:cNvSpPr/>
          <p:nvPr/>
        </p:nvSpPr>
        <p:spPr>
          <a:xfrm>
            <a:off x="6272784"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6428232"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6583680" y="313639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Rectangle 233"/>
          <p:cNvSpPr/>
          <p:nvPr/>
        </p:nvSpPr>
        <p:spPr>
          <a:xfrm>
            <a:off x="6739128"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Rectangle 234"/>
          <p:cNvSpPr/>
          <p:nvPr/>
        </p:nvSpPr>
        <p:spPr>
          <a:xfrm>
            <a:off x="6894576" y="313639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Rectangle 235"/>
          <p:cNvSpPr/>
          <p:nvPr/>
        </p:nvSpPr>
        <p:spPr>
          <a:xfrm>
            <a:off x="7050024"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7205472"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7360920"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ectangle 238"/>
          <p:cNvSpPr/>
          <p:nvPr/>
        </p:nvSpPr>
        <p:spPr>
          <a:xfrm>
            <a:off x="7516368"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Rectangle 239"/>
          <p:cNvSpPr/>
          <p:nvPr/>
        </p:nvSpPr>
        <p:spPr>
          <a:xfrm>
            <a:off x="7671816"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Rectangle 240"/>
          <p:cNvSpPr/>
          <p:nvPr/>
        </p:nvSpPr>
        <p:spPr>
          <a:xfrm>
            <a:off x="7827264"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ectangle 241"/>
          <p:cNvSpPr/>
          <p:nvPr/>
        </p:nvSpPr>
        <p:spPr>
          <a:xfrm>
            <a:off x="7982712" y="313639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Rectangle 242"/>
          <p:cNvSpPr/>
          <p:nvPr/>
        </p:nvSpPr>
        <p:spPr>
          <a:xfrm>
            <a:off x="8138160"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ectangle 243"/>
          <p:cNvSpPr/>
          <p:nvPr/>
        </p:nvSpPr>
        <p:spPr>
          <a:xfrm>
            <a:off x="5806440"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Rectangle 244"/>
          <p:cNvSpPr/>
          <p:nvPr/>
        </p:nvSpPr>
        <p:spPr>
          <a:xfrm>
            <a:off x="5961888"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Rectangle 245"/>
          <p:cNvSpPr/>
          <p:nvPr/>
        </p:nvSpPr>
        <p:spPr>
          <a:xfrm>
            <a:off x="6117336"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6272784"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Rectangle 247"/>
          <p:cNvSpPr/>
          <p:nvPr/>
        </p:nvSpPr>
        <p:spPr>
          <a:xfrm>
            <a:off x="6428232"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Rectangle 248"/>
          <p:cNvSpPr/>
          <p:nvPr/>
        </p:nvSpPr>
        <p:spPr>
          <a:xfrm>
            <a:off x="6583680"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Rectangle 249"/>
          <p:cNvSpPr/>
          <p:nvPr/>
        </p:nvSpPr>
        <p:spPr>
          <a:xfrm>
            <a:off x="6739128"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Rectangle 250"/>
          <p:cNvSpPr/>
          <p:nvPr/>
        </p:nvSpPr>
        <p:spPr>
          <a:xfrm>
            <a:off x="6894576"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7050024"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ectangle 252"/>
          <p:cNvSpPr/>
          <p:nvPr/>
        </p:nvSpPr>
        <p:spPr>
          <a:xfrm>
            <a:off x="7205472" y="329184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ectangle 253"/>
          <p:cNvSpPr/>
          <p:nvPr/>
        </p:nvSpPr>
        <p:spPr>
          <a:xfrm>
            <a:off x="7360920"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Rectangle 254"/>
          <p:cNvSpPr/>
          <p:nvPr/>
        </p:nvSpPr>
        <p:spPr>
          <a:xfrm>
            <a:off x="7516368"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Rectangle 255"/>
          <p:cNvSpPr/>
          <p:nvPr/>
        </p:nvSpPr>
        <p:spPr>
          <a:xfrm>
            <a:off x="7671816"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Rectangle 256"/>
          <p:cNvSpPr/>
          <p:nvPr/>
        </p:nvSpPr>
        <p:spPr>
          <a:xfrm>
            <a:off x="7827264"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7982712" y="329184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Rectangle 258"/>
          <p:cNvSpPr/>
          <p:nvPr/>
        </p:nvSpPr>
        <p:spPr>
          <a:xfrm>
            <a:off x="8138160"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TextBox 259"/>
          <p:cNvSpPr txBox="1"/>
          <p:nvPr/>
        </p:nvSpPr>
        <p:spPr>
          <a:xfrm>
            <a:off x="5806440" y="3520440"/>
            <a:ext cx="2487168" cy="822960"/>
          </a:xfrm>
          <a:prstGeom prst="rect">
            <a:avLst/>
          </a:prstGeom>
          <a:noFill/>
        </p:spPr>
        <p:txBody>
          <a:bodyPr wrap="square" anchor="t" lIns="0" rIns="0" tIns="0" bIns="0">
            <a:spAutoFit/>
          </a:bodyPr>
          <a:lstStyle/>
          <a:p>
            <a:pPr algn="l">
              <a:spcAft>
                <a:spcPts val="600"/>
              </a:spcAft>
            </a:pPr>
            <a:r>
              <a:rPr sz="950" b="1" i="0">
                <a:solidFill>
                  <a:srgbClr val="57068C"/>
                </a:solidFill>
              </a:rPr>
              <a:t>One test day: </a:t>
            </a:r>
            <a:r>
              <a:rPr sz="950" b="0" i="0">
                <a:solidFill>
                  <a:srgbClr val="333333"/>
                </a:solidFill>
              </a:rPr>
              <a:t>2048² DEM image = 256 blocks of 128². One target is scored on its own random 64 (purple). × 5 targets: the clean solve + 4 noisy re-solves.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5</a:t>
            </a:r>
            <a:br/>
            <a:r>
              <a:rPr sz="4100"/>
              <a:t>Experiments at scale</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CNN or MLP, and how big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At scale, the centre-pixel MLP beat the patch CNN</a:t>
            </a:r>
          </a:p>
        </p:txBody>
      </p:sp>
      <p:sp>
        <p:nvSpPr>
          <p:cNvPr id="3" name="TextBox 2"/>
          <p:cNvSpPr txBox="1"/>
          <p:nvPr/>
        </p:nvSpPr>
        <p:spPr>
          <a:xfrm>
            <a:off x="365760" y="914400"/>
            <a:ext cx="8412480" cy="640080"/>
          </a:xfrm>
          <a:prstGeom prst="rect">
            <a:avLst/>
          </a:prstGeom>
          <a:noFill/>
        </p:spPr>
        <p:txBody>
          <a:bodyPr wrap="square" anchor="t" lIns="0" rIns="0" tIns="0" bIns="0">
            <a:spAutoFit/>
          </a:bodyPr>
          <a:lstStyle/>
          <a:p>
            <a:pPr algn="l" marL="182880" indent="-182880">
              <a:spcAft>
                <a:spcPts val="600"/>
              </a:spcAft>
              <a:buClr>
                <a:srgbClr val="333333"/>
              </a:buClr>
              <a:buChar char="•"/>
            </a:pPr>
            <a:r>
              <a:rPr sz="1250" b="0" i="0">
                <a:solidFill>
                  <a:srgbClr val="333333"/>
                </a:solidFill>
              </a:rPr>
              <a:t>Same 917 training days and losses, matched at ~1.5M parameters each, fresh pixels; scored on the 153 test days. (The final model is smaller: next slide.)</a:t>
            </a:r>
          </a:p>
        </p:txBody>
      </p:sp>
      <p:graphicFrame>
        <p:nvGraphicFramePr>
          <p:cNvPr id="4" name="Table 3"/>
          <p:cNvGraphicFramePr>
            <a:graphicFrameLocks noGrp="1"/>
          </p:cNvGraphicFramePr>
          <p:nvPr/>
        </p:nvGraphicFramePr>
        <p:xfrm>
          <a:off x="365760" y="1417320"/>
          <a:ext cx="8412477" cy="1645920"/>
        </p:xfrm>
        <a:graphic>
          <a:graphicData uri="http://schemas.openxmlformats.org/drawingml/2006/table">
            <a:tbl>
              <a:tblPr firstRow="1" bandRow="1"/>
              <a:tblGrid>
                <a:gridCol w="2877953"/>
                <a:gridCol w="1438976"/>
                <a:gridCol w="1438976"/>
                <a:gridCol w="1328286"/>
                <a:gridCol w="1328286"/>
              </a:tblGrid>
              <a:tr h="329184">
                <a:tc>
                  <a:txBody>
                    <a:bodyPr wrap="square"/>
                    <a:lstStyle/>
                    <a:p>
                      <a:pPr algn="l"/>
                      <a:r>
                        <a:rPr sz="1150" b="1">
                          <a:solidFill>
                            <a:srgbClr val="FFFFFF"/>
                          </a:solidFill>
                        </a:rPr>
                        <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BP: MLP</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BP: CNN</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ENet: MLP</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ENet: CNN</a:t>
                      </a:r>
                    </a:p>
                  </a:txBody>
                  <a:tcPr marL="54864" marR="54864" marT="27432" marB="27432" anchor="ctr">
                    <a:lnL w="0">
                      <a:noFill/>
                    </a:lnL>
                    <a:lnR w="0">
                      <a:noFill/>
                    </a:lnR>
                    <a:lnT w="0">
                      <a:noFill/>
                    </a:lnT>
                    <a:lnB w="6350">
                      <a:solidFill>
                        <a:srgbClr val="D9D3E3"/>
                      </a:solidFill>
                    </a:lnB>
                    <a:solidFill>
                      <a:srgbClr val="57068C"/>
                    </a:solidFill>
                  </a:tcPr>
                </a:tc>
              </a:tr>
              <a:tr h="329184">
                <a:tc>
                  <a:txBody>
                    <a:bodyPr wrap="square"/>
                    <a:lstStyle/>
                    <a:p>
                      <a:pPr algn="l"/>
                      <a:r>
                        <a:rPr sz="1150" b="0">
                          <a:solidFill>
                            <a:srgbClr val="333333"/>
                          </a:solidFill>
                        </a:rPr>
                        <a:t>Training objective (test)</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2.07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2.24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0.057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0.245</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50" b="0">
                          <a:solidFill>
                            <a:srgbClr val="333333"/>
                          </a:solidFill>
                        </a:rPr>
                        <a:t>BP objective: median / p99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0.98 / 17.9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1.01 / 18.8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50" b="0">
                          <a:solidFill>
                            <a:srgbClr val="333333"/>
                          </a:solidFill>
                        </a:rPr>
                        <a:t>Sparsity (BP 1.79)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1.90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2.03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5.53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5.17</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50" b="0">
                          <a:solidFill>
                            <a:srgbClr val="333333"/>
                          </a:solidFill>
                        </a:rPr>
                        <a:t>AIA MAE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4.93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4.73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1">
                          <a:solidFill>
                            <a:srgbClr val="333333"/>
                          </a:solidFill>
                        </a:rPr>
                        <a:t>0.54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0.82</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5" name="TextBox 4"/>
          <p:cNvSpPr txBox="1"/>
          <p:nvPr/>
        </p:nvSpPr>
        <p:spPr>
          <a:xfrm>
            <a:off x="365760" y="3246120"/>
            <a:ext cx="8412480" cy="365760"/>
          </a:xfrm>
          <a:prstGeom prst="rect">
            <a:avLst/>
          </a:prstGeom>
          <a:noFill/>
        </p:spPr>
        <p:txBody>
          <a:bodyPr wrap="square" anchor="t" lIns="0" rIns="0" tIns="0" bIns="0">
            <a:spAutoFit/>
          </a:bodyPr>
          <a:lstStyle/>
          <a:p>
            <a:pPr algn="l">
              <a:spcAft>
                <a:spcPts val="600"/>
              </a:spcAft>
            </a:pPr>
            <a:r>
              <a:rPr sz="1300" b="1" i="0">
                <a:solidFill>
                  <a:srgbClr val="57068C"/>
                </a:solidFill>
              </a:rPr>
              <a:t>The simplest model scales: no neighbourhood needed.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Choosing the model: 360k parameters, for both tracks</a:t>
            </a:r>
          </a:p>
        </p:txBody>
      </p:sp>
      <p:graphicFrame>
        <p:nvGraphicFramePr>
          <p:cNvPr id="3" name="Chart 2"/>
          <p:cNvGraphicFramePr>
            <a:graphicFrameLocks noGrp="1"/>
          </p:cNvGraphicFramePr>
          <p:nvPr/>
        </p:nvGraphicFramePr>
        <p:xfrm>
          <a:off x="365760" y="914400"/>
          <a:ext cx="4846320" cy="3017520"/>
        </p:xfrm>
        <a:graphic>
          <a:graphicData uri="http://schemas.openxmlformats.org/drawingml/2006/chart">
            <c:chart xmlns:c="http://schemas.openxmlformats.org/drawingml/2006/chart" r:id="rId3"/>
          </a:graphicData>
        </a:graphic>
      </p:graphicFrame>
      <p:sp>
        <p:nvSpPr>
          <p:cNvPr id="4" name="TextBox 3"/>
          <p:cNvSpPr txBox="1"/>
          <p:nvPr/>
        </p:nvSpPr>
        <p:spPr>
          <a:xfrm>
            <a:off x="5440680" y="960120"/>
            <a:ext cx="3337560" cy="3200400"/>
          </a:xfrm>
          <a:prstGeom prst="rect">
            <a:avLst/>
          </a:prstGeom>
          <a:noFill/>
        </p:spPr>
        <p:txBody>
          <a:bodyPr wrap="square" anchor="t" lIns="0" rIns="0" tIns="0" bIns="0">
            <a:spAutoFit/>
          </a:bodyPr>
          <a:lstStyle/>
          <a:p>
            <a:pPr algn="l" marL="182880" indent="-182880">
              <a:spcAft>
                <a:spcPts val="700"/>
              </a:spcAft>
              <a:buClr>
                <a:srgbClr val="333333"/>
              </a:buClr>
              <a:buChar char="•"/>
            </a:pPr>
            <a:r>
              <a:rPr sz="1150" b="0" i="0">
                <a:solidFill>
                  <a:srgbClr val="333333"/>
                </a:solidFill>
              </a:rPr>
              <a:t>We choose by validation loss.</a:t>
            </a:r>
          </a:p>
          <a:p>
            <a:pPr algn="l" marL="182880" indent="-182880">
              <a:spcAft>
                <a:spcPts val="700"/>
              </a:spcAft>
              <a:buClr>
                <a:srgbClr val="333333"/>
              </a:buClr>
              <a:buChar char="•"/>
            </a:pPr>
            <a:r>
              <a:rPr sz="1150" b="0" i="0">
                <a:solidFill>
                  <a:srgbClr val="333333"/>
                </a:solidFill>
              </a:rPr>
              <a:t>BP: validation is best at 360k; 1.43M ties, but only nudges the typical pixel (0.026 → 0.023) at 4× the size and with worse tails.</a:t>
            </a:r>
          </a:p>
          <a:p>
            <a:pPr algn="l" marL="182880" indent="-182880">
              <a:spcAft>
                <a:spcPts val="700"/>
              </a:spcAft>
              <a:buClr>
                <a:srgbClr val="333333"/>
              </a:buClr>
              <a:buChar char="•"/>
            </a:pPr>
            <a:r>
              <a:rPr sz="1150" b="0" i="0">
                <a:solidFill>
                  <a:srgbClr val="333333"/>
                </a:solidFill>
              </a:rPr>
              <a:t>ElasticNet: from 722k up, a few bright pixels blow up by orders of magnitude; 360k is the largest stable size.</a:t>
            </a:r>
          </a:p>
          <a:p>
            <a:pPr algn="l" marL="182880" indent="-182880">
              <a:spcAft>
                <a:spcPts val="700"/>
              </a:spcAft>
              <a:buClr>
                <a:srgbClr val="333333"/>
              </a:buClr>
              <a:buChar char="•"/>
            </a:pPr>
            <a:r>
              <a:rPr sz="1150" b="0" i="0">
                <a:solidFill>
                  <a:srgbClr val="333333"/>
                </a:solidFill>
              </a:rPr>
              <a:t>Input, also by validation: log1p for BP (√ + Fourier ties); √ + Fourier features for ElasticNet (7% better).</a:t>
            </a:r>
          </a:p>
        </p:txBody>
      </p:sp>
      <p:sp>
        <p:nvSpPr>
          <p:cNvPr id="5" name="TextBox 4"/>
          <p:cNvSpPr txBox="1"/>
          <p:nvPr/>
        </p:nvSpPr>
        <p:spPr>
          <a:xfrm>
            <a:off x="365760" y="4023360"/>
            <a:ext cx="8412480" cy="320040"/>
          </a:xfrm>
          <a:prstGeom prst="rect">
            <a:avLst/>
          </a:prstGeom>
          <a:noFill/>
        </p:spPr>
        <p:txBody>
          <a:bodyPr wrap="square" anchor="t" lIns="0" rIns="0" tIns="0" bIns="0">
            <a:spAutoFit/>
          </a:bodyPr>
          <a:lstStyle/>
          <a:p>
            <a:pPr algn="l">
              <a:spcAft>
                <a:spcPts val="600"/>
              </a:spcAft>
            </a:pPr>
            <a:r>
              <a:rPr sz="1300" b="1" i="0">
                <a:solidFill>
                  <a:srgbClr val="57068C"/>
                </a:solidFill>
              </a:rPr>
              <a:t>Final: one 360k MLP per track; ElasticNet with the √ + Fourier input.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6</a:t>
            </a:r>
            <a:br/>
            <a:r>
              <a:rPr sz="4100"/>
              <a:t>Results</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Against the solver and the supervised model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Against supervised: better on ElasticNet, behind on BP's DEM error</a:t>
            </a:r>
          </a:p>
        </p:txBody>
      </p:sp>
      <p:graphicFrame>
        <p:nvGraphicFramePr>
          <p:cNvPr id="3" name="Table 2"/>
          <p:cNvGraphicFramePr>
            <a:graphicFrameLocks noGrp="1"/>
          </p:cNvGraphicFramePr>
          <p:nvPr/>
        </p:nvGraphicFramePr>
        <p:xfrm>
          <a:off x="365760" y="1005840"/>
          <a:ext cx="8412480" cy="1920240"/>
        </p:xfrm>
        <a:graphic>
          <a:graphicData uri="http://schemas.openxmlformats.org/drawingml/2006/table">
            <a:tbl>
              <a:tblPr firstRow="1" bandRow="1"/>
              <a:tblGrid>
                <a:gridCol w="2194560"/>
                <a:gridCol w="1051560"/>
                <a:gridCol w="1051560"/>
                <a:gridCol w="1051560"/>
                <a:gridCol w="960120"/>
                <a:gridCol w="1051560"/>
                <a:gridCol w="1051560"/>
              </a:tblGrid>
              <a:tr h="384048">
                <a:tc>
                  <a:txBody>
                    <a:bodyPr wrap="square"/>
                    <a:lstStyle/>
                    <a:p>
                      <a:pPr algn="l"/>
                      <a:r>
                        <a:rPr sz="1200" b="1">
                          <a:solidFill>
                            <a:srgbClr val="FFFFFF"/>
                          </a:solidFill>
                        </a:rPr>
                        <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DEM MAE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DEM MSE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EM error</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W1</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AIA MAE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AIA MSE</a:t>
                      </a:r>
                    </a:p>
                  </a:txBody>
                  <a:tcPr marL="54864" marR="54864" marT="27432" marB="27432" anchor="ctr">
                    <a:lnL w="0">
                      <a:noFill/>
                    </a:lnL>
                    <a:lnR w="0">
                      <a:noFill/>
                    </a:lnR>
                    <a:lnT w="0">
                      <a:noFill/>
                    </a:lnT>
                    <a:lnB w="6350">
                      <a:solidFill>
                        <a:srgbClr val="D9D3E3"/>
                      </a:solidFill>
                    </a:lnB>
                    <a:solidFill>
                      <a:srgbClr val="57068C"/>
                    </a:solidFill>
                  </a:tcPr>
                </a:tc>
              </a:tr>
              <a:tr h="384048">
                <a:tc>
                  <a:txBody>
                    <a:bodyPr wrap="square"/>
                    <a:lstStyle/>
                    <a:p>
                      <a:pPr algn="l"/>
                      <a:r>
                        <a:rPr sz="1200" b="1">
                          <a:solidFill>
                            <a:srgbClr val="333333"/>
                          </a:solidFill>
                        </a:rPr>
                        <a:t>BP, label-free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0.106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4.28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19.6%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0.083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4.34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83</a:t>
                      </a:r>
                    </a:p>
                  </a:txBody>
                  <a:tcPr marL="54864" marR="54864" marT="27432" marB="27432" anchor="ctr">
                    <a:lnL w="0">
                      <a:noFill/>
                    </a:lnL>
                    <a:lnR w="0">
                      <a:noFill/>
                    </a:lnR>
                    <a:lnT w="0">
                      <a:noFill/>
                    </a:lnT>
                    <a:lnB w="6350">
                      <a:solidFill>
                        <a:srgbClr val="D9D3E3"/>
                      </a:solidFill>
                    </a:lnB>
                    <a:solidFill>
                      <a:srgbClr val="FFFFFF"/>
                    </a:solidFill>
                  </a:tcPr>
                </a:tc>
              </a:tr>
              <a:tr h="384048">
                <a:tc>
                  <a:txBody>
                    <a:bodyPr wrap="square"/>
                    <a:lstStyle/>
                    <a:p>
                      <a:pPr algn="l"/>
                      <a:r>
                        <a:rPr sz="1200" b="1">
                          <a:solidFill>
                            <a:srgbClr val="333333"/>
                          </a:solidFill>
                        </a:rPr>
                        <a:t>BP, supervised</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0.100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0.91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14.3%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0.133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2.95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157</a:t>
                      </a:r>
                    </a:p>
                  </a:txBody>
                  <a:tcPr marL="54864" marR="54864" marT="27432" marB="27432" anchor="ctr">
                    <a:lnL w="0">
                      <a:noFill/>
                    </a:lnL>
                    <a:lnR w="0">
                      <a:noFill/>
                    </a:lnR>
                    <a:lnT w="0">
                      <a:noFill/>
                    </a:lnT>
                    <a:lnB w="6350">
                      <a:solidFill>
                        <a:srgbClr val="D9D3E3"/>
                      </a:solidFill>
                    </a:lnB>
                    <a:solidFill>
                      <a:srgbClr val="FFFFFF"/>
                    </a:solidFill>
                  </a:tcPr>
                </a:tc>
              </a:tr>
              <a:tr h="384048">
                <a:tc>
                  <a:txBody>
                    <a:bodyPr wrap="square"/>
                    <a:lstStyle/>
                    <a:p>
                      <a:pPr algn="l"/>
                      <a:r>
                        <a:rPr sz="1200" b="1">
                          <a:solidFill>
                            <a:srgbClr val="333333"/>
                          </a:solidFill>
                        </a:rPr>
                        <a:t>ENet, label-free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0.151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0.31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12.2%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0.103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0.56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161</a:t>
                      </a:r>
                    </a:p>
                  </a:txBody>
                  <a:tcPr marL="54864" marR="54864" marT="27432" marB="27432" anchor="ctr">
                    <a:lnL w="0">
                      <a:noFill/>
                    </a:lnL>
                    <a:lnR w="0">
                      <a:noFill/>
                    </a:lnR>
                    <a:lnT w="0">
                      <a:noFill/>
                    </a:lnT>
                    <a:lnB w="6350">
                      <a:solidFill>
                        <a:srgbClr val="D9D3E3"/>
                      </a:solidFill>
                    </a:lnB>
                    <a:solidFill>
                      <a:srgbClr val="FFFFFF"/>
                    </a:solidFill>
                  </a:tcPr>
                </a:tc>
              </a:tr>
              <a:tr h="384048">
                <a:tc>
                  <a:txBody>
                    <a:bodyPr wrap="square"/>
                    <a:lstStyle/>
                    <a:p>
                      <a:pPr algn="l"/>
                      <a:r>
                        <a:rPr sz="1200" b="1">
                          <a:solidFill>
                            <a:srgbClr val="333333"/>
                          </a:solidFill>
                        </a:rPr>
                        <a:t>ENet, supervised</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0.188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0.32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18.0%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0.121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6.32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598</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4" name="TextBox 3"/>
          <p:cNvSpPr txBox="1"/>
          <p:nvPr/>
        </p:nvSpPr>
        <p:spPr>
          <a:xfrm>
            <a:off x="365760" y="3108960"/>
            <a:ext cx="8412480" cy="822960"/>
          </a:xfrm>
          <a:prstGeom prst="rect">
            <a:avLst/>
          </a:prstGeom>
          <a:noFill/>
        </p:spPr>
        <p:txBody>
          <a:bodyPr wrap="square" anchor="t" lIns="0" rIns="0" tIns="0" bIns="0">
            <a:spAutoFit/>
          </a:bodyPr>
          <a:lstStyle/>
          <a:p>
            <a:pPr algn="l" marL="182880" indent="-182880">
              <a:spcAft>
                <a:spcPts val="600"/>
              </a:spcAft>
              <a:buClr>
                <a:srgbClr val="333333"/>
              </a:buClr>
              <a:buChar char="•"/>
            </a:pPr>
            <a:r>
              <a:rPr sz="1250" b="0" i="0">
                <a:solidFill>
                  <a:srgbClr val="333333"/>
                </a:solidFill>
              </a:rPr>
              <a:t>Bold = better. ElasticNet: we win all six, DEM MAE and MSE included. BP: we win W1 and AIA MSE; the DEM error is set by flare cores (Part 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typical pixel and the average tell different stories</a:t>
            </a:r>
          </a:p>
        </p:txBody>
      </p:sp>
      <p:sp>
        <p:nvSpPr>
          <p:cNvPr id="3" name="Rounded Rectangle 2"/>
          <p:cNvSpPr/>
          <p:nvPr/>
        </p:nvSpPr>
        <p:spPr>
          <a:xfrm>
            <a:off x="365760" y="1005840"/>
            <a:ext cx="2651760" cy="13258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2377440" cy="548640"/>
          </a:xfrm>
          <a:prstGeom prst="rect">
            <a:avLst/>
          </a:prstGeom>
          <a:noFill/>
        </p:spPr>
        <p:txBody>
          <a:bodyPr wrap="square" anchor="t" lIns="0" rIns="0" tIns="0" bIns="0">
            <a:spAutoFit/>
          </a:bodyPr>
          <a:lstStyle/>
          <a:p>
            <a:pPr algn="ctr">
              <a:spcAft>
                <a:spcPts val="600"/>
              </a:spcAft>
            </a:pPr>
            <a:r>
              <a:rPr sz="2600" b="1" i="0">
                <a:solidFill>
                  <a:srgbClr val="57068C"/>
                </a:solidFill>
              </a:rPr>
              <a:t>0.026 vs 0.112</a:t>
            </a:r>
          </a:p>
        </p:txBody>
      </p:sp>
      <p:sp>
        <p:nvSpPr>
          <p:cNvPr id="5" name="TextBox 4"/>
          <p:cNvSpPr txBox="1"/>
          <p:nvPr/>
        </p:nvSpPr>
        <p:spPr>
          <a:xfrm>
            <a:off x="502920" y="1719072"/>
            <a:ext cx="2377440" cy="548640"/>
          </a:xfrm>
          <a:prstGeom prst="rect">
            <a:avLst/>
          </a:prstGeom>
          <a:noFill/>
        </p:spPr>
        <p:txBody>
          <a:bodyPr wrap="square" anchor="t" lIns="0" rIns="0" tIns="0" bIns="0">
            <a:spAutoFit/>
          </a:bodyPr>
          <a:lstStyle/>
          <a:p>
            <a:pPr algn="ctr">
              <a:spcAft>
                <a:spcPts val="600"/>
              </a:spcAft>
            </a:pPr>
            <a:r>
              <a:rPr sz="1050" b="0" i="0">
                <a:solidFill>
                  <a:srgbClr val="333333"/>
                </a:solidFill>
              </a:rPr>
              <a:t>BP median pixel error, ours vs supervised: ~4× better on the typical pixel</a:t>
            </a:r>
          </a:p>
        </p:txBody>
      </p:sp>
      <p:sp>
        <p:nvSpPr>
          <p:cNvPr id="6" name="Rounded Rectangle 5"/>
          <p:cNvSpPr/>
          <p:nvPr/>
        </p:nvSpPr>
        <p:spPr>
          <a:xfrm>
            <a:off x="365760" y="2514600"/>
            <a:ext cx="2651760" cy="13258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2624328"/>
            <a:ext cx="2377440" cy="548640"/>
          </a:xfrm>
          <a:prstGeom prst="rect">
            <a:avLst/>
          </a:prstGeom>
          <a:noFill/>
        </p:spPr>
        <p:txBody>
          <a:bodyPr wrap="square" anchor="t" lIns="0" rIns="0" tIns="0" bIns="0">
            <a:spAutoFit/>
          </a:bodyPr>
          <a:lstStyle/>
          <a:p>
            <a:pPr algn="ctr">
              <a:spcAft>
                <a:spcPts val="600"/>
              </a:spcAft>
            </a:pPr>
            <a:r>
              <a:rPr sz="2600" b="1" i="0">
                <a:solidFill>
                  <a:srgbClr val="57068C"/>
                </a:solidFill>
              </a:rPr>
              <a:t>98%</a:t>
            </a:r>
          </a:p>
        </p:txBody>
      </p:sp>
      <p:sp>
        <p:nvSpPr>
          <p:cNvPr id="8" name="TextBox 7"/>
          <p:cNvSpPr txBox="1"/>
          <p:nvPr/>
        </p:nvSpPr>
        <p:spPr>
          <a:xfrm>
            <a:off x="502920" y="3227832"/>
            <a:ext cx="2377440" cy="548640"/>
          </a:xfrm>
          <a:prstGeom prst="rect">
            <a:avLst/>
          </a:prstGeom>
          <a:noFill/>
        </p:spPr>
        <p:txBody>
          <a:bodyPr wrap="square" anchor="t" lIns="0" rIns="0" tIns="0" bIns="0">
            <a:spAutoFit/>
          </a:bodyPr>
          <a:lstStyle/>
          <a:p>
            <a:pPr algn="ctr">
              <a:spcAft>
                <a:spcPts val="600"/>
              </a:spcAft>
            </a:pPr>
            <a:r>
              <a:rPr sz="1050" b="0" i="0">
                <a:solidFill>
                  <a:srgbClr val="333333"/>
                </a:solidFill>
              </a:rPr>
              <a:t>of our BP error sits in the worst 1% of pixels (supervised 95%)</a:t>
            </a:r>
          </a:p>
        </p:txBody>
      </p:sp>
      <p:sp>
        <p:nvSpPr>
          <p:cNvPr id="9" name="TextBox 8"/>
          <p:cNvSpPr txBox="1"/>
          <p:nvPr/>
        </p:nvSpPr>
        <p:spPr>
          <a:xfrm>
            <a:off x="3337560" y="1005840"/>
            <a:ext cx="5440680" cy="3108960"/>
          </a:xfrm>
          <a:prstGeom prst="rect">
            <a:avLst/>
          </a:prstGeom>
          <a:noFill/>
        </p:spPr>
        <p:txBody>
          <a:bodyPr wrap="square" anchor="t" lIns="0" rIns="0" tIns="0" bIns="0">
            <a:spAutoFit/>
          </a:bodyPr>
          <a:lstStyle/>
          <a:p>
            <a:pPr algn="l" marL="182880" indent="-182880">
              <a:spcAft>
                <a:spcPts val="1200"/>
              </a:spcAft>
              <a:buClr>
                <a:srgbClr val="333333"/>
              </a:buClr>
              <a:buChar char="•"/>
            </a:pPr>
            <a:r>
              <a:rPr sz="1300" b="0" i="0">
                <a:solidFill>
                  <a:srgbClr val="333333"/>
                </a:solidFill>
              </a:rPr>
              <a:t>On the typical BP pixel we are ~4× closer to the solver than the supervised model.</a:t>
            </a:r>
          </a:p>
          <a:p>
            <a:pPr algn="l" marL="182880" indent="-182880">
              <a:spcAft>
                <a:spcPts val="1200"/>
              </a:spcAft>
              <a:buClr>
                <a:srgbClr val="333333"/>
              </a:buClr>
              <a:buChar char="•"/>
            </a:pPr>
            <a:r>
              <a:rPr sz="1300" b="0" i="0">
                <a:solidFill>
                  <a:srgbClr val="333333"/>
                </a:solidFill>
              </a:rPr>
              <a:t>From the 90th percentile up, supervised is better on BP (p99: 27 vs 71).</a:t>
            </a:r>
          </a:p>
          <a:p>
            <a:pPr algn="l" marL="182880" indent="-182880">
              <a:spcAft>
                <a:spcPts val="1200"/>
              </a:spcAft>
              <a:buClr>
                <a:srgbClr val="333333"/>
              </a:buClr>
              <a:buChar char="•"/>
            </a:pPr>
            <a:r>
              <a:rPr sz="1300" b="0" i="0">
                <a:solidFill>
                  <a:srgbClr val="333333"/>
                </a:solidFill>
              </a:rPr>
              <a:t>ElasticNet: ours is better at the median, p99 and p99.9.</a:t>
            </a:r>
          </a:p>
          <a:p>
            <a:pPr algn="l" marL="182880" indent="-182880">
              <a:spcAft>
                <a:spcPts val="1200"/>
              </a:spcAft>
              <a:buClr>
                <a:srgbClr val="333333"/>
              </a:buClr>
              <a:buChar char="•"/>
            </a:pPr>
            <a:r>
              <a:rPr sz="1300" b="0" i="0">
                <a:solidFill>
                  <a:srgbClr val="333333"/>
                </a:solidFill>
              </a:rPr>
              <a:t>The BP average is set by the worst 1% of pixels, for both models.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7</a:t>
            </a:r>
            <a:br/>
            <a:r>
              <a:rPr sz="4100"/>
              <a:t>Failures: bright pixels</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Where the error is, and why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Flare cores, 1 pixel in 10,000, hold ~90% of the BP error</a:t>
            </a:r>
          </a:p>
        </p:txBody>
      </p:sp>
      <p:sp>
        <p:nvSpPr>
          <p:cNvPr id="3" name="TextBox 2"/>
          <p:cNvSpPr txBox="1"/>
          <p:nvPr/>
        </p:nvSpPr>
        <p:spPr>
          <a:xfrm>
            <a:off x="365760" y="914400"/>
            <a:ext cx="3200400" cy="3383280"/>
          </a:xfrm>
          <a:prstGeom prst="rect">
            <a:avLst/>
          </a:prstGeom>
          <a:noFill/>
        </p:spPr>
        <p:txBody>
          <a:bodyPr wrap="square" anchor="t" lIns="0" rIns="0" tIns="0" bIns="0">
            <a:spAutoFit/>
          </a:bodyPr>
          <a:lstStyle/>
          <a:p>
            <a:pPr algn="l" marL="182880" indent="-182880">
              <a:spcAft>
                <a:spcPts val="1000"/>
              </a:spcAft>
              <a:buClr>
                <a:srgbClr val="333333"/>
              </a:buClr>
              <a:buChar char="•"/>
            </a:pPr>
            <a:r>
              <a:rPr sz="1250" b="0" i="0">
                <a:solidFill>
                  <a:srgbClr val="333333"/>
                </a:solidFill>
              </a:rPr>
              <a:t>Pixels at 32× the Bright cutoff or more: 0.01% of pixels, 90% of our BP DEM error, 90% of the supervised model's.</a:t>
            </a:r>
          </a:p>
          <a:p>
            <a:pPr algn="l" marL="182880" indent="-182880">
              <a:spcAft>
                <a:spcPts val="1000"/>
              </a:spcAft>
              <a:buClr>
                <a:srgbClr val="333333"/>
              </a:buClr>
              <a:buChar char="•"/>
            </a:pPr>
            <a:r>
              <a:rPr sz="1250" b="0" i="0">
                <a:solidFill>
                  <a:srgbClr val="333333"/>
                </a:solidFill>
              </a:rPr>
              <a:t>So the squared-error metric itself is set by flare cores, for both models.</a:t>
            </a:r>
          </a:p>
          <a:p>
            <a:pPr algn="l" marL="182880" indent="-182880">
              <a:spcAft>
                <a:spcPts val="1000"/>
              </a:spcAft>
              <a:buClr>
                <a:srgbClr val="333333"/>
              </a:buClr>
              <a:buChar char="•"/>
            </a:pPr>
            <a:r>
              <a:rPr sz="1250" b="0" i="0">
                <a:solidFill>
                  <a:srgbClr val="333333"/>
                </a:solidFill>
              </a:rPr>
              <a:t>Ordinary Bright pixels (1–10×): 10% of pixels, 4% of our error (supervised 5.5%).</a:t>
            </a:r>
          </a:p>
        </p:txBody>
      </p:sp>
      <p:pic>
        <p:nvPicPr>
          <p:cNvPr id="4" name="Picture 3" descr="fig1_error_share_by_brightness.png"/>
          <p:cNvPicPr>
            <a:picLocks noChangeAspect="1"/>
          </p:cNvPicPr>
          <p:nvPr/>
        </p:nvPicPr>
        <p:blipFill>
          <a:blip r:embed="rId2"/>
          <a:stretch>
            <a:fillRect/>
          </a:stretch>
        </p:blipFill>
        <p:spPr>
          <a:xfrm>
            <a:off x="3703320" y="1159727"/>
            <a:ext cx="5074920" cy="2846906"/>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On BP, our gap grows with brightness; on ElasticNet we are ahead</a:t>
            </a:r>
          </a:p>
        </p:txBody>
      </p:sp>
      <p:sp>
        <p:nvSpPr>
          <p:cNvPr id="3" name="TextBox 2"/>
          <p:cNvSpPr txBox="1"/>
          <p:nvPr/>
        </p:nvSpPr>
        <p:spPr>
          <a:xfrm>
            <a:off x="365760" y="868680"/>
            <a:ext cx="8412480" cy="822960"/>
          </a:xfrm>
          <a:prstGeom prst="rect">
            <a:avLst/>
          </a:prstGeom>
          <a:noFill/>
        </p:spPr>
        <p:txBody>
          <a:bodyPr wrap="square" anchor="t" lIns="0" rIns="0" tIns="0" bIns="0">
            <a:spAutoFit/>
          </a:bodyPr>
          <a:lstStyle/>
          <a:p>
            <a:pPr algn="l" marL="182880" indent="-182880">
              <a:spcAft>
                <a:spcPts val="400"/>
              </a:spcAft>
              <a:buClr>
                <a:srgbClr val="333333"/>
              </a:buClr>
              <a:buChar char="•"/>
            </a:pPr>
            <a:r>
              <a:rPr sz="1200" b="0" i="0">
                <a:solidFill>
                  <a:srgbClr val="333333"/>
                </a:solidFill>
              </a:rPr>
              <a:t>BP, our error / supervised: 0.64 on the faintest pixels, 1.8 at 0.3–1×, 5 at 3–10×, 18 at 10–32×.</a:t>
            </a:r>
          </a:p>
          <a:p>
            <a:pPr algn="l" marL="182880" indent="-182880">
              <a:spcAft>
                <a:spcPts val="400"/>
              </a:spcAft>
              <a:buClr>
                <a:srgbClr val="333333"/>
              </a:buClr>
              <a:buChar char="•"/>
            </a:pPr>
            <a:r>
              <a:rPr sz="1200" b="0" i="0">
                <a:solidFill>
                  <a:srgbClr val="333333"/>
                </a:solidFill>
              </a:rPr>
              <a:t>ElasticNet: ours is ahead from 0.1× to 32× (0.5–1.0), level on the faintest, 1.3 at flare cores.</a:t>
            </a:r>
          </a:p>
        </p:txBody>
      </p:sp>
      <p:pic>
        <p:nvPicPr>
          <p:cNvPr id="4" name="Picture 3" descr="fig2_relative_error_by_brightness.png"/>
          <p:cNvPicPr>
            <a:picLocks noChangeAspect="1"/>
          </p:cNvPicPr>
          <p:nvPr/>
        </p:nvPicPr>
        <p:blipFill>
          <a:blip r:embed="rId2"/>
          <a:stretch>
            <a:fillRect/>
          </a:stretch>
        </p:blipFill>
        <p:spPr>
          <a:xfrm>
            <a:off x="1435395" y="1691640"/>
            <a:ext cx="6273209" cy="269748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At BP flare cores, the model under-predicts and runs too cool</a:t>
            </a:r>
          </a:p>
        </p:txBody>
      </p:sp>
      <p:sp>
        <p:nvSpPr>
          <p:cNvPr id="3" name="TextBox 2"/>
          <p:cNvSpPr txBox="1"/>
          <p:nvPr/>
        </p:nvSpPr>
        <p:spPr>
          <a:xfrm>
            <a:off x="365760" y="914400"/>
            <a:ext cx="3291840" cy="3383280"/>
          </a:xfrm>
          <a:prstGeom prst="rect">
            <a:avLst/>
          </a:prstGeom>
          <a:noFill/>
        </p:spPr>
        <p:txBody>
          <a:bodyPr wrap="square" anchor="t" lIns="0" rIns="0" tIns="0" bIns="0">
            <a:spAutoFit/>
          </a:bodyPr>
          <a:lstStyle/>
          <a:p>
            <a:pPr algn="l" marL="182880" indent="-182880">
              <a:spcAft>
                <a:spcPts val="1000"/>
              </a:spcAft>
              <a:buClr>
                <a:srgbClr val="333333"/>
              </a:buClr>
              <a:buChar char="•"/>
            </a:pPr>
            <a:r>
              <a:rPr sz="1250" b="0" i="0">
                <a:solidFill>
                  <a:srgbClr val="333333"/>
                </a:solidFill>
              </a:rPr>
              <a:t>BP flare cores: 40% of the solver's emission, peak 23% as high, 0.2 dex too cool.</a:t>
            </a:r>
          </a:p>
          <a:p>
            <a:pPr algn="l" marL="182880" indent="-182880">
              <a:spcAft>
                <a:spcPts val="1000"/>
              </a:spcAft>
              <a:buClr>
                <a:srgbClr val="333333"/>
              </a:buClr>
              <a:buChar char="•"/>
            </a:pPr>
            <a:r>
              <a:rPr sz="1250" b="0" i="0">
                <a:solidFill>
                  <a:srgbClr val="333333"/>
                </a:solidFill>
              </a:rPr>
              <a:t>83% of our flare-core DEMs have extra peaks (solver 18%); those spurious peaks are 42% of our BP error.</a:t>
            </a:r>
          </a:p>
          <a:p>
            <a:pPr algn="l" marL="182880" indent="-182880">
              <a:spcAft>
                <a:spcPts val="1000"/>
              </a:spcAft>
              <a:buClr>
                <a:srgbClr val="333333"/>
              </a:buClr>
              <a:buChar char="•"/>
            </a:pPr>
            <a:r>
              <a:rPr sz="1250" b="0" i="0">
                <a:solidFill>
                  <a:srgbClr val="333333"/>
                </a:solidFill>
              </a:rPr>
              <a:t>It tracks the solver's peak height up to a peak of ~100, then falls away.</a:t>
            </a:r>
          </a:p>
        </p:txBody>
      </p:sp>
      <p:pic>
        <p:nvPicPr>
          <p:cNvPr id="4" name="Picture 3" descr="fig4_example_curves_bp.png"/>
          <p:cNvPicPr>
            <a:picLocks noChangeAspect="1"/>
          </p:cNvPicPr>
          <p:nvPr/>
        </p:nvPicPr>
        <p:blipFill>
          <a:blip r:embed="rId3"/>
          <a:stretch>
            <a:fillRect/>
          </a:stretch>
        </p:blipFill>
        <p:spPr>
          <a:xfrm>
            <a:off x="3749039" y="990600"/>
            <a:ext cx="5029200" cy="3185160"/>
          </a:xfrm>
          <a:prstGeom prst="rect">
            <a:avLst/>
          </a:prstGeom>
        </p:spPr>
      </p:pic>
      <p:sp>
        <p:nvSpPr>
          <p:cNvPr id="5" name="TextBox 4"/>
          <p:cNvSpPr txBox="1"/>
          <p:nvPr/>
        </p:nvSpPr>
        <p:spPr>
          <a:xfrm>
            <a:off x="3749039" y="4206240"/>
            <a:ext cx="5029200" cy="274320"/>
          </a:xfrm>
          <a:prstGeom prst="rect">
            <a:avLst/>
          </a:prstGeom>
          <a:noFill/>
        </p:spPr>
        <p:txBody>
          <a:bodyPr wrap="square" anchor="t" lIns="0" rIns="0" tIns="0" bIns="0">
            <a:spAutoFit/>
          </a:bodyPr>
          <a:lstStyle/>
          <a:p>
            <a:pPr algn="l">
              <a:spcAft>
                <a:spcPts val="0"/>
              </a:spcAft>
            </a:pPr>
            <a:r>
              <a:rPr sz="950" b="0" i="1">
                <a:solidFill>
                  <a:srgbClr val="6B6B6B"/>
                </a:solidFill>
              </a:rPr>
              <a:t>Random BP pixels, top rows flare cores. Black solver, blue ours, orange supervised.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At BP flare cores, the model fails its own objective</a:t>
            </a:r>
          </a:p>
        </p:txBody>
      </p:sp>
      <p:sp>
        <p:nvSpPr>
          <p:cNvPr id="3" name="TextBox 2"/>
          <p:cNvSpPr txBox="1"/>
          <p:nvPr/>
        </p:nvSpPr>
        <p:spPr>
          <a:xfrm>
            <a:off x="365760" y="868680"/>
            <a:ext cx="8412480" cy="914400"/>
          </a:xfrm>
          <a:prstGeom prst="rect">
            <a:avLst/>
          </a:prstGeom>
          <a:noFill/>
        </p:spPr>
        <p:txBody>
          <a:bodyPr wrap="square" anchor="t" lIns="0" rIns="0" tIns="0" bIns="0">
            <a:spAutoFit/>
          </a:bodyPr>
          <a:lstStyle/>
          <a:p>
            <a:pPr algn="l" marL="182880" indent="-182880">
              <a:spcAft>
                <a:spcPts val="400"/>
              </a:spcAft>
              <a:buClr>
                <a:srgbClr val="333333"/>
              </a:buClr>
              <a:buChar char="•"/>
            </a:pPr>
            <a:r>
              <a:rPr sz="1200" b="0" i="0">
                <a:solidFill>
                  <a:srgbClr val="333333"/>
                </a:solidFill>
              </a:rPr>
              <a:t>BP: the solver's DEM reproduces 92% of the observed 94 Å; ours reproduces 23% (131 Å: 76%). The cool channels are fit to within a few percent.</a:t>
            </a:r>
          </a:p>
          <a:p>
            <a:pPr algn="l" marL="182880" indent="-182880">
              <a:spcAft>
                <a:spcPts val="400"/>
              </a:spcAft>
              <a:buClr>
                <a:srgbClr val="333333"/>
              </a:buClr>
              <a:buChar char="•"/>
            </a:pPr>
            <a:r>
              <a:rPr sz="1200" b="1" i="0">
                <a:solidFill>
                  <a:srgbClr val="57068C"/>
                </a:solidFill>
              </a:rPr>
              <a:t>So better DEMs exist inside our basis: a training problem, not a representation limit.</a:t>
            </a:r>
          </a:p>
        </p:txBody>
      </p:sp>
      <p:pic>
        <p:nvPicPr>
          <p:cNvPr id="4" name="Picture 3" descr="fig5_aia_fit_flare_cores.png"/>
          <p:cNvPicPr>
            <a:picLocks noChangeAspect="1"/>
          </p:cNvPicPr>
          <p:nvPr/>
        </p:nvPicPr>
        <p:blipFill>
          <a:blip r:embed="rId3"/>
          <a:stretch>
            <a:fillRect/>
          </a:stretch>
        </p:blipFill>
        <p:spPr>
          <a:xfrm>
            <a:off x="1334386" y="1737360"/>
            <a:ext cx="6475227" cy="265176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Not solver noise, not missed double peaks</a:t>
            </a:r>
          </a:p>
        </p:txBody>
      </p:sp>
      <p:sp>
        <p:nvSpPr>
          <p:cNvPr id="3" name="Rounded Rectangle 2"/>
          <p:cNvSpPr/>
          <p:nvPr/>
        </p:nvSpPr>
        <p:spPr>
          <a:xfrm>
            <a:off x="365760" y="1005840"/>
            <a:ext cx="2651760" cy="13258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2377440" cy="548640"/>
          </a:xfrm>
          <a:prstGeom prst="rect">
            <a:avLst/>
          </a:prstGeom>
          <a:noFill/>
        </p:spPr>
        <p:txBody>
          <a:bodyPr wrap="square" anchor="t" lIns="0" rIns="0" tIns="0" bIns="0">
            <a:spAutoFit/>
          </a:bodyPr>
          <a:lstStyle/>
          <a:p>
            <a:pPr algn="ctr">
              <a:spcAft>
                <a:spcPts val="600"/>
              </a:spcAft>
            </a:pPr>
            <a:r>
              <a:rPr sz="2600" b="1" i="0">
                <a:solidFill>
                  <a:srgbClr val="57068C"/>
                </a:solidFill>
              </a:rPr>
              <a:t>0.4%</a:t>
            </a:r>
          </a:p>
        </p:txBody>
      </p:sp>
      <p:sp>
        <p:nvSpPr>
          <p:cNvPr id="5" name="TextBox 4"/>
          <p:cNvSpPr txBox="1"/>
          <p:nvPr/>
        </p:nvSpPr>
        <p:spPr>
          <a:xfrm>
            <a:off x="502920" y="1719072"/>
            <a:ext cx="2377440" cy="548640"/>
          </a:xfrm>
          <a:prstGeom prst="rect">
            <a:avLst/>
          </a:prstGeom>
          <a:noFill/>
        </p:spPr>
        <p:txBody>
          <a:bodyPr wrap="square" anchor="t" lIns="0" rIns="0" tIns="0" bIns="0">
            <a:spAutoFit/>
          </a:bodyPr>
          <a:lstStyle/>
          <a:p>
            <a:pPr algn="ctr">
              <a:spcAft>
                <a:spcPts val="600"/>
              </a:spcAft>
            </a:pPr>
            <a:r>
              <a:rPr sz="1050" b="0" i="0">
                <a:solidFill>
                  <a:srgbClr val="333333"/>
                </a:solidFill>
              </a:rPr>
              <a:t>of our BP Bright error comes from the solver's own spread across its 5 targets (ENet 8%)</a:t>
            </a:r>
          </a:p>
        </p:txBody>
      </p:sp>
      <p:sp>
        <p:nvSpPr>
          <p:cNvPr id="6" name="Rounded Rectangle 5"/>
          <p:cNvSpPr/>
          <p:nvPr/>
        </p:nvSpPr>
        <p:spPr>
          <a:xfrm>
            <a:off x="365760" y="2514600"/>
            <a:ext cx="2651760" cy="13258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2624328"/>
            <a:ext cx="2377440" cy="548640"/>
          </a:xfrm>
          <a:prstGeom prst="rect">
            <a:avLst/>
          </a:prstGeom>
          <a:noFill/>
        </p:spPr>
        <p:txBody>
          <a:bodyPr wrap="square" anchor="t" lIns="0" rIns="0" tIns="0" bIns="0">
            <a:spAutoFit/>
          </a:bodyPr>
          <a:lstStyle/>
          <a:p>
            <a:pPr algn="ctr">
              <a:spcAft>
                <a:spcPts val="600"/>
              </a:spcAft>
            </a:pPr>
            <a:r>
              <a:rPr sz="2600" b="1" i="0">
                <a:solidFill>
                  <a:srgbClr val="57068C"/>
                </a:solidFill>
              </a:rPr>
              <a:t>1.2%</a:t>
            </a:r>
          </a:p>
        </p:txBody>
      </p:sp>
      <p:sp>
        <p:nvSpPr>
          <p:cNvPr id="8" name="TextBox 7"/>
          <p:cNvSpPr txBox="1"/>
          <p:nvPr/>
        </p:nvSpPr>
        <p:spPr>
          <a:xfrm>
            <a:off x="502920" y="3227832"/>
            <a:ext cx="2377440" cy="548640"/>
          </a:xfrm>
          <a:prstGeom prst="rect">
            <a:avLst/>
          </a:prstGeom>
          <a:noFill/>
        </p:spPr>
        <p:txBody>
          <a:bodyPr wrap="square" anchor="t" lIns="0" rIns="0" tIns="0" bIns="0">
            <a:spAutoFit/>
          </a:bodyPr>
          <a:lstStyle/>
          <a:p>
            <a:pPr algn="ctr">
              <a:spcAft>
                <a:spcPts val="600"/>
              </a:spcAft>
            </a:pPr>
            <a:r>
              <a:rPr sz="1050" b="0" i="0">
                <a:solidFill>
                  <a:srgbClr val="333333"/>
                </a:solidFill>
              </a:rPr>
              <a:t>of our BP error comes from missing the solver's second peak</a:t>
            </a:r>
          </a:p>
        </p:txBody>
      </p:sp>
      <p:sp>
        <p:nvSpPr>
          <p:cNvPr id="9" name="TextBox 8"/>
          <p:cNvSpPr txBox="1"/>
          <p:nvPr/>
        </p:nvSpPr>
        <p:spPr>
          <a:xfrm>
            <a:off x="3337560" y="1005840"/>
            <a:ext cx="5440680" cy="3108960"/>
          </a:xfrm>
          <a:prstGeom prst="rect">
            <a:avLst/>
          </a:prstGeom>
          <a:noFill/>
        </p:spPr>
        <p:txBody>
          <a:bodyPr wrap="square" anchor="t" lIns="0" rIns="0" tIns="0" bIns="0">
            <a:spAutoFit/>
          </a:bodyPr>
          <a:lstStyle/>
          <a:p>
            <a:pPr algn="l" marL="182880" indent="-182880">
              <a:spcAft>
                <a:spcPts val="1200"/>
              </a:spcAft>
              <a:buClr>
                <a:srgbClr val="333333"/>
              </a:buClr>
              <a:buChar char="•"/>
            </a:pPr>
            <a:r>
              <a:rPr sz="1300" b="0" i="0">
                <a:solidFill>
                  <a:srgbClr val="333333"/>
                </a:solidFill>
              </a:rPr>
              <a:t>Solver noise: re-solving under photon noise barely moves the solver at bright pixels, so it is not the label.</a:t>
            </a:r>
          </a:p>
          <a:p>
            <a:pPr algn="l" marL="182880" indent="-182880">
              <a:spcAft>
                <a:spcPts val="1200"/>
              </a:spcAft>
              <a:buClr>
                <a:srgbClr val="333333"/>
              </a:buClr>
              <a:buChar char="•"/>
            </a:pPr>
            <a:r>
              <a:rPr sz="1300" b="0" i="0">
                <a:solidFill>
                  <a:srgbClr val="333333"/>
                </a:solidFill>
              </a:rPr>
              <a:t>Missed double peaks: small.</a:t>
            </a:r>
          </a:p>
          <a:p>
            <a:pPr algn="l" marL="182880" indent="-182880">
              <a:spcAft>
                <a:spcPts val="1200"/>
              </a:spcAft>
              <a:buClr>
                <a:srgbClr val="333333"/>
              </a:buClr>
              <a:buChar char="•"/>
            </a:pPr>
            <a:r>
              <a:rPr sz="1300" b="1" i="0">
                <a:solidFill>
                  <a:srgbClr val="57068C"/>
                </a:solidFill>
              </a:rPr>
              <a:t>What remains is the BP flare-core shortfall and the spurious peaks.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8</a:t>
            </a:r>
            <a:br/>
            <a:r>
              <a:rPr sz="4100"/>
              <a:t>Next steps</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What we learned, and what to decide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What we learned</a:t>
            </a:r>
          </a:p>
        </p:txBody>
      </p:sp>
      <p:sp>
        <p:nvSpPr>
          <p:cNvPr id="3" name="Rounded Rectangle 2"/>
          <p:cNvSpPr/>
          <p:nvPr/>
        </p:nvSpPr>
        <p:spPr>
          <a:xfrm>
            <a:off x="365760" y="10058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11338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1. Train on the objective</a:t>
            </a:r>
          </a:p>
        </p:txBody>
      </p:sp>
      <p:sp>
        <p:nvSpPr>
          <p:cNvPr id="5" name="TextBox 4"/>
          <p:cNvSpPr txBox="1"/>
          <p:nvPr/>
        </p:nvSpPr>
        <p:spPr>
          <a:xfrm>
            <a:off x="530352" y="14813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The solver's own objective reproduces its DEMs without labels.</a:t>
            </a:r>
          </a:p>
        </p:txBody>
      </p:sp>
      <p:sp>
        <p:nvSpPr>
          <p:cNvPr id="6" name="Rounded Rectangle 5"/>
          <p:cNvSpPr/>
          <p:nvPr/>
        </p:nvSpPr>
        <p:spPr>
          <a:xfrm>
            <a:off x="3230880" y="10058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95472" y="11338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2. Simple scales</a:t>
            </a:r>
          </a:p>
        </p:txBody>
      </p:sp>
      <p:sp>
        <p:nvSpPr>
          <p:cNvPr id="8" name="TextBox 7"/>
          <p:cNvSpPr txBox="1"/>
          <p:nvPr/>
        </p:nvSpPr>
        <p:spPr>
          <a:xfrm>
            <a:off x="3395472" y="14813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A centre-pixel MLP; the patch CNN never won on unseen days.</a:t>
            </a:r>
          </a:p>
        </p:txBody>
      </p:sp>
      <p:sp>
        <p:nvSpPr>
          <p:cNvPr id="9" name="Rounded Rectangle 8"/>
          <p:cNvSpPr/>
          <p:nvPr/>
        </p:nvSpPr>
        <p:spPr>
          <a:xfrm>
            <a:off x="6096000" y="10058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60592" y="11338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3. Size needs data</a:t>
            </a:r>
          </a:p>
        </p:txBody>
      </p:sp>
      <p:sp>
        <p:nvSpPr>
          <p:cNvPr id="11" name="TextBox 10"/>
          <p:cNvSpPr txBox="1"/>
          <p:nvPr/>
        </p:nvSpPr>
        <p:spPr>
          <a:xfrm>
            <a:off x="6260592" y="14813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With one fixed 30M-pixel sample, nothing above 176k helped; with fresh pixels, size pays off up to 360k.</a:t>
            </a:r>
          </a:p>
        </p:txBody>
      </p:sp>
      <p:sp>
        <p:nvSpPr>
          <p:cNvPr id="12" name="Rounded Rectangle 11"/>
          <p:cNvSpPr/>
          <p:nvPr/>
        </p:nvSpPr>
        <p:spPr>
          <a:xfrm>
            <a:off x="365760" y="26060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27340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4. Heavy tails</a:t>
            </a:r>
          </a:p>
        </p:txBody>
      </p:sp>
      <p:sp>
        <p:nvSpPr>
          <p:cNvPr id="14" name="TextBox 13"/>
          <p:cNvSpPr txBox="1"/>
          <p:nvPr/>
        </p:nvSpPr>
        <p:spPr>
          <a:xfrm>
            <a:off x="530352" y="30815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Report medians and percentiles: a handful of pixels can own the mean, or blow up.</a:t>
            </a:r>
          </a:p>
        </p:txBody>
      </p:sp>
      <p:sp>
        <p:nvSpPr>
          <p:cNvPr id="15" name="Rounded Rectangle 14"/>
          <p:cNvSpPr/>
          <p:nvPr/>
        </p:nvSpPr>
        <p:spPr>
          <a:xfrm>
            <a:off x="3230880" y="26060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95472" y="27340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5. The open failure</a:t>
            </a:r>
          </a:p>
        </p:txBody>
      </p:sp>
      <p:sp>
        <p:nvSpPr>
          <p:cNvPr id="17" name="TextBox 16"/>
          <p:cNvSpPr txBox="1"/>
          <p:nvPr/>
        </p:nvSpPr>
        <p:spPr>
          <a:xfrm>
            <a:off x="3395472" y="30815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BP flare cores. The model misses the hot channels there: a training problem.</a:t>
            </a:r>
          </a:p>
        </p:txBody>
      </p:sp>
      <p:sp>
        <p:nvSpPr>
          <p:cNvPr id="18" name="Rounded Rectangle 17"/>
          <p:cNvSpPr/>
          <p:nvPr/>
        </p:nvSpPr>
        <p:spPr>
          <a:xfrm>
            <a:off x="6096000" y="26060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0592" y="27340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6. Input encoding</a:t>
            </a:r>
          </a:p>
        </p:txBody>
      </p:sp>
      <p:sp>
        <p:nvSpPr>
          <p:cNvPr id="20" name="TextBox 19"/>
          <p:cNvSpPr txBox="1"/>
          <p:nvPr/>
        </p:nvSpPr>
        <p:spPr>
          <a:xfrm>
            <a:off x="6260592" y="30815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The supervised model's √ + Fourier input lifts ElasticNet past the supervised model; on BP it changes nothing.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Next</a:t>
            </a:r>
          </a:p>
        </p:txBody>
      </p:sp>
      <p:sp>
        <p:nvSpPr>
          <p:cNvPr id="3" name="Rounded Rectangle 2"/>
          <p:cNvSpPr/>
          <p:nvPr/>
        </p:nvSpPr>
        <p:spPr>
          <a:xfrm>
            <a:off x="365760" y="100584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113385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Flare cores</a:t>
            </a:r>
          </a:p>
        </p:txBody>
      </p:sp>
      <p:sp>
        <p:nvSpPr>
          <p:cNvPr id="5" name="TextBox 4"/>
          <p:cNvSpPr txBox="1"/>
          <p:nvPr/>
        </p:nvSpPr>
        <p:spPr>
          <a:xfrm>
            <a:off x="530352" y="1481328"/>
            <a:ext cx="3785616" cy="914400"/>
          </a:xfrm>
          <a:prstGeom prst="rect">
            <a:avLst/>
          </a:prstGeom>
          <a:noFill/>
        </p:spPr>
        <p:txBody>
          <a:bodyPr wrap="square" anchor="t" lIns="0" rIns="0" tIns="0" bIns="0">
            <a:spAutoFit/>
          </a:bodyPr>
          <a:lstStyle/>
          <a:p>
            <a:pPr algn="l">
              <a:spcAft>
                <a:spcPts val="600"/>
              </a:spcAft>
            </a:pPr>
            <a:r>
              <a:rPr sz="1300" b="0" i="0">
                <a:solidFill>
                  <a:srgbClr val="333333"/>
                </a:solidFill>
              </a:rPr>
              <a:t>BP: oversample or up-weight the brightest pixels. ElasticNet: keep big models from blowing up on rare pixels.</a:t>
            </a:r>
          </a:p>
        </p:txBody>
      </p:sp>
      <p:sp>
        <p:nvSpPr>
          <p:cNvPr id="6" name="Rounded Rectangle 5"/>
          <p:cNvSpPr/>
          <p:nvPr/>
        </p:nvSpPr>
        <p:spPr>
          <a:xfrm>
            <a:off x="4663440" y="100584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828032" y="113385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Validate on every pixel</a:t>
            </a:r>
          </a:p>
        </p:txBody>
      </p:sp>
      <p:sp>
        <p:nvSpPr>
          <p:cNvPr id="8" name="TextBox 7"/>
          <p:cNvSpPr txBox="1"/>
          <p:nvPr/>
        </p:nvSpPr>
        <p:spPr>
          <a:xfrm>
            <a:off x="4828032" y="1481328"/>
            <a:ext cx="3785616" cy="914400"/>
          </a:xfrm>
          <a:prstGeom prst="rect">
            <a:avLst/>
          </a:prstGeom>
          <a:noFill/>
        </p:spPr>
        <p:txBody>
          <a:bodyPr wrap="square" anchor="t" lIns="0" rIns="0" tIns="0" bIns="0">
            <a:spAutoFit/>
          </a:bodyPr>
          <a:lstStyle/>
          <a:p>
            <a:pPr algn="l">
              <a:spcAft>
                <a:spcPts val="600"/>
              </a:spcAft>
            </a:pPr>
            <a:r>
              <a:rPr sz="1300" b="0" i="0">
                <a:solidFill>
                  <a:srgbClr val="333333"/>
                </a:solidFill>
              </a:rPr>
              <a:t>A sampled validation set missed the ElasticNet blow-ups; score all pixels.</a:t>
            </a:r>
          </a:p>
        </p:txBody>
      </p:sp>
      <p:sp>
        <p:nvSpPr>
          <p:cNvPr id="9" name="Rounded Rectangle 8"/>
          <p:cNvSpPr/>
          <p:nvPr/>
        </p:nvSpPr>
        <p:spPr>
          <a:xfrm>
            <a:off x="365760" y="265176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277977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Direct DEM output</a:t>
            </a:r>
          </a:p>
        </p:txBody>
      </p:sp>
      <p:sp>
        <p:nvSpPr>
          <p:cNvPr id="11" name="TextBox 10"/>
          <p:cNvSpPr txBox="1"/>
          <p:nvPr/>
        </p:nvSpPr>
        <p:spPr>
          <a:xfrm>
            <a:off x="530352" y="3127248"/>
            <a:ext cx="3785616" cy="914400"/>
          </a:xfrm>
          <a:prstGeom prst="rect">
            <a:avLst/>
          </a:prstGeom>
          <a:noFill/>
        </p:spPr>
        <p:txBody>
          <a:bodyPr wrap="square" anchor="t" lIns="0" rIns="0" tIns="0" bIns="0">
            <a:spAutoFit/>
          </a:bodyPr>
          <a:lstStyle/>
          <a:p>
            <a:pPr algn="l">
              <a:spcAft>
                <a:spcPts val="600"/>
              </a:spcAft>
            </a:pPr>
            <a:r>
              <a:rPr sz="1300" b="0" i="0">
                <a:solidFill>
                  <a:srgbClr val="333333"/>
                </a:solidFill>
              </a:rPr>
              <a:t>Predict the 18 bins instead of 54 basis weights (deferred).</a:t>
            </a:r>
          </a:p>
        </p:txBody>
      </p:sp>
      <p:sp>
        <p:nvSpPr>
          <p:cNvPr id="12" name="Rounded Rectangle 11"/>
          <p:cNvSpPr/>
          <p:nvPr/>
        </p:nvSpPr>
        <p:spPr>
          <a:xfrm>
            <a:off x="4663440" y="265176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28032" y="277977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Uncertainty, AIA + XRT</a:t>
            </a:r>
          </a:p>
        </p:txBody>
      </p:sp>
      <p:sp>
        <p:nvSpPr>
          <p:cNvPr id="14" name="TextBox 13"/>
          <p:cNvSpPr txBox="1"/>
          <p:nvPr/>
        </p:nvSpPr>
        <p:spPr>
          <a:xfrm>
            <a:off x="4828032" y="3127248"/>
            <a:ext cx="3785616" cy="914400"/>
          </a:xfrm>
          <a:prstGeom prst="rect">
            <a:avLst/>
          </a:prstGeom>
          <a:noFill/>
        </p:spPr>
        <p:txBody>
          <a:bodyPr wrap="square" anchor="t" lIns="0" rIns="0" tIns="0" bIns="0">
            <a:spAutoFit/>
          </a:bodyPr>
          <a:lstStyle/>
          <a:p>
            <a:pPr algn="l">
              <a:spcAft>
                <a:spcPts val="600"/>
              </a:spcAft>
            </a:pPr>
            <a:r>
              <a:rPr sz="1300" b="0" i="0">
                <a:solidFill>
                  <a:srgbClr val="333333"/>
                </a:solidFill>
              </a:rPr>
              <a:t>A distribution over DEMs from the noisy re-solves; XRT for the hot plasma.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For discussion</a:t>
            </a:r>
          </a:p>
        </p:txBody>
      </p:sp>
      <p:sp>
        <p:nvSpPr>
          <p:cNvPr id="3" name="TextBox 2"/>
          <p:cNvSpPr txBox="1"/>
          <p:nvPr/>
        </p:nvSpPr>
        <p:spPr>
          <a:xfrm>
            <a:off x="365760" y="1005840"/>
            <a:ext cx="8412480" cy="3383280"/>
          </a:xfrm>
          <a:prstGeom prst="rect">
            <a:avLst/>
          </a:prstGeom>
          <a:noFill/>
        </p:spPr>
        <p:txBody>
          <a:bodyPr wrap="square" anchor="t" lIns="0" rIns="0" tIns="0" bIns="0">
            <a:spAutoFit/>
          </a:bodyPr>
          <a:lstStyle/>
          <a:p>
            <a:pPr algn="l" marL="182880" indent="-182880">
              <a:spcAft>
                <a:spcPts val="1400"/>
              </a:spcAft>
              <a:buClr>
                <a:srgbClr val="333333"/>
              </a:buClr>
              <a:buChar char="•"/>
            </a:pPr>
            <a:r>
              <a:rPr sz="1400" b="0" i="0">
                <a:solidFill>
                  <a:srgbClr val="333333"/>
                </a:solidFill>
              </a:rPr>
              <a:t>Which metric should lead the paper? DEM MSE is set by 0.01% of pixels; the median, W1 and AIA reconstruction tell a different story.</a:t>
            </a:r>
          </a:p>
          <a:p>
            <a:pPr algn="l" marL="182880" indent="-182880">
              <a:spcAft>
                <a:spcPts val="1400"/>
              </a:spcAft>
              <a:buClr>
                <a:srgbClr val="333333"/>
              </a:buClr>
              <a:buChar char="•"/>
            </a:pPr>
            <a:r>
              <a:rPr sz="1400" b="0" i="0">
                <a:solidFill>
                  <a:srgbClr val="333333"/>
                </a:solidFill>
              </a:rPr>
              <a:t>Is fixing flare cores worth changing the training objective, or do we report it as the known limitation?</a:t>
            </a:r>
          </a:p>
          <a:p>
            <a:pPr algn="l" marL="182880" indent="-182880">
              <a:spcAft>
                <a:spcPts val="1400"/>
              </a:spcAft>
              <a:buClr>
                <a:srgbClr val="333333"/>
              </a:buClr>
              <a:buChar char="•"/>
            </a:pPr>
            <a:r>
              <a:rPr sz="1400" b="0" i="0">
                <a:solidFill>
                  <a:srgbClr val="333333"/>
                </a:solidFill>
              </a:rPr>
              <a:t>Next model change: up-weight flare cores, or predict the 18 bins directly?</a:t>
            </a:r>
          </a:p>
          <a:p>
            <a:pPr algn="l" marL="182880" indent="-182880">
              <a:spcAft>
                <a:spcPts val="1400"/>
              </a:spcAft>
              <a:buClr>
                <a:srgbClr val="333333"/>
              </a:buClr>
              <a:buChar char="•"/>
            </a:pPr>
            <a:r>
              <a:rPr sz="1400" b="0" i="0">
                <a:solidFill>
                  <a:srgbClr val="333333"/>
                </a:solidFill>
              </a:rPr>
              <a:t>Is AIA + XRT in scope for this paper?</a:t>
            </a:r>
          </a:p>
        </p:txBody>
      </p:sp>
    </p:spTree>
  </p:cSld>
  <p:clrMapOvr>
    <a:masterClrMapping/>
  </p:clrMapOvr>
</p:sld>
</file>

<file path=ppt/theme/theme1.xml><?xml version="1.0" encoding="utf-8"?>
<a:theme xmlns:a="http://schemas.openxmlformats.org/drawingml/2006/main" xmlns:r="http://schemas.openxmlformats.org/officeDocument/2006/relationships" name="NYU Elegant">
  <a:themeElements>
    <a:clrScheme name="Simple Light">
      <a:dk1>
        <a:srgbClr val="57068C"/>
      </a:dk1>
      <a:lt1>
        <a:srgbClr val="FFFFFF"/>
      </a:lt1>
      <a:dk2>
        <a:srgbClr val="333333"/>
      </a:dk2>
      <a:lt2>
        <a:srgbClr val="E3DFE9"/>
      </a:lt2>
      <a:accent1>
        <a:srgbClr val="9A6ABA"/>
      </a:accent1>
      <a:accent2>
        <a:srgbClr val="330662"/>
      </a:accent2>
      <a:accent3>
        <a:srgbClr val="007E8A"/>
      </a:accent3>
      <a:accent4>
        <a:srgbClr val="E97300"/>
      </a:accent4>
      <a:accent5>
        <a:srgbClr val="799A05"/>
      </a:accent5>
      <a:accent6>
        <a:srgbClr val="C50F3C"/>
      </a:accent6>
      <a:hlink>
        <a:srgbClr val="57068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