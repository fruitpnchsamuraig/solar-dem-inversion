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18"/>
    <p:sldId id="259" r:id="rId19"/>
    <p:sldId id="260"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 id="278" r:id="rId38"/>
    <p:sldId id="279" r:id="rId39"/>
    <p:sldId id="280" r:id="rId40"/>
    <p:sldId id="281" r:id="rId41"/>
    <p:sldId id="282" r:id="rId42"/>
    <p:sldId id="283" r:id="rId43"/>
    <p:sldId id="284" r:id="rId44"/>
    <p:sldId id="285" r:id="rId45"/>
    <p:sldId id="286" r:id="rId46"/>
    <p:sldId id="287" r:id="rId47"/>
    <p:sldId id="288" r:id="rId48"/>
    <p:sldId id="289" r:id="rId49"/>
    <p:sldId id="290" r:id="rId50"/>
  </p:sldIdLst>
  <p:sldSz cy="5143500" cx="9144000"/>
  <p:notesSz cx="6858000" cy="9144000"/>
  <p:embeddedFontLst>
    <p:embeddedFont>
      <p:font typeface="Montserrat SemiBold"/>
      <p:regular r:id="rId8"/>
      <p:bold r:id="rId9"/>
      <p:italic r:id="rId10"/>
      <p:boldItalic r:id="rId11"/>
    </p:embeddedFont>
    <p:embeddedFont>
      <p:font typeface="Montserrat"/>
      <p:regular r:id="rId12"/>
      <p:bold r:id="rId13"/>
      <p:italic r:id="rId14"/>
      <p:boldItalic r:id="rId15"/>
    </p:embeddedFont>
    <p:embeddedFont>
      <p:font typeface="Frank Ruhl Libre"/>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MontserratSemiBold-regular.fntdata"/><Relationship Id="rId9" Type="http://schemas.openxmlformats.org/officeDocument/2006/relationships/font" Target="fonts/MontserratSemiBold-bold.fntdata"/><Relationship Id="rId10" Type="http://schemas.openxmlformats.org/officeDocument/2006/relationships/font" Target="fonts/MontserratSemiBold-italic.fntdata"/><Relationship Id="rId11" Type="http://schemas.openxmlformats.org/officeDocument/2006/relationships/font" Target="fonts/MontserratSemiBold-boldItalic.fntdata"/><Relationship Id="rId12" Type="http://schemas.openxmlformats.org/officeDocument/2006/relationships/font" Target="fonts/Montserrat-regular.fntdata"/><Relationship Id="rId13" Type="http://schemas.openxmlformats.org/officeDocument/2006/relationships/font" Target="fonts/Montserrat-bold.fntdata"/><Relationship Id="rId14" Type="http://schemas.openxmlformats.org/officeDocument/2006/relationships/font" Target="fonts/Montserrat-italic.fntdata"/><Relationship Id="rId15" Type="http://schemas.openxmlformats.org/officeDocument/2006/relationships/font" Target="fonts/Montserrat-boldItalic.fntdata"/><Relationship Id="rId16" Type="http://schemas.openxmlformats.org/officeDocument/2006/relationships/font" Target="fonts/FrankRuhlLibre-regular.fntdata"/><Relationship Id="rId17" Type="http://schemas.openxmlformats.org/officeDocument/2006/relationships/font" Target="fonts/FrankRuhlLibre-bold.fntdata"/><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slide" Target="slides/slide31.xml"/><Relationship Id="rId47" Type="http://schemas.openxmlformats.org/officeDocument/2006/relationships/slide" Target="slides/slide32.xml"/><Relationship Id="rId48" Type="http://schemas.openxmlformats.org/officeDocument/2006/relationships/slide" Target="slides/slide33.xml"/><Relationship Id="rId49" Type="http://schemas.openxmlformats.org/officeDocument/2006/relationships/slide" Target="slides/slide34.xml"/><Relationship Id="rId50"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50" b="1"/>
              <a:t>Median pixel error on test (BP, log1p, μ = 1)</a:t>
            </a:r>
          </a:p>
        </c:rich>
      </c:tx>
      <c:layout/>
      <c:overlay val="0"/>
    </c:title>
    <c:autoTitleDeleted val="0"/>
    <c:plotArea>
      <c:lineChart>
        <c:grouping val="standard"/>
        <c:varyColors val="0"/>
        <c:ser>
          <c:idx val="0"/>
          <c:order val="0"/>
          <c:tx>
            <c:strRef>
              <c:f>Sheet1!$B$1</c:f>
              <c:strCache>
                <c:ptCount val="1"/>
                <c:pt idx="0">
                  <c:v>BP median pixel error</c:v>
                </c:pt>
              </c:strCache>
            </c:strRef>
          </c:tx>
          <c:spPr>
            <a:ln w="25400">
              <a:solidFill>
                <a:srgbClr val="57068C"/>
              </a:solidFill>
            </a:ln>
          </c:spPr>
          <c:marker>
            <c:symbol val="circle"/>
            <c:size val="6"/>
            <c:spPr>
              <a:solidFill>
                <a:srgbClr val="57068C"/>
              </a:solidFill>
              <a:ln>
                <a:solidFill>
                  <a:srgbClr val="57068C"/>
                </a:solidFill>
              </a:ln>
            </c:spPr>
          </c:marker>
          <c:dPt>
            <c:idx val="4"/>
            <c:marker>
              <c:symbol val="circle"/>
              <c:size val="13"/>
              <c:spPr>
                <a:solidFill>
                  <a:srgbClr val="57068C"/>
                </a:solidFill>
                <a:ln>
                  <a:solidFill>
                    <a:srgbClr val="57068C"/>
                  </a:solidFill>
                </a:ln>
              </c:spPr>
            </c:marker>
          </c:dPt>
          <c:cat>
            <c:strRef>
              <c:f>Sheet1!$A$2:$A$8</c:f>
              <c:strCache>
                <c:ptCount val="7"/>
                <c:pt idx="0">
                  <c:v>20k</c:v>
                </c:pt>
                <c:pt idx="1">
                  <c:v>42k</c:v>
                </c:pt>
                <c:pt idx="2">
                  <c:v>87k</c:v>
                </c:pt>
                <c:pt idx="3">
                  <c:v>176k</c:v>
                </c:pt>
                <c:pt idx="4">
                  <c:v>360k</c:v>
                </c:pt>
                <c:pt idx="5">
                  <c:v>722k</c:v>
                </c:pt>
                <c:pt idx="6">
                  <c:v>1.43M</c:v>
                </c:pt>
              </c:strCache>
            </c:strRef>
          </c:cat>
          <c:val>
            <c:numRef>
              <c:f>Sheet1!$B$2:$B$8</c:f>
              <c:numCache>
                <c:formatCode>General</c:formatCode>
                <c:ptCount val="7"/>
                <c:pt idx="0">
                  <c:v>0.068</c:v>
                </c:pt>
                <c:pt idx="1">
                  <c:v>0.047</c:v>
                </c:pt>
                <c:pt idx="2">
                  <c:v>0.043</c:v>
                </c:pt>
                <c:pt idx="3">
                  <c:v>0.03</c:v>
                </c:pt>
                <c:pt idx="4">
                  <c:v>0.026</c:v>
                </c:pt>
                <c:pt idx="5">
                  <c:v>0.025</c:v>
                </c:pt>
                <c:pt idx="6">
                  <c:v>0.023</c:v>
                </c:pt>
              </c:numCache>
            </c:numRef>
          </c:val>
          <c:smooth val="0"/>
        </c:ser>
        <c:dLbls>
          <c:numFmt formatCode="0.000" sourceLinked="0"/>
          <c:txPr>
            <a:bodyPr/>
            <a:lstStyle/>
            <a:p>
              <a:pPr>
                <a:defRPr sz="900"/>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900"/>
            </a:pPr>
          </a:p>
        </c:txPr>
        <c:crossAx val="2140495176"/>
        <c:crosses val="autoZero"/>
        <c:auto val="1"/>
        <c:lblAlgn val="ctr"/>
        <c:lblOffset val="100"/>
        <c:noMultiLvlLbl val="0"/>
      </c:catAx>
      <c:valAx>
        <c:axId val="2140495176"/>
        <c:scaling>
          <c:max val="0.08"/>
          <c:min val="0.0"/>
        </c:scaling>
        <c:delete val="0"/>
        <c:axPos val="l"/>
        <c:majorGridlines>
          <c:spPr>
            <a:ln>
              <a:solidFill>
                <a:srgbClr val="ECEBE8"/>
              </a:solidFill>
            </a:ln>
          </c:spPr>
        </c:majorGridlines>
        <c:majorTickMark val="out"/>
        <c:minorTickMark val="none"/>
        <c:tickLblPos val="nextTo"/>
        <c:txPr>
          <a:bodyPr/>
          <a:lstStyle/>
          <a:p>
            <a:pPr>
              <a:defRPr sz="9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 min] Four things to remember; the rest of the talk is the evidence. One: we never train on a solver DEM. The network minimises the solver's own objective, and solver DEMs are only used to score. Two: a 400k-parameter MLP on one pixel's six intensities is enough; bigger models fail on rare pixels. Three: against the supervised model, which trained on the same solver's DEMs and is scored on the same pixels, we are ahead on every ElasticNet measure and on four of six BP measures. Four: the one place BP lost, flare cores, was the loss and not training, and a stiffer noise band fixed it. If asked: the final models are one MLP of width 336 per track, square root plus Fourier input, fresh pixels every epoch; BP trains on the stiff band for 120 plus 120 epochs, ElasticNet for 40. Without flare cores our BP DEM MSE is 0.102 against supervised's 0.091.</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 min] Both solvers run one optimisation per pixel. A supervised network copies their DEMs, so it needs them as labels. A label-free network minimises the same objective directly, so it never sees a solver DEM; we use those only to evaluate. That is the point of this slide. If asked: our network outputs 54 basis weights, as the solvers do, and the DEM is B times w; the supervised model outputs the 18 DEM values directly.</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[1.5 min] Six intensities in, encoded as the supervised model does it: square root, then 12 Fourier frequencies, 150 inputs. Four hidden layers of 336 with SiLU, 54 non-negative basis weights out. The 54 weights matter: neither solver solves for the 18 bins directly. Both solve for weights on a fixed basis, a spike and two Gaussians at each bin, and report DEM = B times w. Predicting the same weights means the network searches the same space of DEMs the solver does, and BP's sparsity means the same thing for both. B and R are fixed; only the MLP is learned. If asked: 409k parameters, width chosen in Part 2; with the earlier log1p input the same width was 360k.</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[1.5 min] The BP loss is the solver's objective: the sum of the 54 weights plus a band penalty that is zero inside the noise band, o plus or minus 1.4 sigma, and quadratic outside. There is no fit term inside the band, so any DEM within noise is equally good and sparsity breaks the tie, exactly as BP does. One difference to hold on to for Part 4: BP treats the band as a rule, our loss treats it as a price, set by the band weight mu. It was 1; the final model uses 100. ElasticNet is the solver's own objective with its settings: alpha 0.001, l1 ratio 0.5, C equal to the six channels. If asked: t = 1.4 is the solver's first tolerance level; sigma comes from the AIA error model.</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[1.5 min] Two years of full-disk AIA, 1,223 images, deconvolved, with a noise sigma per pixel and channel, split in time: train to June 2015, validation to September, test to December, so every test image is later than anything trained on. Training sees AIA and sigma only, with fresh pixels every epoch. Solver DEMs exist for every image: labels for the supervised model, evaluation only for us. We score on the supervised side's protocol: 153 test days, the same pixels and the same Bright cutoffs, five solver targets per image. Scores: DEM against the solver, AIA reconstruction against the observation, and, because the error is heavy-tailed, medians and percentiles. If asked: each image keeps a random 64 of its 256 blocks, chosen once; every epoch takes 512 fresh pixels from each, 30M in all. The noisy targets come from adding Gaussian noise of half sigma to the AIA before the solve; the input stays the clean AIA, so they measure the solver's own scatter, the same floor for both models. About 800M pixel-targets per solver, 705M where BP returned an answer. Pixels where deconvolution clamped a bright channel to zero, about 5%, are left out of training only. Off-disk corona pixels are real data and are used. Runs before October reused one fixed 30M-pixel sample through a seeding bug, fixed since.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[1.5 min] On four images the patch CNN looked better than a per-pixel MLP, but that edge came from scoring pixels of images it had trained on; on held-out days it disappeared. At full scale, matched at 1.5M parameters, the MLP wins the training objective on both tracks and at every percentile. The CNN only reconstructs BP's AIA slightly better. This is the fifth comparison and none found a CNN advantage on unseen days, so the final model takes one pixel and no neighbourhood. On ElasticNet the MLP is lower at every percentile; the 4x gap in the mean is mostly a few CNN pixels, whose worst 0.1% hold 73% of its loss. If asked: the CNN sees a 9 by 9 patch, three 3 by 3 convolutions of 64 channels, then 256, 256 and 54, 1.48M parameters, against the width-680 MLP at 1.43M; the small-data story, the ablation and leave-one-day-out are in the appendix; validation agrees with test, BP 2.155 against 2.248, ElasticNet 0.0528 against 0.0683.</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[1.5 min] We choose on the validation days: the training loss computed there, no solver DEM needed. For BP, width 336 is the validation best; 1.43M ties but only nudges the typical pixel at four times the size, and on the stiff band it blows up on a few flare-core pixels. ElasticNet is the one exception, and worth saying plainly: validation preferred the bigger models, but from 722k up they blow up on a handful of bright pixels, by orders of magnitude, that the validation sample never contained. We saw it on the test set, so 336 is the largest width that does not blow up; validating on every pixel is the clean fix. The input encoding is chosen on validation too: square root plus Fourier wins for ElasticNet by 7% and, on the stiff band, for BP. If asked: the chart is test numbers from the log1p sweep; BP validation 2.148 at 336 against 2.155 at 1.43M; ElasticNet validation 0.0575, 0.0533 and 0.0528 at 336, 722k and 1.43M, test DEM MSE 0.48, 3.24 and 36.2, AIA MSE 650, 41,849 and 908,611; the validation sample is about 131k pixels; the 10M models blew up on both tracks; 409k parameters with the 150 encoded inputs.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 min] Same solver DEMs, same test pixels; the supervised model trained on those DEMs, ours never saw one. ElasticNet: we win all six, DEM MAE and MSE included. BP: we win DEM MAE, total- emission error, W1 and AIA MSE; supervised keeps DEM MSE and AIA MAE. DEM MSE is the one to explain, and Part 4 does: it is set by flare cores. If asked: the BP row is the stiff-band model; the old BP final had DEM MSE 4.28, EM error 19.6%, W1 0.083, AIA MSE 83. EM error is the total-emission error; W1 is in dex.</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[1.5 min] Per-pixel error is the squared error summed over the 18 bins. On the typical BP pixel we are three times closer to the solver than the supervised model, 0.036 against 0.112, and up to the 99th percentile we are level or ahead. The gap opens in the last 0.1%, the flare cores, and because the error is so heavy-tailed those pixels set the mean: the worst 1% hold 98% of our BP error and 95% of supervised's. ElasticNet: better at the median, p99 and p99.9. If asked: BP p90 1.9 against 1.9, p99 25 against 27, p99.9 170 against 162; ElasticNet median 0.85 against 1.12, p99 30 against 35, p99.9 102 against 178; the old BP final had median 0.026 and p99 71.</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 min, a recap: this is where the last meeting left off] The old BP model, width 336 with log1p input, mu = 1 and 40 epochs: flare cores, pixels at 32 times the Bright cutoff, are one in ten thousand and held 90% of its DEM error, supervised's too. There it held 40% of the solver's emission, peaked a quarter as high, 0.2 dex too cool, with extra peaks on 83% of curves. The clue: it fit the cool channels to a few percent but reproduced only 23% of 94 A, so the hot plasma was missing. We read it as a training problem, and that is where the suggestions came from: oversample, train longer, go bigger. If asked: solver noise is 0.4% of the Bright error and missed second peaks 1.2%, both ruled out; the figure is the old model at random flare cores, black solver, blue ours, orange supervised.</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 min] We ran all three on the original loss, on the square root plus Fourier input. Away from flare cores all four score the same. At flare cores oversampling and the 10M model make things worse, and 120 epochs moves emission from 35% to 37%. Training harder does not help, so the loss itself needed checking. If asked: oversampling draws pixels in proportion to brightness, 8.5 times more flare cores; the 10M model is 1,800 wide; the base DEM MSE of 4.56 is the square root plus Fourier model, the log1p final was 4.28; the solver reproduces 92% of 94 A at flare cores.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 min] Forget the network. For one pixel, which 54 weights give the lowest possible loss? The loss is convex in the weights, so a solver finds that bottom, and no network can beat it on that pixel. We did this on 12,000 validation pixels, 6,000 of them flare cores, and scored four answers under the same loss. The network sits 1 to 4% above its best answer, 8% at flare cores: training had converged. And the best answer itself reproduces only 26% of 94 A. Look at the two terms: the solver's DEM keeps every channel in band, penalty 6, but pays 1,119 in sparsity for the hot plasma; the best answer drops it. Our loss rates the solver's DEM 2.4 times worse than a DEM without the hot plasma, so every training step moves away from the solver there. The loss, not training, was the limit. If asked: this also explains the 15% emission shortfall at ordinary pixels, where the best answer holds 82 to 86% of the solver's emission; the supervised DEM scores worst under our loss yet is closest to the solver.</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 min] Why does the loss drop it? The solver's band is a rule; ours is a price: sparsity plus mu times the band penalty, with mu = 1. The response table: a unit of warm plasma lights 171, 193 and 211 A by tens of DN/s, so it has to be in the DEM anyway and its 94 A comes free. A unit of hot plasma lights no channel by more than 0.4 DN/s, so a bright 94 A reading needs hundreds of units, all paid by the sparsity term. The worked example at a typical flare core: putting the hot plasma in costs 245 by the cheapest shape (616 as a single spike), leaving it out costs 85, so the best answer leaves it out. At mu = 100 leaving it out costs 8,500 and the plasma goes back in. If asked: one unit is 10^26 cm^-5 of emission measure, the DEM's own unit; the plasma is never measured, AIA measures DN/s and R is a fixed table; the full response per unit, warm (logT 6.0 to 6.1): 94 A 0.2, 131 A 0.5 to 1.2, 171 A 36 to 95, 193 A 29 to 55, 211 A 5 to 7, 335 A 0.4; hot (logT 6.9): 0.266, 0.40, 0.05, 0.34, 0.08, 0.05; the band itself is sound, the noise follows photon counting; brighter pixels draw more of their 94 A from hot plasma, which is why the share dropped grows with brightness: the best answer reproduces 91% at 1 to 1.8x the Bright level, 44% at 10 to 32x, 26% at flare cores.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[1.5 min] The screen tests the loss, not the network: for each candidate mu we solved every validation pixel's best answer and scored it against the solver. It answers: if a network learned this loss perfectly, how close to the solver would it get? Stiffer helps bright pixels and costs faint ones, where the band is mostly noise, so Quiet error is lowest near 30 and rises beyond. mu = 100 takes most of the gain with Quiet error still below the supervised model's. On the choice: mu is one scalar chosen on validation, as any loss weight would be; training never sees a DEM; and the 94 A column, which needs no solver DEM, plateaus at 100. If asked: mu = 300 lowers DEM error from 2.32 to 1.80 but raises Quiet error to 0.048, and trained behind 100 at matched epochs; a second candidate, mu = 30 with the sparsity term divided by root brightness, screened well but trained worse (validation 22.4 against 20.1); validation holds more flare cores than the test set, so these values run higher than the test numbers.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[1.5 min] Trained on the stiff band: the band alone halves DEM MSE and lifts flare-core emission from 35% to 89%. Now the network sits far above its best answer, 118% at flare cores after 40 epochs, so training is the limit and longer training helps. 120 epochs, then 120 more continued from that checkpoint, is the final model: DEM MSE 1.75, AIA MSE 103, below supervised's 157. 240 from scratch gets the same DEM gains but breaks the band on a few rare pixels, AIA MSE 591. Oversampling still hurts and bigger models blow up. If asked: the gap after 120 epochs is 47%; 240 from scratch has a band penalty at the validation flare cores 130 times the 120-epoch model's, the continuation 13 times; log1p is worse here, 3.23; no gradient clip fits AIA better but worsens every DEM measure; an epoch is about 145 s on one GPU, so 240 epochs is about 10 hours.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 min] Flare cores now: 93% of the solver's emission, supervised 92%; 94 A at 77% against the solver's 92% and supervised's 85%; peak height two thirds of the solver's; no temperature shift; extra peaks on 25% of curves, the solver has them on 18%. Spurious peaks were 42% of the old error and are 3.5% now. The figure is the same random draw as the failure slide. If asked: W1 at flare cores went from 0.25 to 0.03 dex; it tracks the solver's peak height to about 100 and reaches 40% above 3,000; 131 A is at 101%.</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 min] Against supervised by brightness we are now at 0.55 on the faintest pixels, about 1 through the ordinary bright range, and 2 at flare cores; the old model was at 18 there. Flare cores still hold 94% of our BP error and set the DEM MSE gap. The remaining shortfall is 94 A at 77% against 92%; everything else is at 100%. Longer training keeps closing it: 240 from scratch cut the flare-core error another 13% but started to misfit a few pixels' AIA; a third continuation is untested. The loss was the limit; training is now the limit, and it still has room. If asked: why the median pixel error rose from 0.026 to 0.036 while Quiet MSE fell from 0.058 to 0.032 is open.</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 min] Six lessons. The two new ones are 2 and 4: check the loss before changing the training, and size has a ceiling. The others carry over: train on the objective, the simplest model scales, report medians and percentiles, and the input encoding matters.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 min] Next: keep training BP, watching the AIA fit on rare pixels; validate on every pixel, because the sampled validation set missed the blow-ups; direct 18-bin output, deferred so far; uncertainty from the noisy re-solves, and XRT for the hot plasma.</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rest] Three questions. One: which metric leads the paper; DEM MSE is set by 0.01% of pixels, and up to the 99th percentile we are level or ahead on BP. Two: train longer or freeze at 1.9 times the supervised DEM MSE. Three: is AIA plus XRT in scope. If the band weight comes up: one scalar, chosen on validation like any loss weight; training never sees a DEM; the 94 A column of the screen, which needs no solver DEM, picks the same value.</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Before any network, five losses optimised directly per pixel on 4 timestamps. Averages: AIA MAE against the observation, BP 5.2, band penalty 5.0, band penalty plus fit 2.6, fit-only 0.40 to 0.44. DEM MAE against BP: band penalty 0.034, band penalty plus fit 0.043, fit-only 0.18 to 0.20. W1 on the brightest 5% of pixels: 0.030 and 0.033 against 0.15 to 0.18. Six equations, eighteen unknowns: many DEMs fit within noise, so whatever breaks the tie decides the shape. L-BFGS and Adam reach the same curves; SGD often fails to converge.</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June write-up called the first MLP's curves noisy and oscillating, but no figure of them survives and its checkpoint was not kept. Retrained with the unchanged June code, its curves are smooth: none has three or more peaks. The real difference is accuracy, on 400 held-out pixels per image: mean DEM error against BP 0.078 against the CNN's 0.047, W1 0.055 against 0.048 dex. It had even seen these pixels in training. It is the same architecture as today's production model, at width 256 with raw intensities.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shuffled-patch CNN applies a fixed random permutation to the 81 patch pixels. It was less sparse than the CNN on all 4 images, 1.88 against 1.70 on average, level with the centre-pixel MLP, so the spatial arrangement of the neighbours mattered. The flat-patch MLP was erratic across images: 1.61 on the X2.1 flare, 2.27 on quiet Sun. The centre-pixel MLP was closest to BP on 3 of 4 images; the CNN on the X1.6 flare. So the CNN's lower sparsity did not mean DEMs closer to BP. Capacity and input scaling were not separated: the 213k MLP took raw intensities, and at full scale MLPs on log1p inputs does well.</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Closer to BP's sparsity: the CNN on 2 images, the MLP on 1, one tie; the MLP is closer on average, 0.19 against 0.25, because of the X1.6 flare image. Held-out sparsity by fold, MLP against CNN, with BP in brackets: X2.1 flare 1.59 vs 1.64 (1.97); quiet Sun 1.78 vs 1.61 (1.67); moderate 1.83 vs 1.83 (1.82); X1.6 flare 1.96 vs 2.31 (1.71). The ablation's in-sample edge, 1.70 vs 1.89, came from scoring pixels of images the model trained on. Four folds is a small sample; scaling is the real test.</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submissions died the same way before the fix; the cause was visible at step 0, before any weight update. Gradient clipping does not help, because Adam normalises the step size.</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Bright cutoffs and the test set come from the supervised side's protocol, so both models are scored on identical pixels. W1 treats each DEM as a distribution over logT.</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ElasticNet final: width 336 (409k parameters with the square root plus Fourier input), fresh pixels, 40 epochs, the solver's alpha 0.001, l1 ratio 0.5, C = 6. The input encoding was chosen on validation (0.0533 against log1p's 0.0575) and lifted it past the supervised model on every measure: DEM MAE 0.151 vs 0.188, DEM MSE 0.310 vs 0.318, EM error 12.2% vs 18.0%, W1 0.103 vs 0.121, AIA MAE 0.56 vs 6.32, AIA MSE 161 vs 598; median pixel error 0.85 vs 1.12, p99 30 vs 35, p99.9 102 vs 178. Flare cores (32x the Bright cutoff and above) are 0.01% of pixels and hold 44% of the ElasticNet error (supervised 34%), but they are not a failure of the kind BP had: the ElasticNet fit term is quadratic, there is no band to price, and the model reproduces the channels as the ElasticNet solver itself does (94 A 53% against the solver's 55%, 131 A 80% against 78%, 171 A 97% against 100%). From 722k parameters up, a few bright pixels blow up by orders of magnitude, so 336 is the largest stable width. Sources: results/plots/19_final_models_20261004 (tag final), 20_sqrtff_final_20261004.</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for the bimodality question. Multi-peaked means two or more interior peaks with prominence at least 0.15 of the curve maximum, counted on the full shared test set. BP is multi-peaked on 13.5% of pixels. The old BP final flagged 9.9% at 36% precision and 26% recall; the stiff-band model flags 15.5% at 53% precision and 60% recall; the supervised model flags 41.1% at 24% precision and 72% recall. Self-consistency on the width-336 model: 80 multi-peaked bright pixels, 30 BP re-solves each under photon noise; our deviation from BP is 0.97 times BP's own re-solve scatter (0.70 at single-peaked pixels), so where BP is multi-peaked our gap is the size of BP's own noise. ElasticNet is multi-peaked on 62% of pixels; we find 82% of them at 87% precision, supervised 84% at 80%. At BP flare cores, spurious extra peaks were 42% of the old error and are 3.5% now. Sources: results/plots/21_followup_20261006/bp_bright_failure_fu_bp_mu100_ep120_cont.json, 19_final_models_20261004/bp_self_consistency_h336.json, 13_bright_diagnostic_20260928.</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2.pn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bg>
      <p:bgPr>
        <a:solidFill>
          <a:srgbClr val="220337"/>
        </a:solidFill>
      </p:bgPr>
    </p:bg>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b="0" l="0" r="0" t="0"/>
          <a:stretch/>
        </p:blipFill>
        <p:spPr>
          <a:xfrm>
            <a:off x="0" y="0"/>
            <a:ext cx="9144003" cy="5143501"/>
          </a:xfrm>
          <a:prstGeom prst="rect">
            <a:avLst/>
          </a:prstGeom>
          <a:noFill/>
          <a:ln>
            <a:noFill/>
          </a:ln>
        </p:spPr>
      </p:pic>
      <p:pic>
        <p:nvPicPr>
          <p:cNvPr id="10" name="Google Shape;10;p2"/>
          <p:cNvPicPr preferRelativeResize="0"/>
          <p:nvPr/>
        </p:nvPicPr>
        <p:blipFill rotWithShape="1">
          <a:blip r:embed="rId3">
            <a:alphaModFix/>
          </a:blip>
          <a:srcRect b="0" l="0" r="0" t="0"/>
          <a:stretch/>
        </p:blipFill>
        <p:spPr>
          <a:xfrm>
            <a:off x="4047363" y="427947"/>
            <a:ext cx="1049175" cy="356100"/>
          </a:xfrm>
          <a:prstGeom prst="rect">
            <a:avLst/>
          </a:prstGeom>
          <a:noFill/>
          <a:ln>
            <a:noFill/>
          </a:ln>
        </p:spPr>
      </p:pic>
      <p:sp>
        <p:nvSpPr>
          <p:cNvPr id="11" name="Google Shape;11;p2"/>
          <p:cNvSpPr txBox="1"/>
          <p:nvPr>
            <p:ph type="title"/>
          </p:nvPr>
        </p:nvSpPr>
        <p:spPr>
          <a:xfrm>
            <a:off x="904850" y="1253682"/>
            <a:ext cx="7333800" cy="15951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None/>
              <a:defRPr sz="7200">
                <a:solidFill>
                  <a:schemeClr val="accent2"/>
                </a:solidFill>
              </a:defRPr>
            </a:lvl1pPr>
            <a:lvl2pPr lvl="1">
              <a:spcBef>
                <a:spcPts val="0"/>
              </a:spcBef>
              <a:spcAft>
                <a:spcPts val="0"/>
              </a:spcAft>
              <a:buNone/>
              <a:defRPr>
                <a:solidFill>
                  <a:srgbClr val="FFFFFF"/>
                </a:solidFill>
              </a:defRPr>
            </a:lvl2pPr>
            <a:lvl3pPr lvl="2">
              <a:spcBef>
                <a:spcPts val="0"/>
              </a:spcBef>
              <a:spcAft>
                <a:spcPts val="0"/>
              </a:spcAft>
              <a:buNone/>
              <a:defRPr>
                <a:solidFill>
                  <a:srgbClr val="FFFFFF"/>
                </a:solidFill>
              </a:defRPr>
            </a:lvl3pPr>
            <a:lvl4pPr lvl="3">
              <a:spcBef>
                <a:spcPts val="0"/>
              </a:spcBef>
              <a:spcAft>
                <a:spcPts val="0"/>
              </a:spcAft>
              <a:buNone/>
              <a:defRPr>
                <a:solidFill>
                  <a:srgbClr val="FFFFFF"/>
                </a:solidFill>
              </a:defRPr>
            </a:lvl4pPr>
            <a:lvl5pPr lvl="4">
              <a:spcBef>
                <a:spcPts val="0"/>
              </a:spcBef>
              <a:spcAft>
                <a:spcPts val="0"/>
              </a:spcAft>
              <a:buNone/>
              <a:defRPr>
                <a:solidFill>
                  <a:srgbClr val="FFFFFF"/>
                </a:solidFill>
              </a:defRPr>
            </a:lvl5pPr>
            <a:lvl6pPr lvl="5">
              <a:spcBef>
                <a:spcPts val="0"/>
              </a:spcBef>
              <a:spcAft>
                <a:spcPts val="0"/>
              </a:spcAft>
              <a:buNone/>
              <a:defRPr>
                <a:solidFill>
                  <a:srgbClr val="FFFFFF"/>
                </a:solidFill>
              </a:defRPr>
            </a:lvl6pPr>
            <a:lvl7pPr lvl="6">
              <a:spcBef>
                <a:spcPts val="0"/>
              </a:spcBef>
              <a:spcAft>
                <a:spcPts val="0"/>
              </a:spcAft>
              <a:buNone/>
              <a:defRPr>
                <a:solidFill>
                  <a:srgbClr val="FFFFFF"/>
                </a:solidFill>
              </a:defRPr>
            </a:lvl7pPr>
            <a:lvl8pPr lvl="7">
              <a:spcBef>
                <a:spcPts val="0"/>
              </a:spcBef>
              <a:spcAft>
                <a:spcPts val="0"/>
              </a:spcAft>
              <a:buNone/>
              <a:defRPr>
                <a:solidFill>
                  <a:srgbClr val="FFFFFF"/>
                </a:solidFill>
              </a:defRPr>
            </a:lvl8pPr>
            <a:lvl9pPr lvl="8">
              <a:spcBef>
                <a:spcPts val="0"/>
              </a:spcBef>
              <a:spcAft>
                <a:spcPts val="0"/>
              </a:spcAft>
              <a:buNone/>
              <a:defRPr>
                <a:solidFill>
                  <a:srgbClr val="FFFFFF"/>
                </a:solidFill>
              </a:defRPr>
            </a:lvl9pPr>
          </a:lstStyle>
          <a:p/>
        </p:txBody>
      </p:sp>
      <p:sp>
        <p:nvSpPr>
          <p:cNvPr id="12" name="Google Shape;12;p2"/>
          <p:cNvSpPr txBox="1"/>
          <p:nvPr>
            <p:ph idx="1" type="body"/>
          </p:nvPr>
        </p:nvSpPr>
        <p:spPr>
          <a:xfrm>
            <a:off x="2496200" y="4275729"/>
            <a:ext cx="4151400" cy="304500"/>
          </a:xfrm>
          <a:prstGeom prst="rect">
            <a:avLst/>
          </a:prstGeom>
        </p:spPr>
        <p:txBody>
          <a:bodyPr anchorCtr="0" anchor="t" bIns="91425" lIns="91425" spcFirstLastPara="1" rIns="91425" wrap="square" tIns="91425">
            <a:noAutofit/>
          </a:bodyPr>
          <a:lstStyle>
            <a:lvl1pPr indent="-292100" lvl="0" marL="457200" rtl="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1pPr>
            <a:lvl2pPr indent="-292100" lvl="1" marL="914400" rtl="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2pPr>
            <a:lvl3pPr indent="-292100" lvl="2" marL="1371600" rtl="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3pPr>
            <a:lvl4pPr indent="-292100" lvl="3" marL="1828800" rtl="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4pPr>
            <a:lvl5pPr indent="-292100" lvl="4" marL="2286000" rtl="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5pPr>
            <a:lvl6pPr indent="-292100" lvl="5" marL="2743200" rtl="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6pPr>
            <a:lvl7pPr indent="-292100" lvl="6" marL="3200400" rtl="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7pPr>
            <a:lvl8pPr indent="-292100" lvl="7" marL="3657600" rtl="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8pPr>
            <a:lvl9pPr indent="-292100" lvl="8" marL="4114800" rtl="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9pPr>
          </a:lstStyle>
          <a:p/>
        </p:txBody>
      </p:sp>
      <p:sp>
        <p:nvSpPr>
          <p:cNvPr id="13" name="Google Shape;13;p2"/>
          <p:cNvSpPr txBox="1"/>
          <p:nvPr>
            <p:ph idx="2" type="subTitle"/>
          </p:nvPr>
        </p:nvSpPr>
        <p:spPr>
          <a:xfrm>
            <a:off x="2496200" y="2791614"/>
            <a:ext cx="4151400" cy="700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500">
                <a:solidFill>
                  <a:schemeClr val="accent2"/>
                </a:solidFill>
              </a:defRPr>
            </a:lvl1pPr>
            <a:lvl2pPr lvl="1" rtl="0">
              <a:spcBef>
                <a:spcPts val="1600"/>
              </a:spcBef>
              <a:spcAft>
                <a:spcPts val="0"/>
              </a:spcAft>
              <a:buNone/>
              <a:defRPr>
                <a:solidFill>
                  <a:schemeClr val="accent2"/>
                </a:solidFill>
              </a:defRPr>
            </a:lvl2pPr>
            <a:lvl3pPr lvl="2" rtl="0">
              <a:spcBef>
                <a:spcPts val="1600"/>
              </a:spcBef>
              <a:spcAft>
                <a:spcPts val="0"/>
              </a:spcAft>
              <a:buNone/>
              <a:defRPr>
                <a:solidFill>
                  <a:schemeClr val="accent2"/>
                </a:solidFill>
              </a:defRPr>
            </a:lvl3pPr>
            <a:lvl4pPr lvl="3" rtl="0">
              <a:spcBef>
                <a:spcPts val="1600"/>
              </a:spcBef>
              <a:spcAft>
                <a:spcPts val="0"/>
              </a:spcAft>
              <a:buNone/>
              <a:defRPr>
                <a:solidFill>
                  <a:schemeClr val="accent2"/>
                </a:solidFill>
              </a:defRPr>
            </a:lvl4pPr>
            <a:lvl5pPr lvl="4" rtl="0">
              <a:spcBef>
                <a:spcPts val="1600"/>
              </a:spcBef>
              <a:spcAft>
                <a:spcPts val="0"/>
              </a:spcAft>
              <a:buNone/>
              <a:defRPr>
                <a:solidFill>
                  <a:schemeClr val="accent2"/>
                </a:solidFill>
              </a:defRPr>
            </a:lvl5pPr>
            <a:lvl6pPr lvl="5" rtl="0">
              <a:spcBef>
                <a:spcPts val="1600"/>
              </a:spcBef>
              <a:spcAft>
                <a:spcPts val="0"/>
              </a:spcAft>
              <a:buNone/>
              <a:defRPr>
                <a:solidFill>
                  <a:schemeClr val="accent2"/>
                </a:solidFill>
              </a:defRPr>
            </a:lvl6pPr>
            <a:lvl7pPr lvl="6" rtl="0">
              <a:spcBef>
                <a:spcPts val="1600"/>
              </a:spcBef>
              <a:spcAft>
                <a:spcPts val="0"/>
              </a:spcAft>
              <a:buNone/>
              <a:defRPr>
                <a:solidFill>
                  <a:schemeClr val="accent2"/>
                </a:solidFill>
              </a:defRPr>
            </a:lvl7pPr>
            <a:lvl8pPr lvl="7" rtl="0">
              <a:spcBef>
                <a:spcPts val="1600"/>
              </a:spcBef>
              <a:spcAft>
                <a:spcPts val="0"/>
              </a:spcAft>
              <a:buNone/>
              <a:defRPr>
                <a:solidFill>
                  <a:schemeClr val="accent2"/>
                </a:solidFill>
              </a:defRPr>
            </a:lvl8pPr>
            <a:lvl9pPr lvl="8" rtl="0">
              <a:spcBef>
                <a:spcPts val="1600"/>
              </a:spcBef>
              <a:spcAft>
                <a:spcPts val="1600"/>
              </a:spcAft>
              <a:buNone/>
              <a:defRPr>
                <a:solidFill>
                  <a:schemeClr val="accent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1_1_1_1">
    <p:bg>
      <p:bgPr>
        <a:solidFill>
          <a:srgbClr val="220337"/>
        </a:solidFill>
      </p:bgPr>
    </p:bg>
    <p:spTree>
      <p:nvGrpSpPr>
        <p:cNvPr id="14" name="Shape 14"/>
        <p:cNvGrpSpPr/>
        <p:nvPr/>
      </p:nvGrpSpPr>
      <p:grpSpPr>
        <a:xfrm>
          <a:off x="0" y="0"/>
          <a:ext cx="0" cy="0"/>
          <a:chOff x="0" y="0"/>
          <a:chExt cx="0" cy="0"/>
        </a:xfrm>
      </p:grpSpPr>
      <p:pic>
        <p:nvPicPr>
          <p:cNvPr id="15" name="Google Shape;15;p3"/>
          <p:cNvPicPr preferRelativeResize="0"/>
          <p:nvPr/>
        </p:nvPicPr>
        <p:blipFill rotWithShape="1">
          <a:blip r:embed="rId2">
            <a:alphaModFix/>
          </a:blip>
          <a:srcRect b="367" l="308" r="328" t="357"/>
          <a:stretch/>
        </p:blipFill>
        <p:spPr>
          <a:xfrm>
            <a:off x="0" y="250"/>
            <a:ext cx="9143997" cy="5143501"/>
          </a:xfrm>
          <a:prstGeom prst="rect">
            <a:avLst/>
          </a:prstGeom>
          <a:noFill/>
          <a:ln>
            <a:noFill/>
          </a:ln>
        </p:spPr>
      </p:pic>
      <p:pic>
        <p:nvPicPr>
          <p:cNvPr descr="New York University logo" id="16" name="Google Shape;16;p3"/>
          <p:cNvPicPr preferRelativeResize="0"/>
          <p:nvPr/>
        </p:nvPicPr>
        <p:blipFill rotWithShape="1">
          <a:blip r:embed="rId3">
            <a:alphaModFix/>
          </a:blip>
          <a:srcRect b="0" l="0" r="0" t="0"/>
          <a:stretch/>
        </p:blipFill>
        <p:spPr>
          <a:xfrm>
            <a:off x="4047363" y="427947"/>
            <a:ext cx="1049175" cy="356100"/>
          </a:xfrm>
          <a:prstGeom prst="rect">
            <a:avLst/>
          </a:prstGeom>
          <a:noFill/>
          <a:ln>
            <a:noFill/>
          </a:ln>
        </p:spPr>
      </p:pic>
      <p:sp>
        <p:nvSpPr>
          <p:cNvPr id="17" name="Google Shape;17;p3"/>
          <p:cNvSpPr txBox="1"/>
          <p:nvPr>
            <p:ph type="title"/>
          </p:nvPr>
        </p:nvSpPr>
        <p:spPr>
          <a:xfrm>
            <a:off x="904850" y="1253682"/>
            <a:ext cx="7333800" cy="1595100"/>
          </a:xfrm>
          <a:prstGeom prst="rect">
            <a:avLst/>
          </a:prstGeom>
        </p:spPr>
        <p:txBody>
          <a:bodyPr anchorCtr="0" anchor="ctr" bIns="91425" lIns="91425" spcFirstLastPara="1" rIns="91425" wrap="square" tIns="91425">
            <a:noAutofit/>
          </a:bodyPr>
          <a:lstStyle>
            <a:lvl1pPr lvl="0" rtl="0" algn="ctr">
              <a:lnSpc>
                <a:spcPct val="80000"/>
              </a:lnSpc>
              <a:spcBef>
                <a:spcPts val="0"/>
              </a:spcBef>
              <a:spcAft>
                <a:spcPts val="0"/>
              </a:spcAft>
              <a:buNone/>
              <a:defRPr sz="7200">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p:txBody>
      </p:sp>
      <p:sp>
        <p:nvSpPr>
          <p:cNvPr id="18" name="Google Shape;18;p3"/>
          <p:cNvSpPr txBox="1"/>
          <p:nvPr>
            <p:ph idx="1" type="body"/>
          </p:nvPr>
        </p:nvSpPr>
        <p:spPr>
          <a:xfrm>
            <a:off x="2496200" y="4275729"/>
            <a:ext cx="4151400" cy="304500"/>
          </a:xfrm>
          <a:prstGeom prst="rect">
            <a:avLst/>
          </a:prstGeom>
        </p:spPr>
        <p:txBody>
          <a:bodyPr anchorCtr="0" anchor="t" bIns="91425" lIns="91425" spcFirstLastPara="1" rIns="91425" wrap="square" tIns="91425">
            <a:noAutofit/>
          </a:bodyPr>
          <a:lstStyle>
            <a:lvl1pPr indent="-292100" lvl="0" marL="457200" rtl="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1pPr>
            <a:lvl2pPr indent="-292100" lvl="1" marL="914400" rtl="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2pPr>
            <a:lvl3pPr indent="-292100" lvl="2" marL="1371600" rtl="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3pPr>
            <a:lvl4pPr indent="-292100" lvl="3" marL="1828800" rtl="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4pPr>
            <a:lvl5pPr indent="-292100" lvl="4" marL="2286000" rtl="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5pPr>
            <a:lvl6pPr indent="-292100" lvl="5" marL="2743200" rtl="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6pPr>
            <a:lvl7pPr indent="-292100" lvl="6" marL="3200400" rtl="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7pPr>
            <a:lvl8pPr indent="-292100" lvl="7" marL="3657600" rtl="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8pPr>
            <a:lvl9pPr indent="-292100" lvl="8" marL="4114800" rtl="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9pPr>
          </a:lstStyle>
          <a:p/>
        </p:txBody>
      </p:sp>
      <p:sp>
        <p:nvSpPr>
          <p:cNvPr id="19" name="Google Shape;19;p3"/>
          <p:cNvSpPr txBox="1"/>
          <p:nvPr>
            <p:ph idx="2" type="subTitle"/>
          </p:nvPr>
        </p:nvSpPr>
        <p:spPr>
          <a:xfrm>
            <a:off x="2496200" y="2791614"/>
            <a:ext cx="4151400" cy="700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500">
                <a:solidFill>
                  <a:srgbClr val="FFFFFF"/>
                </a:solidFill>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2"/>
        </a:solidFill>
      </p:bgPr>
    </p:bg>
    <p:spTree>
      <p:nvGrpSpPr>
        <p:cNvPr id="20" name="Shape 20"/>
        <p:cNvGrpSpPr/>
        <p:nvPr/>
      </p:nvGrpSpPr>
      <p:grpSpPr>
        <a:xfrm>
          <a:off x="0" y="0"/>
          <a:ext cx="0" cy="0"/>
          <a:chOff x="0" y="0"/>
          <a:chExt cx="0" cy="0"/>
        </a:xfrm>
      </p:grpSpPr>
      <p:pic>
        <p:nvPicPr>
          <p:cNvPr id="21" name="Google Shape;21;p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22" name="Google Shape;22;p4"/>
          <p:cNvSpPr txBox="1"/>
          <p:nvPr>
            <p:ph type="title"/>
          </p:nvPr>
        </p:nvSpPr>
        <p:spPr>
          <a:xfrm>
            <a:off x="1506000" y="1385509"/>
            <a:ext cx="6131700" cy="1638600"/>
          </a:xfrm>
          <a:prstGeom prst="rect">
            <a:avLst/>
          </a:prstGeom>
        </p:spPr>
        <p:txBody>
          <a:bodyPr anchorCtr="0" anchor="b" bIns="91425" lIns="91425" spcFirstLastPara="1" rIns="91425" wrap="square" tIns="91425">
            <a:noAutofit/>
          </a:bodyPr>
          <a:lstStyle>
            <a:lvl1pPr lvl="0" algn="ctr">
              <a:lnSpc>
                <a:spcPct val="80000"/>
              </a:lnSpc>
              <a:spcBef>
                <a:spcPts val="0"/>
              </a:spcBef>
              <a:spcAft>
                <a:spcPts val="0"/>
              </a:spcAft>
              <a:buNone/>
              <a:defRPr sz="6000"/>
            </a:lvl1pPr>
            <a:lvl2pPr lvl="1">
              <a:spcBef>
                <a:spcPts val="0"/>
              </a:spcBef>
              <a:spcAft>
                <a:spcPts val="0"/>
              </a:spcAft>
              <a:buNone/>
              <a:defRPr>
                <a:latin typeface="Montserrat"/>
                <a:ea typeface="Montserrat"/>
                <a:cs typeface="Montserrat"/>
                <a:sym typeface="Montserrat"/>
              </a:defRPr>
            </a:lvl2pPr>
            <a:lvl3pPr lvl="2">
              <a:spcBef>
                <a:spcPts val="0"/>
              </a:spcBef>
              <a:spcAft>
                <a:spcPts val="0"/>
              </a:spcAft>
              <a:buNone/>
              <a:defRPr>
                <a:latin typeface="Montserrat"/>
                <a:ea typeface="Montserrat"/>
                <a:cs typeface="Montserrat"/>
                <a:sym typeface="Montserrat"/>
              </a:defRPr>
            </a:lvl3pPr>
            <a:lvl4pPr lvl="3">
              <a:spcBef>
                <a:spcPts val="0"/>
              </a:spcBef>
              <a:spcAft>
                <a:spcPts val="0"/>
              </a:spcAft>
              <a:buNone/>
              <a:defRPr>
                <a:latin typeface="Montserrat"/>
                <a:ea typeface="Montserrat"/>
                <a:cs typeface="Montserrat"/>
                <a:sym typeface="Montserrat"/>
              </a:defRPr>
            </a:lvl4pPr>
            <a:lvl5pPr lvl="4">
              <a:spcBef>
                <a:spcPts val="0"/>
              </a:spcBef>
              <a:spcAft>
                <a:spcPts val="0"/>
              </a:spcAft>
              <a:buNone/>
              <a:defRPr>
                <a:latin typeface="Montserrat"/>
                <a:ea typeface="Montserrat"/>
                <a:cs typeface="Montserrat"/>
                <a:sym typeface="Montserrat"/>
              </a:defRPr>
            </a:lvl5pPr>
            <a:lvl6pPr lvl="5">
              <a:spcBef>
                <a:spcPts val="0"/>
              </a:spcBef>
              <a:spcAft>
                <a:spcPts val="0"/>
              </a:spcAft>
              <a:buNone/>
              <a:defRPr>
                <a:latin typeface="Montserrat"/>
                <a:ea typeface="Montserrat"/>
                <a:cs typeface="Montserrat"/>
                <a:sym typeface="Montserrat"/>
              </a:defRPr>
            </a:lvl6pPr>
            <a:lvl7pPr lvl="6">
              <a:spcBef>
                <a:spcPts val="0"/>
              </a:spcBef>
              <a:spcAft>
                <a:spcPts val="0"/>
              </a:spcAft>
              <a:buNone/>
              <a:defRPr>
                <a:latin typeface="Montserrat"/>
                <a:ea typeface="Montserrat"/>
                <a:cs typeface="Montserrat"/>
                <a:sym typeface="Montserrat"/>
              </a:defRPr>
            </a:lvl7pPr>
            <a:lvl8pPr lvl="7">
              <a:spcBef>
                <a:spcPts val="0"/>
              </a:spcBef>
              <a:spcAft>
                <a:spcPts val="0"/>
              </a:spcAft>
              <a:buNone/>
              <a:defRPr>
                <a:latin typeface="Montserrat"/>
                <a:ea typeface="Montserrat"/>
                <a:cs typeface="Montserrat"/>
                <a:sym typeface="Montserrat"/>
              </a:defRPr>
            </a:lvl8pPr>
            <a:lvl9pPr lvl="8">
              <a:spcBef>
                <a:spcPts val="0"/>
              </a:spcBef>
              <a:spcAft>
                <a:spcPts val="0"/>
              </a:spcAft>
              <a:buNone/>
              <a:defRPr>
                <a:latin typeface="Montserrat"/>
                <a:ea typeface="Montserrat"/>
                <a:cs typeface="Montserrat"/>
                <a:sym typeface="Montserrat"/>
              </a:defRPr>
            </a:lvl9pPr>
          </a:lstStyle>
          <a:p/>
        </p:txBody>
      </p:sp>
      <p:sp>
        <p:nvSpPr>
          <p:cNvPr id="23" name="Google Shape;23;p4"/>
          <p:cNvSpPr txBox="1"/>
          <p:nvPr>
            <p:ph idx="1" type="subTitle"/>
          </p:nvPr>
        </p:nvSpPr>
        <p:spPr>
          <a:xfrm>
            <a:off x="2462575" y="2959018"/>
            <a:ext cx="4218600" cy="7341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solidFill>
                  <a:schemeClr val="dk1"/>
                </a:solidFill>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5"/>
          <p:cNvSpPr txBox="1"/>
          <p:nvPr/>
        </p:nvSpPr>
        <p:spPr>
          <a:xfrm>
            <a:off x="4583948"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pic>
        <p:nvPicPr>
          <p:cNvPr descr=" " id="26" name="Google Shape;26;p5"/>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27" name="Google Shape;27;p5"/>
          <p:cNvSpPr txBox="1"/>
          <p:nvPr>
            <p:ph type="title"/>
          </p:nvPr>
        </p:nvSpPr>
        <p:spPr>
          <a:xfrm>
            <a:off x="311700" y="587975"/>
            <a:ext cx="6551100" cy="6579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Clr>
                <a:srgbClr val="57068C"/>
              </a:buClr>
              <a:buSzPts val="4800"/>
              <a:buNone/>
              <a:defRPr sz="4800">
                <a:solidFill>
                  <a:srgbClr val="57068C"/>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5"/>
          <p:cNvSpPr txBox="1"/>
          <p:nvPr>
            <p:ph idx="1" type="body"/>
          </p:nvPr>
        </p:nvSpPr>
        <p:spPr>
          <a:xfrm>
            <a:off x="311700" y="1448400"/>
            <a:ext cx="6551100" cy="2246700"/>
          </a:xfrm>
          <a:prstGeom prst="rect">
            <a:avLst/>
          </a:prstGeom>
        </p:spPr>
        <p:txBody>
          <a:bodyPr anchorCtr="0" anchor="t" bIns="91425" lIns="91425" spcFirstLastPara="1" rIns="91425" wrap="square" tIns="91425">
            <a:noAutofit/>
          </a:bodyPr>
          <a:lstStyle>
            <a:lvl1pPr indent="-342900" lvl="0" marL="457200">
              <a:lnSpc>
                <a:spcPct val="125000"/>
              </a:lnSpc>
              <a:spcBef>
                <a:spcPts val="0"/>
              </a:spcBef>
              <a:spcAft>
                <a:spcPts val="0"/>
              </a:spcAft>
              <a:buSzPts val="1800"/>
              <a:buChar char="●"/>
              <a:defRPr/>
            </a:lvl1pPr>
            <a:lvl2pPr indent="-317500" lvl="1" marL="914400">
              <a:spcBef>
                <a:spcPts val="1000"/>
              </a:spcBef>
              <a:spcAft>
                <a:spcPts val="0"/>
              </a:spcAft>
              <a:buSzPts val="1400"/>
              <a:buChar char="○"/>
              <a:defRPr/>
            </a:lvl2pPr>
            <a:lvl3pPr indent="-317500" lvl="2" marL="1371600">
              <a:spcBef>
                <a:spcPts val="1000"/>
              </a:spcBef>
              <a:spcAft>
                <a:spcPts val="0"/>
              </a:spcAft>
              <a:buSzPts val="1400"/>
              <a:buChar char="■"/>
              <a:defRPr/>
            </a:lvl3pPr>
            <a:lvl4pPr indent="-317500" lvl="3" marL="1828800">
              <a:spcBef>
                <a:spcPts val="1000"/>
              </a:spcBef>
              <a:spcAft>
                <a:spcPts val="0"/>
              </a:spcAft>
              <a:buSzPts val="1400"/>
              <a:buChar char="●"/>
              <a:defRPr/>
            </a:lvl4pPr>
            <a:lvl5pPr indent="-317500" lvl="4" marL="2286000">
              <a:spcBef>
                <a:spcPts val="1000"/>
              </a:spcBef>
              <a:spcAft>
                <a:spcPts val="0"/>
              </a:spcAft>
              <a:buSzPts val="14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pic>
        <p:nvPicPr>
          <p:cNvPr id="29" name="Google Shape;29;p5"/>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extLst>
    <p:ext uri="{DCECCB84-F9BA-43D5-87BE-67443E8EF086}">
      <p15:sldGuideLst>
        <p15:guide id="1" orient="horz" pos="432">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6"/>
          <p:cNvSpPr txBox="1"/>
          <p:nvPr>
            <p:ph type="title"/>
          </p:nvPr>
        </p:nvSpPr>
        <p:spPr>
          <a:xfrm>
            <a:off x="311700" y="587970"/>
            <a:ext cx="4945500" cy="113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rgbClr val="57068C"/>
              </a:buClr>
              <a:buSzPts val="4800"/>
              <a:buNone/>
              <a:defRPr sz="4800">
                <a:solidFill>
                  <a:srgbClr val="57068C"/>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6"/>
          <p:cNvSpPr txBox="1"/>
          <p:nvPr>
            <p:ph idx="1" type="body"/>
          </p:nvPr>
        </p:nvSpPr>
        <p:spPr>
          <a:xfrm>
            <a:off x="311700" y="2467949"/>
            <a:ext cx="3999900" cy="1807800"/>
          </a:xfrm>
          <a:prstGeom prst="rect">
            <a:avLst/>
          </a:prstGeom>
        </p:spPr>
        <p:txBody>
          <a:bodyPr anchorCtr="0" anchor="t" bIns="91425" lIns="91425" spcFirstLastPara="1" rIns="91425" wrap="square" tIns="91425">
            <a:noAutofit/>
          </a:bodyPr>
          <a:lstStyle>
            <a:lvl1pPr indent="-304800" lvl="0" marL="457200">
              <a:lnSpc>
                <a:spcPct val="125000"/>
              </a:lnSpc>
              <a:spcBef>
                <a:spcPts val="0"/>
              </a:spcBef>
              <a:spcAft>
                <a:spcPts val="0"/>
              </a:spcAft>
              <a:buSzPts val="1200"/>
              <a:buChar char="●"/>
              <a:defRPr sz="1200"/>
            </a:lvl1pPr>
            <a:lvl2pPr indent="-304800" lvl="1" marL="914400">
              <a:lnSpc>
                <a:spcPct val="125000"/>
              </a:lnSpc>
              <a:spcBef>
                <a:spcPts val="800"/>
              </a:spcBef>
              <a:spcAft>
                <a:spcPts val="0"/>
              </a:spcAft>
              <a:buSzPts val="1200"/>
              <a:buChar char="○"/>
              <a:defRPr sz="1200"/>
            </a:lvl2pPr>
            <a:lvl3pPr indent="-304800" lvl="2" marL="1371600">
              <a:lnSpc>
                <a:spcPct val="125000"/>
              </a:lnSpc>
              <a:spcBef>
                <a:spcPts val="800"/>
              </a:spcBef>
              <a:spcAft>
                <a:spcPts val="0"/>
              </a:spcAft>
              <a:buSzPts val="1200"/>
              <a:buChar char="■"/>
              <a:defRPr sz="1200"/>
            </a:lvl3pPr>
            <a:lvl4pPr indent="-304800" lvl="3" marL="1828800">
              <a:lnSpc>
                <a:spcPct val="125000"/>
              </a:lnSpc>
              <a:spcBef>
                <a:spcPts val="800"/>
              </a:spcBef>
              <a:spcAft>
                <a:spcPts val="0"/>
              </a:spcAft>
              <a:buSzPts val="1200"/>
              <a:buChar char="●"/>
              <a:defRPr sz="1200"/>
            </a:lvl4pPr>
            <a:lvl5pPr indent="-304800" lvl="4" marL="2286000">
              <a:lnSpc>
                <a:spcPct val="125000"/>
              </a:lnSpc>
              <a:spcBef>
                <a:spcPts val="800"/>
              </a:spcBef>
              <a:spcAft>
                <a:spcPts val="0"/>
              </a:spcAft>
              <a:buSzPts val="1200"/>
              <a:buChar char="○"/>
              <a:defRPr sz="1200"/>
            </a:lvl5pPr>
            <a:lvl6pPr indent="-304800" lvl="5" marL="2743200">
              <a:lnSpc>
                <a:spcPct val="125000"/>
              </a:lnSpc>
              <a:spcBef>
                <a:spcPts val="800"/>
              </a:spcBef>
              <a:spcAft>
                <a:spcPts val="0"/>
              </a:spcAft>
              <a:buSzPts val="1200"/>
              <a:buChar char="■"/>
              <a:defRPr sz="1200"/>
            </a:lvl6pPr>
            <a:lvl7pPr indent="-304800" lvl="6" marL="3200400">
              <a:lnSpc>
                <a:spcPct val="125000"/>
              </a:lnSpc>
              <a:spcBef>
                <a:spcPts val="800"/>
              </a:spcBef>
              <a:spcAft>
                <a:spcPts val="0"/>
              </a:spcAft>
              <a:buSzPts val="1200"/>
              <a:buChar char="●"/>
              <a:defRPr sz="1200"/>
            </a:lvl7pPr>
            <a:lvl8pPr indent="-304800" lvl="7" marL="3657600">
              <a:lnSpc>
                <a:spcPct val="125000"/>
              </a:lnSpc>
              <a:spcBef>
                <a:spcPts val="800"/>
              </a:spcBef>
              <a:spcAft>
                <a:spcPts val="0"/>
              </a:spcAft>
              <a:buSzPts val="1200"/>
              <a:buChar char="○"/>
              <a:defRPr sz="1200"/>
            </a:lvl8pPr>
            <a:lvl9pPr indent="-304800" lvl="8" marL="4114800">
              <a:lnSpc>
                <a:spcPct val="125000"/>
              </a:lnSpc>
              <a:spcBef>
                <a:spcPts val="800"/>
              </a:spcBef>
              <a:spcAft>
                <a:spcPts val="800"/>
              </a:spcAft>
              <a:buSzPts val="1200"/>
              <a:buChar char="■"/>
              <a:defRPr sz="1200"/>
            </a:lvl9pPr>
          </a:lstStyle>
          <a:p/>
        </p:txBody>
      </p:sp>
      <p:sp>
        <p:nvSpPr>
          <p:cNvPr id="33" name="Google Shape;33;p6"/>
          <p:cNvSpPr txBox="1"/>
          <p:nvPr>
            <p:ph idx="2" type="body"/>
          </p:nvPr>
        </p:nvSpPr>
        <p:spPr>
          <a:xfrm>
            <a:off x="4619925" y="2467949"/>
            <a:ext cx="3999900" cy="1807800"/>
          </a:xfrm>
          <a:prstGeom prst="rect">
            <a:avLst/>
          </a:prstGeom>
        </p:spPr>
        <p:txBody>
          <a:bodyPr anchorCtr="0" anchor="t" bIns="91425" lIns="91425" spcFirstLastPara="1" rIns="91425" wrap="square" tIns="91425">
            <a:noAutofit/>
          </a:bodyPr>
          <a:lstStyle>
            <a:lvl1pPr indent="-304800" lvl="0" marL="457200">
              <a:lnSpc>
                <a:spcPct val="125000"/>
              </a:lnSpc>
              <a:spcBef>
                <a:spcPts val="0"/>
              </a:spcBef>
              <a:spcAft>
                <a:spcPts val="0"/>
              </a:spcAft>
              <a:buSzPts val="1200"/>
              <a:buChar char="●"/>
              <a:defRPr sz="1200"/>
            </a:lvl1pPr>
            <a:lvl2pPr indent="-304800" lvl="1" marL="914400">
              <a:lnSpc>
                <a:spcPct val="125000"/>
              </a:lnSpc>
              <a:spcBef>
                <a:spcPts val="800"/>
              </a:spcBef>
              <a:spcAft>
                <a:spcPts val="0"/>
              </a:spcAft>
              <a:buSzPts val="1200"/>
              <a:buChar char="○"/>
              <a:defRPr sz="1200"/>
            </a:lvl2pPr>
            <a:lvl3pPr indent="-304800" lvl="2" marL="1371600">
              <a:lnSpc>
                <a:spcPct val="125000"/>
              </a:lnSpc>
              <a:spcBef>
                <a:spcPts val="800"/>
              </a:spcBef>
              <a:spcAft>
                <a:spcPts val="0"/>
              </a:spcAft>
              <a:buSzPts val="1200"/>
              <a:buChar char="■"/>
              <a:defRPr sz="1200"/>
            </a:lvl3pPr>
            <a:lvl4pPr indent="-304800" lvl="3" marL="1828800">
              <a:lnSpc>
                <a:spcPct val="125000"/>
              </a:lnSpc>
              <a:spcBef>
                <a:spcPts val="800"/>
              </a:spcBef>
              <a:spcAft>
                <a:spcPts val="0"/>
              </a:spcAft>
              <a:buSzPts val="1200"/>
              <a:buChar char="●"/>
              <a:defRPr sz="1200"/>
            </a:lvl4pPr>
            <a:lvl5pPr indent="-304800" lvl="4" marL="2286000">
              <a:lnSpc>
                <a:spcPct val="125000"/>
              </a:lnSpc>
              <a:spcBef>
                <a:spcPts val="800"/>
              </a:spcBef>
              <a:spcAft>
                <a:spcPts val="0"/>
              </a:spcAft>
              <a:buSzPts val="1200"/>
              <a:buChar char="○"/>
              <a:defRPr sz="1200"/>
            </a:lvl5pPr>
            <a:lvl6pPr indent="-304800" lvl="5" marL="2743200">
              <a:lnSpc>
                <a:spcPct val="125000"/>
              </a:lnSpc>
              <a:spcBef>
                <a:spcPts val="800"/>
              </a:spcBef>
              <a:spcAft>
                <a:spcPts val="0"/>
              </a:spcAft>
              <a:buSzPts val="1200"/>
              <a:buChar char="■"/>
              <a:defRPr sz="1200"/>
            </a:lvl6pPr>
            <a:lvl7pPr indent="-304800" lvl="6" marL="3200400">
              <a:lnSpc>
                <a:spcPct val="125000"/>
              </a:lnSpc>
              <a:spcBef>
                <a:spcPts val="800"/>
              </a:spcBef>
              <a:spcAft>
                <a:spcPts val="0"/>
              </a:spcAft>
              <a:buSzPts val="1200"/>
              <a:buChar char="●"/>
              <a:defRPr sz="1200"/>
            </a:lvl7pPr>
            <a:lvl8pPr indent="-304800" lvl="7" marL="3657600">
              <a:lnSpc>
                <a:spcPct val="125000"/>
              </a:lnSpc>
              <a:spcBef>
                <a:spcPts val="800"/>
              </a:spcBef>
              <a:spcAft>
                <a:spcPts val="0"/>
              </a:spcAft>
              <a:buSzPts val="1200"/>
              <a:buChar char="○"/>
              <a:defRPr sz="1200"/>
            </a:lvl8pPr>
            <a:lvl9pPr indent="-304800" lvl="8" marL="4114800">
              <a:lnSpc>
                <a:spcPct val="125000"/>
              </a:lnSpc>
              <a:spcBef>
                <a:spcPts val="800"/>
              </a:spcBef>
              <a:spcAft>
                <a:spcPts val="800"/>
              </a:spcAft>
              <a:buSzPts val="1200"/>
              <a:buChar char="■"/>
              <a:defRPr sz="1200"/>
            </a:lvl9pPr>
          </a:lstStyle>
          <a:p/>
        </p:txBody>
      </p:sp>
      <p:pic>
        <p:nvPicPr>
          <p:cNvPr descr=" " id="34" name="Google Shape;34;p6"/>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35" name="Google Shape;35;p6"/>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
        <p:nvSpPr>
          <p:cNvPr id="36" name="Google Shape;36;p6"/>
          <p:cNvSpPr txBox="1"/>
          <p:nvPr>
            <p:ph idx="3" type="subTitle"/>
          </p:nvPr>
        </p:nvSpPr>
        <p:spPr>
          <a:xfrm>
            <a:off x="311700" y="2054620"/>
            <a:ext cx="3999900" cy="411600"/>
          </a:xfrm>
          <a:prstGeom prst="rect">
            <a:avLst/>
          </a:prstGeom>
        </p:spPr>
        <p:txBody>
          <a:bodyPr anchorCtr="0" anchor="t" bIns="91425" lIns="91425" spcFirstLastPara="1" rIns="91425" wrap="square" tIns="91425">
            <a:noAutofit/>
          </a:bodyPr>
          <a:lstStyle>
            <a:lvl1pPr lvl="0">
              <a:spcBef>
                <a:spcPts val="0"/>
              </a:spcBef>
              <a:spcAft>
                <a:spcPts val="0"/>
              </a:spcAft>
              <a:buNone/>
              <a:defRPr b="1" sz="1400">
                <a:solidFill>
                  <a:schemeClr val="dk1"/>
                </a:solidFill>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7" name="Google Shape;37;p6"/>
          <p:cNvSpPr txBox="1"/>
          <p:nvPr>
            <p:ph idx="4" type="subTitle"/>
          </p:nvPr>
        </p:nvSpPr>
        <p:spPr>
          <a:xfrm>
            <a:off x="4619925" y="2054620"/>
            <a:ext cx="3999900" cy="4116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1400">
                <a:solidFill>
                  <a:schemeClr val="dk1"/>
                </a:solidFill>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pic>
        <p:nvPicPr>
          <p:cNvPr id="38" name="Google Shape;38;p6"/>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7"/>
          <p:cNvSpPr txBox="1"/>
          <p:nvPr>
            <p:ph type="title"/>
          </p:nvPr>
        </p:nvSpPr>
        <p:spPr>
          <a:xfrm>
            <a:off x="311700" y="530680"/>
            <a:ext cx="8424900" cy="572700"/>
          </a:xfrm>
          <a:prstGeom prst="rect">
            <a:avLst/>
          </a:prstGeom>
        </p:spPr>
        <p:txBody>
          <a:bodyPr anchorCtr="0" anchor="t" bIns="91425" lIns="91425" spcFirstLastPara="1" rIns="91425" wrap="square" tIns="91425">
            <a:noAutofit/>
          </a:bodyPr>
          <a:lstStyle>
            <a:lvl1pPr lvl="0">
              <a:spcBef>
                <a:spcPts val="0"/>
              </a:spcBef>
              <a:spcAft>
                <a:spcPts val="0"/>
              </a:spcAft>
              <a:buClr>
                <a:srgbClr val="57068C"/>
              </a:buClr>
              <a:buSzPts val="3600"/>
              <a:buNone/>
              <a:defRPr>
                <a:solidFill>
                  <a:srgbClr val="57068C"/>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descr=" " id="41" name="Google Shape;41;p7"/>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42" name="Google Shape;42;p7"/>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pic>
        <p:nvPicPr>
          <p:cNvPr id="43" name="Google Shape;43;p7"/>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8"/>
          <p:cNvSpPr txBox="1"/>
          <p:nvPr>
            <p:ph type="title"/>
          </p:nvPr>
        </p:nvSpPr>
        <p:spPr>
          <a:xfrm>
            <a:off x="311700" y="708000"/>
            <a:ext cx="3132300" cy="755700"/>
          </a:xfrm>
          <a:prstGeom prst="rect">
            <a:avLst/>
          </a:prstGeom>
        </p:spPr>
        <p:txBody>
          <a:bodyPr anchorCtr="0" anchor="b" bIns="91425" lIns="91425" spcFirstLastPara="1" rIns="91425" wrap="square" tIns="91425">
            <a:noAutofit/>
          </a:bodyPr>
          <a:lstStyle>
            <a:lvl1pPr lvl="0">
              <a:spcBef>
                <a:spcPts val="0"/>
              </a:spcBef>
              <a:spcAft>
                <a:spcPts val="0"/>
              </a:spcAft>
              <a:buClr>
                <a:srgbClr val="57068C"/>
              </a:buClr>
              <a:buSzPts val="2400"/>
              <a:buNone/>
              <a:defRPr sz="2400">
                <a:solidFill>
                  <a:srgbClr val="57068C"/>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8"/>
          <p:cNvSpPr txBox="1"/>
          <p:nvPr>
            <p:ph idx="1" type="body"/>
          </p:nvPr>
        </p:nvSpPr>
        <p:spPr>
          <a:xfrm>
            <a:off x="311700" y="1542000"/>
            <a:ext cx="3054600" cy="2886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pic>
        <p:nvPicPr>
          <p:cNvPr descr=" " id="47" name="Google Shape;47;p8"/>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48" name="Google Shape;48;p8"/>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pic>
        <p:nvPicPr>
          <p:cNvPr id="49" name="Google Shape;49;p8"/>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extLst>
    <p:ext uri="{DCECCB84-F9BA-43D5-87BE-67443E8EF086}">
      <p15:sldGuideLst>
        <p15:guide id="1" orient="horz" pos="432">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0" name="Shape 50"/>
        <p:cNvGrpSpPr/>
        <p:nvPr/>
      </p:nvGrpSpPr>
      <p:grpSpPr>
        <a:xfrm>
          <a:off x="0" y="0"/>
          <a:ext cx="0" cy="0"/>
          <a:chOff x="0" y="0"/>
          <a:chExt cx="0" cy="0"/>
        </a:xfrm>
      </p:grpSpPr>
      <p:sp>
        <p:nvSpPr>
          <p:cNvPr id="51" name="Google Shape;51;p9"/>
          <p:cNvSpPr txBox="1"/>
          <p:nvPr>
            <p:ph type="title"/>
          </p:nvPr>
        </p:nvSpPr>
        <p:spPr>
          <a:xfrm>
            <a:off x="1772975" y="528144"/>
            <a:ext cx="5597700" cy="2475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rgbClr val="57068C"/>
              </a:buClr>
              <a:buSzPts val="5600"/>
              <a:buNone/>
              <a:defRPr sz="5600">
                <a:solidFill>
                  <a:srgbClr val="57068C"/>
                </a:solidFill>
              </a:defRPr>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pic>
        <p:nvPicPr>
          <p:cNvPr descr=" " id="52" name="Google Shape;52;p9"/>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53" name="Google Shape;53;p9"/>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
        <p:nvSpPr>
          <p:cNvPr id="54" name="Google Shape;54;p9"/>
          <p:cNvSpPr txBox="1"/>
          <p:nvPr>
            <p:ph idx="1" type="body"/>
          </p:nvPr>
        </p:nvSpPr>
        <p:spPr>
          <a:xfrm>
            <a:off x="2120250" y="2660325"/>
            <a:ext cx="4903500" cy="1615500"/>
          </a:xfrm>
          <a:prstGeom prst="rect">
            <a:avLst/>
          </a:prstGeom>
        </p:spPr>
        <p:txBody>
          <a:bodyPr anchorCtr="0" anchor="t" bIns="91425" lIns="91425" spcFirstLastPara="1" rIns="91425" wrap="square" tIns="91425">
            <a:noAutofit/>
          </a:bodyPr>
          <a:lstStyle>
            <a:lvl1pPr indent="-330200" lvl="0" marL="457200" algn="ctr">
              <a:lnSpc>
                <a:spcPct val="125000"/>
              </a:lnSpc>
              <a:spcBef>
                <a:spcPts val="0"/>
              </a:spcBef>
              <a:spcAft>
                <a:spcPts val="0"/>
              </a:spcAft>
              <a:buSzPts val="1600"/>
              <a:buChar char="●"/>
              <a:defRPr sz="1600"/>
            </a:lvl1pPr>
            <a:lvl2pPr indent="-330200" lvl="1" marL="914400" algn="ctr">
              <a:lnSpc>
                <a:spcPct val="125000"/>
              </a:lnSpc>
              <a:spcBef>
                <a:spcPts val="0"/>
              </a:spcBef>
              <a:spcAft>
                <a:spcPts val="0"/>
              </a:spcAft>
              <a:buSzPts val="1600"/>
              <a:buChar char="○"/>
              <a:defRPr sz="1600"/>
            </a:lvl2pPr>
            <a:lvl3pPr indent="-330200" lvl="2" marL="1371600" algn="ctr">
              <a:lnSpc>
                <a:spcPct val="125000"/>
              </a:lnSpc>
              <a:spcBef>
                <a:spcPts val="0"/>
              </a:spcBef>
              <a:spcAft>
                <a:spcPts val="0"/>
              </a:spcAft>
              <a:buSzPts val="1600"/>
              <a:buChar char="■"/>
              <a:defRPr sz="1600"/>
            </a:lvl3pPr>
            <a:lvl4pPr indent="-330200" lvl="3" marL="1828800" algn="ctr">
              <a:lnSpc>
                <a:spcPct val="125000"/>
              </a:lnSpc>
              <a:spcBef>
                <a:spcPts val="0"/>
              </a:spcBef>
              <a:spcAft>
                <a:spcPts val="0"/>
              </a:spcAft>
              <a:buSzPts val="1600"/>
              <a:buChar char="●"/>
              <a:defRPr sz="1600"/>
            </a:lvl4pPr>
            <a:lvl5pPr indent="-330200" lvl="4" marL="2286000" algn="ctr">
              <a:lnSpc>
                <a:spcPct val="125000"/>
              </a:lnSpc>
              <a:spcBef>
                <a:spcPts val="0"/>
              </a:spcBef>
              <a:spcAft>
                <a:spcPts val="0"/>
              </a:spcAft>
              <a:buSzPts val="1600"/>
              <a:buChar char="○"/>
              <a:defRPr sz="1600"/>
            </a:lvl5pPr>
            <a:lvl6pPr indent="-330200" lvl="5" marL="2743200" algn="ctr">
              <a:lnSpc>
                <a:spcPct val="125000"/>
              </a:lnSpc>
              <a:spcBef>
                <a:spcPts val="0"/>
              </a:spcBef>
              <a:spcAft>
                <a:spcPts val="0"/>
              </a:spcAft>
              <a:buSzPts val="1600"/>
              <a:buChar char="■"/>
              <a:defRPr sz="1600"/>
            </a:lvl6pPr>
            <a:lvl7pPr indent="-330200" lvl="6" marL="3200400" algn="ctr">
              <a:lnSpc>
                <a:spcPct val="125000"/>
              </a:lnSpc>
              <a:spcBef>
                <a:spcPts val="0"/>
              </a:spcBef>
              <a:spcAft>
                <a:spcPts val="0"/>
              </a:spcAft>
              <a:buSzPts val="1600"/>
              <a:buChar char="●"/>
              <a:defRPr sz="1600"/>
            </a:lvl7pPr>
            <a:lvl8pPr indent="-330200" lvl="7" marL="3657600" algn="ctr">
              <a:lnSpc>
                <a:spcPct val="125000"/>
              </a:lnSpc>
              <a:spcBef>
                <a:spcPts val="0"/>
              </a:spcBef>
              <a:spcAft>
                <a:spcPts val="0"/>
              </a:spcAft>
              <a:buSzPts val="1600"/>
              <a:buChar char="○"/>
              <a:defRPr sz="1600"/>
            </a:lvl8pPr>
            <a:lvl9pPr indent="-330200" lvl="8" marL="4114800" algn="ctr">
              <a:lnSpc>
                <a:spcPct val="125000"/>
              </a:lnSpc>
              <a:spcBef>
                <a:spcPts val="0"/>
              </a:spcBef>
              <a:spcAft>
                <a:spcPts val="0"/>
              </a:spcAft>
              <a:buSzPts val="1600"/>
              <a:buChar char="■"/>
              <a:defRPr sz="16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5" name="Shape 55"/>
        <p:cNvGrpSpPr/>
        <p:nvPr/>
      </p:nvGrpSpPr>
      <p:grpSpPr>
        <a:xfrm>
          <a:off x="0" y="0"/>
          <a:ext cx="0" cy="0"/>
          <a:chOff x="0" y="0"/>
          <a:chExt cx="0" cy="0"/>
        </a:xfrm>
      </p:grpSpPr>
      <p:sp>
        <p:nvSpPr>
          <p:cNvPr descr=" " id="56" name="Google Shape;56;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0"/>
          <p:cNvSpPr txBox="1"/>
          <p:nvPr>
            <p:ph type="title"/>
          </p:nvPr>
        </p:nvSpPr>
        <p:spPr>
          <a:xfrm>
            <a:off x="294375" y="1233175"/>
            <a:ext cx="4079100" cy="14823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rgbClr val="57068C"/>
              </a:buClr>
              <a:buSzPts val="3600"/>
              <a:buNone/>
              <a:defRPr sz="3600">
                <a:solidFill>
                  <a:srgbClr val="57068C"/>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8" name="Google Shape;58;p10"/>
          <p:cNvSpPr txBox="1"/>
          <p:nvPr>
            <p:ph idx="1" type="subTitle"/>
          </p:nvPr>
        </p:nvSpPr>
        <p:spPr>
          <a:xfrm>
            <a:off x="294375" y="2803075"/>
            <a:ext cx="3616800" cy="1235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9A6ABA"/>
              </a:buClr>
              <a:buSzPts val="1800"/>
              <a:buNone/>
              <a:defRPr>
                <a:solidFill>
                  <a:srgbClr val="9A6ABA"/>
                </a:solidFill>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59" name="Google Shape;59;p10"/>
          <p:cNvSpPr txBox="1"/>
          <p:nvPr>
            <p:ph idx="2" type="body"/>
          </p:nvPr>
        </p:nvSpPr>
        <p:spPr>
          <a:xfrm>
            <a:off x="4939500" y="724075"/>
            <a:ext cx="3837000" cy="35517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pic>
        <p:nvPicPr>
          <p:cNvPr descr=" " id="60" name="Google Shape;60;p10"/>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61" name="Google Shape;61;p10"/>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2" name="Shape 62"/>
        <p:cNvGrpSpPr/>
        <p:nvPr/>
      </p:nvGrpSpPr>
      <p:grpSpPr>
        <a:xfrm>
          <a:off x="0" y="0"/>
          <a:ext cx="0" cy="0"/>
          <a:chOff x="0" y="0"/>
          <a:chExt cx="0" cy="0"/>
        </a:xfrm>
      </p:grpSpPr>
      <p:pic>
        <p:nvPicPr>
          <p:cNvPr descr=" " id="63" name="Google Shape;63;p11"/>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64" name="Google Shape;64;p11"/>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
        <p:nvSpPr>
          <p:cNvPr id="65" name="Google Shape;65;p11"/>
          <p:cNvSpPr txBox="1"/>
          <p:nvPr>
            <p:ph type="title"/>
          </p:nvPr>
        </p:nvSpPr>
        <p:spPr>
          <a:xfrm>
            <a:off x="311700" y="3619355"/>
            <a:ext cx="4511700" cy="605100"/>
          </a:xfrm>
          <a:prstGeom prst="rect">
            <a:avLst/>
          </a:prstGeom>
        </p:spPr>
        <p:txBody>
          <a:bodyPr anchorCtr="0" anchor="b" bIns="91425" lIns="91425" spcFirstLastPara="1" rIns="91425" wrap="square" tIns="91425">
            <a:noAutofit/>
          </a:bodyPr>
          <a:lstStyle>
            <a:lvl1pPr lvl="0">
              <a:spcBef>
                <a:spcPts val="0"/>
              </a:spcBef>
              <a:spcAft>
                <a:spcPts val="0"/>
              </a:spcAft>
              <a:buClr>
                <a:srgbClr val="333333"/>
              </a:buClr>
              <a:buSzPts val="1800"/>
              <a:buFont typeface="Montserrat"/>
              <a:buNone/>
              <a:defRPr b="0" sz="1800">
                <a:solidFill>
                  <a:srgbClr val="333333"/>
                </a:solidFill>
                <a:latin typeface="Montserrat"/>
                <a:ea typeface="Montserrat"/>
                <a:cs typeface="Montserrat"/>
                <a:sym typeface="Montserrat"/>
              </a:defRPr>
            </a:lvl1pPr>
            <a:lvl2pPr lvl="1">
              <a:spcBef>
                <a:spcPts val="0"/>
              </a:spcBef>
              <a:spcAft>
                <a:spcPts val="0"/>
              </a:spcAft>
              <a:buSzPts val="2800"/>
              <a:buNone/>
              <a:defRPr>
                <a:latin typeface="Montserrat"/>
                <a:ea typeface="Montserrat"/>
                <a:cs typeface="Montserrat"/>
                <a:sym typeface="Montserrat"/>
              </a:defRPr>
            </a:lvl2pPr>
            <a:lvl3pPr lvl="2">
              <a:spcBef>
                <a:spcPts val="0"/>
              </a:spcBef>
              <a:spcAft>
                <a:spcPts val="0"/>
              </a:spcAft>
              <a:buSzPts val="2800"/>
              <a:buNone/>
              <a:defRPr>
                <a:latin typeface="Montserrat"/>
                <a:ea typeface="Montserrat"/>
                <a:cs typeface="Montserrat"/>
                <a:sym typeface="Montserrat"/>
              </a:defRPr>
            </a:lvl3pPr>
            <a:lvl4pPr lvl="3">
              <a:spcBef>
                <a:spcPts val="0"/>
              </a:spcBef>
              <a:spcAft>
                <a:spcPts val="0"/>
              </a:spcAft>
              <a:buSzPts val="2800"/>
              <a:buNone/>
              <a:defRPr>
                <a:latin typeface="Montserrat"/>
                <a:ea typeface="Montserrat"/>
                <a:cs typeface="Montserrat"/>
                <a:sym typeface="Montserrat"/>
              </a:defRPr>
            </a:lvl4pPr>
            <a:lvl5pPr lvl="4">
              <a:spcBef>
                <a:spcPts val="0"/>
              </a:spcBef>
              <a:spcAft>
                <a:spcPts val="0"/>
              </a:spcAft>
              <a:buSzPts val="2800"/>
              <a:buNone/>
              <a:defRPr>
                <a:latin typeface="Montserrat"/>
                <a:ea typeface="Montserrat"/>
                <a:cs typeface="Montserrat"/>
                <a:sym typeface="Montserrat"/>
              </a:defRPr>
            </a:lvl5pPr>
            <a:lvl6pPr lvl="5">
              <a:spcBef>
                <a:spcPts val="0"/>
              </a:spcBef>
              <a:spcAft>
                <a:spcPts val="0"/>
              </a:spcAft>
              <a:buSzPts val="2800"/>
              <a:buNone/>
              <a:defRPr>
                <a:latin typeface="Montserrat"/>
                <a:ea typeface="Montserrat"/>
                <a:cs typeface="Montserrat"/>
                <a:sym typeface="Montserrat"/>
              </a:defRPr>
            </a:lvl6pPr>
            <a:lvl7pPr lvl="6">
              <a:spcBef>
                <a:spcPts val="0"/>
              </a:spcBef>
              <a:spcAft>
                <a:spcPts val="0"/>
              </a:spcAft>
              <a:buSzPts val="2800"/>
              <a:buNone/>
              <a:defRPr>
                <a:latin typeface="Montserrat"/>
                <a:ea typeface="Montserrat"/>
                <a:cs typeface="Montserrat"/>
                <a:sym typeface="Montserrat"/>
              </a:defRPr>
            </a:lvl7pPr>
            <a:lvl8pPr lvl="7">
              <a:spcBef>
                <a:spcPts val="0"/>
              </a:spcBef>
              <a:spcAft>
                <a:spcPts val="0"/>
              </a:spcAft>
              <a:buSzPts val="2800"/>
              <a:buNone/>
              <a:defRPr>
                <a:latin typeface="Montserrat"/>
                <a:ea typeface="Montserrat"/>
                <a:cs typeface="Montserrat"/>
                <a:sym typeface="Montserrat"/>
              </a:defRPr>
            </a:lvl8pPr>
            <a:lvl9pPr lvl="8">
              <a:spcBef>
                <a:spcPts val="0"/>
              </a:spcBef>
              <a:spcAft>
                <a:spcPts val="0"/>
              </a:spcAft>
              <a:buSzPts val="2800"/>
              <a:buNone/>
              <a:defRPr>
                <a:latin typeface="Montserrat"/>
                <a:ea typeface="Montserrat"/>
                <a:cs typeface="Montserrat"/>
                <a:sym typeface="Montserrat"/>
              </a:defRPr>
            </a:lvl9pPr>
          </a:lstStyle>
          <a:p/>
        </p:txBody>
      </p:sp>
      <p:pic>
        <p:nvPicPr>
          <p:cNvPr id="66" name="Google Shape;66;p11"/>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7" name="Shape 67"/>
        <p:cNvGrpSpPr/>
        <p:nvPr/>
      </p:nvGrpSpPr>
      <p:grpSpPr>
        <a:xfrm>
          <a:off x="0" y="0"/>
          <a:ext cx="0" cy="0"/>
          <a:chOff x="0" y="0"/>
          <a:chExt cx="0" cy="0"/>
        </a:xfrm>
      </p:grpSpPr>
      <p:pic>
        <p:nvPicPr>
          <p:cNvPr id="68" name="Google Shape;68;p12"/>
          <p:cNvPicPr preferRelativeResize="0"/>
          <p:nvPr/>
        </p:nvPicPr>
        <p:blipFill rotWithShape="1">
          <a:blip r:embed="rId2">
            <a:alphaModFix/>
          </a:blip>
          <a:srcRect b="0" l="0" r="0" t="0"/>
          <a:stretch/>
        </p:blipFill>
        <p:spPr>
          <a:xfrm>
            <a:off x="3965" y="0"/>
            <a:ext cx="9136072" cy="5143501"/>
          </a:xfrm>
          <a:prstGeom prst="rect">
            <a:avLst/>
          </a:prstGeom>
          <a:noFill/>
          <a:ln>
            <a:noFill/>
          </a:ln>
        </p:spPr>
      </p:pic>
      <p:sp>
        <p:nvSpPr>
          <p:cNvPr id="69" name="Google Shape;69;p12"/>
          <p:cNvSpPr txBox="1"/>
          <p:nvPr>
            <p:ph hasCustomPrompt="1" type="title"/>
          </p:nvPr>
        </p:nvSpPr>
        <p:spPr>
          <a:xfrm>
            <a:off x="311700" y="606575"/>
            <a:ext cx="8520600" cy="16710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57068C"/>
              </a:buClr>
              <a:buSzPts val="13000"/>
              <a:buNone/>
              <a:defRPr sz="13000">
                <a:solidFill>
                  <a:srgbClr val="57068C"/>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0" name="Google Shape;70;p12"/>
          <p:cNvSpPr txBox="1"/>
          <p:nvPr>
            <p:ph idx="1" type="body"/>
          </p:nvPr>
        </p:nvSpPr>
        <p:spPr>
          <a:xfrm>
            <a:off x="3007950" y="3094875"/>
            <a:ext cx="3128100" cy="11868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sz="1100"/>
            </a:lvl1pPr>
            <a:lvl2pPr indent="-298450" lvl="1" marL="914400" algn="ctr">
              <a:spcBef>
                <a:spcPts val="0"/>
              </a:spcBef>
              <a:spcAft>
                <a:spcPts val="0"/>
              </a:spcAft>
              <a:buSzPts val="1100"/>
              <a:buChar char="○"/>
              <a:defRPr sz="1100"/>
            </a:lvl2pPr>
            <a:lvl3pPr indent="-298450" lvl="2" marL="1371600" algn="ctr">
              <a:spcBef>
                <a:spcPts val="0"/>
              </a:spcBef>
              <a:spcAft>
                <a:spcPts val="0"/>
              </a:spcAft>
              <a:buSzPts val="1100"/>
              <a:buChar char="■"/>
              <a:defRPr sz="1100"/>
            </a:lvl3pPr>
            <a:lvl4pPr indent="-298450" lvl="3" marL="1828800" algn="ctr">
              <a:spcBef>
                <a:spcPts val="0"/>
              </a:spcBef>
              <a:spcAft>
                <a:spcPts val="0"/>
              </a:spcAft>
              <a:buSzPts val="1100"/>
              <a:buChar char="●"/>
              <a:defRPr sz="1100"/>
            </a:lvl4pPr>
            <a:lvl5pPr indent="-298450" lvl="4" marL="2286000" algn="ctr">
              <a:spcBef>
                <a:spcPts val="0"/>
              </a:spcBef>
              <a:spcAft>
                <a:spcPts val="0"/>
              </a:spcAft>
              <a:buSzPts val="1100"/>
              <a:buChar char="○"/>
              <a:defRPr sz="1100"/>
            </a:lvl5pPr>
            <a:lvl6pPr indent="-298450" lvl="5" marL="2743200" algn="ctr">
              <a:spcBef>
                <a:spcPts val="0"/>
              </a:spcBef>
              <a:spcAft>
                <a:spcPts val="0"/>
              </a:spcAft>
              <a:buSzPts val="1100"/>
              <a:buChar char="■"/>
              <a:defRPr sz="1100"/>
            </a:lvl6pPr>
            <a:lvl7pPr indent="-298450" lvl="6" marL="3200400" algn="ctr">
              <a:spcBef>
                <a:spcPts val="0"/>
              </a:spcBef>
              <a:spcAft>
                <a:spcPts val="0"/>
              </a:spcAft>
              <a:buSzPts val="1100"/>
              <a:buChar char="●"/>
              <a:defRPr sz="1100"/>
            </a:lvl7pPr>
            <a:lvl8pPr indent="-298450" lvl="7" marL="3657600" algn="ctr">
              <a:spcBef>
                <a:spcPts val="0"/>
              </a:spcBef>
              <a:spcAft>
                <a:spcPts val="0"/>
              </a:spcAft>
              <a:buSzPts val="1100"/>
              <a:buChar char="○"/>
              <a:defRPr sz="1100"/>
            </a:lvl8pPr>
            <a:lvl9pPr indent="-298450" lvl="8" marL="4114800" algn="ctr">
              <a:spcBef>
                <a:spcPts val="0"/>
              </a:spcBef>
              <a:spcAft>
                <a:spcPts val="0"/>
              </a:spcAft>
              <a:buSzPts val="1100"/>
              <a:buChar char="■"/>
              <a:defRPr sz="1100"/>
            </a:lvl9pPr>
          </a:lstStyle>
          <a:p/>
        </p:txBody>
      </p:sp>
      <p:pic>
        <p:nvPicPr>
          <p:cNvPr descr=" " id="71" name="Google Shape;71;p12"/>
          <p:cNvPicPr preferRelativeResize="0"/>
          <p:nvPr/>
        </p:nvPicPr>
        <p:blipFill>
          <a:blip r:embed="rId3">
            <a:alphaModFix/>
          </a:blip>
          <a:stretch>
            <a:fillRect/>
          </a:stretch>
        </p:blipFill>
        <p:spPr>
          <a:xfrm>
            <a:off x="407175" y="4539121"/>
            <a:ext cx="776077" cy="263400"/>
          </a:xfrm>
          <a:prstGeom prst="rect">
            <a:avLst/>
          </a:prstGeom>
          <a:noFill/>
          <a:ln>
            <a:noFill/>
          </a:ln>
        </p:spPr>
      </p:pic>
      <p:sp>
        <p:nvSpPr>
          <p:cNvPr id="72" name="Google Shape;72;p12"/>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
        <p:nvSpPr>
          <p:cNvPr id="73" name="Google Shape;73;p12"/>
          <p:cNvSpPr txBox="1"/>
          <p:nvPr>
            <p:ph idx="2" type="subTitle"/>
          </p:nvPr>
        </p:nvSpPr>
        <p:spPr>
          <a:xfrm>
            <a:off x="1429500" y="2353776"/>
            <a:ext cx="6285000" cy="4638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b="1" sz="2800">
                <a:solidFill>
                  <a:schemeClr val="accent1"/>
                </a:solidFill>
                <a:latin typeface="Frank Ruhl Libre"/>
                <a:ea typeface="Frank Ruhl Libre"/>
                <a:cs typeface="Frank Ruhl Libre"/>
                <a:sym typeface="Frank Ruhl Libre"/>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p:cSld name="CUSTOM">
    <p:spTree>
      <p:nvGrpSpPr>
        <p:cNvPr id="74" name="Shape 74"/>
        <p:cNvGrpSpPr/>
        <p:nvPr/>
      </p:nvGrpSpPr>
      <p:grpSpPr>
        <a:xfrm>
          <a:off x="0" y="0"/>
          <a:ext cx="0" cy="0"/>
          <a:chOff x="0" y="0"/>
          <a:chExt cx="0" cy="0"/>
        </a:xfrm>
      </p:grpSpPr>
      <p:pic>
        <p:nvPicPr>
          <p:cNvPr id="75" name="Google Shape;75;p13"/>
          <p:cNvPicPr preferRelativeResize="0"/>
          <p:nvPr/>
        </p:nvPicPr>
        <p:blipFill>
          <a:blip r:embed="rId2">
            <a:alphaModFix/>
          </a:blip>
          <a:stretch>
            <a:fillRect/>
          </a:stretch>
        </p:blipFill>
        <p:spPr>
          <a:xfrm>
            <a:off x="0" y="0"/>
            <a:ext cx="9143997" cy="5143510"/>
          </a:xfrm>
          <a:prstGeom prst="rect">
            <a:avLst/>
          </a:prstGeom>
          <a:noFill/>
          <a:ln>
            <a:noFill/>
          </a:ln>
        </p:spPr>
      </p:pic>
      <p:pic>
        <p:nvPicPr>
          <p:cNvPr descr=" " id="76" name="Google Shape;76;p13"/>
          <p:cNvPicPr preferRelativeResize="0"/>
          <p:nvPr/>
        </p:nvPicPr>
        <p:blipFill>
          <a:blip r:embed="rId3">
            <a:alphaModFix/>
          </a:blip>
          <a:stretch>
            <a:fillRect/>
          </a:stretch>
        </p:blipFill>
        <p:spPr>
          <a:xfrm>
            <a:off x="407175" y="4539121"/>
            <a:ext cx="776077" cy="263400"/>
          </a:xfrm>
          <a:prstGeom prst="rect">
            <a:avLst/>
          </a:prstGeom>
          <a:noFill/>
          <a:ln>
            <a:noFill/>
          </a:ln>
        </p:spPr>
      </p:pic>
      <p:sp>
        <p:nvSpPr>
          <p:cNvPr id="77" name="Google Shape;77;p13"/>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
        <p:nvSpPr>
          <p:cNvPr id="78" name="Google Shape;78;p13"/>
          <p:cNvSpPr txBox="1"/>
          <p:nvPr>
            <p:ph type="title"/>
          </p:nvPr>
        </p:nvSpPr>
        <p:spPr>
          <a:xfrm>
            <a:off x="4969800" y="1412750"/>
            <a:ext cx="3766800" cy="1374600"/>
          </a:xfrm>
          <a:prstGeom prst="rect">
            <a:avLst/>
          </a:prstGeom>
        </p:spPr>
        <p:txBody>
          <a:bodyPr anchorCtr="0" anchor="b" bIns="91425" lIns="91425" spcFirstLastPara="1" rIns="91425" wrap="square" tIns="91425">
            <a:noAutofit/>
          </a:bodyPr>
          <a:lstStyle>
            <a:lvl1pPr lvl="0" rtl="0">
              <a:lnSpc>
                <a:spcPct val="80000"/>
              </a:lnSpc>
              <a:spcBef>
                <a:spcPts val="0"/>
              </a:spcBef>
              <a:spcAft>
                <a:spcPts val="0"/>
              </a:spcAft>
              <a:buClr>
                <a:srgbClr val="57068C"/>
              </a:buClr>
              <a:buSzPts val="3600"/>
              <a:buNone/>
              <a:defRPr>
                <a:solidFill>
                  <a:srgbClr val="57068C"/>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9" name="Google Shape;79;p13"/>
          <p:cNvSpPr txBox="1"/>
          <p:nvPr>
            <p:ph idx="1" type="body"/>
          </p:nvPr>
        </p:nvSpPr>
        <p:spPr>
          <a:xfrm>
            <a:off x="4969675" y="2901150"/>
            <a:ext cx="3766800" cy="1374600"/>
          </a:xfrm>
          <a:prstGeom prst="rect">
            <a:avLst/>
          </a:prstGeom>
        </p:spPr>
        <p:txBody>
          <a:bodyPr anchorCtr="0" anchor="t" bIns="91425" lIns="91425" spcFirstLastPara="1" rIns="91425" wrap="square" tIns="91425">
            <a:noAutofit/>
          </a:bodyPr>
          <a:lstStyle>
            <a:lvl1pPr indent="-298450" lvl="0" marL="457200" rtl="0">
              <a:lnSpc>
                <a:spcPct val="125000"/>
              </a:lnSpc>
              <a:spcBef>
                <a:spcPts val="0"/>
              </a:spcBef>
              <a:spcAft>
                <a:spcPts val="0"/>
              </a:spcAft>
              <a:buSzPts val="1100"/>
              <a:buChar char="●"/>
              <a:defRPr sz="1100"/>
            </a:lvl1pPr>
            <a:lvl2pPr indent="-298450" lvl="1" marL="914400" rtl="0">
              <a:lnSpc>
                <a:spcPct val="125000"/>
              </a:lnSpc>
              <a:spcBef>
                <a:spcPts val="800"/>
              </a:spcBef>
              <a:spcAft>
                <a:spcPts val="0"/>
              </a:spcAft>
              <a:buSzPts val="1100"/>
              <a:buChar char="○"/>
              <a:defRPr sz="1100"/>
            </a:lvl2pPr>
            <a:lvl3pPr indent="-298450" lvl="2" marL="1371600" rtl="0">
              <a:lnSpc>
                <a:spcPct val="125000"/>
              </a:lnSpc>
              <a:spcBef>
                <a:spcPts val="800"/>
              </a:spcBef>
              <a:spcAft>
                <a:spcPts val="0"/>
              </a:spcAft>
              <a:buSzPts val="1100"/>
              <a:buChar char="■"/>
              <a:defRPr sz="1100"/>
            </a:lvl3pPr>
            <a:lvl4pPr indent="-298450" lvl="3" marL="1828800" rtl="0">
              <a:lnSpc>
                <a:spcPct val="125000"/>
              </a:lnSpc>
              <a:spcBef>
                <a:spcPts val="800"/>
              </a:spcBef>
              <a:spcAft>
                <a:spcPts val="0"/>
              </a:spcAft>
              <a:buSzPts val="1100"/>
              <a:buChar char="●"/>
              <a:defRPr sz="1100"/>
            </a:lvl4pPr>
            <a:lvl5pPr indent="-298450" lvl="4" marL="2286000" rtl="0">
              <a:lnSpc>
                <a:spcPct val="125000"/>
              </a:lnSpc>
              <a:spcBef>
                <a:spcPts val="800"/>
              </a:spcBef>
              <a:spcAft>
                <a:spcPts val="0"/>
              </a:spcAft>
              <a:buSzPts val="1100"/>
              <a:buChar char="○"/>
              <a:defRPr sz="1100"/>
            </a:lvl5pPr>
            <a:lvl6pPr indent="-298450" lvl="5" marL="2743200" rtl="0">
              <a:lnSpc>
                <a:spcPct val="125000"/>
              </a:lnSpc>
              <a:spcBef>
                <a:spcPts val="800"/>
              </a:spcBef>
              <a:spcAft>
                <a:spcPts val="0"/>
              </a:spcAft>
              <a:buSzPts val="1100"/>
              <a:buChar char="■"/>
              <a:defRPr sz="1100"/>
            </a:lvl6pPr>
            <a:lvl7pPr indent="-298450" lvl="6" marL="3200400" rtl="0">
              <a:lnSpc>
                <a:spcPct val="125000"/>
              </a:lnSpc>
              <a:spcBef>
                <a:spcPts val="800"/>
              </a:spcBef>
              <a:spcAft>
                <a:spcPts val="0"/>
              </a:spcAft>
              <a:buSzPts val="1100"/>
              <a:buChar char="●"/>
              <a:defRPr sz="1100"/>
            </a:lvl7pPr>
            <a:lvl8pPr indent="-298450" lvl="7" marL="3657600" rtl="0">
              <a:lnSpc>
                <a:spcPct val="125000"/>
              </a:lnSpc>
              <a:spcBef>
                <a:spcPts val="800"/>
              </a:spcBef>
              <a:spcAft>
                <a:spcPts val="0"/>
              </a:spcAft>
              <a:buSzPts val="1100"/>
              <a:buChar char="○"/>
              <a:defRPr sz="1100"/>
            </a:lvl8pPr>
            <a:lvl9pPr indent="-298450" lvl="8" marL="4114800" rtl="0">
              <a:lnSpc>
                <a:spcPct val="125000"/>
              </a:lnSpc>
              <a:spcBef>
                <a:spcPts val="800"/>
              </a:spcBef>
              <a:spcAft>
                <a:spcPts val="800"/>
              </a:spcAft>
              <a:buSzPts val="1100"/>
              <a:buChar char="■"/>
              <a:defRPr sz="11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CUSTOM_1">
    <p:spTree>
      <p:nvGrpSpPr>
        <p:cNvPr id="80" name="Shape 80"/>
        <p:cNvGrpSpPr/>
        <p:nvPr/>
      </p:nvGrpSpPr>
      <p:grpSpPr>
        <a:xfrm>
          <a:off x="0" y="0"/>
          <a:ext cx="0" cy="0"/>
          <a:chOff x="0" y="0"/>
          <a:chExt cx="0" cy="0"/>
        </a:xfrm>
      </p:grpSpPr>
      <p:pic>
        <p:nvPicPr>
          <p:cNvPr descr=" " id="81" name="Google Shape;81;p14"/>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82" name="Google Shape;82;p14"/>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
        <p:nvSpPr>
          <p:cNvPr id="83" name="Google Shape;83;p14"/>
          <p:cNvSpPr txBox="1"/>
          <p:nvPr>
            <p:ph type="title"/>
          </p:nvPr>
        </p:nvSpPr>
        <p:spPr>
          <a:xfrm>
            <a:off x="311700" y="587975"/>
            <a:ext cx="3610800" cy="8916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Clr>
                <a:srgbClr val="57068C"/>
              </a:buClr>
              <a:buSzPts val="4000"/>
              <a:buNone/>
              <a:defRPr sz="4000">
                <a:solidFill>
                  <a:srgbClr val="57068C"/>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4" name="Google Shape;84;p14"/>
          <p:cNvSpPr txBox="1"/>
          <p:nvPr>
            <p:ph idx="1" type="body"/>
          </p:nvPr>
        </p:nvSpPr>
        <p:spPr>
          <a:xfrm>
            <a:off x="311700" y="1836175"/>
            <a:ext cx="3610800" cy="2439600"/>
          </a:xfrm>
          <a:prstGeom prst="rect">
            <a:avLst/>
          </a:prstGeom>
        </p:spPr>
        <p:txBody>
          <a:bodyPr anchorCtr="0" anchor="t" bIns="91425" lIns="91425" spcFirstLastPara="1" rIns="91425" wrap="square" tIns="91425">
            <a:noAutofit/>
          </a:bodyPr>
          <a:lstStyle>
            <a:lvl1pPr indent="-317500" lvl="0" marL="457200" rtl="0">
              <a:lnSpc>
                <a:spcPct val="125000"/>
              </a:lnSpc>
              <a:spcBef>
                <a:spcPts val="0"/>
              </a:spcBef>
              <a:spcAft>
                <a:spcPts val="0"/>
              </a:spcAft>
              <a:buSzPts val="1400"/>
              <a:buChar char="●"/>
              <a:defRPr sz="1400"/>
            </a:lvl1pPr>
            <a:lvl2pPr indent="-317500" lvl="1" marL="914400" rtl="0">
              <a:lnSpc>
                <a:spcPct val="125000"/>
              </a:lnSpc>
              <a:spcBef>
                <a:spcPts val="800"/>
              </a:spcBef>
              <a:spcAft>
                <a:spcPts val="0"/>
              </a:spcAft>
              <a:buSzPts val="1400"/>
              <a:buChar char="○"/>
              <a:defRPr/>
            </a:lvl2pPr>
            <a:lvl3pPr indent="-317500" lvl="2" marL="1371600" rtl="0">
              <a:lnSpc>
                <a:spcPct val="125000"/>
              </a:lnSpc>
              <a:spcBef>
                <a:spcPts val="800"/>
              </a:spcBef>
              <a:spcAft>
                <a:spcPts val="0"/>
              </a:spcAft>
              <a:buSzPts val="1400"/>
              <a:buChar char="■"/>
              <a:defRPr/>
            </a:lvl3pPr>
            <a:lvl4pPr indent="-317500" lvl="3" marL="1828800" rtl="0">
              <a:lnSpc>
                <a:spcPct val="125000"/>
              </a:lnSpc>
              <a:spcBef>
                <a:spcPts val="800"/>
              </a:spcBef>
              <a:spcAft>
                <a:spcPts val="0"/>
              </a:spcAft>
              <a:buSzPts val="1400"/>
              <a:buChar char="●"/>
              <a:defRPr/>
            </a:lvl4pPr>
            <a:lvl5pPr indent="-317500" lvl="4" marL="2286000" rtl="0">
              <a:lnSpc>
                <a:spcPct val="125000"/>
              </a:lnSpc>
              <a:spcBef>
                <a:spcPts val="800"/>
              </a:spcBef>
              <a:spcAft>
                <a:spcPts val="0"/>
              </a:spcAft>
              <a:buSzPts val="1400"/>
              <a:buChar char="○"/>
              <a:defRPr/>
            </a:lvl5pPr>
            <a:lvl6pPr indent="-317500" lvl="5" marL="2743200" rtl="0">
              <a:lnSpc>
                <a:spcPct val="125000"/>
              </a:lnSpc>
              <a:spcBef>
                <a:spcPts val="800"/>
              </a:spcBef>
              <a:spcAft>
                <a:spcPts val="0"/>
              </a:spcAft>
              <a:buSzPts val="1400"/>
              <a:buChar char="■"/>
              <a:defRPr/>
            </a:lvl6pPr>
            <a:lvl7pPr indent="-317500" lvl="6" marL="3200400" rtl="0">
              <a:lnSpc>
                <a:spcPct val="125000"/>
              </a:lnSpc>
              <a:spcBef>
                <a:spcPts val="800"/>
              </a:spcBef>
              <a:spcAft>
                <a:spcPts val="0"/>
              </a:spcAft>
              <a:buSzPts val="1400"/>
              <a:buChar char="●"/>
              <a:defRPr/>
            </a:lvl7pPr>
            <a:lvl8pPr indent="-317500" lvl="7" marL="3657600" rtl="0">
              <a:lnSpc>
                <a:spcPct val="125000"/>
              </a:lnSpc>
              <a:spcBef>
                <a:spcPts val="800"/>
              </a:spcBef>
              <a:spcAft>
                <a:spcPts val="0"/>
              </a:spcAft>
              <a:buSzPts val="1400"/>
              <a:buChar char="○"/>
              <a:defRPr/>
            </a:lvl8pPr>
            <a:lvl9pPr indent="-317500" lvl="8" marL="4114800" rtl="0">
              <a:lnSpc>
                <a:spcPct val="125000"/>
              </a:lnSpc>
              <a:spcBef>
                <a:spcPts val="800"/>
              </a:spcBef>
              <a:spcAft>
                <a:spcPts val="800"/>
              </a:spcAft>
              <a:buSzPts val="1400"/>
              <a:buChar char="■"/>
              <a:defRPr/>
            </a:lvl9pPr>
          </a:lstStyle>
          <a:p/>
        </p:txBody>
      </p:sp>
      <p:sp>
        <p:nvSpPr>
          <p:cNvPr id="85" name="Google Shape;85;p14"/>
          <p:cNvSpPr txBox="1"/>
          <p:nvPr/>
        </p:nvSpPr>
        <p:spPr>
          <a:xfrm>
            <a:off x="5958050" y="683000"/>
            <a:ext cx="2778600" cy="109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latin typeface="Montserrat"/>
              <a:ea typeface="Montserrat"/>
              <a:cs typeface="Montserrat"/>
              <a:sym typeface="Montserrat"/>
            </a:endParaRPr>
          </a:p>
        </p:txBody>
      </p:sp>
      <p:sp>
        <p:nvSpPr>
          <p:cNvPr id="86" name="Google Shape;86;p14"/>
          <p:cNvSpPr txBox="1"/>
          <p:nvPr>
            <p:ph idx="2" type="body"/>
          </p:nvPr>
        </p:nvSpPr>
        <p:spPr>
          <a:xfrm>
            <a:off x="5824575" y="683050"/>
            <a:ext cx="2911800" cy="10968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600"/>
              </a:spcBef>
              <a:spcAft>
                <a:spcPts val="0"/>
              </a:spcAft>
              <a:buSzPts val="1000"/>
              <a:buChar char="○"/>
              <a:defRPr sz="1000"/>
            </a:lvl2pPr>
            <a:lvl3pPr indent="-292100" lvl="2" marL="1371600">
              <a:spcBef>
                <a:spcPts val="600"/>
              </a:spcBef>
              <a:spcAft>
                <a:spcPts val="0"/>
              </a:spcAft>
              <a:buSzPts val="1000"/>
              <a:buChar char="■"/>
              <a:defRPr sz="1000"/>
            </a:lvl3pPr>
            <a:lvl4pPr indent="-292100" lvl="3" marL="1828800">
              <a:spcBef>
                <a:spcPts val="600"/>
              </a:spcBef>
              <a:spcAft>
                <a:spcPts val="0"/>
              </a:spcAft>
              <a:buSzPts val="1000"/>
              <a:buChar char="●"/>
              <a:defRPr sz="1000"/>
            </a:lvl4pPr>
            <a:lvl5pPr indent="-292100" lvl="4" marL="2286000">
              <a:spcBef>
                <a:spcPts val="600"/>
              </a:spcBef>
              <a:spcAft>
                <a:spcPts val="0"/>
              </a:spcAft>
              <a:buSzPts val="1000"/>
              <a:buChar char="○"/>
              <a:defRPr sz="1000"/>
            </a:lvl5pPr>
            <a:lvl6pPr indent="-292100" lvl="5" marL="2743200">
              <a:spcBef>
                <a:spcPts val="600"/>
              </a:spcBef>
              <a:spcAft>
                <a:spcPts val="0"/>
              </a:spcAft>
              <a:buSzPts val="1000"/>
              <a:buChar char="■"/>
              <a:defRPr sz="1000"/>
            </a:lvl6pPr>
            <a:lvl7pPr indent="-292100" lvl="6" marL="3200400">
              <a:spcBef>
                <a:spcPts val="600"/>
              </a:spcBef>
              <a:spcAft>
                <a:spcPts val="0"/>
              </a:spcAft>
              <a:buSzPts val="1000"/>
              <a:buChar char="●"/>
              <a:defRPr sz="1000"/>
            </a:lvl7pPr>
            <a:lvl8pPr indent="-292100" lvl="7" marL="3657600">
              <a:spcBef>
                <a:spcPts val="600"/>
              </a:spcBef>
              <a:spcAft>
                <a:spcPts val="0"/>
              </a:spcAft>
              <a:buSzPts val="1000"/>
              <a:buChar char="○"/>
              <a:defRPr sz="1000"/>
            </a:lvl8pPr>
            <a:lvl9pPr indent="-292100" lvl="8" marL="4114800">
              <a:spcBef>
                <a:spcPts val="600"/>
              </a:spcBef>
              <a:spcAft>
                <a:spcPts val="600"/>
              </a:spcAft>
              <a:buSzPts val="1000"/>
              <a:buChar char="■"/>
              <a:defRPr sz="1000"/>
            </a:lvl9pPr>
          </a:lstStyle>
          <a:p/>
        </p:txBody>
      </p:sp>
      <p:sp>
        <p:nvSpPr>
          <p:cNvPr id="87" name="Google Shape;87;p14"/>
          <p:cNvSpPr txBox="1"/>
          <p:nvPr>
            <p:ph idx="3" type="body"/>
          </p:nvPr>
        </p:nvSpPr>
        <p:spPr>
          <a:xfrm>
            <a:off x="5824575" y="1931875"/>
            <a:ext cx="2911800" cy="1096800"/>
          </a:xfrm>
          <a:prstGeom prst="rect">
            <a:avLst/>
          </a:prstGeom>
        </p:spPr>
        <p:txBody>
          <a:bodyPr anchorCtr="0" anchor="ctr" bIns="91425" lIns="91425" spcFirstLastPara="1" rIns="91425" wrap="square" tIns="91425">
            <a:noAutofit/>
          </a:bodyPr>
          <a:lstStyle>
            <a:lvl1pPr indent="-292100" lvl="0" marL="457200" rtl="0">
              <a:spcBef>
                <a:spcPts val="0"/>
              </a:spcBef>
              <a:spcAft>
                <a:spcPts val="0"/>
              </a:spcAft>
              <a:buSzPts val="1000"/>
              <a:buChar char="●"/>
              <a:defRPr sz="1000"/>
            </a:lvl1pPr>
            <a:lvl2pPr indent="-292100" lvl="1" marL="914400" rtl="0">
              <a:spcBef>
                <a:spcPts val="600"/>
              </a:spcBef>
              <a:spcAft>
                <a:spcPts val="0"/>
              </a:spcAft>
              <a:buSzPts val="1000"/>
              <a:buChar char="○"/>
              <a:defRPr sz="1000"/>
            </a:lvl2pPr>
            <a:lvl3pPr indent="-292100" lvl="2" marL="1371600" rtl="0">
              <a:spcBef>
                <a:spcPts val="600"/>
              </a:spcBef>
              <a:spcAft>
                <a:spcPts val="0"/>
              </a:spcAft>
              <a:buSzPts val="1000"/>
              <a:buChar char="■"/>
              <a:defRPr sz="1000"/>
            </a:lvl3pPr>
            <a:lvl4pPr indent="-292100" lvl="3" marL="1828800" rtl="0">
              <a:spcBef>
                <a:spcPts val="600"/>
              </a:spcBef>
              <a:spcAft>
                <a:spcPts val="0"/>
              </a:spcAft>
              <a:buSzPts val="1000"/>
              <a:buChar char="●"/>
              <a:defRPr sz="1000"/>
            </a:lvl4pPr>
            <a:lvl5pPr indent="-292100" lvl="4" marL="2286000" rtl="0">
              <a:spcBef>
                <a:spcPts val="600"/>
              </a:spcBef>
              <a:spcAft>
                <a:spcPts val="0"/>
              </a:spcAft>
              <a:buSzPts val="1000"/>
              <a:buChar char="○"/>
              <a:defRPr sz="1000"/>
            </a:lvl5pPr>
            <a:lvl6pPr indent="-292100" lvl="5" marL="2743200" rtl="0">
              <a:spcBef>
                <a:spcPts val="600"/>
              </a:spcBef>
              <a:spcAft>
                <a:spcPts val="0"/>
              </a:spcAft>
              <a:buSzPts val="1000"/>
              <a:buChar char="■"/>
              <a:defRPr sz="1000"/>
            </a:lvl6pPr>
            <a:lvl7pPr indent="-292100" lvl="6" marL="3200400" rtl="0">
              <a:spcBef>
                <a:spcPts val="600"/>
              </a:spcBef>
              <a:spcAft>
                <a:spcPts val="0"/>
              </a:spcAft>
              <a:buSzPts val="1000"/>
              <a:buChar char="●"/>
              <a:defRPr sz="1000"/>
            </a:lvl7pPr>
            <a:lvl8pPr indent="-292100" lvl="7" marL="3657600" rtl="0">
              <a:spcBef>
                <a:spcPts val="600"/>
              </a:spcBef>
              <a:spcAft>
                <a:spcPts val="0"/>
              </a:spcAft>
              <a:buSzPts val="1000"/>
              <a:buChar char="○"/>
              <a:defRPr sz="1000"/>
            </a:lvl8pPr>
            <a:lvl9pPr indent="-292100" lvl="8" marL="4114800" rtl="0">
              <a:spcBef>
                <a:spcPts val="600"/>
              </a:spcBef>
              <a:spcAft>
                <a:spcPts val="600"/>
              </a:spcAft>
              <a:buSzPts val="1000"/>
              <a:buChar char="■"/>
              <a:defRPr sz="1000"/>
            </a:lvl9pPr>
          </a:lstStyle>
          <a:p/>
        </p:txBody>
      </p:sp>
      <p:sp>
        <p:nvSpPr>
          <p:cNvPr id="88" name="Google Shape;88;p14"/>
          <p:cNvSpPr txBox="1"/>
          <p:nvPr>
            <p:ph idx="4" type="body"/>
          </p:nvPr>
        </p:nvSpPr>
        <p:spPr>
          <a:xfrm>
            <a:off x="5824575" y="3180700"/>
            <a:ext cx="2911800" cy="1096800"/>
          </a:xfrm>
          <a:prstGeom prst="rect">
            <a:avLst/>
          </a:prstGeom>
        </p:spPr>
        <p:txBody>
          <a:bodyPr anchorCtr="0" anchor="ctr" bIns="91425" lIns="91425" spcFirstLastPara="1" rIns="91425" wrap="square" tIns="91425">
            <a:noAutofit/>
          </a:bodyPr>
          <a:lstStyle>
            <a:lvl1pPr indent="-292100" lvl="0" marL="457200" rtl="0">
              <a:spcBef>
                <a:spcPts val="0"/>
              </a:spcBef>
              <a:spcAft>
                <a:spcPts val="0"/>
              </a:spcAft>
              <a:buSzPts val="1000"/>
              <a:buChar char="●"/>
              <a:defRPr sz="1000"/>
            </a:lvl1pPr>
            <a:lvl2pPr indent="-292100" lvl="1" marL="914400" rtl="0">
              <a:spcBef>
                <a:spcPts val="600"/>
              </a:spcBef>
              <a:spcAft>
                <a:spcPts val="0"/>
              </a:spcAft>
              <a:buSzPts val="1000"/>
              <a:buChar char="○"/>
              <a:defRPr sz="1000"/>
            </a:lvl2pPr>
            <a:lvl3pPr indent="-292100" lvl="2" marL="1371600" rtl="0">
              <a:spcBef>
                <a:spcPts val="600"/>
              </a:spcBef>
              <a:spcAft>
                <a:spcPts val="0"/>
              </a:spcAft>
              <a:buSzPts val="1000"/>
              <a:buChar char="■"/>
              <a:defRPr sz="1000"/>
            </a:lvl3pPr>
            <a:lvl4pPr indent="-292100" lvl="3" marL="1828800" rtl="0">
              <a:spcBef>
                <a:spcPts val="600"/>
              </a:spcBef>
              <a:spcAft>
                <a:spcPts val="0"/>
              </a:spcAft>
              <a:buSzPts val="1000"/>
              <a:buChar char="●"/>
              <a:defRPr sz="1000"/>
            </a:lvl4pPr>
            <a:lvl5pPr indent="-292100" lvl="4" marL="2286000" rtl="0">
              <a:spcBef>
                <a:spcPts val="600"/>
              </a:spcBef>
              <a:spcAft>
                <a:spcPts val="0"/>
              </a:spcAft>
              <a:buSzPts val="1000"/>
              <a:buChar char="○"/>
              <a:defRPr sz="1000"/>
            </a:lvl5pPr>
            <a:lvl6pPr indent="-292100" lvl="5" marL="2743200" rtl="0">
              <a:spcBef>
                <a:spcPts val="600"/>
              </a:spcBef>
              <a:spcAft>
                <a:spcPts val="0"/>
              </a:spcAft>
              <a:buSzPts val="1000"/>
              <a:buChar char="■"/>
              <a:defRPr sz="1000"/>
            </a:lvl6pPr>
            <a:lvl7pPr indent="-292100" lvl="6" marL="3200400" rtl="0">
              <a:spcBef>
                <a:spcPts val="600"/>
              </a:spcBef>
              <a:spcAft>
                <a:spcPts val="0"/>
              </a:spcAft>
              <a:buSzPts val="1000"/>
              <a:buChar char="●"/>
              <a:defRPr sz="1000"/>
            </a:lvl7pPr>
            <a:lvl8pPr indent="-292100" lvl="7" marL="3657600" rtl="0">
              <a:spcBef>
                <a:spcPts val="600"/>
              </a:spcBef>
              <a:spcAft>
                <a:spcPts val="0"/>
              </a:spcAft>
              <a:buSzPts val="1000"/>
              <a:buChar char="○"/>
              <a:defRPr sz="1000"/>
            </a:lvl8pPr>
            <a:lvl9pPr indent="-292100" lvl="8" marL="4114800" rtl="0">
              <a:spcBef>
                <a:spcPts val="600"/>
              </a:spcBef>
              <a:spcAft>
                <a:spcPts val="600"/>
              </a:spcAft>
              <a:buSzPts val="1000"/>
              <a:buChar char="■"/>
              <a:defRPr sz="1000"/>
            </a:lvl9pPr>
          </a:lstStyle>
          <a:p/>
        </p:txBody>
      </p:sp>
      <p:pic>
        <p:nvPicPr>
          <p:cNvPr id="89" name="Google Shape;89;p14"/>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extLst>
    <p:ext uri="{DCECCB84-F9BA-43D5-87BE-67443E8EF086}">
      <p15:sldGuideLst>
        <p15:guide id="1" pos="2880">
          <p15:clr>
            <a:srgbClr val="FA7B17"/>
          </p15:clr>
        </p15:guide>
        <p15:guide id="2" orient="horz" pos="4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2">
    <p:bg>
      <p:bgPr>
        <a:solidFill>
          <a:srgbClr val="220337"/>
        </a:solidFill>
      </p:bgPr>
    </p:bg>
    <p:spTree>
      <p:nvGrpSpPr>
        <p:cNvPr id="90" name="Shape 90"/>
        <p:cNvGrpSpPr/>
        <p:nvPr/>
      </p:nvGrpSpPr>
      <p:grpSpPr>
        <a:xfrm>
          <a:off x="0" y="0"/>
          <a:ext cx="0" cy="0"/>
          <a:chOff x="0" y="0"/>
          <a:chExt cx="0" cy="0"/>
        </a:xfrm>
      </p:grpSpPr>
      <p:pic>
        <p:nvPicPr>
          <p:cNvPr id="91" name="Google Shape;91;p15"/>
          <p:cNvPicPr preferRelativeResize="0"/>
          <p:nvPr/>
        </p:nvPicPr>
        <p:blipFill>
          <a:blip r:embed="rId2">
            <a:alphaModFix/>
          </a:blip>
          <a:stretch>
            <a:fillRect/>
          </a:stretch>
        </p:blipFill>
        <p:spPr>
          <a:xfrm>
            <a:off x="0" y="0"/>
            <a:ext cx="9144003" cy="5143501"/>
          </a:xfrm>
          <a:prstGeom prst="rect">
            <a:avLst/>
          </a:prstGeom>
          <a:noFill/>
          <a:ln>
            <a:noFill/>
          </a:ln>
        </p:spPr>
      </p:pic>
      <p:pic>
        <p:nvPicPr>
          <p:cNvPr descr=" " id="92" name="Google Shape;92;p15"/>
          <p:cNvPicPr preferRelativeResize="0"/>
          <p:nvPr/>
        </p:nvPicPr>
        <p:blipFill rotWithShape="1">
          <a:blip r:embed="rId3">
            <a:alphaModFix/>
          </a:blip>
          <a:srcRect b="0" l="0" r="0" t="0"/>
          <a:stretch/>
        </p:blipFill>
        <p:spPr>
          <a:xfrm>
            <a:off x="407175" y="4539121"/>
            <a:ext cx="776077" cy="263400"/>
          </a:xfrm>
          <a:prstGeom prst="rect">
            <a:avLst/>
          </a:prstGeom>
          <a:noFill/>
          <a:ln>
            <a:noFill/>
          </a:ln>
        </p:spPr>
      </p:pic>
      <p:sp>
        <p:nvSpPr>
          <p:cNvPr id="93" name="Google Shape;93;p15"/>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rgbClr val="FFFFFF"/>
                </a:solidFill>
                <a:latin typeface="Montserrat"/>
                <a:ea typeface="Montserrat"/>
                <a:cs typeface="Montserrat"/>
                <a:sym typeface="Montserrat"/>
              </a:rPr>
              <a:t>‹#›</a:t>
            </a:fld>
            <a:endParaRPr b="1" sz="700">
              <a:solidFill>
                <a:srgbClr val="FFFFFF"/>
              </a:solidFill>
              <a:latin typeface="Montserrat"/>
              <a:ea typeface="Montserrat"/>
              <a:cs typeface="Montserrat"/>
              <a:sym typeface="Montserrat"/>
            </a:endParaRPr>
          </a:p>
        </p:txBody>
      </p:sp>
      <p:sp>
        <p:nvSpPr>
          <p:cNvPr id="94" name="Google Shape;94;p15"/>
          <p:cNvSpPr txBox="1"/>
          <p:nvPr>
            <p:ph type="title"/>
          </p:nvPr>
        </p:nvSpPr>
        <p:spPr>
          <a:xfrm>
            <a:off x="904850" y="1264532"/>
            <a:ext cx="6710700" cy="1595100"/>
          </a:xfrm>
          <a:prstGeom prst="rect">
            <a:avLst/>
          </a:prstGeom>
        </p:spPr>
        <p:txBody>
          <a:bodyPr anchorCtr="0" anchor="ctr" bIns="91425" lIns="91425" spcFirstLastPara="1" rIns="91425" wrap="square" tIns="91425">
            <a:noAutofit/>
          </a:bodyPr>
          <a:lstStyle>
            <a:lvl1pPr lvl="0" rtl="0">
              <a:lnSpc>
                <a:spcPct val="80000"/>
              </a:lnSpc>
              <a:spcBef>
                <a:spcPts val="0"/>
              </a:spcBef>
              <a:spcAft>
                <a:spcPts val="0"/>
              </a:spcAft>
              <a:buNone/>
              <a:defRPr sz="6000">
                <a:solidFill>
                  <a:schemeClr val="dk1"/>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p:txBody>
      </p:sp>
      <p:sp>
        <p:nvSpPr>
          <p:cNvPr id="95" name="Google Shape;95;p15"/>
          <p:cNvSpPr txBox="1"/>
          <p:nvPr>
            <p:ph idx="1" type="subTitle"/>
          </p:nvPr>
        </p:nvSpPr>
        <p:spPr>
          <a:xfrm>
            <a:off x="974919" y="3029082"/>
            <a:ext cx="3715200" cy="500700"/>
          </a:xfrm>
          <a:prstGeom prst="rect">
            <a:avLst/>
          </a:prstGeom>
        </p:spPr>
        <p:txBody>
          <a:bodyPr anchorCtr="0" anchor="t" bIns="91425" lIns="91425" spcFirstLastPara="1" rIns="91425" wrap="square" tIns="91425">
            <a:noAutofit/>
          </a:bodyPr>
          <a:lstStyle>
            <a:lvl1pPr lvl="0">
              <a:spcBef>
                <a:spcPts val="0"/>
              </a:spcBef>
              <a:spcAft>
                <a:spcPts val="0"/>
              </a:spcAft>
              <a:buNone/>
              <a:defRPr>
                <a:solidFill>
                  <a:schemeClr val="dk1"/>
                </a:solidFill>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pic>
        <p:nvPicPr>
          <p:cNvPr descr=" " id="96" name="Google Shape;96;p15"/>
          <p:cNvPicPr preferRelativeResize="0"/>
          <p:nvPr/>
        </p:nvPicPr>
        <p:blipFill>
          <a:blip r:embed="rId4">
            <a:alphaModFix/>
          </a:blip>
          <a:stretch>
            <a:fillRect/>
          </a:stretch>
        </p:blipFill>
        <p:spPr>
          <a:xfrm>
            <a:off x="407175" y="4539121"/>
            <a:ext cx="776077" cy="2634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CUSTOM_3">
    <p:bg>
      <p:bgPr>
        <a:solidFill>
          <a:schemeClr val="lt2"/>
        </a:solidFill>
      </p:bgPr>
    </p:bg>
    <p:spTree>
      <p:nvGrpSpPr>
        <p:cNvPr id="97" name="Shape 97"/>
        <p:cNvGrpSpPr/>
        <p:nvPr/>
      </p:nvGrpSpPr>
      <p:grpSpPr>
        <a:xfrm>
          <a:off x="0" y="0"/>
          <a:ext cx="0" cy="0"/>
          <a:chOff x="0" y="0"/>
          <a:chExt cx="0" cy="0"/>
        </a:xfrm>
      </p:grpSpPr>
      <p:pic>
        <p:nvPicPr>
          <p:cNvPr id="98" name="Google Shape;98;p16"/>
          <p:cNvPicPr preferRelativeResize="0"/>
          <p:nvPr/>
        </p:nvPicPr>
        <p:blipFill>
          <a:blip r:embed="rId2">
            <a:alphaModFix/>
          </a:blip>
          <a:stretch>
            <a:fillRect/>
          </a:stretch>
        </p:blipFill>
        <p:spPr>
          <a:xfrm>
            <a:off x="-62802" y="-34225"/>
            <a:ext cx="9269596" cy="5180999"/>
          </a:xfrm>
          <a:prstGeom prst="rect">
            <a:avLst/>
          </a:prstGeom>
          <a:noFill/>
          <a:ln>
            <a:noFill/>
          </a:ln>
        </p:spPr>
      </p:pic>
      <p:pic>
        <p:nvPicPr>
          <p:cNvPr descr=" " id="99" name="Google Shape;99;p16"/>
          <p:cNvPicPr preferRelativeResize="0"/>
          <p:nvPr/>
        </p:nvPicPr>
        <p:blipFill>
          <a:blip r:embed="rId3">
            <a:alphaModFix/>
          </a:blip>
          <a:stretch>
            <a:fillRect/>
          </a:stretch>
        </p:blipFill>
        <p:spPr>
          <a:xfrm>
            <a:off x="407175" y="4539121"/>
            <a:ext cx="776077" cy="263400"/>
          </a:xfrm>
          <a:prstGeom prst="rect">
            <a:avLst/>
          </a:prstGeom>
          <a:noFill/>
          <a:ln>
            <a:noFill/>
          </a:ln>
        </p:spPr>
      </p:pic>
      <p:sp>
        <p:nvSpPr>
          <p:cNvPr id="100" name="Google Shape;100;p16"/>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
        <p:nvSpPr>
          <p:cNvPr id="101" name="Google Shape;101;p16"/>
          <p:cNvSpPr txBox="1"/>
          <p:nvPr>
            <p:ph type="title"/>
          </p:nvPr>
        </p:nvSpPr>
        <p:spPr>
          <a:xfrm>
            <a:off x="592275" y="522825"/>
            <a:ext cx="8144400" cy="3753000"/>
          </a:xfrm>
          <a:prstGeom prst="rect">
            <a:avLst/>
          </a:prstGeom>
        </p:spPr>
        <p:txBody>
          <a:bodyPr anchorCtr="0" anchor="ctr" bIns="91425" lIns="91425" spcFirstLastPara="1" rIns="91425" wrap="square" tIns="91425">
            <a:noAutofit/>
          </a:bodyPr>
          <a:lstStyle>
            <a:lvl1pPr lvl="0" rtl="0">
              <a:lnSpc>
                <a:spcPct val="80000"/>
              </a:lnSpc>
              <a:spcBef>
                <a:spcPts val="0"/>
              </a:spcBef>
              <a:spcAft>
                <a:spcPts val="0"/>
              </a:spcAft>
              <a:buNone/>
              <a:defRPr sz="6000">
                <a:solidFill>
                  <a:schemeClr val="dk1"/>
                </a:solidFill>
              </a:defRPr>
            </a:lvl1pPr>
            <a:lvl2pPr lvl="1" rtl="0">
              <a:spcBef>
                <a:spcPts val="0"/>
              </a:spcBef>
              <a:spcAft>
                <a:spcPts val="0"/>
              </a:spcAft>
              <a:buNone/>
              <a:defRPr>
                <a:solidFill>
                  <a:schemeClr val="dk1"/>
                </a:solidFill>
              </a:defRPr>
            </a:lvl2pPr>
            <a:lvl3pPr lvl="2" rtl="0">
              <a:spcBef>
                <a:spcPts val="0"/>
              </a:spcBef>
              <a:spcAft>
                <a:spcPts val="0"/>
              </a:spcAft>
              <a:buNone/>
              <a:defRPr>
                <a:solidFill>
                  <a:schemeClr val="dk1"/>
                </a:solidFill>
              </a:defRPr>
            </a:lvl3pPr>
            <a:lvl4pPr lvl="3" rtl="0">
              <a:spcBef>
                <a:spcPts val="0"/>
              </a:spcBef>
              <a:spcAft>
                <a:spcPts val="0"/>
              </a:spcAft>
              <a:buNone/>
              <a:defRPr>
                <a:solidFill>
                  <a:schemeClr val="dk1"/>
                </a:solidFill>
              </a:defRPr>
            </a:lvl4pPr>
            <a:lvl5pPr lvl="4" rtl="0">
              <a:spcBef>
                <a:spcPts val="0"/>
              </a:spcBef>
              <a:spcAft>
                <a:spcPts val="0"/>
              </a:spcAft>
              <a:buNone/>
              <a:defRPr>
                <a:solidFill>
                  <a:schemeClr val="dk1"/>
                </a:solidFill>
              </a:defRPr>
            </a:lvl5pPr>
            <a:lvl6pPr lvl="5" rtl="0">
              <a:spcBef>
                <a:spcPts val="0"/>
              </a:spcBef>
              <a:spcAft>
                <a:spcPts val="0"/>
              </a:spcAft>
              <a:buNone/>
              <a:defRPr>
                <a:solidFill>
                  <a:schemeClr val="dk1"/>
                </a:solidFill>
              </a:defRPr>
            </a:lvl6pPr>
            <a:lvl7pPr lvl="6" rtl="0">
              <a:spcBef>
                <a:spcPts val="0"/>
              </a:spcBef>
              <a:spcAft>
                <a:spcPts val="0"/>
              </a:spcAft>
              <a:buNone/>
              <a:defRPr>
                <a:solidFill>
                  <a:schemeClr val="dk1"/>
                </a:solidFill>
              </a:defRPr>
            </a:lvl7pPr>
            <a:lvl8pPr lvl="7" rtl="0">
              <a:spcBef>
                <a:spcPts val="0"/>
              </a:spcBef>
              <a:spcAft>
                <a:spcPts val="0"/>
              </a:spcAft>
              <a:buNone/>
              <a:defRPr>
                <a:solidFill>
                  <a:schemeClr val="dk1"/>
                </a:solidFill>
              </a:defRPr>
            </a:lvl8pPr>
            <a:lvl9pPr lvl="8" rtl="0">
              <a:spcBef>
                <a:spcPts val="0"/>
              </a:spcBef>
              <a:spcAft>
                <a:spcPts val="0"/>
              </a:spcAft>
              <a:buNone/>
              <a:defRPr>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folio" type="blank">
  <p:cSld name="BLANK">
    <p:spTree>
      <p:nvGrpSpPr>
        <p:cNvPr id="102" name="Shape 102"/>
        <p:cNvGrpSpPr/>
        <p:nvPr/>
      </p:nvGrpSpPr>
      <p:grpSpPr>
        <a:xfrm>
          <a:off x="0" y="0"/>
          <a:ext cx="0" cy="0"/>
          <a:chOff x="0" y="0"/>
          <a:chExt cx="0" cy="0"/>
        </a:xfrm>
      </p:grpSpPr>
      <p:pic>
        <p:nvPicPr>
          <p:cNvPr descr=" " id="103" name="Google Shape;103;p17"/>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104" name="Google Shape;104;p17"/>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105" name="Shape 10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68825"/>
            <a:ext cx="8424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57068C"/>
              </a:buClr>
              <a:buSzPts val="3600"/>
              <a:buFont typeface="Frank Ruhl Libre"/>
              <a:buNone/>
              <a:defRPr b="1" sz="3600">
                <a:solidFill>
                  <a:srgbClr val="57068C"/>
                </a:solidFill>
                <a:latin typeface="Frank Ruhl Libre"/>
                <a:ea typeface="Frank Ruhl Libre"/>
                <a:cs typeface="Frank Ruhl Libre"/>
                <a:sym typeface="Frank Ruhl Libre"/>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424900" cy="31233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rgbClr val="57068C"/>
              </a:buClr>
              <a:buSzPts val="1800"/>
              <a:buFont typeface="Montserrat"/>
              <a:buChar char="●"/>
              <a:defRPr sz="1800">
                <a:solidFill>
                  <a:srgbClr val="333333"/>
                </a:solidFill>
                <a:latin typeface="Montserrat"/>
                <a:ea typeface="Montserrat"/>
                <a:cs typeface="Montserrat"/>
                <a:sym typeface="Montserrat"/>
              </a:defRPr>
            </a:lvl1pPr>
            <a:lvl2pPr indent="-317500" lvl="1" marL="914400">
              <a:lnSpc>
                <a:spcPct val="115000"/>
              </a:lnSpc>
              <a:spcBef>
                <a:spcPts val="1600"/>
              </a:spcBef>
              <a:spcAft>
                <a:spcPts val="0"/>
              </a:spcAft>
              <a:buClr>
                <a:srgbClr val="57068C"/>
              </a:buClr>
              <a:buSzPts val="1400"/>
              <a:buFont typeface="Montserrat"/>
              <a:buChar char="○"/>
              <a:defRPr>
                <a:solidFill>
                  <a:srgbClr val="333333"/>
                </a:solidFill>
                <a:latin typeface="Montserrat"/>
                <a:ea typeface="Montserrat"/>
                <a:cs typeface="Montserrat"/>
                <a:sym typeface="Montserrat"/>
              </a:defRPr>
            </a:lvl2pPr>
            <a:lvl3pPr indent="-317500" lvl="2" marL="1371600">
              <a:lnSpc>
                <a:spcPct val="115000"/>
              </a:lnSpc>
              <a:spcBef>
                <a:spcPts val="1600"/>
              </a:spcBef>
              <a:spcAft>
                <a:spcPts val="0"/>
              </a:spcAft>
              <a:buClr>
                <a:srgbClr val="57068C"/>
              </a:buClr>
              <a:buSzPts val="1400"/>
              <a:buFont typeface="Montserrat"/>
              <a:buChar char="■"/>
              <a:defRPr>
                <a:solidFill>
                  <a:srgbClr val="333333"/>
                </a:solidFill>
                <a:latin typeface="Montserrat"/>
                <a:ea typeface="Montserrat"/>
                <a:cs typeface="Montserrat"/>
                <a:sym typeface="Montserrat"/>
              </a:defRPr>
            </a:lvl3pPr>
            <a:lvl4pPr indent="-317500" lvl="3" marL="1828800">
              <a:lnSpc>
                <a:spcPct val="115000"/>
              </a:lnSpc>
              <a:spcBef>
                <a:spcPts val="1600"/>
              </a:spcBef>
              <a:spcAft>
                <a:spcPts val="0"/>
              </a:spcAft>
              <a:buClr>
                <a:srgbClr val="57068C"/>
              </a:buClr>
              <a:buSzPts val="1400"/>
              <a:buFont typeface="Montserrat"/>
              <a:buChar char="●"/>
              <a:defRPr>
                <a:solidFill>
                  <a:srgbClr val="333333"/>
                </a:solidFill>
                <a:latin typeface="Montserrat"/>
                <a:ea typeface="Montserrat"/>
                <a:cs typeface="Montserrat"/>
                <a:sym typeface="Montserrat"/>
              </a:defRPr>
            </a:lvl4pPr>
            <a:lvl5pPr indent="-317500" lvl="4" marL="2286000">
              <a:lnSpc>
                <a:spcPct val="115000"/>
              </a:lnSpc>
              <a:spcBef>
                <a:spcPts val="1600"/>
              </a:spcBef>
              <a:spcAft>
                <a:spcPts val="0"/>
              </a:spcAft>
              <a:buClr>
                <a:srgbClr val="57068C"/>
              </a:buClr>
              <a:buSzPts val="1400"/>
              <a:buFont typeface="Montserrat"/>
              <a:buChar char="○"/>
              <a:defRPr>
                <a:solidFill>
                  <a:srgbClr val="333333"/>
                </a:solidFill>
                <a:latin typeface="Montserrat"/>
                <a:ea typeface="Montserrat"/>
                <a:cs typeface="Montserrat"/>
                <a:sym typeface="Montserrat"/>
              </a:defRPr>
            </a:lvl5pPr>
            <a:lvl6pPr indent="-317500" lvl="5" marL="2743200">
              <a:lnSpc>
                <a:spcPct val="115000"/>
              </a:lnSpc>
              <a:spcBef>
                <a:spcPts val="1600"/>
              </a:spcBef>
              <a:spcAft>
                <a:spcPts val="0"/>
              </a:spcAft>
              <a:buClr>
                <a:srgbClr val="57068C"/>
              </a:buClr>
              <a:buSzPts val="1400"/>
              <a:buFont typeface="Montserrat"/>
              <a:buChar char="■"/>
              <a:defRPr>
                <a:solidFill>
                  <a:srgbClr val="333333"/>
                </a:solidFill>
                <a:latin typeface="Montserrat"/>
                <a:ea typeface="Montserrat"/>
                <a:cs typeface="Montserrat"/>
                <a:sym typeface="Montserrat"/>
              </a:defRPr>
            </a:lvl6pPr>
            <a:lvl7pPr indent="-317500" lvl="6" marL="3200400">
              <a:lnSpc>
                <a:spcPct val="115000"/>
              </a:lnSpc>
              <a:spcBef>
                <a:spcPts val="1600"/>
              </a:spcBef>
              <a:spcAft>
                <a:spcPts val="0"/>
              </a:spcAft>
              <a:buClr>
                <a:srgbClr val="57068C"/>
              </a:buClr>
              <a:buSzPts val="1400"/>
              <a:buFont typeface="Montserrat"/>
              <a:buChar char="●"/>
              <a:defRPr>
                <a:solidFill>
                  <a:srgbClr val="333333"/>
                </a:solidFill>
                <a:latin typeface="Montserrat"/>
                <a:ea typeface="Montserrat"/>
                <a:cs typeface="Montserrat"/>
                <a:sym typeface="Montserrat"/>
              </a:defRPr>
            </a:lvl7pPr>
            <a:lvl8pPr indent="-317500" lvl="7" marL="3657600">
              <a:lnSpc>
                <a:spcPct val="115000"/>
              </a:lnSpc>
              <a:spcBef>
                <a:spcPts val="1600"/>
              </a:spcBef>
              <a:spcAft>
                <a:spcPts val="0"/>
              </a:spcAft>
              <a:buClr>
                <a:srgbClr val="57068C"/>
              </a:buClr>
              <a:buSzPts val="1400"/>
              <a:buFont typeface="Montserrat"/>
              <a:buChar char="○"/>
              <a:defRPr>
                <a:solidFill>
                  <a:srgbClr val="333333"/>
                </a:solidFill>
                <a:latin typeface="Montserrat"/>
                <a:ea typeface="Montserrat"/>
                <a:cs typeface="Montserrat"/>
                <a:sym typeface="Montserrat"/>
              </a:defRPr>
            </a:lvl8pPr>
            <a:lvl9pPr indent="-317500" lvl="8" marL="4114800">
              <a:lnSpc>
                <a:spcPct val="115000"/>
              </a:lnSpc>
              <a:spcBef>
                <a:spcPts val="1600"/>
              </a:spcBef>
              <a:spcAft>
                <a:spcPts val="1600"/>
              </a:spcAft>
              <a:buClr>
                <a:srgbClr val="57068C"/>
              </a:buClr>
              <a:buSzPts val="1400"/>
              <a:buFont typeface="Montserrat"/>
              <a:buChar char="■"/>
              <a:defRPr>
                <a:solidFill>
                  <a:srgbClr val="333333"/>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56">
          <p15:clr>
            <a:srgbClr val="EA4335"/>
          </p15:clr>
        </p15:guide>
        <p15:guide id="2" orient="horz" pos="3025">
          <p15:clr>
            <a:srgbClr val="EA4335"/>
          </p15:clr>
        </p15:guide>
        <p15:guide id="3" pos="5503">
          <p15:clr>
            <a:srgbClr val="EA4335"/>
          </p15:clr>
        </p15:guide>
        <p15:guide id="4" orient="horz" pos="2693">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 Id="rId3"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904850" y="1253682"/>
            <a:ext cx="7333800" cy="1595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Predicting DEM label-free</a:t>
            </a:r>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Brief Summary</a:t>
            </a:r>
          </a:p>
        </p:txBody>
      </p:sp>
      <p:sp>
        <p:nvSpPr>
          <p:cNvPr id="3" name="Rounded Rectangle 2"/>
          <p:cNvSpPr/>
          <p:nvPr/>
        </p:nvSpPr>
        <p:spPr>
          <a:xfrm>
            <a:off x="365760" y="1005840"/>
            <a:ext cx="4114800" cy="15544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1133856"/>
            <a:ext cx="3785616" cy="320040"/>
          </a:xfrm>
          <a:prstGeom prst="rect">
            <a:avLst/>
          </a:prstGeom>
          <a:noFill/>
        </p:spPr>
        <p:txBody>
          <a:bodyPr wrap="square" anchor="t" lIns="0" rIns="0" tIns="0" bIns="0">
            <a:spAutoFit/>
          </a:bodyPr>
          <a:lstStyle/>
          <a:p>
            <a:pPr algn="l">
              <a:spcAft>
                <a:spcPts val="600"/>
              </a:spcAft>
            </a:pPr>
            <a:r>
              <a:rPr sz="1300" b="1" i="0">
                <a:solidFill>
                  <a:srgbClr val="57068C"/>
                </a:solidFill>
              </a:rPr>
              <a:t>No labels needed</a:t>
            </a:r>
          </a:p>
        </p:txBody>
      </p:sp>
      <p:sp>
        <p:nvSpPr>
          <p:cNvPr id="5" name="TextBox 4"/>
          <p:cNvSpPr txBox="1"/>
          <p:nvPr/>
        </p:nvSpPr>
        <p:spPr>
          <a:xfrm>
            <a:off x="530352" y="1481328"/>
            <a:ext cx="3785616" cy="1005840"/>
          </a:xfrm>
          <a:prstGeom prst="rect">
            <a:avLst/>
          </a:prstGeom>
          <a:noFill/>
        </p:spPr>
        <p:txBody>
          <a:bodyPr wrap="square" anchor="t" lIns="0" rIns="0" tIns="0" bIns="0">
            <a:spAutoFit/>
          </a:bodyPr>
          <a:lstStyle/>
          <a:p>
            <a:pPr algn="l">
              <a:spcAft>
                <a:spcPts val="600"/>
              </a:spcAft>
            </a:pPr>
            <a:r>
              <a:rPr sz="1300" b="0" i="0">
                <a:solidFill>
                  <a:srgbClr val="333333"/>
                </a:solidFill>
              </a:rPr>
              <a:t>A network trained on the solver's own objective reproduces its DEMs. Solver DEMs are used only to evaluate.</a:t>
            </a:r>
          </a:p>
        </p:txBody>
      </p:sp>
      <p:sp>
        <p:nvSpPr>
          <p:cNvPr id="6" name="Rounded Rectangle 5"/>
          <p:cNvSpPr/>
          <p:nvPr/>
        </p:nvSpPr>
        <p:spPr>
          <a:xfrm>
            <a:off x="4663440" y="1005840"/>
            <a:ext cx="4114800" cy="15544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8032" y="1133856"/>
            <a:ext cx="3785616" cy="320040"/>
          </a:xfrm>
          <a:prstGeom prst="rect">
            <a:avLst/>
          </a:prstGeom>
          <a:noFill/>
        </p:spPr>
        <p:txBody>
          <a:bodyPr wrap="square" anchor="t" lIns="0" rIns="0" tIns="0" bIns="0">
            <a:spAutoFit/>
          </a:bodyPr>
          <a:lstStyle/>
          <a:p>
            <a:pPr algn="l">
              <a:spcAft>
                <a:spcPts val="600"/>
              </a:spcAft>
            </a:pPr>
            <a:r>
              <a:rPr sz="1300" b="1" i="0">
                <a:solidFill>
                  <a:srgbClr val="57068C"/>
                </a:solidFill>
              </a:rPr>
              <a:t>Small is enough</a:t>
            </a:r>
          </a:p>
        </p:txBody>
      </p:sp>
      <p:sp>
        <p:nvSpPr>
          <p:cNvPr id="8" name="TextBox 7"/>
          <p:cNvSpPr txBox="1"/>
          <p:nvPr/>
        </p:nvSpPr>
        <p:spPr>
          <a:xfrm>
            <a:off x="4828032" y="1481328"/>
            <a:ext cx="3785616" cy="1005840"/>
          </a:xfrm>
          <a:prstGeom prst="rect">
            <a:avLst/>
          </a:prstGeom>
          <a:noFill/>
        </p:spPr>
        <p:txBody>
          <a:bodyPr wrap="square" anchor="t" lIns="0" rIns="0" tIns="0" bIns="0">
            <a:spAutoFit/>
          </a:bodyPr>
          <a:lstStyle/>
          <a:p>
            <a:pPr algn="l">
              <a:spcAft>
                <a:spcPts val="600"/>
              </a:spcAft>
            </a:pPr>
            <a:r>
              <a:rPr sz="1300" b="0" i="0">
                <a:solidFill>
                  <a:srgbClr val="333333"/>
                </a:solidFill>
              </a:rPr>
              <a:t>A 400k-parameter MLP on one pixel's 6 intensities: one forward pass per pixel, no neighbourhood. Bigger models fail on rare pixels.</a:t>
            </a:r>
          </a:p>
        </p:txBody>
      </p:sp>
      <p:sp>
        <p:nvSpPr>
          <p:cNvPr id="9" name="Rounded Rectangle 8"/>
          <p:cNvSpPr/>
          <p:nvPr/>
        </p:nvSpPr>
        <p:spPr>
          <a:xfrm>
            <a:off x="365760" y="2743200"/>
            <a:ext cx="4114800" cy="15544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2871216"/>
            <a:ext cx="3785616" cy="320040"/>
          </a:xfrm>
          <a:prstGeom prst="rect">
            <a:avLst/>
          </a:prstGeom>
          <a:noFill/>
        </p:spPr>
        <p:txBody>
          <a:bodyPr wrap="square" anchor="t" lIns="0" rIns="0" tIns="0" bIns="0">
            <a:spAutoFit/>
          </a:bodyPr>
          <a:lstStyle/>
          <a:p>
            <a:pPr algn="l">
              <a:spcAft>
                <a:spcPts val="600"/>
              </a:spcAft>
            </a:pPr>
            <a:r>
              <a:rPr sz="1300" b="1" i="0">
                <a:solidFill>
                  <a:srgbClr val="57068C"/>
                </a:solidFill>
              </a:rPr>
              <a:t>Ahead of supervised on most measures</a:t>
            </a:r>
          </a:p>
        </p:txBody>
      </p:sp>
      <p:sp>
        <p:nvSpPr>
          <p:cNvPr id="11" name="TextBox 10"/>
          <p:cNvSpPr txBox="1"/>
          <p:nvPr/>
        </p:nvSpPr>
        <p:spPr>
          <a:xfrm>
            <a:off x="530352" y="3218688"/>
            <a:ext cx="3785616" cy="1005840"/>
          </a:xfrm>
          <a:prstGeom prst="rect">
            <a:avLst/>
          </a:prstGeom>
          <a:noFill/>
        </p:spPr>
        <p:txBody>
          <a:bodyPr wrap="square" anchor="t" lIns="0" rIns="0" tIns="0" bIns="0">
            <a:spAutoFit/>
          </a:bodyPr>
          <a:lstStyle/>
          <a:p>
            <a:pPr algn="l">
              <a:spcAft>
                <a:spcPts val="600"/>
              </a:spcAft>
            </a:pPr>
            <a:r>
              <a:rPr sz="1300" b="0" i="0">
                <a:solidFill>
                  <a:srgbClr val="333333"/>
                </a:solidFill>
              </a:rPr>
              <a:t>ElasticNet: better on every metric. BP: 4 of 6, median pixel error 3× lower (0.036 vs 0.112); DEM MSE still 1.9× higher.</a:t>
            </a:r>
          </a:p>
        </p:txBody>
      </p:sp>
      <p:sp>
        <p:nvSpPr>
          <p:cNvPr id="12" name="Rounded Rectangle 11"/>
          <p:cNvSpPr/>
          <p:nvPr/>
        </p:nvSpPr>
        <p:spPr>
          <a:xfrm>
            <a:off x="4663440" y="2743200"/>
            <a:ext cx="4114800" cy="15544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28032" y="2871216"/>
            <a:ext cx="3785616" cy="320040"/>
          </a:xfrm>
          <a:prstGeom prst="rect">
            <a:avLst/>
          </a:prstGeom>
          <a:noFill/>
        </p:spPr>
        <p:txBody>
          <a:bodyPr wrap="square" anchor="t" lIns="0" rIns="0" tIns="0" bIns="0">
            <a:spAutoFit/>
          </a:bodyPr>
          <a:lstStyle/>
          <a:p>
            <a:pPr algn="l">
              <a:spcAft>
                <a:spcPts val="600"/>
              </a:spcAft>
            </a:pPr>
            <a:r>
              <a:rPr sz="1300" b="1" i="0">
                <a:solidFill>
                  <a:srgbClr val="57068C"/>
                </a:solidFill>
              </a:rPr>
              <a:t>Flare cores: found and fixed in the loss</a:t>
            </a:r>
          </a:p>
        </p:txBody>
      </p:sp>
      <p:sp>
        <p:nvSpPr>
          <p:cNvPr id="14" name="TextBox 13"/>
          <p:cNvSpPr txBox="1"/>
          <p:nvPr/>
        </p:nvSpPr>
        <p:spPr>
          <a:xfrm>
            <a:off x="4828032" y="3218688"/>
            <a:ext cx="3785616" cy="1005840"/>
          </a:xfrm>
          <a:prstGeom prst="rect">
            <a:avLst/>
          </a:prstGeom>
          <a:noFill/>
        </p:spPr>
        <p:txBody>
          <a:bodyPr wrap="square" anchor="t" lIns="0" rIns="0" tIns="0" bIns="0">
            <a:spAutoFit/>
          </a:bodyPr>
          <a:lstStyle/>
          <a:p>
            <a:pPr algn="l">
              <a:spcAft>
                <a:spcPts val="600"/>
              </a:spcAft>
            </a:pPr>
            <a:r>
              <a:rPr sz="1300" b="0" i="0">
                <a:solidFill>
                  <a:srgbClr val="333333"/>
                </a:solidFill>
              </a:rPr>
              <a:t>0.01% of pixels, ~94% of the BP error. The BP loss priced hot plasma out; a stiffer band puts it back (emission 40% → 93%). Without flare cores, our BP DEM MSE is only 1.1× the supervised model's.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1700" y="846450"/>
            <a:ext cx="8520600" cy="1671000"/>
          </a:xfrm>
        </p:spPr>
        <p:txBody>
          <a:bodyPr/>
          <a:lstStyle/>
          <a:p>
            <a:pPr algn="ctr"/>
            <a:r>
              <a:rPr sz="4100"/>
              <a:t>Part 1</a:t>
            </a:r>
            <a:br/>
            <a:r>
              <a:rPr sz="4100"/>
              <a:t>Problem and approach</a:t>
            </a:r>
          </a:p>
        </p:txBody>
      </p:sp>
      <p:sp>
        <p:nvSpPr>
          <p:cNvPr id="3" name="TextBox 2"/>
          <p:cNvSpPr txBox="1"/>
          <p:nvPr/>
        </p:nvSpPr>
        <p:spPr>
          <a:xfrm>
            <a:off x="457200" y="2606040"/>
            <a:ext cx="8229600" cy="457200"/>
          </a:xfrm>
          <a:prstGeom prst="rect">
            <a:avLst/>
          </a:prstGeom>
          <a:noFill/>
        </p:spPr>
        <p:txBody>
          <a:bodyPr wrap="square" anchor="t" lIns="0" rIns="0" tIns="0" bIns="0">
            <a:spAutoFit/>
          </a:bodyPr>
          <a:lstStyle/>
          <a:p>
            <a:pPr algn="ctr">
              <a:spcAft>
                <a:spcPts val="600"/>
              </a:spcAft>
            </a:pPr>
            <a:r>
              <a:rPr sz="1800" b="0" i="1">
                <a:solidFill>
                  <a:srgbClr val="6B6B6B"/>
                </a:solidFill>
              </a:rPr>
              <a:t>What we train, and on what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Same physics, different training signal</a:t>
            </a:r>
          </a:p>
        </p:txBody>
      </p:sp>
      <p:sp>
        <p:nvSpPr>
          <p:cNvPr id="3" name="TextBox 2"/>
          <p:cNvSpPr txBox="1"/>
          <p:nvPr/>
        </p:nvSpPr>
        <p:spPr>
          <a:xfrm>
            <a:off x="365760" y="914400"/>
            <a:ext cx="8412480" cy="365760"/>
          </a:xfrm>
          <a:prstGeom prst="rect">
            <a:avLst/>
          </a:prstGeom>
          <a:noFill/>
        </p:spPr>
        <p:txBody>
          <a:bodyPr wrap="square" anchor="t" lIns="0" rIns="0" tIns="0" bIns="0">
            <a:spAutoFit/>
          </a:bodyPr>
          <a:lstStyle/>
          <a:p>
            <a:pPr algn="l">
              <a:spcAft>
                <a:spcPts val="600"/>
              </a:spcAft>
            </a:pPr>
            <a:r>
              <a:rPr sz="1250" b="0" i="0">
                <a:solidFill>
                  <a:srgbClr val="333333"/>
                </a:solidFill>
              </a:rPr>
              <a:t>Solvers (BP, ElasticNet) run one optimisation per pixel: accurate, but slow at full resolution.</a:t>
            </a:r>
          </a:p>
        </p:txBody>
      </p:sp>
      <p:sp>
        <p:nvSpPr>
          <p:cNvPr id="4" name="TextBox 3"/>
          <p:cNvSpPr txBox="1"/>
          <p:nvPr/>
        </p:nvSpPr>
        <p:spPr>
          <a:xfrm>
            <a:off x="365760" y="1536192"/>
            <a:ext cx="1325880" cy="722376"/>
          </a:xfrm>
          <a:prstGeom prst="rect">
            <a:avLst/>
          </a:prstGeom>
          <a:noFill/>
        </p:spPr>
        <p:txBody>
          <a:bodyPr wrap="square" anchor="t" lIns="0" rIns="0" tIns="0" bIns="0">
            <a:spAutoFit/>
          </a:bodyPr>
          <a:lstStyle/>
          <a:p>
            <a:pPr algn="l">
              <a:spcAft>
                <a:spcPts val="200"/>
              </a:spcAft>
            </a:pPr>
            <a:r>
              <a:rPr sz="1250" b="1" i="0">
                <a:solidFill>
                  <a:srgbClr val="57068C"/>
                </a:solidFill>
              </a:rPr>
              <a:t>Supervised</a:t>
            </a:r>
          </a:p>
          <a:p>
            <a:pPr algn="l">
              <a:spcAft>
                <a:spcPts val="200"/>
              </a:spcAft>
            </a:pPr>
            <a:r>
              <a:rPr sz="1000" b="0" i="0">
                <a:solidFill>
                  <a:srgbClr val="6B6B6B"/>
                </a:solidFill>
              </a:rPr>
              <a:t>learns the solver's DEMs</a:t>
            </a:r>
          </a:p>
        </p:txBody>
      </p:sp>
      <p:sp>
        <p:nvSpPr>
          <p:cNvPr id="5" name="Rounded Rectangle 4"/>
          <p:cNvSpPr/>
          <p:nvPr/>
        </p:nvSpPr>
        <p:spPr>
          <a:xfrm>
            <a:off x="1783080" y="1463040"/>
            <a:ext cx="1051560" cy="6400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1100" b="1">
                <a:solidFill>
                  <a:srgbClr val="57068C"/>
                </a:solidFill>
              </a:rPr>
              <a:t>Observed AIA</a:t>
            </a:r>
          </a:p>
          <a:p>
            <a:pPr algn="ctr"/>
            <a:r>
              <a:rPr sz="900">
                <a:solidFill>
                  <a:srgbClr val="333333"/>
                </a:solidFill>
              </a:rPr>
              <a:t>6 channels</a:t>
            </a:r>
          </a:p>
        </p:txBody>
      </p:sp>
      <p:sp>
        <p:nvSpPr>
          <p:cNvPr id="6" name="Rounded Rectangle 5"/>
          <p:cNvSpPr/>
          <p:nvPr/>
        </p:nvSpPr>
        <p:spPr>
          <a:xfrm>
            <a:off x="3090672" y="1463040"/>
            <a:ext cx="1051560" cy="640080"/>
          </a:xfrm>
          <a:prstGeom prst="roundRect">
            <a:avLst>
              <a:gd name="adj" fmla="val 6000"/>
            </a:avLst>
          </a:prstGeom>
          <a:solidFill>
            <a:srgbClr val="57068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1100" b="1">
                <a:solidFill>
                  <a:srgbClr val="FFFFFF"/>
                </a:solidFill>
              </a:rPr>
              <a:t>Model</a:t>
            </a:r>
          </a:p>
        </p:txBody>
      </p:sp>
      <p:sp>
        <p:nvSpPr>
          <p:cNvPr id="7" name="Rounded Rectangle 6"/>
          <p:cNvSpPr/>
          <p:nvPr/>
        </p:nvSpPr>
        <p:spPr>
          <a:xfrm>
            <a:off x="4398264" y="1463040"/>
            <a:ext cx="1051560" cy="6400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1100" b="1">
                <a:solidFill>
                  <a:srgbClr val="57068C"/>
                </a:solidFill>
              </a:rPr>
              <a:t>DEM</a:t>
            </a:r>
          </a:p>
          <a:p>
            <a:pPr algn="ctr"/>
            <a:r>
              <a:rPr sz="900">
                <a:solidFill>
                  <a:srgbClr val="333333"/>
                </a:solidFill>
              </a:rPr>
              <a:t>18 bins</a:t>
            </a:r>
          </a:p>
        </p:txBody>
      </p:sp>
      <p:cxnSp>
        <p:nvCxnSpPr>
          <p:cNvPr id="8" name="Connector 7"/>
          <p:cNvCxnSpPr/>
          <p:nvPr/>
        </p:nvCxnSpPr>
        <p:spPr>
          <a:xfrm>
            <a:off x="2834640" y="1783080"/>
            <a:ext cx="256032" cy="0"/>
          </a:xfrm>
          <a:prstGeom prst="line">
            <a:avLst/>
          </a:prstGeom>
          <a:ln w="19050">
            <a:solidFill>
              <a:srgbClr val="57068C"/>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42232" y="1783080"/>
            <a:ext cx="256032" cy="0"/>
          </a:xfrm>
          <a:prstGeom prst="line">
            <a:avLst/>
          </a:prstGeom>
          <a:ln w="19050">
            <a:solidFill>
              <a:srgbClr val="57068C"/>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016752" y="1463040"/>
            <a:ext cx="1051560" cy="640080"/>
          </a:xfrm>
          <a:prstGeom prst="roundRect">
            <a:avLst>
              <a:gd name="adj" fmla="val 6000"/>
            </a:avLst>
          </a:prstGeom>
          <a:solidFill>
            <a:srgbClr val="ECEBE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1100" b="1">
                <a:solidFill>
                  <a:srgbClr val="333333"/>
                </a:solidFill>
              </a:rPr>
              <a:t>Solver's DEM</a:t>
            </a:r>
          </a:p>
          <a:p>
            <a:pPr algn="ctr"/>
            <a:r>
              <a:rPr sz="900">
                <a:solidFill>
                  <a:srgbClr val="333333"/>
                </a:solidFill>
              </a:rPr>
              <a:t>label</a:t>
            </a:r>
          </a:p>
        </p:txBody>
      </p:sp>
      <p:cxnSp>
        <p:nvCxnSpPr>
          <p:cNvPr id="11" name="Connector 10"/>
          <p:cNvCxnSpPr/>
          <p:nvPr/>
        </p:nvCxnSpPr>
        <p:spPr>
          <a:xfrm>
            <a:off x="5449824" y="1783080"/>
            <a:ext cx="566928" cy="0"/>
          </a:xfrm>
          <a:prstGeom prst="line">
            <a:avLst/>
          </a:prstGeom>
          <a:ln w="19050">
            <a:solidFill>
              <a:srgbClr val="57068C"/>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522976" y="1664208"/>
            <a:ext cx="420624" cy="237744"/>
          </a:xfrm>
          <a:prstGeom prst="roundRect">
            <a:avLst>
              <a:gd name="adj" fmla="val 6000"/>
            </a:avLst>
          </a:prstGeom>
          <a:solidFill>
            <a:srgbClr val="E3DFE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900" b="1">
                <a:solidFill>
                  <a:srgbClr val="57068C"/>
                </a:solidFill>
              </a:rPr>
              <a:t>loss</a:t>
            </a:r>
          </a:p>
        </p:txBody>
      </p:sp>
      <p:sp>
        <p:nvSpPr>
          <p:cNvPr id="13" name="TextBox 12"/>
          <p:cNvSpPr txBox="1"/>
          <p:nvPr/>
        </p:nvSpPr>
        <p:spPr>
          <a:xfrm>
            <a:off x="365760" y="2633472"/>
            <a:ext cx="1325880" cy="722376"/>
          </a:xfrm>
          <a:prstGeom prst="rect">
            <a:avLst/>
          </a:prstGeom>
          <a:noFill/>
        </p:spPr>
        <p:txBody>
          <a:bodyPr wrap="square" anchor="t" lIns="0" rIns="0" tIns="0" bIns="0">
            <a:spAutoFit/>
          </a:bodyPr>
          <a:lstStyle/>
          <a:p>
            <a:pPr algn="l">
              <a:spcAft>
                <a:spcPts val="200"/>
              </a:spcAft>
            </a:pPr>
            <a:r>
              <a:rPr sz="1250" b="1" i="0">
                <a:solidFill>
                  <a:srgbClr val="57068C"/>
                </a:solidFill>
              </a:rPr>
              <a:t>Label-free (unsupervised)</a:t>
            </a:r>
          </a:p>
          <a:p>
            <a:pPr algn="l">
              <a:spcAft>
                <a:spcPts val="200"/>
              </a:spcAft>
            </a:pPr>
            <a:r>
              <a:rPr sz="1000" b="0" i="0">
                <a:solidFill>
                  <a:srgbClr val="6B6B6B"/>
                </a:solidFill>
              </a:rPr>
              <a:t>optimises the solver's objective directly</a:t>
            </a:r>
          </a:p>
        </p:txBody>
      </p:sp>
      <p:sp>
        <p:nvSpPr>
          <p:cNvPr id="14" name="Rounded Rectangle 13"/>
          <p:cNvSpPr/>
          <p:nvPr/>
        </p:nvSpPr>
        <p:spPr>
          <a:xfrm>
            <a:off x="1783080" y="2560320"/>
            <a:ext cx="1051560" cy="6400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1100" b="1">
                <a:solidFill>
                  <a:srgbClr val="57068C"/>
                </a:solidFill>
              </a:rPr>
              <a:t>Observed AIA</a:t>
            </a:r>
          </a:p>
          <a:p>
            <a:pPr algn="ctr"/>
            <a:r>
              <a:rPr sz="900">
                <a:solidFill>
                  <a:srgbClr val="333333"/>
                </a:solidFill>
              </a:rPr>
              <a:t>6 channels</a:t>
            </a:r>
          </a:p>
        </p:txBody>
      </p:sp>
      <p:sp>
        <p:nvSpPr>
          <p:cNvPr id="15" name="Rounded Rectangle 14"/>
          <p:cNvSpPr/>
          <p:nvPr/>
        </p:nvSpPr>
        <p:spPr>
          <a:xfrm>
            <a:off x="3090672" y="2560320"/>
            <a:ext cx="1051560" cy="640080"/>
          </a:xfrm>
          <a:prstGeom prst="roundRect">
            <a:avLst>
              <a:gd name="adj" fmla="val 6000"/>
            </a:avLst>
          </a:prstGeom>
          <a:solidFill>
            <a:srgbClr val="57068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1100" b="1">
                <a:solidFill>
                  <a:srgbClr val="FFFFFF"/>
                </a:solidFill>
              </a:rPr>
              <a:t>Model</a:t>
            </a:r>
          </a:p>
          <a:p>
            <a:pPr algn="ctr"/>
            <a:r>
              <a:rPr sz="900">
                <a:solidFill>
                  <a:srgbClr val="FFFFFF"/>
                </a:solidFill>
              </a:rPr>
              <a:t>54 basis weights</a:t>
            </a:r>
          </a:p>
        </p:txBody>
      </p:sp>
      <p:sp>
        <p:nvSpPr>
          <p:cNvPr id="16" name="Rounded Rectangle 15"/>
          <p:cNvSpPr/>
          <p:nvPr/>
        </p:nvSpPr>
        <p:spPr>
          <a:xfrm>
            <a:off x="4398264" y="2560320"/>
            <a:ext cx="1051560" cy="6400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1100" b="1">
                <a:solidFill>
                  <a:srgbClr val="57068C"/>
                </a:solidFill>
              </a:rPr>
              <a:t>DEM</a:t>
            </a:r>
          </a:p>
          <a:p>
            <a:pPr algn="ctr"/>
            <a:r>
              <a:rPr sz="900">
                <a:solidFill>
                  <a:srgbClr val="333333"/>
                </a:solidFill>
              </a:rPr>
              <a:t>18 bins</a:t>
            </a:r>
          </a:p>
          <a:p>
            <a:pPr algn="ctr"/>
            <a:r>
              <a:rPr sz="900">
                <a:solidFill>
                  <a:srgbClr val="333333"/>
                </a:solidFill>
              </a:rPr>
              <a:t>via basis B</a:t>
            </a:r>
          </a:p>
        </p:txBody>
      </p:sp>
      <p:sp>
        <p:nvSpPr>
          <p:cNvPr id="17" name="Rounded Rectangle 16"/>
          <p:cNvSpPr/>
          <p:nvPr/>
        </p:nvSpPr>
        <p:spPr>
          <a:xfrm>
            <a:off x="5705856" y="2560320"/>
            <a:ext cx="1051560" cy="6400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1100" b="1">
                <a:solidFill>
                  <a:srgbClr val="57068C"/>
                </a:solidFill>
              </a:rPr>
              <a:t>Predicted AIA</a:t>
            </a:r>
          </a:p>
          <a:p>
            <a:pPr algn="ctr"/>
            <a:r>
              <a:rPr sz="900">
                <a:solidFill>
                  <a:srgbClr val="333333"/>
                </a:solidFill>
              </a:rPr>
              <a:t>via response R</a:t>
            </a:r>
          </a:p>
        </p:txBody>
      </p:sp>
      <p:cxnSp>
        <p:nvCxnSpPr>
          <p:cNvPr id="18" name="Connector 17"/>
          <p:cNvCxnSpPr/>
          <p:nvPr/>
        </p:nvCxnSpPr>
        <p:spPr>
          <a:xfrm>
            <a:off x="2834640" y="2880360"/>
            <a:ext cx="256032" cy="0"/>
          </a:xfrm>
          <a:prstGeom prst="line">
            <a:avLst/>
          </a:prstGeom>
          <a:ln w="19050">
            <a:solidFill>
              <a:srgbClr val="57068C"/>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142232" y="2880360"/>
            <a:ext cx="256032" cy="0"/>
          </a:xfrm>
          <a:prstGeom prst="line">
            <a:avLst/>
          </a:prstGeom>
          <a:ln w="19050">
            <a:solidFill>
              <a:srgbClr val="57068C"/>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449824" y="2880360"/>
            <a:ext cx="256032" cy="0"/>
          </a:xfrm>
          <a:prstGeom prst="line">
            <a:avLst/>
          </a:prstGeom>
          <a:ln w="19050">
            <a:solidFill>
              <a:srgbClr val="57068C"/>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324344" y="2560320"/>
            <a:ext cx="1051560" cy="640080"/>
          </a:xfrm>
          <a:prstGeom prst="roundRect">
            <a:avLst>
              <a:gd name="adj" fmla="val 6000"/>
            </a:avLst>
          </a:prstGeom>
          <a:solidFill>
            <a:srgbClr val="ECEBE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1100" b="1">
                <a:solidFill>
                  <a:srgbClr val="333333"/>
                </a:solidFill>
              </a:rPr>
              <a:t>Observed AIA</a:t>
            </a:r>
          </a:p>
          <a:p>
            <a:pPr algn="ctr"/>
            <a:r>
              <a:rPr sz="900">
                <a:solidFill>
                  <a:srgbClr val="333333"/>
                </a:solidFill>
              </a:rPr>
              <a:t>6 channels</a:t>
            </a:r>
          </a:p>
        </p:txBody>
      </p:sp>
      <p:cxnSp>
        <p:nvCxnSpPr>
          <p:cNvPr id="22" name="Connector 21"/>
          <p:cNvCxnSpPr/>
          <p:nvPr/>
        </p:nvCxnSpPr>
        <p:spPr>
          <a:xfrm>
            <a:off x="6757416" y="2880360"/>
            <a:ext cx="566928" cy="0"/>
          </a:xfrm>
          <a:prstGeom prst="line">
            <a:avLst/>
          </a:prstGeom>
          <a:ln w="19050">
            <a:solidFill>
              <a:srgbClr val="57068C"/>
            </a:solidFill>
            <a:prstDash val="dash"/>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830568" y="2761488"/>
            <a:ext cx="420624" cy="237744"/>
          </a:xfrm>
          <a:prstGeom prst="roundRect">
            <a:avLst>
              <a:gd name="adj" fmla="val 6000"/>
            </a:avLst>
          </a:prstGeom>
          <a:solidFill>
            <a:srgbClr val="E3DFE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900" b="1">
                <a:solidFill>
                  <a:srgbClr val="57068C"/>
                </a:solidFill>
              </a:rPr>
              <a:t>loss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The model: a small MLP feeding a fixed forward model</a:t>
            </a:r>
          </a:p>
        </p:txBody>
      </p:sp>
      <p:sp>
        <p:nvSpPr>
          <p:cNvPr id="3" name="Rounded Rectangle 2"/>
          <p:cNvSpPr/>
          <p:nvPr/>
        </p:nvSpPr>
        <p:spPr>
          <a:xfrm>
            <a:off x="365760" y="1188720"/>
            <a:ext cx="1371600" cy="8686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1300" b="1">
                <a:solidFill>
                  <a:srgbClr val="57068C"/>
                </a:solidFill>
              </a:rPr>
              <a:t>Observed AIA</a:t>
            </a:r>
          </a:p>
          <a:p>
            <a:pPr algn="ctr"/>
            <a:r>
              <a:rPr sz="1000">
                <a:solidFill>
                  <a:srgbClr val="333333"/>
                </a:solidFill>
              </a:rPr>
              <a:t>6 channels</a:t>
            </a:r>
          </a:p>
        </p:txBody>
      </p:sp>
      <p:sp>
        <p:nvSpPr>
          <p:cNvPr id="4" name="Rounded Rectangle 3"/>
          <p:cNvSpPr/>
          <p:nvPr/>
        </p:nvSpPr>
        <p:spPr>
          <a:xfrm>
            <a:off x="2125980" y="1188720"/>
            <a:ext cx="1371600" cy="868680"/>
          </a:xfrm>
          <a:prstGeom prst="roundRect">
            <a:avLst>
              <a:gd name="adj" fmla="val 6000"/>
            </a:avLst>
          </a:prstGeom>
          <a:solidFill>
            <a:srgbClr val="57068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1300" b="1">
                <a:solidFill>
                  <a:srgbClr val="FFFFFF"/>
                </a:solidFill>
              </a:rPr>
              <a:t>MLP</a:t>
            </a:r>
          </a:p>
          <a:p>
            <a:pPr algn="ctr"/>
            <a:r>
              <a:rPr sz="1000">
                <a:solidFill>
                  <a:srgbClr val="FFFFFF"/>
                </a:solidFill>
              </a:rPr>
              <a:t>409k params</a:t>
            </a:r>
          </a:p>
        </p:txBody>
      </p:sp>
      <p:sp>
        <p:nvSpPr>
          <p:cNvPr id="5" name="Rounded Rectangle 4"/>
          <p:cNvSpPr/>
          <p:nvPr/>
        </p:nvSpPr>
        <p:spPr>
          <a:xfrm>
            <a:off x="3886200" y="1188720"/>
            <a:ext cx="1371600" cy="8686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1300" b="1">
                <a:solidFill>
                  <a:srgbClr val="57068C"/>
                </a:solidFill>
              </a:rPr>
              <a:t>Basis weights</a:t>
            </a:r>
          </a:p>
          <a:p>
            <a:pPr algn="ctr"/>
            <a:r>
              <a:rPr sz="1000">
                <a:solidFill>
                  <a:srgbClr val="333333"/>
                </a:solidFill>
              </a:rPr>
              <a:t>54, same as solver</a:t>
            </a:r>
          </a:p>
        </p:txBody>
      </p:sp>
      <p:sp>
        <p:nvSpPr>
          <p:cNvPr id="6" name="Rounded Rectangle 5"/>
          <p:cNvSpPr/>
          <p:nvPr/>
        </p:nvSpPr>
        <p:spPr>
          <a:xfrm>
            <a:off x="5646420" y="1188720"/>
            <a:ext cx="1371600" cy="8686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1300" b="1">
                <a:solidFill>
                  <a:srgbClr val="57068C"/>
                </a:solidFill>
              </a:rPr>
              <a:t>DEM</a:t>
            </a:r>
          </a:p>
          <a:p>
            <a:pPr algn="ctr"/>
            <a:r>
              <a:rPr sz="1000">
                <a:solidFill>
                  <a:srgbClr val="333333"/>
                </a:solidFill>
              </a:rPr>
              <a:t>18 bins, logT 5.5–7.2</a:t>
            </a:r>
          </a:p>
        </p:txBody>
      </p:sp>
      <p:sp>
        <p:nvSpPr>
          <p:cNvPr id="7" name="Rounded Rectangle 6"/>
          <p:cNvSpPr/>
          <p:nvPr/>
        </p:nvSpPr>
        <p:spPr>
          <a:xfrm>
            <a:off x="7406640" y="1188720"/>
            <a:ext cx="1371600" cy="8686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1300" b="1">
                <a:solidFill>
                  <a:srgbClr val="57068C"/>
                </a:solidFill>
              </a:rPr>
              <a:t>Predicted AIA</a:t>
            </a:r>
          </a:p>
          <a:p>
            <a:pPr algn="ctr"/>
            <a:r>
              <a:rPr sz="1000">
                <a:solidFill>
                  <a:srgbClr val="333333"/>
                </a:solidFill>
              </a:rPr>
              <a:t>via response R</a:t>
            </a:r>
          </a:p>
        </p:txBody>
      </p:sp>
      <p:cxnSp>
        <p:nvCxnSpPr>
          <p:cNvPr id="8" name="Connector 7"/>
          <p:cNvCxnSpPr/>
          <p:nvPr/>
        </p:nvCxnSpPr>
        <p:spPr>
          <a:xfrm>
            <a:off x="1737360" y="1623060"/>
            <a:ext cx="388620" cy="0"/>
          </a:xfrm>
          <a:prstGeom prst="line">
            <a:avLst/>
          </a:prstGeom>
          <a:ln w="19050">
            <a:solidFill>
              <a:srgbClr val="57068C"/>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497580" y="1623060"/>
            <a:ext cx="388620" cy="0"/>
          </a:xfrm>
          <a:prstGeom prst="line">
            <a:avLst/>
          </a:prstGeom>
          <a:ln w="19050">
            <a:solidFill>
              <a:srgbClr val="57068C"/>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257800" y="1623060"/>
            <a:ext cx="388620" cy="0"/>
          </a:xfrm>
          <a:prstGeom prst="line">
            <a:avLst/>
          </a:prstGeom>
          <a:ln w="19050">
            <a:solidFill>
              <a:srgbClr val="57068C"/>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018020" y="1623060"/>
            <a:ext cx="388620" cy="0"/>
          </a:xfrm>
          <a:prstGeom prst="line">
            <a:avLst/>
          </a:prstGeom>
          <a:ln w="19050">
            <a:solidFill>
              <a:srgbClr val="57068C"/>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125980" y="2514600"/>
            <a:ext cx="6652260" cy="548640"/>
          </a:xfrm>
          <a:prstGeom prst="roundRect">
            <a:avLst>
              <a:gd name="adj" fmla="val 6000"/>
            </a:avLst>
          </a:prstGeom>
          <a:solidFill>
            <a:srgbClr val="E3D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57068C"/>
                </a:solidFill>
              </a:rPr>
              <a:t>Loss: the solver's objective, predicted against observed AIA</a:t>
            </a:r>
          </a:p>
        </p:txBody>
      </p:sp>
      <p:cxnSp>
        <p:nvCxnSpPr>
          <p:cNvPr id="13" name="Connector 12"/>
          <p:cNvCxnSpPr/>
          <p:nvPr/>
        </p:nvCxnSpPr>
        <p:spPr>
          <a:xfrm>
            <a:off x="8092440" y="2057400"/>
            <a:ext cx="0" cy="457200"/>
          </a:xfrm>
          <a:prstGeom prst="line">
            <a:avLst/>
          </a:prstGeom>
          <a:ln w="19050">
            <a:solidFill>
              <a:srgbClr val="57068C"/>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1560" y="2057400"/>
            <a:ext cx="0" cy="731520"/>
          </a:xfrm>
          <a:prstGeom prst="line">
            <a:avLst/>
          </a:prstGeom>
          <a:ln w="19050">
            <a:solidFill>
              <a:srgbClr val="57068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560" y="2788920"/>
            <a:ext cx="1074420" cy="0"/>
          </a:xfrm>
          <a:prstGeom prst="line">
            <a:avLst/>
          </a:prstGeom>
          <a:ln w="19050">
            <a:solidFill>
              <a:srgbClr val="57068C"/>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65760" y="3154680"/>
            <a:ext cx="8412480" cy="1280160"/>
          </a:xfrm>
          <a:prstGeom prst="rect">
            <a:avLst/>
          </a:prstGeom>
          <a:noFill/>
        </p:spPr>
        <p:txBody>
          <a:bodyPr wrap="square" anchor="t" lIns="0" rIns="0" tIns="0" bIns="0">
            <a:spAutoFit/>
          </a:bodyPr>
          <a:lstStyle/>
          <a:p>
            <a:pPr algn="l" marL="182880" indent="-182880">
              <a:spcAft>
                <a:spcPts val="400"/>
              </a:spcAft>
              <a:buClr>
                <a:srgbClr val="333333"/>
              </a:buClr>
              <a:buChar char="•"/>
            </a:pPr>
            <a:r>
              <a:rPr sz="1200" b="0" i="0">
                <a:solidFill>
                  <a:srgbClr val="333333"/>
                </a:solidFill>
              </a:rPr>
              <a:t>6 intensities in, encoded as √ then 12 Fourier frequencies (150 inputs; both tracks); 4 hidden layers of 336, SiLU; 54 non-negative basis weights out.</a:t>
            </a:r>
          </a:p>
          <a:p>
            <a:pPr algn="l" marL="182880" indent="-182880">
              <a:spcAft>
                <a:spcPts val="400"/>
              </a:spcAft>
              <a:buClr>
                <a:srgbClr val="333333"/>
              </a:buClr>
              <a:buChar char="•"/>
            </a:pPr>
            <a:r>
              <a:rPr sz="1200" b="0" i="0">
                <a:solidFill>
                  <a:srgbClr val="333333"/>
                </a:solidFill>
              </a:rPr>
              <a:t>BP and ElasticNet solve for the same 54 weights (at each of 18 bins, a spike and Gaussians 0.1 and 0.2 dex wide), and their penalty terms act on those weights: L1 for BP, L1 and L2 for ElasticNet.</a:t>
            </a:r>
          </a:p>
          <a:p>
            <a:pPr algn="l" marL="182880" indent="-182880">
              <a:spcAft>
                <a:spcPts val="400"/>
              </a:spcAft>
              <a:buClr>
                <a:srgbClr val="333333"/>
              </a:buClr>
              <a:buChar char="•"/>
            </a:pPr>
            <a:r>
              <a:rPr sz="1200" b="0" i="0">
                <a:solidFill>
                  <a:srgbClr val="333333"/>
                </a:solidFill>
              </a:rPr>
              <a:t>DEM = B·w over 18 bins; predicted AIA = R·DEM. B and R are fixed; only the MLP is learned.</a:t>
            </a:r>
          </a:p>
          <a:p>
            <a:pPr algn="l" marL="182880" indent="-182880">
              <a:spcAft>
                <a:spcPts val="400"/>
              </a:spcAft>
              <a:buClr>
                <a:srgbClr val="333333"/>
              </a:buClr>
              <a:buChar char="•"/>
            </a:pPr>
            <a:r>
              <a:rPr sz="1200" b="0" i="0">
                <a:solidFill>
                  <a:srgbClr val="333333"/>
                </a:solidFill>
              </a:rPr>
              <a:t>409k parameters (width chosen in Part 2); one forward pass per pixel.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The loss is the solver's own objective</a:t>
            </a:r>
          </a:p>
        </p:txBody>
      </p:sp>
      <p:sp>
        <p:nvSpPr>
          <p:cNvPr id="3" name="Rounded Rectangle 2"/>
          <p:cNvSpPr/>
          <p:nvPr/>
        </p:nvSpPr>
        <p:spPr>
          <a:xfrm>
            <a:off x="365760" y="914400"/>
            <a:ext cx="5029200" cy="141732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24128"/>
            <a:ext cx="4663440" cy="274320"/>
          </a:xfrm>
          <a:prstGeom prst="rect">
            <a:avLst/>
          </a:prstGeom>
          <a:noFill/>
        </p:spPr>
        <p:txBody>
          <a:bodyPr wrap="square" anchor="t" lIns="0" rIns="0" tIns="0" bIns="0">
            <a:spAutoFit/>
          </a:bodyPr>
          <a:lstStyle/>
          <a:p>
            <a:pPr algn="l">
              <a:spcAft>
                <a:spcPts val="600"/>
              </a:spcAft>
            </a:pPr>
            <a:r>
              <a:rPr sz="1250" b="1" i="0">
                <a:solidFill>
                  <a:srgbClr val="57068C"/>
                </a:solidFill>
              </a:rPr>
              <a:t>BP track</a:t>
            </a:r>
          </a:p>
        </p:txBody>
      </p:sp>
      <p:sp>
        <p:nvSpPr>
          <p:cNvPr id="5" name="TextBox 4"/>
          <p:cNvSpPr txBox="1"/>
          <p:nvPr/>
        </p:nvSpPr>
        <p:spPr>
          <a:xfrm>
            <a:off x="548640" y="1325880"/>
            <a:ext cx="4663440" cy="365760"/>
          </a:xfrm>
          <a:prstGeom prst="rect">
            <a:avLst/>
          </a:prstGeom>
          <a:noFill/>
        </p:spPr>
        <p:txBody>
          <a:bodyPr wrap="square" anchor="t" lIns="0" rIns="0" tIns="0" bIns="0">
            <a:spAutoFit/>
          </a:bodyPr>
          <a:lstStyle/>
          <a:p>
            <a:pPr algn="l">
              <a:spcAft>
                <a:spcPts val="600"/>
              </a:spcAft>
            </a:pPr>
            <a:r>
              <a:rPr sz="1300" b="0" i="0">
                <a:solidFill>
                  <a:srgbClr val="333333"/>
                </a:solidFill>
                <a:latin typeface="Cambria"/>
              </a:rPr>
              <a:t>L = Σ</a:t>
            </a:r>
            <a:r>
              <a:rPr sz="1300" b="0" i="0" baseline="-25000">
                <a:solidFill>
                  <a:srgbClr val="333333"/>
                </a:solidFill>
                <a:latin typeface="Cambria"/>
              </a:rPr>
              <a:t>k</a:t>
            </a:r>
            <a:r>
              <a:rPr sz="1300" b="0" i="0">
                <a:solidFill>
                  <a:srgbClr val="333333"/>
                </a:solidFill>
                <a:latin typeface="Cambria"/>
              </a:rPr>
              <a:t> w</a:t>
            </a:r>
            <a:r>
              <a:rPr sz="1300" b="0" i="0" baseline="-25000">
                <a:solidFill>
                  <a:srgbClr val="333333"/>
                </a:solidFill>
                <a:latin typeface="Cambria"/>
              </a:rPr>
              <a:t>k</a:t>
            </a:r>
            <a:r>
              <a:rPr sz="1300" b="0" i="0">
                <a:solidFill>
                  <a:srgbClr val="333333"/>
                </a:solidFill>
                <a:latin typeface="Cambria"/>
              </a:rPr>
              <a:t>  +  μ Σ</a:t>
            </a:r>
            <a:r>
              <a:rPr sz="1300" b="0" i="0" baseline="-25000">
                <a:solidFill>
                  <a:srgbClr val="333333"/>
                </a:solidFill>
                <a:latin typeface="Cambria"/>
              </a:rPr>
              <a:t>c</a:t>
            </a:r>
            <a:r>
              <a:rPr sz="1300" b="0" i="0">
                <a:solidFill>
                  <a:srgbClr val="333333"/>
                </a:solidFill>
                <a:latin typeface="Cambria"/>
              </a:rPr>
              <a:t> [ max(0, |ŷ</a:t>
            </a:r>
            <a:r>
              <a:rPr sz="1300" b="0" i="0" baseline="-25000">
                <a:solidFill>
                  <a:srgbClr val="333333"/>
                </a:solidFill>
                <a:latin typeface="Cambria"/>
              </a:rPr>
              <a:t>c</a:t>
            </a:r>
            <a:r>
              <a:rPr sz="1300" b="0" i="0">
                <a:solidFill>
                  <a:srgbClr val="333333"/>
                </a:solidFill>
                <a:latin typeface="Cambria"/>
              </a:rPr>
              <a:t> − o</a:t>
            </a:r>
            <a:r>
              <a:rPr sz="1300" b="0" i="0" baseline="-25000">
                <a:solidFill>
                  <a:srgbClr val="333333"/>
                </a:solidFill>
                <a:latin typeface="Cambria"/>
              </a:rPr>
              <a:t>c</a:t>
            </a:r>
            <a:r>
              <a:rPr sz="1300" b="0" i="0">
                <a:solidFill>
                  <a:srgbClr val="333333"/>
                </a:solidFill>
                <a:latin typeface="Cambria"/>
              </a:rPr>
              <a:t>| − tσ</a:t>
            </a:r>
            <a:r>
              <a:rPr sz="1300" b="0" i="0" baseline="-25000">
                <a:solidFill>
                  <a:srgbClr val="333333"/>
                </a:solidFill>
                <a:latin typeface="Cambria"/>
              </a:rPr>
              <a:t>c</a:t>
            </a:r>
            <a:r>
              <a:rPr sz="1300" b="0" i="0">
                <a:solidFill>
                  <a:srgbClr val="333333"/>
                </a:solidFill>
                <a:latin typeface="Cambria"/>
              </a:rPr>
              <a:t>) / tσ</a:t>
            </a:r>
            <a:r>
              <a:rPr sz="1300" b="0" i="0" baseline="-25000">
                <a:solidFill>
                  <a:srgbClr val="333333"/>
                </a:solidFill>
                <a:latin typeface="Cambria"/>
              </a:rPr>
              <a:t>c</a:t>
            </a:r>
            <a:r>
              <a:rPr sz="1300" b="0" i="0">
                <a:solidFill>
                  <a:srgbClr val="333333"/>
                </a:solidFill>
                <a:latin typeface="Cambria"/>
              </a:rPr>
              <a:t> ]²</a:t>
            </a:r>
          </a:p>
        </p:txBody>
      </p:sp>
      <p:sp>
        <p:nvSpPr>
          <p:cNvPr id="6" name="TextBox 5"/>
          <p:cNvSpPr txBox="1"/>
          <p:nvPr/>
        </p:nvSpPr>
        <p:spPr>
          <a:xfrm>
            <a:off x="548640" y="1719072"/>
            <a:ext cx="4663440" cy="548640"/>
          </a:xfrm>
          <a:prstGeom prst="rect">
            <a:avLst/>
          </a:prstGeom>
          <a:noFill/>
        </p:spPr>
        <p:txBody>
          <a:bodyPr wrap="square" anchor="t" lIns="0" rIns="0" tIns="0" bIns="0">
            <a:spAutoFit/>
          </a:bodyPr>
          <a:lstStyle/>
          <a:p>
            <a:pPr algn="l" marL="182880" indent="-182880">
              <a:spcAft>
                <a:spcPts val="200"/>
              </a:spcAft>
              <a:buClr>
                <a:srgbClr val="333333"/>
              </a:buClr>
              <a:buChar char="•"/>
            </a:pPr>
            <a:r>
              <a:rPr sz="1050" b="0" i="0">
                <a:solidFill>
                  <a:srgbClr val="333333"/>
                </a:solidFill>
              </a:rPr>
              <a:t>Zero inside the noise band (t = 1.4), quadratic outside; μ prices leaving it.</a:t>
            </a:r>
          </a:p>
          <a:p>
            <a:pPr algn="l" marL="182880" indent="-182880">
              <a:spcAft>
                <a:spcPts val="200"/>
              </a:spcAft>
              <a:buClr>
                <a:srgbClr val="333333"/>
              </a:buClr>
              <a:buChar char="•"/>
            </a:pPr>
            <a:r>
              <a:rPr sz="1050" b="0" i="0">
                <a:solidFill>
                  <a:srgbClr val="333333"/>
                </a:solidFill>
              </a:rPr>
              <a:t>L1 picks the sparsest DEM that fits: BP's criterion. Final model: μ = 100 (Part 4).</a:t>
            </a:r>
          </a:p>
        </p:txBody>
      </p:sp>
      <p:sp>
        <p:nvSpPr>
          <p:cNvPr id="7" name="Rounded Rectangle 6"/>
          <p:cNvSpPr/>
          <p:nvPr/>
        </p:nvSpPr>
        <p:spPr>
          <a:xfrm>
            <a:off x="365760" y="2514600"/>
            <a:ext cx="5029200" cy="141732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624328"/>
            <a:ext cx="4663440" cy="274320"/>
          </a:xfrm>
          <a:prstGeom prst="rect">
            <a:avLst/>
          </a:prstGeom>
          <a:noFill/>
        </p:spPr>
        <p:txBody>
          <a:bodyPr wrap="square" anchor="t" lIns="0" rIns="0" tIns="0" bIns="0">
            <a:spAutoFit/>
          </a:bodyPr>
          <a:lstStyle/>
          <a:p>
            <a:pPr algn="l">
              <a:spcAft>
                <a:spcPts val="600"/>
              </a:spcAft>
            </a:pPr>
            <a:r>
              <a:rPr sz="1250" b="1" i="0">
                <a:solidFill>
                  <a:srgbClr val="57068C"/>
                </a:solidFill>
              </a:rPr>
              <a:t>ElasticNet track</a:t>
            </a:r>
          </a:p>
        </p:txBody>
      </p:sp>
      <p:sp>
        <p:nvSpPr>
          <p:cNvPr id="9" name="TextBox 8"/>
          <p:cNvSpPr txBox="1"/>
          <p:nvPr/>
        </p:nvSpPr>
        <p:spPr>
          <a:xfrm>
            <a:off x="548640" y="2926080"/>
            <a:ext cx="4663440" cy="365760"/>
          </a:xfrm>
          <a:prstGeom prst="rect">
            <a:avLst/>
          </a:prstGeom>
          <a:noFill/>
        </p:spPr>
        <p:txBody>
          <a:bodyPr wrap="square" anchor="t" lIns="0" rIns="0" tIns="0" bIns="0">
            <a:spAutoFit/>
          </a:bodyPr>
          <a:lstStyle/>
          <a:p>
            <a:pPr algn="l">
              <a:spcAft>
                <a:spcPts val="600"/>
              </a:spcAft>
            </a:pPr>
            <a:r>
              <a:rPr sz="1300" b="0" i="0">
                <a:solidFill>
                  <a:srgbClr val="333333"/>
                </a:solidFill>
                <a:latin typeface="Cambria"/>
              </a:rPr>
              <a:t>L = (1/2C) Σ</a:t>
            </a:r>
            <a:r>
              <a:rPr sz="1300" b="0" i="0" baseline="-25000">
                <a:solidFill>
                  <a:srgbClr val="333333"/>
                </a:solidFill>
                <a:latin typeface="Cambria"/>
              </a:rPr>
              <a:t>c</a:t>
            </a:r>
            <a:r>
              <a:rPr sz="1300" b="0" i="0">
                <a:solidFill>
                  <a:srgbClr val="333333"/>
                </a:solidFill>
                <a:latin typeface="Cambria"/>
              </a:rPr>
              <a:t> [ (ŷ</a:t>
            </a:r>
            <a:r>
              <a:rPr sz="1300" b="0" i="0" baseline="-25000">
                <a:solidFill>
                  <a:srgbClr val="333333"/>
                </a:solidFill>
                <a:latin typeface="Cambria"/>
              </a:rPr>
              <a:t>c</a:t>
            </a:r>
            <a:r>
              <a:rPr sz="1300" b="0" i="0">
                <a:solidFill>
                  <a:srgbClr val="333333"/>
                </a:solidFill>
                <a:latin typeface="Cambria"/>
              </a:rPr>
              <a:t> − o</a:t>
            </a:r>
            <a:r>
              <a:rPr sz="1300" b="0" i="0" baseline="-25000">
                <a:solidFill>
                  <a:srgbClr val="333333"/>
                </a:solidFill>
                <a:latin typeface="Cambria"/>
              </a:rPr>
              <a:t>c</a:t>
            </a:r>
            <a:r>
              <a:rPr sz="1300" b="0" i="0">
                <a:solidFill>
                  <a:srgbClr val="333333"/>
                </a:solidFill>
                <a:latin typeface="Cambria"/>
              </a:rPr>
              <a:t>) / tσ</a:t>
            </a:r>
            <a:r>
              <a:rPr sz="1300" b="0" i="0" baseline="-25000">
                <a:solidFill>
                  <a:srgbClr val="333333"/>
                </a:solidFill>
                <a:latin typeface="Cambria"/>
              </a:rPr>
              <a:t>c</a:t>
            </a:r>
            <a:r>
              <a:rPr sz="1300" b="0" i="0">
                <a:solidFill>
                  <a:srgbClr val="333333"/>
                </a:solidFill>
                <a:latin typeface="Cambria"/>
              </a:rPr>
              <a:t> ]²  +  αλ Σ</a:t>
            </a:r>
            <a:r>
              <a:rPr sz="1300" b="0" i="0" baseline="-25000">
                <a:solidFill>
                  <a:srgbClr val="333333"/>
                </a:solidFill>
                <a:latin typeface="Cambria"/>
              </a:rPr>
              <a:t>k</a:t>
            </a:r>
            <a:r>
              <a:rPr sz="1300" b="0" i="0">
                <a:solidFill>
                  <a:srgbClr val="333333"/>
                </a:solidFill>
                <a:latin typeface="Cambria"/>
              </a:rPr>
              <a:t> w</a:t>
            </a:r>
            <a:r>
              <a:rPr sz="1300" b="0" i="0" baseline="-25000">
                <a:solidFill>
                  <a:srgbClr val="333333"/>
                </a:solidFill>
                <a:latin typeface="Cambria"/>
              </a:rPr>
              <a:t>k</a:t>
            </a:r>
            <a:r>
              <a:rPr sz="1300" b="0" i="0">
                <a:solidFill>
                  <a:srgbClr val="333333"/>
                </a:solidFill>
                <a:latin typeface="Cambria"/>
              </a:rPr>
              <a:t>  +  ½α(1−λ) Σ</a:t>
            </a:r>
            <a:r>
              <a:rPr sz="1300" b="0" i="0" baseline="-25000">
                <a:solidFill>
                  <a:srgbClr val="333333"/>
                </a:solidFill>
                <a:latin typeface="Cambria"/>
              </a:rPr>
              <a:t>k</a:t>
            </a:r>
            <a:r>
              <a:rPr sz="1300" b="0" i="0">
                <a:solidFill>
                  <a:srgbClr val="333333"/>
                </a:solidFill>
                <a:latin typeface="Cambria"/>
              </a:rPr>
              <a:t> w</a:t>
            </a:r>
            <a:r>
              <a:rPr sz="1300" b="0" i="0" baseline="-25000">
                <a:solidFill>
                  <a:srgbClr val="333333"/>
                </a:solidFill>
                <a:latin typeface="Cambria"/>
              </a:rPr>
              <a:t>k</a:t>
            </a:r>
            <a:r>
              <a:rPr sz="1300" b="0" i="0">
                <a:solidFill>
                  <a:srgbClr val="333333"/>
                </a:solidFill>
                <a:latin typeface="Cambria"/>
              </a:rPr>
              <a:t>²</a:t>
            </a:r>
          </a:p>
        </p:txBody>
      </p:sp>
      <p:sp>
        <p:nvSpPr>
          <p:cNvPr id="10" name="TextBox 9"/>
          <p:cNvSpPr txBox="1"/>
          <p:nvPr/>
        </p:nvSpPr>
        <p:spPr>
          <a:xfrm>
            <a:off x="548640" y="3319272"/>
            <a:ext cx="4663440" cy="548640"/>
          </a:xfrm>
          <a:prstGeom prst="rect">
            <a:avLst/>
          </a:prstGeom>
          <a:noFill/>
        </p:spPr>
        <p:txBody>
          <a:bodyPr wrap="square" anchor="t" lIns="0" rIns="0" tIns="0" bIns="0">
            <a:spAutoFit/>
          </a:bodyPr>
          <a:lstStyle/>
          <a:p>
            <a:pPr algn="l" marL="182880" indent="-182880">
              <a:spcAft>
                <a:spcPts val="200"/>
              </a:spcAft>
              <a:buClr>
                <a:srgbClr val="333333"/>
              </a:buClr>
              <a:buChar char="•"/>
            </a:pPr>
            <a:r>
              <a:rPr sz="1050" b="0" i="0">
                <a:solidFill>
                  <a:srgbClr val="333333"/>
                </a:solidFill>
              </a:rPr>
              <a:t>The solver's settings: α = 0.001, λ = 0.5, C = 6.</a:t>
            </a:r>
          </a:p>
        </p:txBody>
      </p:sp>
      <p:sp>
        <p:nvSpPr>
          <p:cNvPr id="11" name="TextBox 10"/>
          <p:cNvSpPr txBox="1"/>
          <p:nvPr/>
        </p:nvSpPr>
        <p:spPr>
          <a:xfrm>
            <a:off x="365760" y="4160520"/>
            <a:ext cx="5029200" cy="274320"/>
          </a:xfrm>
          <a:prstGeom prst="rect">
            <a:avLst/>
          </a:prstGeom>
          <a:noFill/>
        </p:spPr>
        <p:txBody>
          <a:bodyPr wrap="square" anchor="t" lIns="0" rIns="0" tIns="0" bIns="0">
            <a:spAutoFit/>
          </a:bodyPr>
          <a:lstStyle/>
          <a:p>
            <a:pPr algn="l">
              <a:spcAft>
                <a:spcPts val="600"/>
              </a:spcAft>
            </a:pPr>
            <a:r>
              <a:rPr sz="1100" b="0" i="0">
                <a:solidFill>
                  <a:srgbClr val="6B6B6B"/>
                </a:solidFill>
              </a:rPr>
              <a:t>In both: ŷ = R·B·w, with w ≥ 0.</a:t>
            </a:r>
          </a:p>
        </p:txBody>
      </p:sp>
      <p:pic>
        <p:nvPicPr>
          <p:cNvPr id="12" name="Picture 11" descr="band_penalty.png"/>
          <p:cNvPicPr>
            <a:picLocks noChangeAspect="1"/>
          </p:cNvPicPr>
          <p:nvPr/>
        </p:nvPicPr>
        <p:blipFill>
          <a:blip r:embed="rId3"/>
          <a:stretch>
            <a:fillRect/>
          </a:stretch>
        </p:blipFill>
        <p:spPr>
          <a:xfrm>
            <a:off x="5623560" y="1221959"/>
            <a:ext cx="3154680" cy="2128082"/>
          </a:xfrm>
          <a:prstGeom prst="rect">
            <a:avLst/>
          </a:prstGeom>
        </p:spPr>
      </p:pic>
      <p:sp>
        <p:nvSpPr>
          <p:cNvPr id="13" name="TextBox 12"/>
          <p:cNvSpPr txBox="1"/>
          <p:nvPr/>
        </p:nvSpPr>
        <p:spPr>
          <a:xfrm>
            <a:off x="5623560" y="3429000"/>
            <a:ext cx="3154680" cy="274320"/>
          </a:xfrm>
          <a:prstGeom prst="rect">
            <a:avLst/>
          </a:prstGeom>
          <a:noFill/>
        </p:spPr>
        <p:txBody>
          <a:bodyPr wrap="square" anchor="t" lIns="0" rIns="0" tIns="0" bIns="0">
            <a:spAutoFit/>
          </a:bodyPr>
          <a:lstStyle/>
          <a:p>
            <a:pPr algn="l">
              <a:spcAft>
                <a:spcPts val="0"/>
              </a:spcAft>
            </a:pPr>
            <a:r>
              <a:rPr sz="950" b="0" i="1">
                <a:solidFill>
                  <a:srgbClr val="6B6B6B"/>
                </a:solidFill>
              </a:rPr>
              <a:t>The BP band penalty for one channel.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Data and scoring: two years of full-disk AIA, split in time</a:t>
            </a:r>
          </a:p>
        </p:txBody>
      </p:sp>
      <p:sp>
        <p:nvSpPr>
          <p:cNvPr id="3" name="Rounded Rectangle 2"/>
          <p:cNvSpPr/>
          <p:nvPr/>
        </p:nvSpPr>
        <p:spPr>
          <a:xfrm>
            <a:off x="365760" y="1005840"/>
            <a:ext cx="6067425" cy="566928"/>
          </a:xfrm>
          <a:prstGeom prst="roundRect">
            <a:avLst>
              <a:gd name="adj" fmla="val 6000"/>
            </a:avLst>
          </a:prstGeom>
          <a:solidFill>
            <a:srgbClr val="57068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1150" b="1">
                <a:solidFill>
                  <a:srgbClr val="FFFFFF"/>
                </a:solidFill>
              </a:rPr>
              <a:t>Train</a:t>
            </a:r>
          </a:p>
          <a:p>
            <a:pPr algn="ctr"/>
            <a:r>
              <a:rPr sz="950">
                <a:solidFill>
                  <a:srgbClr val="FFFFFF"/>
                </a:solidFill>
              </a:rPr>
              <a:t>917 images</a:t>
            </a:r>
          </a:p>
        </p:txBody>
      </p:sp>
      <p:sp>
        <p:nvSpPr>
          <p:cNvPr id="4" name="Rounded Rectangle 3"/>
          <p:cNvSpPr/>
          <p:nvPr/>
        </p:nvSpPr>
        <p:spPr>
          <a:xfrm>
            <a:off x="6478905" y="1005840"/>
            <a:ext cx="1109472" cy="566928"/>
          </a:xfrm>
          <a:prstGeom prst="roundRect">
            <a:avLst>
              <a:gd name="adj" fmla="val 6000"/>
            </a:avLst>
          </a:prstGeom>
          <a:solidFill>
            <a:srgbClr val="E3DFE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1150" b="1">
                <a:solidFill>
                  <a:srgbClr val="57068C"/>
                </a:solidFill>
              </a:rPr>
              <a:t>Validation</a:t>
            </a:r>
          </a:p>
          <a:p>
            <a:pPr algn="ctr"/>
            <a:r>
              <a:rPr sz="950">
                <a:solidFill>
                  <a:srgbClr val="57068C"/>
                </a:solidFill>
              </a:rPr>
              <a:t>153</a:t>
            </a:r>
          </a:p>
        </p:txBody>
      </p:sp>
      <p:sp>
        <p:nvSpPr>
          <p:cNvPr id="5" name="Rounded Rectangle 4"/>
          <p:cNvSpPr/>
          <p:nvPr/>
        </p:nvSpPr>
        <p:spPr>
          <a:xfrm>
            <a:off x="7634097" y="1005840"/>
            <a:ext cx="1144143" cy="566928"/>
          </a:xfrm>
          <a:prstGeom prst="roundRect">
            <a:avLst>
              <a:gd name="adj" fmla="val 6000"/>
            </a:avLst>
          </a:prstGeom>
          <a:solidFill>
            <a:srgbClr val="330662"/>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1150" b="1">
                <a:solidFill>
                  <a:srgbClr val="FFFFFF"/>
                </a:solidFill>
              </a:rPr>
              <a:t>Test</a:t>
            </a:r>
          </a:p>
          <a:p>
            <a:pPr algn="ctr"/>
            <a:r>
              <a:rPr sz="950">
                <a:solidFill>
                  <a:srgbClr val="FFFFFF"/>
                </a:solidFill>
              </a:rPr>
              <a:t>153</a:t>
            </a:r>
          </a:p>
        </p:txBody>
      </p:sp>
      <p:sp>
        <p:nvSpPr>
          <p:cNvPr id="6" name="TextBox 5"/>
          <p:cNvSpPr txBox="1"/>
          <p:nvPr/>
        </p:nvSpPr>
        <p:spPr>
          <a:xfrm>
            <a:off x="365760" y="1618488"/>
            <a:ext cx="822960" cy="228600"/>
          </a:xfrm>
          <a:prstGeom prst="rect">
            <a:avLst/>
          </a:prstGeom>
          <a:noFill/>
        </p:spPr>
        <p:txBody>
          <a:bodyPr wrap="square" anchor="t" lIns="0" rIns="0" tIns="0" bIns="0">
            <a:spAutoFit/>
          </a:bodyPr>
          <a:lstStyle/>
          <a:p>
            <a:pPr algn="l">
              <a:spcAft>
                <a:spcPts val="600"/>
              </a:spcAft>
            </a:pPr>
            <a:r>
              <a:rPr sz="950" b="0" i="0">
                <a:solidFill>
                  <a:srgbClr val="6B6B6B"/>
                </a:solidFill>
              </a:rPr>
              <a:t>Jan 2014</a:t>
            </a:r>
          </a:p>
        </p:txBody>
      </p:sp>
      <p:sp>
        <p:nvSpPr>
          <p:cNvPr id="7" name="TextBox 6"/>
          <p:cNvSpPr txBox="1"/>
          <p:nvPr/>
        </p:nvSpPr>
        <p:spPr>
          <a:xfrm>
            <a:off x="6088380" y="1618488"/>
            <a:ext cx="822960" cy="228600"/>
          </a:xfrm>
          <a:prstGeom prst="rect">
            <a:avLst/>
          </a:prstGeom>
          <a:noFill/>
        </p:spPr>
        <p:txBody>
          <a:bodyPr wrap="square" anchor="t" lIns="0" rIns="0" tIns="0" bIns="0">
            <a:spAutoFit/>
          </a:bodyPr>
          <a:lstStyle/>
          <a:p>
            <a:pPr algn="ctr">
              <a:spcAft>
                <a:spcPts val="600"/>
              </a:spcAft>
            </a:pPr>
            <a:r>
              <a:rPr sz="950" b="0" i="0">
                <a:solidFill>
                  <a:srgbClr val="6B6B6B"/>
                </a:solidFill>
              </a:rPr>
              <a:t>Jun 2015</a:t>
            </a:r>
          </a:p>
        </p:txBody>
      </p:sp>
      <p:sp>
        <p:nvSpPr>
          <p:cNvPr id="8" name="TextBox 7"/>
          <p:cNvSpPr txBox="1"/>
          <p:nvPr/>
        </p:nvSpPr>
        <p:spPr>
          <a:xfrm>
            <a:off x="7210043" y="1618488"/>
            <a:ext cx="822960" cy="228600"/>
          </a:xfrm>
          <a:prstGeom prst="rect">
            <a:avLst/>
          </a:prstGeom>
          <a:noFill/>
        </p:spPr>
        <p:txBody>
          <a:bodyPr wrap="square" anchor="t" lIns="0" rIns="0" tIns="0" bIns="0">
            <a:spAutoFit/>
          </a:bodyPr>
          <a:lstStyle/>
          <a:p>
            <a:pPr algn="ctr">
              <a:spcAft>
                <a:spcPts val="600"/>
              </a:spcAft>
            </a:pPr>
            <a:r>
              <a:rPr sz="950" b="0" i="0">
                <a:solidFill>
                  <a:srgbClr val="6B6B6B"/>
                </a:solidFill>
              </a:rPr>
              <a:t>Sep 2015</a:t>
            </a:r>
          </a:p>
        </p:txBody>
      </p:sp>
      <p:sp>
        <p:nvSpPr>
          <p:cNvPr id="9" name="TextBox 8"/>
          <p:cNvSpPr txBox="1"/>
          <p:nvPr/>
        </p:nvSpPr>
        <p:spPr>
          <a:xfrm>
            <a:off x="7955280" y="1618488"/>
            <a:ext cx="822960" cy="228600"/>
          </a:xfrm>
          <a:prstGeom prst="rect">
            <a:avLst/>
          </a:prstGeom>
          <a:noFill/>
        </p:spPr>
        <p:txBody>
          <a:bodyPr wrap="square" anchor="t" lIns="0" rIns="0" tIns="0" bIns="0">
            <a:spAutoFit/>
          </a:bodyPr>
          <a:lstStyle/>
          <a:p>
            <a:pPr algn="r">
              <a:spcAft>
                <a:spcPts val="600"/>
              </a:spcAft>
            </a:pPr>
            <a:r>
              <a:rPr sz="950" b="0" i="0">
                <a:solidFill>
                  <a:srgbClr val="6B6B6B"/>
                </a:solidFill>
              </a:rPr>
              <a:t>Dec 2015</a:t>
            </a:r>
          </a:p>
        </p:txBody>
      </p:sp>
      <p:sp>
        <p:nvSpPr>
          <p:cNvPr id="10" name="TextBox 9"/>
          <p:cNvSpPr txBox="1"/>
          <p:nvPr/>
        </p:nvSpPr>
        <p:spPr>
          <a:xfrm>
            <a:off x="365760" y="1965960"/>
            <a:ext cx="8412480" cy="2468880"/>
          </a:xfrm>
          <a:prstGeom prst="rect">
            <a:avLst/>
          </a:prstGeom>
          <a:noFill/>
        </p:spPr>
        <p:txBody>
          <a:bodyPr wrap="square" anchor="t" lIns="0" rIns="0" tIns="0" bIns="0">
            <a:spAutoFit/>
          </a:bodyPr>
          <a:lstStyle/>
          <a:p>
            <a:pPr algn="l" marL="182880" indent="-182880">
              <a:spcAft>
                <a:spcPts val="500"/>
              </a:spcAft>
              <a:buClr>
                <a:srgbClr val="333333"/>
              </a:buClr>
              <a:buChar char="•"/>
            </a:pPr>
            <a:r>
              <a:rPr sz="1150" b="0" i="0">
                <a:solidFill>
                  <a:srgbClr val="333333"/>
                </a:solidFill>
              </a:rPr>
              <a:t>SDO/AIA, 6 EUV channels, about two images a day in 2014–2015: 1,223 full-disk images, PSF-deconvolved, with a noise σ per pixel and channel. Solver DEMs (BP, ElasticNet) for every image: labels for the supervised model, evaluation only for ours.</a:t>
            </a:r>
          </a:p>
          <a:p>
            <a:pPr algn="l" marL="182880" indent="-182880">
              <a:spcAft>
                <a:spcPts val="500"/>
              </a:spcAft>
              <a:buClr>
                <a:srgbClr val="333333"/>
              </a:buClr>
              <a:buChar char="•"/>
            </a:pPr>
            <a:r>
              <a:rPr sz="1150" b="0" i="0">
                <a:solidFill>
                  <a:srgbClr val="333333"/>
                </a:solidFill>
              </a:rPr>
              <a:t>Training sees AIA and σ only, no noise added: 917 images, each cut into 256 blocks of 128²; a random 64 kept per image (a quarter, fixed). Every epoch draws 512 fresh pixels per block. 40 epochs (final BP model: 240, Part 4).</a:t>
            </a:r>
          </a:p>
          <a:p>
            <a:pPr algn="l" marL="182880" indent="-182880">
              <a:spcAft>
                <a:spcPts val="500"/>
              </a:spcAft>
              <a:buClr>
                <a:srgbClr val="333333"/>
              </a:buClr>
              <a:buChar char="•"/>
            </a:pPr>
            <a:r>
              <a:rPr sz="1150" b="0" i="0">
                <a:solidFill>
                  <a:srgbClr val="333333"/>
                </a:solidFill>
              </a:rPr>
              <a:t>Test: 153 later days on the supervised side's protocol, the same for both models. Input: the clean AIA. Targets: 5 solver runs per image (the clean solve + 4 on noise-added copies), each scored on its own random quarter of the image: ~800M pixel DEMs (705M with a BP answer). Bright: any channel above its top-5% cutoff, ~10% of pixels.</a:t>
            </a:r>
          </a:p>
          <a:p>
            <a:pPr algn="l" marL="182880" indent="-182880">
              <a:spcAft>
                <a:spcPts val="500"/>
              </a:spcAft>
              <a:buClr>
                <a:srgbClr val="333333"/>
              </a:buClr>
              <a:buChar char="•"/>
            </a:pPr>
            <a:r>
              <a:rPr sz="1150" b="0" i="0">
                <a:solidFill>
                  <a:srgbClr val="333333"/>
                </a:solidFill>
              </a:rPr>
              <a:t>Scores: DEM against the solver (MAE, MSE, total-emission error, W1 temperature-shape distance); AIA reconstruction against the observation (MAE, MSE).</a:t>
            </a:r>
          </a:p>
          <a:p>
            <a:pPr algn="l" marL="182880" indent="-182880">
              <a:spcAft>
                <a:spcPts val="500"/>
              </a:spcAft>
              <a:buClr>
                <a:srgbClr val="333333"/>
              </a:buClr>
              <a:buChar char="•"/>
            </a:pPr>
            <a:r>
              <a:rPr sz="1150" b="0" i="0">
                <a:solidFill>
                  <a:srgbClr val="333333"/>
                </a:solidFill>
              </a:rPr>
              <a:t>And medians and percentiles, because the error is heavy-tailed: the worst 1% of pixels hold 98% of our BP error; flare cores (1 pixel in 10,000) alone hold 94%.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1700" y="846450"/>
            <a:ext cx="8520600" cy="1671000"/>
          </a:xfrm>
        </p:spPr>
        <p:txBody>
          <a:bodyPr/>
          <a:lstStyle/>
          <a:p>
            <a:pPr algn="ctr"/>
            <a:r>
              <a:rPr sz="4100"/>
              <a:t>Part 2</a:t>
            </a:r>
            <a:br/>
            <a:r>
              <a:rPr sz="4100"/>
              <a:t>Getting to the model</a:t>
            </a:r>
          </a:p>
        </p:txBody>
      </p:sp>
      <p:sp>
        <p:nvSpPr>
          <p:cNvPr id="3" name="TextBox 2"/>
          <p:cNvSpPr txBox="1"/>
          <p:nvPr/>
        </p:nvSpPr>
        <p:spPr>
          <a:xfrm>
            <a:off x="457200" y="2606040"/>
            <a:ext cx="8229600" cy="457200"/>
          </a:xfrm>
          <a:prstGeom prst="rect">
            <a:avLst/>
          </a:prstGeom>
          <a:noFill/>
        </p:spPr>
        <p:txBody>
          <a:bodyPr wrap="square" anchor="t" lIns="0" rIns="0" tIns="0" bIns="0">
            <a:spAutoFit/>
          </a:bodyPr>
          <a:lstStyle/>
          <a:p>
            <a:pPr algn="ctr">
              <a:spcAft>
                <a:spcPts val="600"/>
              </a:spcAft>
            </a:pPr>
            <a:r>
              <a:rPr sz="1800" b="0" i="1">
                <a:solidFill>
                  <a:srgbClr val="6B6B6B"/>
                </a:solidFill>
              </a:rPr>
              <a:t>Which network, and how big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At scale, the centre-pixel MLP beat the patch CNN</a:t>
            </a:r>
          </a:p>
        </p:txBody>
      </p:sp>
      <p:sp>
        <p:nvSpPr>
          <p:cNvPr id="3" name="TextBox 2"/>
          <p:cNvSpPr txBox="1"/>
          <p:nvPr/>
        </p:nvSpPr>
        <p:spPr>
          <a:xfrm>
            <a:off x="365760" y="914400"/>
            <a:ext cx="8412480" cy="640080"/>
          </a:xfrm>
          <a:prstGeom prst="rect">
            <a:avLst/>
          </a:prstGeom>
          <a:noFill/>
        </p:spPr>
        <p:txBody>
          <a:bodyPr wrap="square" anchor="t" lIns="0" rIns="0" tIns="0" bIns="0">
            <a:spAutoFit/>
          </a:bodyPr>
          <a:lstStyle/>
          <a:p>
            <a:pPr algn="l" marL="182880" indent="-182880">
              <a:spcAft>
                <a:spcPts val="600"/>
              </a:spcAft>
              <a:buClr>
                <a:srgbClr val="333333"/>
              </a:buClr>
              <a:buChar char="•"/>
            </a:pPr>
            <a:r>
              <a:rPr sz="1250" b="0" i="0">
                <a:solidFill>
                  <a:srgbClr val="333333"/>
                </a:solidFill>
              </a:rPr>
              <a:t>Same 917 training days and losses, matched at ~1.5M parameters each, fresh pixels; scored on the 153 test days. (The final model is smaller: next slide.)</a:t>
            </a:r>
          </a:p>
        </p:txBody>
      </p:sp>
      <p:graphicFrame>
        <p:nvGraphicFramePr>
          <p:cNvPr id="4" name="Table 3"/>
          <p:cNvGraphicFramePr>
            <a:graphicFrameLocks noGrp="1"/>
          </p:cNvGraphicFramePr>
          <p:nvPr/>
        </p:nvGraphicFramePr>
        <p:xfrm>
          <a:off x="365760" y="1463040"/>
          <a:ext cx="4069080" cy="1865376"/>
        </p:xfrm>
        <a:graphic>
          <a:graphicData uri="http://schemas.openxmlformats.org/drawingml/2006/table">
            <a:tbl>
              <a:tblPr firstRow="1" bandRow="1"/>
              <a:tblGrid>
                <a:gridCol w="2260600"/>
                <a:gridCol w="904240"/>
                <a:gridCol w="904240"/>
              </a:tblGrid>
              <a:tr h="310896">
                <a:tc>
                  <a:txBody>
                    <a:bodyPr wrap="square"/>
                    <a:lstStyle/>
                    <a:p>
                      <a:pPr algn="l"/>
                      <a:r>
                        <a:rPr sz="1100" b="1">
                          <a:solidFill>
                            <a:srgbClr val="FFFFFF"/>
                          </a:solidFill>
                        </a:rPr>
                        <a:t>BP track</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00" b="1">
                          <a:solidFill>
                            <a:srgbClr val="FFFFFF"/>
                          </a:solidFill>
                        </a:rPr>
                        <a:t>MLP</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00" b="1">
                          <a:solidFill>
                            <a:srgbClr val="FFFFFF"/>
                          </a:solidFill>
                        </a:rPr>
                        <a:t>CNN</a:t>
                      </a:r>
                    </a:p>
                  </a:txBody>
                  <a:tcPr marL="54864" marR="54864" marT="27432" marB="27432" anchor="ctr">
                    <a:lnL w="0">
                      <a:noFill/>
                    </a:lnL>
                    <a:lnR w="0">
                      <a:noFill/>
                    </a:lnR>
                    <a:lnT w="0">
                      <a:noFill/>
                    </a:lnT>
                    <a:lnB w="6350">
                      <a:solidFill>
                        <a:srgbClr val="D9D3E3"/>
                      </a:solidFill>
                    </a:lnB>
                    <a:solidFill>
                      <a:srgbClr val="57068C"/>
                    </a:solidFill>
                  </a:tcPr>
                </a:tc>
              </a:tr>
              <a:tr h="310896">
                <a:tc>
                  <a:txBody>
                    <a:bodyPr wrap="square"/>
                    <a:lstStyle/>
                    <a:p>
                      <a:pPr algn="l"/>
                      <a:r>
                        <a:rPr sz="1100" b="0">
                          <a:solidFill>
                            <a:srgbClr val="333333"/>
                          </a:solidFill>
                        </a:rPr>
                        <a:t>Loss, typical pixel (median)</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1">
                          <a:solidFill>
                            <a:srgbClr val="333333"/>
                          </a:solidFill>
                        </a:rPr>
                        <a:t>0.98</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100" b="0">
                          <a:solidFill>
                            <a:srgbClr val="333333"/>
                          </a:solidFill>
                        </a:rPr>
                        <a:t>1.01</a:t>
                      </a:r>
                    </a:p>
                  </a:txBody>
                  <a:tcPr marL="54864" marR="54864" marT="27432" marB="27432" anchor="ctr">
                    <a:lnL w="0">
                      <a:noFill/>
                    </a:lnL>
                    <a:lnR w="0">
                      <a:noFill/>
                    </a:lnR>
                    <a:lnT w="0">
                      <a:noFill/>
                    </a:lnT>
                    <a:lnB w="6350">
                      <a:solidFill>
                        <a:srgbClr val="D9D3E3"/>
                      </a:solidFill>
                    </a:lnB>
                    <a:solidFill>
                      <a:srgbClr val="FFFFFF"/>
                    </a:solidFill>
                  </a:tcPr>
                </a:tc>
              </a:tr>
              <a:tr h="310896">
                <a:tc>
                  <a:txBody>
                    <a:bodyPr wrap="square"/>
                    <a:lstStyle/>
                    <a:p>
                      <a:pPr algn="l"/>
                      <a:r>
                        <a:rPr sz="1100" b="0">
                          <a:solidFill>
                            <a:srgbClr val="333333"/>
                          </a:solidFill>
                        </a:rPr>
                        <a:t>Loss, worst 1% (p99)</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1">
                          <a:solidFill>
                            <a:srgbClr val="333333"/>
                          </a:solidFill>
                        </a:rPr>
                        <a:t>17.9</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100" b="0">
                          <a:solidFill>
                            <a:srgbClr val="333333"/>
                          </a:solidFill>
                        </a:rPr>
                        <a:t>18.8</a:t>
                      </a:r>
                    </a:p>
                  </a:txBody>
                  <a:tcPr marL="54864" marR="54864" marT="27432" marB="27432" anchor="ctr">
                    <a:lnL w="0">
                      <a:noFill/>
                    </a:lnL>
                    <a:lnR w="0">
                      <a:noFill/>
                    </a:lnR>
                    <a:lnT w="0">
                      <a:noFill/>
                    </a:lnT>
                    <a:lnB w="6350">
                      <a:solidFill>
                        <a:srgbClr val="D9D3E3"/>
                      </a:solidFill>
                    </a:lnB>
                    <a:solidFill>
                      <a:srgbClr val="FFFFFF"/>
                    </a:solidFill>
                  </a:tcPr>
                </a:tc>
              </a:tr>
              <a:tr h="310896">
                <a:tc>
                  <a:txBody>
                    <a:bodyPr wrap="square"/>
                    <a:lstStyle/>
                    <a:p>
                      <a:pPr algn="l"/>
                      <a:r>
                        <a:rPr sz="1100" b="0">
                          <a:solidFill>
                            <a:srgbClr val="333333"/>
                          </a:solidFill>
                        </a:rPr>
                        <a:t>Loss, mean</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1">
                          <a:solidFill>
                            <a:srgbClr val="333333"/>
                          </a:solidFill>
                        </a:rPr>
                        <a:t>2.07</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100" b="0">
                          <a:solidFill>
                            <a:srgbClr val="333333"/>
                          </a:solidFill>
                        </a:rPr>
                        <a:t>2.24</a:t>
                      </a:r>
                    </a:p>
                  </a:txBody>
                  <a:tcPr marL="54864" marR="54864" marT="27432" marB="27432" anchor="ctr">
                    <a:lnL w="0">
                      <a:noFill/>
                    </a:lnL>
                    <a:lnR w="0">
                      <a:noFill/>
                    </a:lnR>
                    <a:lnT w="0">
                      <a:noFill/>
                    </a:lnT>
                    <a:lnB w="6350">
                      <a:solidFill>
                        <a:srgbClr val="D9D3E3"/>
                      </a:solidFill>
                    </a:lnB>
                    <a:solidFill>
                      <a:srgbClr val="FFFFFF"/>
                    </a:solidFill>
                  </a:tcPr>
                </a:tc>
              </a:tr>
              <a:tr h="310896">
                <a:tc>
                  <a:txBody>
                    <a:bodyPr wrap="square"/>
                    <a:lstStyle/>
                    <a:p>
                      <a:pPr algn="l"/>
                      <a:r>
                        <a:rPr sz="1100" b="0">
                          <a:solidFill>
                            <a:srgbClr val="333333"/>
                          </a:solidFill>
                        </a:rPr>
                        <a:t>AIA MAE</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4.93</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1">
                          <a:solidFill>
                            <a:srgbClr val="333333"/>
                          </a:solidFill>
                        </a:rPr>
                        <a:t>4.73</a:t>
                      </a:r>
                    </a:p>
                  </a:txBody>
                  <a:tcPr marL="54864" marR="54864" marT="27432" marB="27432" anchor="ctr">
                    <a:lnL w="0">
                      <a:noFill/>
                    </a:lnL>
                    <a:lnR w="0">
                      <a:noFill/>
                    </a:lnR>
                    <a:lnT w="0">
                      <a:noFill/>
                    </a:lnT>
                    <a:lnB w="6350">
                      <a:solidFill>
                        <a:srgbClr val="D9D3E3"/>
                      </a:solidFill>
                    </a:lnB>
                    <a:solidFill>
                      <a:srgbClr val="E3DFE9"/>
                    </a:solidFill>
                  </a:tcPr>
                </a:tc>
              </a:tr>
              <a:tr h="310896">
                <a:tc>
                  <a:txBody>
                    <a:bodyPr wrap="square"/>
                    <a:lstStyle/>
                    <a:p>
                      <a:pPr algn="l"/>
                      <a:r>
                        <a:rPr sz="1100" b="0">
                          <a:solidFill>
                            <a:srgbClr val="333333"/>
                          </a:solidFill>
                        </a:rPr>
                        <a:t>Sparsity (solver: 1.79)</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1">
                          <a:solidFill>
                            <a:srgbClr val="333333"/>
                          </a:solidFill>
                        </a:rPr>
                        <a:t>1.90</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100" b="0">
                          <a:solidFill>
                            <a:srgbClr val="333333"/>
                          </a:solidFill>
                        </a:rPr>
                        <a:t>2.03</a:t>
                      </a:r>
                    </a:p>
                  </a:txBody>
                  <a:tcPr marL="54864" marR="54864" marT="27432" marB="27432" anchor="ctr">
                    <a:lnL w="0">
                      <a:noFill/>
                    </a:lnL>
                    <a:lnR w="0">
                      <a:noFill/>
                    </a:lnR>
                    <a:lnT w="0">
                      <a:noFill/>
                    </a:lnT>
                    <a:lnB w="6350">
                      <a:solidFill>
                        <a:srgbClr val="D9D3E3"/>
                      </a:solidFill>
                    </a:lnB>
                    <a:solidFill>
                      <a:srgbClr val="FFFFFF"/>
                    </a:solidFill>
                  </a:tcPr>
                </a:tc>
              </a:tr>
            </a:tbl>
          </a:graphicData>
        </a:graphic>
      </p:graphicFrame>
      <p:graphicFrame>
        <p:nvGraphicFramePr>
          <p:cNvPr id="5" name="Table 4"/>
          <p:cNvGraphicFramePr>
            <a:graphicFrameLocks noGrp="1"/>
          </p:cNvGraphicFramePr>
          <p:nvPr/>
        </p:nvGraphicFramePr>
        <p:xfrm>
          <a:off x="4709160" y="1463040"/>
          <a:ext cx="4069080" cy="1554480"/>
        </p:xfrm>
        <a:graphic>
          <a:graphicData uri="http://schemas.openxmlformats.org/drawingml/2006/table">
            <a:tbl>
              <a:tblPr firstRow="1" bandRow="1"/>
              <a:tblGrid>
                <a:gridCol w="2260600"/>
                <a:gridCol w="904240"/>
                <a:gridCol w="904240"/>
              </a:tblGrid>
              <a:tr h="310896">
                <a:tc>
                  <a:txBody>
                    <a:bodyPr wrap="square"/>
                    <a:lstStyle/>
                    <a:p>
                      <a:pPr algn="l"/>
                      <a:r>
                        <a:rPr sz="1100" b="1">
                          <a:solidFill>
                            <a:srgbClr val="FFFFFF"/>
                          </a:solidFill>
                        </a:rPr>
                        <a:t>ElasticNet track</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00" b="1">
                          <a:solidFill>
                            <a:srgbClr val="FFFFFF"/>
                          </a:solidFill>
                        </a:rPr>
                        <a:t>MLP</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00" b="1">
                          <a:solidFill>
                            <a:srgbClr val="FFFFFF"/>
                          </a:solidFill>
                        </a:rPr>
                        <a:t>CNN</a:t>
                      </a:r>
                    </a:p>
                  </a:txBody>
                  <a:tcPr marL="54864" marR="54864" marT="27432" marB="27432" anchor="ctr">
                    <a:lnL w="0">
                      <a:noFill/>
                    </a:lnL>
                    <a:lnR w="0">
                      <a:noFill/>
                    </a:lnR>
                    <a:lnT w="0">
                      <a:noFill/>
                    </a:lnT>
                    <a:lnB w="6350">
                      <a:solidFill>
                        <a:srgbClr val="D9D3E3"/>
                      </a:solidFill>
                    </a:lnB>
                    <a:solidFill>
                      <a:srgbClr val="57068C"/>
                    </a:solidFill>
                  </a:tcPr>
                </a:tc>
              </a:tr>
              <a:tr h="310896">
                <a:tc>
                  <a:txBody>
                    <a:bodyPr wrap="square"/>
                    <a:lstStyle/>
                    <a:p>
                      <a:pPr algn="l"/>
                      <a:r>
                        <a:rPr sz="1100" b="0">
                          <a:solidFill>
                            <a:srgbClr val="333333"/>
                          </a:solidFill>
                        </a:rPr>
                        <a:t>Loss, typical pixel (median)</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1">
                          <a:solidFill>
                            <a:srgbClr val="333333"/>
                          </a:solidFill>
                        </a:rPr>
                        <a:t>0.020</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100" b="0">
                          <a:solidFill>
                            <a:srgbClr val="333333"/>
                          </a:solidFill>
                        </a:rPr>
                        <a:t>0.033</a:t>
                      </a:r>
                    </a:p>
                  </a:txBody>
                  <a:tcPr marL="54864" marR="54864" marT="27432" marB="27432" anchor="ctr">
                    <a:lnL w="0">
                      <a:noFill/>
                    </a:lnL>
                    <a:lnR w="0">
                      <a:noFill/>
                    </a:lnR>
                    <a:lnT w="0">
                      <a:noFill/>
                    </a:lnT>
                    <a:lnB w="6350">
                      <a:solidFill>
                        <a:srgbClr val="D9D3E3"/>
                      </a:solidFill>
                    </a:lnB>
                    <a:solidFill>
                      <a:srgbClr val="FFFFFF"/>
                    </a:solidFill>
                  </a:tcPr>
                </a:tc>
              </a:tr>
              <a:tr h="310896">
                <a:tc>
                  <a:txBody>
                    <a:bodyPr wrap="square"/>
                    <a:lstStyle/>
                    <a:p>
                      <a:pPr algn="l"/>
                      <a:r>
                        <a:rPr sz="1100" b="0">
                          <a:solidFill>
                            <a:srgbClr val="333333"/>
                          </a:solidFill>
                        </a:rPr>
                        <a:t>Loss, worst 1% (p99)</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1">
                          <a:solidFill>
                            <a:srgbClr val="333333"/>
                          </a:solidFill>
                        </a:rPr>
                        <a:t>0.47</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100" b="0">
                          <a:solidFill>
                            <a:srgbClr val="333333"/>
                          </a:solidFill>
                        </a:rPr>
                        <a:t>0.52</a:t>
                      </a:r>
                    </a:p>
                  </a:txBody>
                  <a:tcPr marL="54864" marR="54864" marT="27432" marB="27432" anchor="ctr">
                    <a:lnL w="0">
                      <a:noFill/>
                    </a:lnL>
                    <a:lnR w="0">
                      <a:noFill/>
                    </a:lnR>
                    <a:lnT w="0">
                      <a:noFill/>
                    </a:lnT>
                    <a:lnB w="6350">
                      <a:solidFill>
                        <a:srgbClr val="D9D3E3"/>
                      </a:solidFill>
                    </a:lnB>
                    <a:solidFill>
                      <a:srgbClr val="FFFFFF"/>
                    </a:solidFill>
                  </a:tcPr>
                </a:tc>
              </a:tr>
              <a:tr h="310896">
                <a:tc>
                  <a:txBody>
                    <a:bodyPr wrap="square"/>
                    <a:lstStyle/>
                    <a:p>
                      <a:pPr algn="l"/>
                      <a:r>
                        <a:rPr sz="1100" b="0">
                          <a:solidFill>
                            <a:srgbClr val="333333"/>
                          </a:solidFill>
                        </a:rPr>
                        <a:t>Loss, mean</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1">
                          <a:solidFill>
                            <a:srgbClr val="333333"/>
                          </a:solidFill>
                        </a:rPr>
                        <a:t>0.057</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100" b="0">
                          <a:solidFill>
                            <a:srgbClr val="333333"/>
                          </a:solidFill>
                        </a:rPr>
                        <a:t>0.245</a:t>
                      </a:r>
                    </a:p>
                  </a:txBody>
                  <a:tcPr marL="54864" marR="54864" marT="27432" marB="27432" anchor="ctr">
                    <a:lnL w="0">
                      <a:noFill/>
                    </a:lnL>
                    <a:lnR w="0">
                      <a:noFill/>
                    </a:lnR>
                    <a:lnT w="0">
                      <a:noFill/>
                    </a:lnT>
                    <a:lnB w="6350">
                      <a:solidFill>
                        <a:srgbClr val="D9D3E3"/>
                      </a:solidFill>
                    </a:lnB>
                    <a:solidFill>
                      <a:srgbClr val="FFFFFF"/>
                    </a:solidFill>
                  </a:tcPr>
                </a:tc>
              </a:tr>
              <a:tr h="310896">
                <a:tc>
                  <a:txBody>
                    <a:bodyPr wrap="square"/>
                    <a:lstStyle/>
                    <a:p>
                      <a:pPr algn="l"/>
                      <a:r>
                        <a:rPr sz="1100" b="0">
                          <a:solidFill>
                            <a:srgbClr val="333333"/>
                          </a:solidFill>
                        </a:rPr>
                        <a:t>AIA MAE</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1">
                          <a:solidFill>
                            <a:srgbClr val="333333"/>
                          </a:solidFill>
                        </a:rPr>
                        <a:t>0.54</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100" b="0">
                          <a:solidFill>
                            <a:srgbClr val="333333"/>
                          </a:solidFill>
                        </a:rPr>
                        <a:t>0.82</a:t>
                      </a:r>
                    </a:p>
                  </a:txBody>
                  <a:tcPr marL="54864" marR="54864" marT="27432" marB="27432" anchor="ctr">
                    <a:lnL w="0">
                      <a:noFill/>
                    </a:lnL>
                    <a:lnR w="0">
                      <a:noFill/>
                    </a:lnR>
                    <a:lnT w="0">
                      <a:noFill/>
                    </a:lnT>
                    <a:lnB w="6350">
                      <a:solidFill>
                        <a:srgbClr val="D9D3E3"/>
                      </a:solidFill>
                    </a:lnB>
                    <a:solidFill>
                      <a:srgbClr val="FFFFFF"/>
                    </a:solidFill>
                  </a:tcPr>
                </a:tc>
              </a:tr>
            </a:tbl>
          </a:graphicData>
        </a:graphic>
      </p:graphicFrame>
      <p:sp>
        <p:nvSpPr>
          <p:cNvPr id="6" name="TextBox 5"/>
          <p:cNvSpPr txBox="1"/>
          <p:nvPr/>
        </p:nvSpPr>
        <p:spPr>
          <a:xfrm>
            <a:off x="365760" y="3429000"/>
            <a:ext cx="8412480" cy="274320"/>
          </a:xfrm>
          <a:prstGeom prst="rect">
            <a:avLst/>
          </a:prstGeom>
          <a:noFill/>
        </p:spPr>
        <p:txBody>
          <a:bodyPr wrap="square" anchor="t" lIns="0" rIns="0" tIns="0" bIns="0">
            <a:spAutoFit/>
          </a:bodyPr>
          <a:lstStyle/>
          <a:p>
            <a:pPr algn="l">
              <a:spcAft>
                <a:spcPts val="0"/>
              </a:spcAft>
            </a:pPr>
            <a:r>
              <a:rPr sz="950" b="0" i="1">
                <a:solidFill>
                  <a:srgbClr val="6B6B6B"/>
                </a:solidFill>
              </a:rPr>
              <a:t>Loss = each track's own training loss on the 153 test days. Lower is better, except sparsity (closer to the solver's 1.79). Shaded = better.</a:t>
            </a:r>
          </a:p>
        </p:txBody>
      </p:sp>
      <p:sp>
        <p:nvSpPr>
          <p:cNvPr id="7" name="TextBox 6"/>
          <p:cNvSpPr txBox="1"/>
          <p:nvPr/>
        </p:nvSpPr>
        <p:spPr>
          <a:xfrm>
            <a:off x="365760" y="3794760"/>
            <a:ext cx="8412480" cy="365760"/>
          </a:xfrm>
          <a:prstGeom prst="rect">
            <a:avLst/>
          </a:prstGeom>
          <a:noFill/>
        </p:spPr>
        <p:txBody>
          <a:bodyPr wrap="square" anchor="t" lIns="0" rIns="0" tIns="0" bIns="0">
            <a:spAutoFit/>
          </a:bodyPr>
          <a:lstStyle/>
          <a:p>
            <a:pPr algn="l">
              <a:spcAft>
                <a:spcPts val="600"/>
              </a:spcAft>
            </a:pPr>
            <a:r>
              <a:rPr sz="1300" b="1" i="0">
                <a:solidFill>
                  <a:srgbClr val="57068C"/>
                </a:solidFill>
              </a:rPr>
              <a:t>The simplest model scales: no neighbourhood needed.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Choosing the model: width 336, for both tracks</a:t>
            </a:r>
          </a:p>
        </p:txBody>
      </p:sp>
      <p:graphicFrame>
        <p:nvGraphicFramePr>
          <p:cNvPr id="3" name="Chart 2"/>
          <p:cNvGraphicFramePr>
            <a:graphicFrameLocks noGrp="1"/>
          </p:cNvGraphicFramePr>
          <p:nvPr/>
        </p:nvGraphicFramePr>
        <p:xfrm>
          <a:off x="365760" y="914400"/>
          <a:ext cx="4846320" cy="3017520"/>
        </p:xfrm>
        <a:graphic>
          <a:graphicData uri="http://schemas.openxmlformats.org/drawingml/2006/chart">
            <c:chart xmlns:c="http://schemas.openxmlformats.org/drawingml/2006/chart" r:id="rId3"/>
          </a:graphicData>
        </a:graphic>
      </p:graphicFrame>
      <p:sp>
        <p:nvSpPr>
          <p:cNvPr id="4" name="TextBox 3"/>
          <p:cNvSpPr txBox="1"/>
          <p:nvPr/>
        </p:nvSpPr>
        <p:spPr>
          <a:xfrm>
            <a:off x="5440680" y="960120"/>
            <a:ext cx="3337560" cy="3200400"/>
          </a:xfrm>
          <a:prstGeom prst="rect">
            <a:avLst/>
          </a:prstGeom>
          <a:noFill/>
        </p:spPr>
        <p:txBody>
          <a:bodyPr wrap="square" anchor="t" lIns="0" rIns="0" tIns="0" bIns="0">
            <a:spAutoFit/>
          </a:bodyPr>
          <a:lstStyle/>
          <a:p>
            <a:pPr algn="l" marL="182880" indent="-182880">
              <a:spcAft>
                <a:spcPts val="600"/>
              </a:spcAft>
              <a:buClr>
                <a:srgbClr val="333333"/>
              </a:buClr>
              <a:buChar char="•"/>
            </a:pPr>
            <a:r>
              <a:rPr sz="1100" b="0" i="0">
                <a:solidFill>
                  <a:srgbClr val="333333"/>
                </a:solidFill>
              </a:rPr>
              <a:t>We choose on the 153 validation days, never on test.</a:t>
            </a:r>
          </a:p>
          <a:p>
            <a:pPr algn="l" marL="182880" indent="-182880">
              <a:spcAft>
                <a:spcPts val="600"/>
              </a:spcAft>
              <a:buClr>
                <a:srgbClr val="333333"/>
              </a:buClr>
              <a:buChar char="•"/>
            </a:pPr>
            <a:r>
              <a:rPr sz="1100" b="0" i="0">
                <a:solidFill>
                  <a:srgbClr val="333333"/>
                </a:solidFill>
              </a:rPr>
              <a:t>BP: validation is best at width 336 (360k); 1.43M ties, but only nudges the typical pixel (0.026 → 0.023) at 4× the size, and on the stiff band (Part 4) it blows up on a few flare-core pixels.</a:t>
            </a:r>
          </a:p>
          <a:p>
            <a:pPr algn="l" marL="182880" indent="-182880">
              <a:spcAft>
                <a:spcPts val="600"/>
              </a:spcAft>
              <a:buClr>
                <a:srgbClr val="333333"/>
              </a:buClr>
              <a:buChar char="•"/>
            </a:pPr>
            <a:r>
              <a:rPr sz="1100" b="0" i="0">
                <a:solidFill>
                  <a:srgbClr val="333333"/>
                </a:solidFill>
              </a:rPr>
              <a:t>ElasticNet: validation favours bigger models, but from 722k up a few bright pixels blow up by orders of magnitude on the full test set (too rare for the validation sample); 336 is the largest stable width.</a:t>
            </a:r>
          </a:p>
          <a:p>
            <a:pPr algn="l" marL="182880" indent="-182880">
              <a:spcAft>
                <a:spcPts val="600"/>
              </a:spcAft>
              <a:buClr>
                <a:srgbClr val="333333"/>
              </a:buClr>
              <a:buChar char="•"/>
            </a:pPr>
            <a:r>
              <a:rPr sz="1100" b="0" i="0">
                <a:solidFill>
                  <a:srgbClr val="333333"/>
                </a:solidFill>
              </a:rPr>
              <a:t>Input, also by validation: √ + Fourier for ElasticNet (7% better) and, on the stiff band, for BP (validation DEM error 20.1 vs 29.3).</a:t>
            </a:r>
          </a:p>
        </p:txBody>
      </p:sp>
      <p:sp>
        <p:nvSpPr>
          <p:cNvPr id="5" name="TextBox 4"/>
          <p:cNvSpPr txBox="1"/>
          <p:nvPr/>
        </p:nvSpPr>
        <p:spPr>
          <a:xfrm>
            <a:off x="365760" y="4023360"/>
            <a:ext cx="8412480" cy="320040"/>
          </a:xfrm>
          <a:prstGeom prst="rect">
            <a:avLst/>
          </a:prstGeom>
          <a:noFill/>
        </p:spPr>
        <p:txBody>
          <a:bodyPr wrap="square" anchor="t" lIns="0" rIns="0" tIns="0" bIns="0">
            <a:spAutoFit/>
          </a:bodyPr>
          <a:lstStyle/>
          <a:p>
            <a:pPr algn="l">
              <a:spcAft>
                <a:spcPts val="600"/>
              </a:spcAft>
            </a:pPr>
            <a:r>
              <a:rPr sz="1300" b="1" i="0">
                <a:solidFill>
                  <a:srgbClr val="57068C"/>
                </a:solidFill>
              </a:rPr>
              <a:t>Final: one MLP of width 336 (409k parameters) per track, √ + Fourier input; BP on the stiff band (Part 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1700" y="846450"/>
            <a:ext cx="8520600" cy="1671000"/>
          </a:xfrm>
        </p:spPr>
        <p:txBody>
          <a:bodyPr/>
          <a:lstStyle/>
          <a:p>
            <a:pPr algn="ctr"/>
            <a:r>
              <a:rPr sz="4100"/>
              <a:t>Part 3</a:t>
            </a:r>
            <a:br/>
            <a:r>
              <a:rPr sz="4100"/>
              <a:t>Results</a:t>
            </a:r>
          </a:p>
        </p:txBody>
      </p:sp>
      <p:sp>
        <p:nvSpPr>
          <p:cNvPr id="3" name="TextBox 2"/>
          <p:cNvSpPr txBox="1"/>
          <p:nvPr/>
        </p:nvSpPr>
        <p:spPr>
          <a:xfrm>
            <a:off x="457200" y="2606040"/>
            <a:ext cx="8229600" cy="457200"/>
          </a:xfrm>
          <a:prstGeom prst="rect">
            <a:avLst/>
          </a:prstGeom>
          <a:noFill/>
        </p:spPr>
        <p:txBody>
          <a:bodyPr wrap="square" anchor="t" lIns="0" rIns="0" tIns="0" bIns="0">
            <a:spAutoFit/>
          </a:bodyPr>
          <a:lstStyle/>
          <a:p>
            <a:pPr algn="ctr">
              <a:spcAft>
                <a:spcPts val="600"/>
              </a:spcAft>
            </a:pPr>
            <a:r>
              <a:rPr sz="1800" b="0" i="1">
                <a:solidFill>
                  <a:srgbClr val="6B6B6B"/>
                </a:solidFill>
              </a:rPr>
              <a:t>Against the solver and the supervised model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Against supervised: all six on ElasticNet, four of six on BP</a:t>
            </a:r>
          </a:p>
        </p:txBody>
      </p:sp>
      <p:graphicFrame>
        <p:nvGraphicFramePr>
          <p:cNvPr id="3" name="Table 2"/>
          <p:cNvGraphicFramePr>
            <a:graphicFrameLocks noGrp="1"/>
          </p:cNvGraphicFramePr>
          <p:nvPr/>
        </p:nvGraphicFramePr>
        <p:xfrm>
          <a:off x="365760" y="1005840"/>
          <a:ext cx="8412480" cy="1920240"/>
        </p:xfrm>
        <a:graphic>
          <a:graphicData uri="http://schemas.openxmlformats.org/drawingml/2006/table">
            <a:tbl>
              <a:tblPr firstRow="1" bandRow="1"/>
              <a:tblGrid>
                <a:gridCol w="2194560"/>
                <a:gridCol w="1051560"/>
                <a:gridCol w="1051560"/>
                <a:gridCol w="1051560"/>
                <a:gridCol w="960120"/>
                <a:gridCol w="1051560"/>
                <a:gridCol w="1051560"/>
              </a:tblGrid>
              <a:tr h="384048">
                <a:tc>
                  <a:txBody>
                    <a:bodyPr wrap="square"/>
                    <a:lstStyle/>
                    <a:p>
                      <a:pPr algn="l"/>
                      <a:r>
                        <a:rPr sz="1200" b="1">
                          <a:solidFill>
                            <a:srgbClr val="FFFFFF"/>
                          </a:solidFill>
                        </a:rPr>
                        <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200" b="1">
                          <a:solidFill>
                            <a:srgbClr val="FFFFFF"/>
                          </a:solidFill>
                        </a:rPr>
                        <a:t>DEM MAE ↓</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200" b="1">
                          <a:solidFill>
                            <a:srgbClr val="FFFFFF"/>
                          </a:solidFill>
                        </a:rPr>
                        <a:t>DEM MSE ↓</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200" b="1">
                          <a:solidFill>
                            <a:srgbClr val="FFFFFF"/>
                          </a:solidFill>
                        </a:rPr>
                        <a:t>EM error ↓</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200" b="1">
                          <a:solidFill>
                            <a:srgbClr val="FFFFFF"/>
                          </a:solidFill>
                        </a:rPr>
                        <a:t>W1 ↓</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200" b="1">
                          <a:solidFill>
                            <a:srgbClr val="FFFFFF"/>
                          </a:solidFill>
                        </a:rPr>
                        <a:t>AIA MAE ↓</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200" b="1">
                          <a:solidFill>
                            <a:srgbClr val="FFFFFF"/>
                          </a:solidFill>
                        </a:rPr>
                        <a:t>AIA MSE ↓</a:t>
                      </a:r>
                    </a:p>
                  </a:txBody>
                  <a:tcPr marL="54864" marR="54864" marT="27432" marB="27432" anchor="ctr">
                    <a:lnL w="0">
                      <a:noFill/>
                    </a:lnL>
                    <a:lnR w="0">
                      <a:noFill/>
                    </a:lnR>
                    <a:lnT w="0">
                      <a:noFill/>
                    </a:lnT>
                    <a:lnB w="6350">
                      <a:solidFill>
                        <a:srgbClr val="D9D3E3"/>
                      </a:solidFill>
                    </a:lnB>
                    <a:solidFill>
                      <a:srgbClr val="57068C"/>
                    </a:solidFill>
                  </a:tcPr>
                </a:tc>
              </a:tr>
              <a:tr h="384048">
                <a:tc>
                  <a:txBody>
                    <a:bodyPr wrap="square"/>
                    <a:lstStyle/>
                    <a:p>
                      <a:pPr algn="l"/>
                      <a:r>
                        <a:rPr sz="1200" b="1">
                          <a:solidFill>
                            <a:srgbClr val="333333"/>
                          </a:solidFill>
                        </a:rPr>
                        <a:t>BP, label-free</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200" b="1">
                          <a:solidFill>
                            <a:srgbClr val="333333"/>
                          </a:solidFill>
                        </a:rPr>
                        <a:t>0.074</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200" b="0">
                          <a:solidFill>
                            <a:srgbClr val="333333"/>
                          </a:solidFill>
                        </a:rPr>
                        <a:t>1.75</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200" b="1">
                          <a:solidFill>
                            <a:srgbClr val="333333"/>
                          </a:solidFill>
                        </a:rPr>
                        <a:t>11.0%</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200" b="1">
                          <a:solidFill>
                            <a:srgbClr val="333333"/>
                          </a:solidFill>
                        </a:rPr>
                        <a:t>0.068</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200" b="0">
                          <a:solidFill>
                            <a:srgbClr val="333333"/>
                          </a:solidFill>
                        </a:rPr>
                        <a:t>3.48</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200" b="1">
                          <a:solidFill>
                            <a:srgbClr val="333333"/>
                          </a:solidFill>
                        </a:rPr>
                        <a:t>103</a:t>
                      </a:r>
                    </a:p>
                  </a:txBody>
                  <a:tcPr marL="54864" marR="54864" marT="27432" marB="27432" anchor="ctr">
                    <a:lnL w="0">
                      <a:noFill/>
                    </a:lnL>
                    <a:lnR w="0">
                      <a:noFill/>
                    </a:lnR>
                    <a:lnT w="0">
                      <a:noFill/>
                    </a:lnT>
                    <a:lnB w="6350">
                      <a:solidFill>
                        <a:srgbClr val="D9D3E3"/>
                      </a:solidFill>
                    </a:lnB>
                    <a:solidFill>
                      <a:srgbClr val="E3DFE9"/>
                    </a:solidFill>
                  </a:tcPr>
                </a:tc>
              </a:tr>
              <a:tr h="384048">
                <a:tc>
                  <a:txBody>
                    <a:bodyPr wrap="square"/>
                    <a:lstStyle/>
                    <a:p>
                      <a:pPr algn="l"/>
                      <a:r>
                        <a:rPr sz="1200" b="1">
                          <a:solidFill>
                            <a:srgbClr val="333333"/>
                          </a:solidFill>
                        </a:rPr>
                        <a:t>BP, supervised</a:t>
                      </a:r>
                    </a:p>
                  </a:txBody>
                  <a:tcPr marL="54864" marR="54864" marT="27432" marB="27432" anchor="ctr">
                    <a:lnL w="0">
                      <a:noFill/>
                    </a:lnL>
                    <a:lnR w="0">
                      <a:noFill/>
                    </a:lnR>
                    <a:lnT w="0">
                      <a:noFill/>
                    </a:lnT>
                    <a:lnB w="19050">
                      <a:solidFill>
                        <a:srgbClr val="57068C"/>
                      </a:solidFill>
                    </a:lnB>
                    <a:solidFill>
                      <a:srgbClr val="FFFFFF"/>
                    </a:solidFill>
                  </a:tcPr>
                </a:tc>
                <a:tc>
                  <a:txBody>
                    <a:bodyPr wrap="square"/>
                    <a:lstStyle/>
                    <a:p>
                      <a:pPr algn="r"/>
                      <a:r>
                        <a:rPr sz="1200" b="0">
                          <a:solidFill>
                            <a:srgbClr val="333333"/>
                          </a:solidFill>
                        </a:rPr>
                        <a:t>0.100</a:t>
                      </a:r>
                    </a:p>
                  </a:txBody>
                  <a:tcPr marL="54864" marR="54864" marT="27432" marB="27432" anchor="ctr">
                    <a:lnL w="0">
                      <a:noFill/>
                    </a:lnL>
                    <a:lnR w="0">
                      <a:noFill/>
                    </a:lnR>
                    <a:lnT w="0">
                      <a:noFill/>
                    </a:lnT>
                    <a:lnB w="19050">
                      <a:solidFill>
                        <a:srgbClr val="57068C"/>
                      </a:solidFill>
                    </a:lnB>
                    <a:solidFill>
                      <a:srgbClr val="FFFFFF"/>
                    </a:solidFill>
                  </a:tcPr>
                </a:tc>
                <a:tc>
                  <a:txBody>
                    <a:bodyPr wrap="square"/>
                    <a:lstStyle/>
                    <a:p>
                      <a:pPr algn="r"/>
                      <a:r>
                        <a:rPr sz="1200" b="1">
                          <a:solidFill>
                            <a:srgbClr val="333333"/>
                          </a:solidFill>
                        </a:rPr>
                        <a:t>0.91</a:t>
                      </a:r>
                    </a:p>
                  </a:txBody>
                  <a:tcPr marL="54864" marR="54864" marT="27432" marB="27432" anchor="ctr">
                    <a:lnL w="0">
                      <a:noFill/>
                    </a:lnL>
                    <a:lnR w="0">
                      <a:noFill/>
                    </a:lnR>
                    <a:lnT w="0">
                      <a:noFill/>
                    </a:lnT>
                    <a:lnB w="19050">
                      <a:solidFill>
                        <a:srgbClr val="57068C"/>
                      </a:solidFill>
                    </a:lnB>
                    <a:solidFill>
                      <a:srgbClr val="E3DFE9"/>
                    </a:solidFill>
                  </a:tcPr>
                </a:tc>
                <a:tc>
                  <a:txBody>
                    <a:bodyPr wrap="square"/>
                    <a:lstStyle/>
                    <a:p>
                      <a:pPr algn="r"/>
                      <a:r>
                        <a:rPr sz="1200" b="0">
                          <a:solidFill>
                            <a:srgbClr val="333333"/>
                          </a:solidFill>
                        </a:rPr>
                        <a:t>14.3%</a:t>
                      </a:r>
                    </a:p>
                  </a:txBody>
                  <a:tcPr marL="54864" marR="54864" marT="27432" marB="27432" anchor="ctr">
                    <a:lnL w="0">
                      <a:noFill/>
                    </a:lnL>
                    <a:lnR w="0">
                      <a:noFill/>
                    </a:lnR>
                    <a:lnT w="0">
                      <a:noFill/>
                    </a:lnT>
                    <a:lnB w="19050">
                      <a:solidFill>
                        <a:srgbClr val="57068C"/>
                      </a:solidFill>
                    </a:lnB>
                    <a:solidFill>
                      <a:srgbClr val="FFFFFF"/>
                    </a:solidFill>
                  </a:tcPr>
                </a:tc>
                <a:tc>
                  <a:txBody>
                    <a:bodyPr wrap="square"/>
                    <a:lstStyle/>
                    <a:p>
                      <a:pPr algn="r"/>
                      <a:r>
                        <a:rPr sz="1200" b="0">
                          <a:solidFill>
                            <a:srgbClr val="333333"/>
                          </a:solidFill>
                        </a:rPr>
                        <a:t>0.133</a:t>
                      </a:r>
                    </a:p>
                  </a:txBody>
                  <a:tcPr marL="54864" marR="54864" marT="27432" marB="27432" anchor="ctr">
                    <a:lnL w="0">
                      <a:noFill/>
                    </a:lnL>
                    <a:lnR w="0">
                      <a:noFill/>
                    </a:lnR>
                    <a:lnT w="0">
                      <a:noFill/>
                    </a:lnT>
                    <a:lnB w="19050">
                      <a:solidFill>
                        <a:srgbClr val="57068C"/>
                      </a:solidFill>
                    </a:lnB>
                    <a:solidFill>
                      <a:srgbClr val="FFFFFF"/>
                    </a:solidFill>
                  </a:tcPr>
                </a:tc>
                <a:tc>
                  <a:txBody>
                    <a:bodyPr wrap="square"/>
                    <a:lstStyle/>
                    <a:p>
                      <a:pPr algn="r"/>
                      <a:r>
                        <a:rPr sz="1200" b="1">
                          <a:solidFill>
                            <a:srgbClr val="333333"/>
                          </a:solidFill>
                        </a:rPr>
                        <a:t>2.95</a:t>
                      </a:r>
                    </a:p>
                  </a:txBody>
                  <a:tcPr marL="54864" marR="54864" marT="27432" marB="27432" anchor="ctr">
                    <a:lnL w="0">
                      <a:noFill/>
                    </a:lnL>
                    <a:lnR w="0">
                      <a:noFill/>
                    </a:lnR>
                    <a:lnT w="0">
                      <a:noFill/>
                    </a:lnT>
                    <a:lnB w="19050">
                      <a:solidFill>
                        <a:srgbClr val="57068C"/>
                      </a:solidFill>
                    </a:lnB>
                    <a:solidFill>
                      <a:srgbClr val="E3DFE9"/>
                    </a:solidFill>
                  </a:tcPr>
                </a:tc>
                <a:tc>
                  <a:txBody>
                    <a:bodyPr wrap="square"/>
                    <a:lstStyle/>
                    <a:p>
                      <a:pPr algn="r"/>
                      <a:r>
                        <a:rPr sz="1200" b="0">
                          <a:solidFill>
                            <a:srgbClr val="333333"/>
                          </a:solidFill>
                        </a:rPr>
                        <a:t>157</a:t>
                      </a:r>
                    </a:p>
                  </a:txBody>
                  <a:tcPr marL="54864" marR="54864" marT="27432" marB="27432" anchor="ctr">
                    <a:lnL w="0">
                      <a:noFill/>
                    </a:lnL>
                    <a:lnR w="0">
                      <a:noFill/>
                    </a:lnR>
                    <a:lnT w="0">
                      <a:noFill/>
                    </a:lnT>
                    <a:lnB w="19050">
                      <a:solidFill>
                        <a:srgbClr val="57068C"/>
                      </a:solidFill>
                    </a:lnB>
                    <a:solidFill>
                      <a:srgbClr val="FFFFFF"/>
                    </a:solidFill>
                  </a:tcPr>
                </a:tc>
              </a:tr>
              <a:tr h="384048">
                <a:tc>
                  <a:txBody>
                    <a:bodyPr wrap="square"/>
                    <a:lstStyle/>
                    <a:p>
                      <a:pPr algn="l"/>
                      <a:r>
                        <a:rPr sz="1200" b="1">
                          <a:solidFill>
                            <a:srgbClr val="333333"/>
                          </a:solidFill>
                        </a:rPr>
                        <a:t>ENet, label-free</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200" b="1">
                          <a:solidFill>
                            <a:srgbClr val="333333"/>
                          </a:solidFill>
                        </a:rPr>
                        <a:t>0.151</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200" b="1">
                          <a:solidFill>
                            <a:srgbClr val="333333"/>
                          </a:solidFill>
                        </a:rPr>
                        <a:t>0.31</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200" b="1">
                          <a:solidFill>
                            <a:srgbClr val="333333"/>
                          </a:solidFill>
                        </a:rPr>
                        <a:t>12.2%</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200" b="1">
                          <a:solidFill>
                            <a:srgbClr val="333333"/>
                          </a:solidFill>
                        </a:rPr>
                        <a:t>0.103</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200" b="1">
                          <a:solidFill>
                            <a:srgbClr val="333333"/>
                          </a:solidFill>
                        </a:rPr>
                        <a:t>0.56</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200" b="1">
                          <a:solidFill>
                            <a:srgbClr val="333333"/>
                          </a:solidFill>
                        </a:rPr>
                        <a:t>161</a:t>
                      </a:r>
                    </a:p>
                  </a:txBody>
                  <a:tcPr marL="54864" marR="54864" marT="27432" marB="27432" anchor="ctr">
                    <a:lnL w="0">
                      <a:noFill/>
                    </a:lnL>
                    <a:lnR w="0">
                      <a:noFill/>
                    </a:lnR>
                    <a:lnT w="0">
                      <a:noFill/>
                    </a:lnT>
                    <a:lnB w="6350">
                      <a:solidFill>
                        <a:srgbClr val="D9D3E3"/>
                      </a:solidFill>
                    </a:lnB>
                    <a:solidFill>
                      <a:srgbClr val="E3DFE9"/>
                    </a:solidFill>
                  </a:tcPr>
                </a:tc>
              </a:tr>
              <a:tr h="384048">
                <a:tc>
                  <a:txBody>
                    <a:bodyPr wrap="square"/>
                    <a:lstStyle/>
                    <a:p>
                      <a:pPr algn="l"/>
                      <a:r>
                        <a:rPr sz="1200" b="1">
                          <a:solidFill>
                            <a:srgbClr val="333333"/>
                          </a:solidFill>
                        </a:rPr>
                        <a:t>ENet, supervised</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200" b="0">
                          <a:solidFill>
                            <a:srgbClr val="333333"/>
                          </a:solidFill>
                        </a:rPr>
                        <a:t>0.188</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200" b="0">
                          <a:solidFill>
                            <a:srgbClr val="333333"/>
                          </a:solidFill>
                        </a:rPr>
                        <a:t>0.32</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200" b="0">
                          <a:solidFill>
                            <a:srgbClr val="333333"/>
                          </a:solidFill>
                        </a:rPr>
                        <a:t>18.0%</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200" b="0">
                          <a:solidFill>
                            <a:srgbClr val="333333"/>
                          </a:solidFill>
                        </a:rPr>
                        <a:t>0.121</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200" b="0">
                          <a:solidFill>
                            <a:srgbClr val="333333"/>
                          </a:solidFill>
                        </a:rPr>
                        <a:t>6.32</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200" b="0">
                          <a:solidFill>
                            <a:srgbClr val="333333"/>
                          </a:solidFill>
                        </a:rPr>
                        <a:t>598</a:t>
                      </a:r>
                    </a:p>
                  </a:txBody>
                  <a:tcPr marL="54864" marR="54864" marT="27432" marB="27432" anchor="ctr">
                    <a:lnL w="0">
                      <a:noFill/>
                    </a:lnL>
                    <a:lnR w="0">
                      <a:noFill/>
                    </a:lnR>
                    <a:lnT w="0">
                      <a:noFill/>
                    </a:lnT>
                    <a:lnB w="6350">
                      <a:solidFill>
                        <a:srgbClr val="D9D3E3"/>
                      </a:solidFill>
                    </a:lnB>
                    <a:solidFill>
                      <a:srgbClr val="FFFFFF"/>
                    </a:solidFill>
                  </a:tcPr>
                </a:tc>
              </a:tr>
            </a:tbl>
          </a:graphicData>
        </a:graphic>
      </p:graphicFrame>
      <p:sp>
        <p:nvSpPr>
          <p:cNvPr id="4" name="TextBox 3"/>
          <p:cNvSpPr txBox="1"/>
          <p:nvPr/>
        </p:nvSpPr>
        <p:spPr>
          <a:xfrm>
            <a:off x="365760" y="3108960"/>
            <a:ext cx="8412480" cy="822960"/>
          </a:xfrm>
          <a:prstGeom prst="rect">
            <a:avLst/>
          </a:prstGeom>
          <a:noFill/>
        </p:spPr>
        <p:txBody>
          <a:bodyPr wrap="square" anchor="t" lIns="0" rIns="0" tIns="0" bIns="0">
            <a:spAutoFit/>
          </a:bodyPr>
          <a:lstStyle/>
          <a:p>
            <a:pPr algn="l" marL="182880" indent="-182880">
              <a:spcAft>
                <a:spcPts val="600"/>
              </a:spcAft>
              <a:buClr>
                <a:srgbClr val="333333"/>
              </a:buClr>
              <a:buChar char="•"/>
            </a:pPr>
            <a:r>
              <a:rPr sz="1250" b="0" i="0">
                <a:solidFill>
                  <a:srgbClr val="333333"/>
                </a:solidFill>
              </a:rPr>
              <a:t>Lower is better in every column; shaded = better. ElasticNet: we win all six, DEM MAE and MSE included. BP: we win DEM MAE, EM error, W1 and AIA MSE; supervised keeps DEM MSE (set by flare cores, Part 4) and AIA MAE.</a:t>
            </a:r>
          </a:p>
        </p:txBody>
      </p:sp>
      <p:sp>
        <p:nvSpPr>
          <p:cNvPr id="5" name="TextBox 4"/>
          <p:cNvSpPr txBox="1"/>
          <p:nvPr/>
        </p:nvSpPr>
        <p:spPr>
          <a:xfrm>
            <a:off x="365760" y="3931920"/>
            <a:ext cx="8412480" cy="274320"/>
          </a:xfrm>
          <a:prstGeom prst="rect">
            <a:avLst/>
          </a:prstGeom>
          <a:noFill/>
        </p:spPr>
        <p:txBody>
          <a:bodyPr wrap="square" anchor="t" lIns="0" rIns="0" tIns="0" bIns="0">
            <a:spAutoFit/>
          </a:bodyPr>
          <a:lstStyle/>
          <a:p>
            <a:pPr algn="l">
              <a:spcAft>
                <a:spcPts val="600"/>
              </a:spcAft>
            </a:pPr>
            <a:r>
              <a:rPr sz="1000" b="0" i="1">
                <a:solidFill>
                  <a:srgbClr val="6B6B6B"/>
                </a:solidFill>
              </a:rPr>
              <a:t>BP, label-free, is the stiff-band model of Part 4. The old BP final: DEM MSE 4.28, EM error 19.6%, W1 0.083, AIA MSE 83.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The typical pixel and the average disagree</a:t>
            </a:r>
          </a:p>
        </p:txBody>
      </p:sp>
      <p:sp>
        <p:nvSpPr>
          <p:cNvPr id="3" name="Rounded Rectangle 2"/>
          <p:cNvSpPr/>
          <p:nvPr/>
        </p:nvSpPr>
        <p:spPr>
          <a:xfrm>
            <a:off x="365760" y="1005840"/>
            <a:ext cx="2651760" cy="13258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15568"/>
            <a:ext cx="2377440" cy="548640"/>
          </a:xfrm>
          <a:prstGeom prst="rect">
            <a:avLst/>
          </a:prstGeom>
          <a:noFill/>
        </p:spPr>
        <p:txBody>
          <a:bodyPr wrap="square" anchor="t" lIns="0" rIns="0" tIns="0" bIns="0">
            <a:spAutoFit/>
          </a:bodyPr>
          <a:lstStyle/>
          <a:p>
            <a:pPr algn="ctr">
              <a:spcAft>
                <a:spcPts val="600"/>
              </a:spcAft>
            </a:pPr>
            <a:r>
              <a:rPr sz="2600" b="1" i="0">
                <a:solidFill>
                  <a:srgbClr val="57068C"/>
                </a:solidFill>
              </a:rPr>
              <a:t>0.036 vs 0.112</a:t>
            </a:r>
          </a:p>
        </p:txBody>
      </p:sp>
      <p:sp>
        <p:nvSpPr>
          <p:cNvPr id="5" name="TextBox 4"/>
          <p:cNvSpPr txBox="1"/>
          <p:nvPr/>
        </p:nvSpPr>
        <p:spPr>
          <a:xfrm>
            <a:off x="502920" y="1719072"/>
            <a:ext cx="2377440" cy="548640"/>
          </a:xfrm>
          <a:prstGeom prst="rect">
            <a:avLst/>
          </a:prstGeom>
          <a:noFill/>
        </p:spPr>
        <p:txBody>
          <a:bodyPr wrap="square" anchor="t" lIns="0" rIns="0" tIns="0" bIns="0">
            <a:spAutoFit/>
          </a:bodyPr>
          <a:lstStyle/>
          <a:p>
            <a:pPr algn="ctr">
              <a:spcAft>
                <a:spcPts val="600"/>
              </a:spcAft>
            </a:pPr>
            <a:r>
              <a:rPr sz="1050" b="0" i="0">
                <a:solidFill>
                  <a:srgbClr val="333333"/>
                </a:solidFill>
              </a:rPr>
              <a:t>BP median pixel error, ours vs supervised: ~3× better on the typical pixel</a:t>
            </a:r>
          </a:p>
        </p:txBody>
      </p:sp>
      <p:sp>
        <p:nvSpPr>
          <p:cNvPr id="6" name="Rounded Rectangle 5"/>
          <p:cNvSpPr/>
          <p:nvPr/>
        </p:nvSpPr>
        <p:spPr>
          <a:xfrm>
            <a:off x="365760" y="2514600"/>
            <a:ext cx="2651760" cy="13258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624328"/>
            <a:ext cx="2377440" cy="548640"/>
          </a:xfrm>
          <a:prstGeom prst="rect">
            <a:avLst/>
          </a:prstGeom>
          <a:noFill/>
        </p:spPr>
        <p:txBody>
          <a:bodyPr wrap="square" anchor="t" lIns="0" rIns="0" tIns="0" bIns="0">
            <a:spAutoFit/>
          </a:bodyPr>
          <a:lstStyle/>
          <a:p>
            <a:pPr algn="ctr">
              <a:spcAft>
                <a:spcPts val="600"/>
              </a:spcAft>
            </a:pPr>
            <a:r>
              <a:rPr sz="2600" b="1" i="0">
                <a:solidFill>
                  <a:srgbClr val="57068C"/>
                </a:solidFill>
              </a:rPr>
              <a:t>98%</a:t>
            </a:r>
          </a:p>
        </p:txBody>
      </p:sp>
      <p:sp>
        <p:nvSpPr>
          <p:cNvPr id="8" name="TextBox 7"/>
          <p:cNvSpPr txBox="1"/>
          <p:nvPr/>
        </p:nvSpPr>
        <p:spPr>
          <a:xfrm>
            <a:off x="502920" y="3227832"/>
            <a:ext cx="2377440" cy="548640"/>
          </a:xfrm>
          <a:prstGeom prst="rect">
            <a:avLst/>
          </a:prstGeom>
          <a:noFill/>
        </p:spPr>
        <p:txBody>
          <a:bodyPr wrap="square" anchor="t" lIns="0" rIns="0" tIns="0" bIns="0">
            <a:spAutoFit/>
          </a:bodyPr>
          <a:lstStyle/>
          <a:p>
            <a:pPr algn="ctr">
              <a:spcAft>
                <a:spcPts val="600"/>
              </a:spcAft>
            </a:pPr>
            <a:r>
              <a:rPr sz="1050" b="0" i="0">
                <a:solidFill>
                  <a:srgbClr val="333333"/>
                </a:solidFill>
              </a:rPr>
              <a:t>of our BP error sits in the worst 1% of pixels (supervised 95%)</a:t>
            </a:r>
          </a:p>
        </p:txBody>
      </p:sp>
      <p:sp>
        <p:nvSpPr>
          <p:cNvPr id="9" name="TextBox 8"/>
          <p:cNvSpPr txBox="1"/>
          <p:nvPr/>
        </p:nvSpPr>
        <p:spPr>
          <a:xfrm>
            <a:off x="3337560" y="1005840"/>
            <a:ext cx="5440680" cy="3108960"/>
          </a:xfrm>
          <a:prstGeom prst="rect">
            <a:avLst/>
          </a:prstGeom>
          <a:noFill/>
        </p:spPr>
        <p:txBody>
          <a:bodyPr wrap="square" anchor="t" lIns="0" rIns="0" tIns="0" bIns="0">
            <a:spAutoFit/>
          </a:bodyPr>
          <a:lstStyle/>
          <a:p>
            <a:pPr algn="l" marL="182880" indent="-182880">
              <a:spcAft>
                <a:spcPts val="1200"/>
              </a:spcAft>
              <a:buClr>
                <a:srgbClr val="333333"/>
              </a:buClr>
              <a:buChar char="•"/>
            </a:pPr>
            <a:r>
              <a:rPr sz="1300" b="0" i="0">
                <a:solidFill>
                  <a:srgbClr val="333333"/>
                </a:solidFill>
              </a:rPr>
              <a:t>On the typical BP pixel we are ~3× closer to the solver than the supervised model.</a:t>
            </a:r>
          </a:p>
          <a:p>
            <a:pPr algn="l" marL="182880" indent="-182880">
              <a:spcAft>
                <a:spcPts val="1200"/>
              </a:spcAft>
              <a:buClr>
                <a:srgbClr val="333333"/>
              </a:buClr>
              <a:buChar char="•"/>
            </a:pPr>
            <a:r>
              <a:rPr sz="1300" b="0" i="0">
                <a:solidFill>
                  <a:srgbClr val="333333"/>
                </a:solidFill>
              </a:rPr>
              <a:t>Up to the 99th percentile we are level or ahead on BP (p90 1.9 vs 1.9, p99 25 vs 27); the gap opens in the last 0.1%: flare cores.</a:t>
            </a:r>
          </a:p>
          <a:p>
            <a:pPr algn="l" marL="182880" indent="-182880">
              <a:spcAft>
                <a:spcPts val="1200"/>
              </a:spcAft>
              <a:buClr>
                <a:srgbClr val="333333"/>
              </a:buClr>
              <a:buChar char="•"/>
            </a:pPr>
            <a:r>
              <a:rPr sz="1300" b="0" i="0">
                <a:solidFill>
                  <a:srgbClr val="333333"/>
                </a:solidFill>
              </a:rPr>
              <a:t>ElasticNet: ours is better at the median, p99 and p99.9.</a:t>
            </a:r>
          </a:p>
          <a:p>
            <a:pPr algn="l" marL="182880" indent="-182880">
              <a:spcAft>
                <a:spcPts val="1200"/>
              </a:spcAft>
              <a:buClr>
                <a:srgbClr val="333333"/>
              </a:buClr>
              <a:buChar char="•"/>
            </a:pPr>
            <a:r>
              <a:rPr sz="1300" b="0" i="0">
                <a:solidFill>
                  <a:srgbClr val="333333"/>
                </a:solidFill>
              </a:rPr>
              <a:t>The BP average is set by the worst 1% of pixels, for both models.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1700" y="846450"/>
            <a:ext cx="8520600" cy="1671000"/>
          </a:xfrm>
        </p:spPr>
        <p:txBody>
          <a:bodyPr/>
          <a:lstStyle/>
          <a:p>
            <a:pPr algn="ctr"/>
            <a:r>
              <a:rPr sz="4100"/>
              <a:t>Part 4</a:t>
            </a:r>
            <a:br/>
            <a:r>
              <a:rPr sz="4100"/>
              <a:t>Flare cores: the failure and the fix</a:t>
            </a:r>
          </a:p>
        </p:txBody>
      </p:sp>
      <p:sp>
        <p:nvSpPr>
          <p:cNvPr id="3" name="TextBox 2"/>
          <p:cNvSpPr txBox="1"/>
          <p:nvPr/>
        </p:nvSpPr>
        <p:spPr>
          <a:xfrm>
            <a:off x="457200" y="2606040"/>
            <a:ext cx="8229600" cy="457200"/>
          </a:xfrm>
          <a:prstGeom prst="rect">
            <a:avLst/>
          </a:prstGeom>
          <a:noFill/>
        </p:spPr>
        <p:txBody>
          <a:bodyPr wrap="square" anchor="t" lIns="0" rIns="0" tIns="0" bIns="0">
            <a:spAutoFit/>
          </a:bodyPr>
          <a:lstStyle/>
          <a:p>
            <a:pPr algn="ctr">
              <a:spcAft>
                <a:spcPts val="600"/>
              </a:spcAft>
            </a:pPr>
            <a:r>
              <a:rPr sz="1800" b="0" i="1">
                <a:solidFill>
                  <a:srgbClr val="6B6B6B"/>
                </a:solidFill>
              </a:rPr>
              <a:t>Why BP missed them, and what fixed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Flare cores, 1 pixel in 10,000, held 90% of the BP error</a:t>
            </a:r>
          </a:p>
        </p:txBody>
      </p:sp>
      <p:sp>
        <p:nvSpPr>
          <p:cNvPr id="3" name="TextBox 2"/>
          <p:cNvSpPr txBox="1"/>
          <p:nvPr/>
        </p:nvSpPr>
        <p:spPr>
          <a:xfrm>
            <a:off x="365760" y="914400"/>
            <a:ext cx="3566160" cy="3474720"/>
          </a:xfrm>
          <a:prstGeom prst="rect">
            <a:avLst/>
          </a:prstGeom>
          <a:noFill/>
        </p:spPr>
        <p:txBody>
          <a:bodyPr wrap="square" anchor="t" lIns="0" rIns="0" tIns="0" bIns="0">
            <a:spAutoFit/>
          </a:bodyPr>
          <a:lstStyle/>
          <a:p>
            <a:pPr algn="l" marL="182880" indent="-182880">
              <a:spcAft>
                <a:spcPts val="800"/>
              </a:spcAft>
              <a:buClr>
                <a:srgbClr val="333333"/>
              </a:buClr>
              <a:buChar char="•"/>
            </a:pPr>
            <a:r>
              <a:rPr sz="1200" b="0" i="0">
                <a:solidFill>
                  <a:srgbClr val="333333"/>
                </a:solidFill>
              </a:rPr>
              <a:t>Old BP model (width 336, log1p input, μ = 1, 40 epochs): 0.01% of pixels, 90% of the DEM error (supervised: 90% too).</a:t>
            </a:r>
          </a:p>
          <a:p>
            <a:pPr algn="l" marL="182880" indent="-182880">
              <a:spcAft>
                <a:spcPts val="800"/>
              </a:spcAft>
              <a:buClr>
                <a:srgbClr val="333333"/>
              </a:buClr>
              <a:buChar char="•"/>
            </a:pPr>
            <a:r>
              <a:rPr sz="1200" b="0" i="0">
                <a:solidFill>
                  <a:srgbClr val="333333"/>
                </a:solidFill>
              </a:rPr>
              <a:t>There it held 40% of the solver's emission, peaked 23% as high, 0.2 dex too cool; 83% of its curves had extra peaks (solver 18%).</a:t>
            </a:r>
          </a:p>
          <a:p>
            <a:pPr algn="l" marL="182880" indent="-182880">
              <a:spcAft>
                <a:spcPts val="800"/>
              </a:spcAft>
              <a:buClr>
                <a:srgbClr val="333333"/>
              </a:buClr>
              <a:buChar char="•"/>
            </a:pPr>
            <a:r>
              <a:rPr sz="1200" b="0" i="0">
                <a:solidFill>
                  <a:srgbClr val="333333"/>
                </a:solidFill>
              </a:rPr>
              <a:t>It fit 171, 193 and 211 Å to a few percent, but reproduced only 23% of 94 Å: the hot plasma was missing.</a:t>
            </a:r>
          </a:p>
          <a:p>
            <a:pPr algn="l" marL="182880" indent="-182880">
              <a:spcAft>
                <a:spcPts val="800"/>
              </a:spcAft>
              <a:buClr>
                <a:srgbClr val="333333"/>
              </a:buClr>
              <a:buChar char="•"/>
            </a:pPr>
            <a:r>
              <a:rPr sz="1200" b="1" i="0">
                <a:solidFill>
                  <a:srgbClr val="57068C"/>
                </a:solidFill>
              </a:rPr>
              <a:t>Read as a training problem: oversample, train longer, go bigger.</a:t>
            </a:r>
          </a:p>
        </p:txBody>
      </p:sp>
      <p:pic>
        <p:nvPicPr>
          <p:cNvPr id="4" name="Picture 3" descr="fig4_example_curves_bp.png"/>
          <p:cNvPicPr>
            <a:picLocks noChangeAspect="1"/>
          </p:cNvPicPr>
          <p:nvPr/>
        </p:nvPicPr>
        <p:blipFill>
          <a:blip r:embed="rId3"/>
          <a:stretch>
            <a:fillRect/>
          </a:stretch>
        </p:blipFill>
        <p:spPr>
          <a:xfrm>
            <a:off x="3931920" y="979932"/>
            <a:ext cx="4846320" cy="3069336"/>
          </a:xfrm>
          <a:prstGeom prst="rect">
            <a:avLst/>
          </a:prstGeom>
        </p:spPr>
      </p:pic>
      <p:sp>
        <p:nvSpPr>
          <p:cNvPr id="5" name="TextBox 4"/>
          <p:cNvSpPr txBox="1"/>
          <p:nvPr/>
        </p:nvSpPr>
        <p:spPr>
          <a:xfrm>
            <a:off x="3931920" y="4069080"/>
            <a:ext cx="4846320" cy="274320"/>
          </a:xfrm>
          <a:prstGeom prst="rect">
            <a:avLst/>
          </a:prstGeom>
          <a:noFill/>
        </p:spPr>
        <p:txBody>
          <a:bodyPr wrap="square" anchor="t" lIns="0" rIns="0" tIns="0" bIns="0">
            <a:spAutoFit/>
          </a:bodyPr>
          <a:lstStyle/>
          <a:p>
            <a:pPr algn="l">
              <a:spcAft>
                <a:spcPts val="0"/>
              </a:spcAft>
            </a:pPr>
            <a:r>
              <a:rPr sz="950" b="0" i="1">
                <a:solidFill>
                  <a:srgbClr val="6B6B6B"/>
                </a:solidFill>
              </a:rPr>
              <a:t>Old BP model at random flare cores (top rows). Black solver, blue ours, orange supervised.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On the original loss, none of the suggestions helped</a:t>
            </a:r>
          </a:p>
        </p:txBody>
      </p:sp>
      <p:graphicFrame>
        <p:nvGraphicFramePr>
          <p:cNvPr id="3" name="Table 2"/>
          <p:cNvGraphicFramePr>
            <a:graphicFrameLocks noGrp="1"/>
          </p:cNvGraphicFramePr>
          <p:nvPr/>
        </p:nvGraphicFramePr>
        <p:xfrm>
          <a:off x="365760" y="960120"/>
          <a:ext cx="8412477" cy="1828800"/>
        </p:xfrm>
        <a:graphic>
          <a:graphicData uri="http://schemas.openxmlformats.org/drawingml/2006/table">
            <a:tbl>
              <a:tblPr firstRow="1" bandRow="1"/>
              <a:tblGrid>
                <a:gridCol w="2713703"/>
                <a:gridCol w="995024"/>
                <a:gridCol w="904567"/>
                <a:gridCol w="995024"/>
                <a:gridCol w="1447308"/>
                <a:gridCol w="1356851"/>
              </a:tblGrid>
              <a:tr h="365760">
                <a:tc>
                  <a:txBody>
                    <a:bodyPr wrap="square"/>
                    <a:lstStyle/>
                    <a:p>
                      <a:pPr algn="l"/>
                      <a:r>
                        <a:rPr sz="1150" b="1">
                          <a:solidFill>
                            <a:srgbClr val="FFFFFF"/>
                          </a:solidFill>
                        </a:rPr>
                        <a:t>BP run, original loss</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DEM MSE</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Median</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AIA MSE</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Flare-core emission</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Flare-core 94 Å</a:t>
                      </a:r>
                    </a:p>
                  </a:txBody>
                  <a:tcPr marL="54864" marR="54864" marT="27432" marB="27432" anchor="ctr">
                    <a:lnL w="0">
                      <a:noFill/>
                    </a:lnL>
                    <a:lnR w="0">
                      <a:noFill/>
                    </a:lnR>
                    <a:lnT w="0">
                      <a:noFill/>
                    </a:lnT>
                    <a:lnB w="6350">
                      <a:solidFill>
                        <a:srgbClr val="D9D3E3"/>
                      </a:solidFill>
                    </a:lnB>
                    <a:solidFill>
                      <a:srgbClr val="57068C"/>
                    </a:solidFill>
                  </a:tcPr>
                </a:tc>
              </a:tr>
              <a:tr h="365760">
                <a:tc>
                  <a:txBody>
                    <a:bodyPr wrap="square"/>
                    <a:lstStyle/>
                    <a:p>
                      <a:pPr algn="l"/>
                      <a:r>
                        <a:rPr sz="1150" b="1">
                          <a:solidFill>
                            <a:srgbClr val="333333"/>
                          </a:solidFill>
                        </a:rPr>
                        <a:t>Base (√ + Fourier, 40 epochs)</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4.56</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0.023</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83</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35%</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15%</a:t>
                      </a:r>
                    </a:p>
                  </a:txBody>
                  <a:tcPr marL="54864" marR="54864" marT="27432" marB="27432" anchor="ctr">
                    <a:lnL w="0">
                      <a:noFill/>
                    </a:lnL>
                    <a:lnR w="0">
                      <a:noFill/>
                    </a:lnR>
                    <a:lnT w="0">
                      <a:noFill/>
                    </a:lnT>
                    <a:lnB w="6350">
                      <a:solidFill>
                        <a:srgbClr val="D9D3E3"/>
                      </a:solidFill>
                    </a:lnB>
                    <a:solidFill>
                      <a:srgbClr val="FFFFFF"/>
                    </a:solidFill>
                  </a:tcPr>
                </a:tc>
              </a:tr>
              <a:tr h="365760">
                <a:tc>
                  <a:txBody>
                    <a:bodyPr wrap="square"/>
                    <a:lstStyle/>
                    <a:p>
                      <a:pPr algn="l"/>
                      <a:r>
                        <a:rPr sz="1150" b="1">
                          <a:solidFill>
                            <a:srgbClr val="333333"/>
                          </a:solidFill>
                        </a:rPr>
                        <a:t>Oversample flare cores (8.5× more)</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5.05</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0.025</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87</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24%</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9%</a:t>
                      </a:r>
                    </a:p>
                  </a:txBody>
                  <a:tcPr marL="54864" marR="54864" marT="27432" marB="27432" anchor="ctr">
                    <a:lnL w="0">
                      <a:noFill/>
                    </a:lnL>
                    <a:lnR w="0">
                      <a:noFill/>
                    </a:lnR>
                    <a:lnT w="0">
                      <a:noFill/>
                    </a:lnT>
                    <a:lnB w="6350">
                      <a:solidFill>
                        <a:srgbClr val="D9D3E3"/>
                      </a:solidFill>
                    </a:lnB>
                    <a:solidFill>
                      <a:srgbClr val="FFFFFF"/>
                    </a:solidFill>
                  </a:tcPr>
                </a:tc>
              </a:tr>
              <a:tr h="365760">
                <a:tc>
                  <a:txBody>
                    <a:bodyPr wrap="square"/>
                    <a:lstStyle/>
                    <a:p>
                      <a:pPr algn="l"/>
                      <a:r>
                        <a:rPr sz="1150" b="1">
                          <a:solidFill>
                            <a:srgbClr val="333333"/>
                          </a:solidFill>
                        </a:rPr>
                        <a:t>120 epochs</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4.21</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0.022</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108</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37%</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16%</a:t>
                      </a:r>
                    </a:p>
                  </a:txBody>
                  <a:tcPr marL="54864" marR="54864" marT="27432" marB="27432" anchor="ctr">
                    <a:lnL w="0">
                      <a:noFill/>
                    </a:lnL>
                    <a:lnR w="0">
                      <a:noFill/>
                    </a:lnR>
                    <a:lnT w="0">
                      <a:noFill/>
                    </a:lnT>
                    <a:lnB w="6350">
                      <a:solidFill>
                        <a:srgbClr val="D9D3E3"/>
                      </a:solidFill>
                    </a:lnB>
                    <a:solidFill>
                      <a:srgbClr val="FFFFFF"/>
                    </a:solidFill>
                  </a:tcPr>
                </a:tc>
              </a:tr>
              <a:tr h="365760">
                <a:tc>
                  <a:txBody>
                    <a:bodyPr wrap="square"/>
                    <a:lstStyle/>
                    <a:p>
                      <a:pPr algn="l"/>
                      <a:r>
                        <a:rPr sz="1150" b="1">
                          <a:solidFill>
                            <a:srgbClr val="333333"/>
                          </a:solidFill>
                        </a:rPr>
                        <a:t>10M parameters</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5.10</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0.022</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125</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20%</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8%</a:t>
                      </a:r>
                    </a:p>
                  </a:txBody>
                  <a:tcPr marL="54864" marR="54864" marT="27432" marB="27432" anchor="ctr">
                    <a:lnL w="0">
                      <a:noFill/>
                    </a:lnL>
                    <a:lnR w="0">
                      <a:noFill/>
                    </a:lnR>
                    <a:lnT w="0">
                      <a:noFill/>
                    </a:lnT>
                    <a:lnB w="6350">
                      <a:solidFill>
                        <a:srgbClr val="D9D3E3"/>
                      </a:solidFill>
                    </a:lnB>
                    <a:solidFill>
                      <a:srgbClr val="FFFFFF"/>
                    </a:solidFill>
                  </a:tcPr>
                </a:tc>
              </a:tr>
            </a:tbl>
          </a:graphicData>
        </a:graphic>
      </p:graphicFrame>
      <p:sp>
        <p:nvSpPr>
          <p:cNvPr id="4" name="TextBox 3"/>
          <p:cNvSpPr txBox="1"/>
          <p:nvPr/>
        </p:nvSpPr>
        <p:spPr>
          <a:xfrm>
            <a:off x="365760" y="3063240"/>
            <a:ext cx="8412480" cy="1280160"/>
          </a:xfrm>
          <a:prstGeom prst="rect">
            <a:avLst/>
          </a:prstGeom>
          <a:noFill/>
        </p:spPr>
        <p:txBody>
          <a:bodyPr wrap="square" anchor="t" lIns="0" rIns="0" tIns="0" bIns="0">
            <a:spAutoFit/>
          </a:bodyPr>
          <a:lstStyle/>
          <a:p>
            <a:pPr algn="l" marL="182880" indent="-182880">
              <a:spcAft>
                <a:spcPts val="500"/>
              </a:spcAft>
              <a:buClr>
                <a:srgbClr val="333333"/>
              </a:buClr>
              <a:buChar char="•"/>
            </a:pPr>
            <a:r>
              <a:rPr sz="1200" b="0" i="0">
                <a:solidFill>
                  <a:srgbClr val="333333"/>
                </a:solidFill>
              </a:rPr>
              <a:t>Away from flare cores all four score the same (DEM MAE 0.105 to 0.106, Quiet MSE 0.057 to 0.058).</a:t>
            </a:r>
          </a:p>
          <a:p>
            <a:pPr algn="l" marL="182880" indent="-182880">
              <a:spcAft>
                <a:spcPts val="500"/>
              </a:spcAft>
              <a:buClr>
                <a:srgbClr val="333333"/>
              </a:buClr>
              <a:buChar char="•"/>
            </a:pPr>
            <a:r>
              <a:rPr sz="1200" b="0" i="0">
                <a:solidFill>
                  <a:srgbClr val="333333"/>
                </a:solidFill>
              </a:rPr>
              <a:t>At flare cores, oversampling and the 10M model make it worse; 120 epochs moves emission from 35% to 37% (solver 94 Å: 92%).</a:t>
            </a:r>
          </a:p>
          <a:p>
            <a:pPr algn="l" marL="182880" indent="-182880">
              <a:spcAft>
                <a:spcPts val="500"/>
              </a:spcAft>
              <a:buClr>
                <a:srgbClr val="333333"/>
              </a:buClr>
              <a:buChar char="•"/>
            </a:pPr>
            <a:r>
              <a:rPr sz="1200" b="1" i="0">
                <a:solidFill>
                  <a:srgbClr val="57068C"/>
                </a:solidFill>
              </a:rPr>
              <a:t>Training harder does not help. The loss itself needs checking.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The cause: the network already sits at its loss's best answer</a:t>
            </a:r>
          </a:p>
        </p:txBody>
      </p:sp>
      <p:sp>
        <p:nvSpPr>
          <p:cNvPr id="3" name="TextBox 2"/>
          <p:cNvSpPr txBox="1"/>
          <p:nvPr/>
        </p:nvSpPr>
        <p:spPr>
          <a:xfrm>
            <a:off x="365760" y="868680"/>
            <a:ext cx="8412480" cy="685800"/>
          </a:xfrm>
          <a:prstGeom prst="rect">
            <a:avLst/>
          </a:prstGeom>
          <a:noFill/>
        </p:spPr>
        <p:txBody>
          <a:bodyPr wrap="square" anchor="t" lIns="0" rIns="0" tIns="0" bIns="0">
            <a:spAutoFit/>
          </a:bodyPr>
          <a:lstStyle/>
          <a:p>
            <a:pPr algn="l" marL="182880" indent="-182880">
              <a:spcAft>
                <a:spcPts val="600"/>
              </a:spcAft>
              <a:buClr>
                <a:srgbClr val="333333"/>
              </a:buClr>
              <a:buChar char="•"/>
            </a:pPr>
            <a:r>
              <a:rPr sz="1200" b="0" i="0">
                <a:solidFill>
                  <a:srgbClr val="333333"/>
                </a:solidFill>
              </a:rPr>
              <a:t>Per pixel, solve the loss directly (it is convex): the best answer no network can beat. 12,000 validation pixels, 6,000 of them flare cores. Our network sits 1 to 4% above it (8% at flare cores).</a:t>
            </a:r>
          </a:p>
        </p:txBody>
      </p:sp>
      <p:graphicFrame>
        <p:nvGraphicFramePr>
          <p:cNvPr id="4" name="Table 3"/>
          <p:cNvGraphicFramePr>
            <a:graphicFrameLocks noGrp="1"/>
          </p:cNvGraphicFramePr>
          <p:nvPr/>
        </p:nvGraphicFramePr>
        <p:xfrm>
          <a:off x="365760" y="1645920"/>
          <a:ext cx="8412480" cy="1737360"/>
        </p:xfrm>
        <a:graphic>
          <a:graphicData uri="http://schemas.openxmlformats.org/drawingml/2006/table">
            <a:tbl>
              <a:tblPr firstRow="1" bandRow="1"/>
              <a:tblGrid>
                <a:gridCol w="2804160"/>
                <a:gridCol w="934720"/>
                <a:gridCol w="1869440"/>
                <a:gridCol w="1402080"/>
                <a:gridCol w="1402080"/>
              </a:tblGrid>
              <a:tr h="347472">
                <a:tc>
                  <a:txBody>
                    <a:bodyPr wrap="square"/>
                    <a:lstStyle/>
                    <a:p>
                      <a:pPr algn="l"/>
                      <a:r>
                        <a:rPr sz="1150" b="1">
                          <a:solidFill>
                            <a:srgbClr val="FFFFFF"/>
                          </a:solidFill>
                        </a:rPr>
                        <a:t>Flare cores, validation, original loss</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Loss</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Sparsity + band penalty</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94 Å reproduced</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Emission vs solver</a:t>
                      </a:r>
                    </a:p>
                  </a:txBody>
                  <a:tcPr marL="54864" marR="54864" marT="27432" marB="27432" anchor="ctr">
                    <a:lnL w="0">
                      <a:noFill/>
                    </a:lnL>
                    <a:lnR w="0">
                      <a:noFill/>
                    </a:lnR>
                    <a:lnT w="0">
                      <a:noFill/>
                    </a:lnT>
                    <a:lnB w="6350">
                      <a:solidFill>
                        <a:srgbClr val="D9D3E3"/>
                      </a:solidFill>
                    </a:lnB>
                    <a:solidFill>
                      <a:srgbClr val="57068C"/>
                    </a:solidFill>
                  </a:tcPr>
                </a:tc>
              </a:tr>
              <a:tr h="347472">
                <a:tc>
                  <a:txBody>
                    <a:bodyPr wrap="square"/>
                    <a:lstStyle/>
                    <a:p>
                      <a:pPr algn="l"/>
                      <a:r>
                        <a:rPr sz="1150" b="1">
                          <a:solidFill>
                            <a:srgbClr val="333333"/>
                          </a:solidFill>
                        </a:rPr>
                        <a:t>Old BP network</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565</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294 + 270</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28%</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38%</a:t>
                      </a:r>
                    </a:p>
                  </a:txBody>
                  <a:tcPr marL="54864" marR="54864" marT="27432" marB="27432" anchor="ctr">
                    <a:lnL w="0">
                      <a:noFill/>
                    </a:lnL>
                    <a:lnR w="0">
                      <a:noFill/>
                    </a:lnR>
                    <a:lnT w="0">
                      <a:noFill/>
                    </a:lnT>
                    <a:lnB w="6350">
                      <a:solidFill>
                        <a:srgbClr val="D9D3E3"/>
                      </a:solidFill>
                    </a:lnB>
                    <a:solidFill>
                      <a:srgbClr val="FFFFFF"/>
                    </a:solidFill>
                  </a:tcPr>
                </a:tc>
              </a:tr>
              <a:tr h="347472">
                <a:tc>
                  <a:txBody>
                    <a:bodyPr wrap="square"/>
                    <a:lstStyle/>
                    <a:p>
                      <a:pPr algn="l"/>
                      <a:r>
                        <a:rPr sz="1150" b="1">
                          <a:solidFill>
                            <a:srgbClr val="333333"/>
                          </a:solidFill>
                        </a:rPr>
                        <a:t>Best answer under the loss</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150" b="0">
                          <a:solidFill>
                            <a:srgbClr val="333333"/>
                          </a:solidFill>
                        </a:rPr>
                        <a:t>463</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150" b="0">
                          <a:solidFill>
                            <a:srgbClr val="333333"/>
                          </a:solidFill>
                        </a:rPr>
                        <a:t>220 + 243</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150" b="0">
                          <a:solidFill>
                            <a:srgbClr val="333333"/>
                          </a:solidFill>
                        </a:rPr>
                        <a:t>26%</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150" b="0">
                          <a:solidFill>
                            <a:srgbClr val="333333"/>
                          </a:solidFill>
                        </a:rPr>
                        <a:t>30%</a:t>
                      </a:r>
                    </a:p>
                  </a:txBody>
                  <a:tcPr marL="54864" marR="54864" marT="27432" marB="27432" anchor="ctr">
                    <a:lnL w="0">
                      <a:noFill/>
                    </a:lnL>
                    <a:lnR w="0">
                      <a:noFill/>
                    </a:lnR>
                    <a:lnT w="0">
                      <a:noFill/>
                    </a:lnT>
                    <a:lnB w="6350">
                      <a:solidFill>
                        <a:srgbClr val="D9D3E3"/>
                      </a:solidFill>
                    </a:lnB>
                    <a:solidFill>
                      <a:srgbClr val="E3DFE9"/>
                    </a:solidFill>
                  </a:tcPr>
                </a:tc>
              </a:tr>
              <a:tr h="347472">
                <a:tc>
                  <a:txBody>
                    <a:bodyPr wrap="square"/>
                    <a:lstStyle/>
                    <a:p>
                      <a:pPr algn="l"/>
                      <a:r>
                        <a:rPr sz="1150" b="1">
                          <a:solidFill>
                            <a:srgbClr val="333333"/>
                          </a:solidFill>
                        </a:rPr>
                        <a:t>Solver's DEM</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1,125</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1,119 + 6</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94%</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100%</a:t>
                      </a:r>
                    </a:p>
                  </a:txBody>
                  <a:tcPr marL="54864" marR="54864" marT="27432" marB="27432" anchor="ctr">
                    <a:lnL w="0">
                      <a:noFill/>
                    </a:lnL>
                    <a:lnR w="0">
                      <a:noFill/>
                    </a:lnR>
                    <a:lnT w="0">
                      <a:noFill/>
                    </a:lnT>
                    <a:lnB w="6350">
                      <a:solidFill>
                        <a:srgbClr val="D9D3E3"/>
                      </a:solidFill>
                    </a:lnB>
                    <a:solidFill>
                      <a:srgbClr val="FFFFFF"/>
                    </a:solidFill>
                  </a:tcPr>
                </a:tc>
              </a:tr>
              <a:tr h="347472">
                <a:tc>
                  <a:txBody>
                    <a:bodyPr wrap="square"/>
                    <a:lstStyle/>
                    <a:p>
                      <a:pPr algn="l"/>
                      <a:r>
                        <a:rPr sz="1150" b="1">
                          <a:solidFill>
                            <a:srgbClr val="333333"/>
                          </a:solidFill>
                        </a:rPr>
                        <a:t>Supervised model's DEM</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1,878</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1,107 + 771</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91%</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95%</a:t>
                      </a:r>
                    </a:p>
                  </a:txBody>
                  <a:tcPr marL="54864" marR="54864" marT="27432" marB="27432" anchor="ctr">
                    <a:lnL w="0">
                      <a:noFill/>
                    </a:lnL>
                    <a:lnR w="0">
                      <a:noFill/>
                    </a:lnR>
                    <a:lnT w="0">
                      <a:noFill/>
                    </a:lnT>
                    <a:lnB w="6350">
                      <a:solidFill>
                        <a:srgbClr val="D9D3E3"/>
                      </a:solidFill>
                    </a:lnB>
                    <a:solidFill>
                      <a:srgbClr val="FFFFFF"/>
                    </a:solidFill>
                  </a:tcPr>
                </a:tc>
              </a:tr>
            </a:tbl>
          </a:graphicData>
        </a:graphic>
      </p:graphicFrame>
      <p:sp>
        <p:nvSpPr>
          <p:cNvPr id="5" name="TextBox 4"/>
          <p:cNvSpPr txBox="1"/>
          <p:nvPr/>
        </p:nvSpPr>
        <p:spPr>
          <a:xfrm>
            <a:off x="365760" y="3520440"/>
            <a:ext cx="8412480" cy="914400"/>
          </a:xfrm>
          <a:prstGeom prst="rect">
            <a:avLst/>
          </a:prstGeom>
          <a:noFill/>
        </p:spPr>
        <p:txBody>
          <a:bodyPr wrap="square" anchor="t" lIns="0" rIns="0" tIns="0" bIns="0">
            <a:spAutoFit/>
          </a:bodyPr>
          <a:lstStyle/>
          <a:p>
            <a:pPr algn="l" marL="182880" indent="-182880">
              <a:spcAft>
                <a:spcPts val="400"/>
              </a:spcAft>
              <a:buClr>
                <a:srgbClr val="333333"/>
              </a:buClr>
              <a:buChar char="•"/>
            </a:pPr>
            <a:r>
              <a:rPr sz="1200" b="0" i="0">
                <a:solidFill>
                  <a:srgbClr val="333333"/>
                </a:solidFill>
              </a:rPr>
              <a:t>A perfect network would land on the best answer, which still drops the hot plasma: 26% of 94 Å.</a:t>
            </a:r>
          </a:p>
          <a:p>
            <a:pPr algn="l" marL="182880" indent="-182880">
              <a:spcAft>
                <a:spcPts val="400"/>
              </a:spcAft>
              <a:buClr>
                <a:srgbClr val="333333"/>
              </a:buClr>
              <a:buChar char="•"/>
            </a:pPr>
            <a:r>
              <a:rPr sz="1200" b="0" i="0">
                <a:solidFill>
                  <a:srgbClr val="333333"/>
                </a:solidFill>
              </a:rPr>
              <a:t>Our loss rates the solver's DEM 2.4× worse than one without the hot plasma: every training step moves away from the solver there.</a:t>
            </a:r>
          </a:p>
          <a:p>
            <a:pPr algn="l" marL="182880" indent="-182880">
              <a:spcAft>
                <a:spcPts val="400"/>
              </a:spcAft>
              <a:buClr>
                <a:srgbClr val="333333"/>
              </a:buClr>
              <a:buChar char="•"/>
            </a:pPr>
            <a:r>
              <a:rPr sz="1200" b="1" i="0">
                <a:solidFill>
                  <a:srgbClr val="57068C"/>
                </a:solidFill>
              </a:rPr>
              <a:t>The loss, not training, was the limit.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Why: hot plasma is expensive to include and cheap to leave out</a:t>
            </a:r>
          </a:p>
        </p:txBody>
      </p:sp>
      <p:sp>
        <p:nvSpPr>
          <p:cNvPr id="3" name="TextBox 2"/>
          <p:cNvSpPr txBox="1"/>
          <p:nvPr/>
        </p:nvSpPr>
        <p:spPr>
          <a:xfrm>
            <a:off x="365760" y="868680"/>
            <a:ext cx="8412480" cy="640080"/>
          </a:xfrm>
          <a:prstGeom prst="rect">
            <a:avLst/>
          </a:prstGeom>
          <a:noFill/>
        </p:spPr>
        <p:txBody>
          <a:bodyPr wrap="square" anchor="t" lIns="0" rIns="0" tIns="0" bIns="0">
            <a:spAutoFit/>
          </a:bodyPr>
          <a:lstStyle/>
          <a:p>
            <a:pPr algn="l" marL="182880" indent="-182880">
              <a:spcAft>
                <a:spcPts val="600"/>
              </a:spcAft>
              <a:buClr>
                <a:srgbClr val="333333"/>
              </a:buClr>
              <a:buChar char="•"/>
            </a:pPr>
            <a:r>
              <a:rPr sz="1200" b="0" i="0">
                <a:solidFill>
                  <a:srgbClr val="333333"/>
                </a:solidFill>
              </a:rPr>
              <a:t>Solver: the noise band is a rule. Our loss: the band is a price. Loss = sparsity (sum of the 54 weights) + μ × band penalty (distance outside the band, squared), with μ = 1 originally.</a:t>
            </a:r>
          </a:p>
        </p:txBody>
      </p:sp>
      <p:graphicFrame>
        <p:nvGraphicFramePr>
          <p:cNvPr id="4" name="Table 3"/>
          <p:cNvGraphicFramePr>
            <a:graphicFrameLocks noGrp="1"/>
          </p:cNvGraphicFramePr>
          <p:nvPr/>
        </p:nvGraphicFramePr>
        <p:xfrm>
          <a:off x="365760" y="1554480"/>
          <a:ext cx="5120640" cy="987552"/>
        </p:xfrm>
        <a:graphic>
          <a:graphicData uri="http://schemas.openxmlformats.org/drawingml/2006/table">
            <a:tbl>
              <a:tblPr firstRow="1" bandRow="1"/>
              <a:tblGrid>
                <a:gridCol w="1737360"/>
                <a:gridCol w="3383280"/>
              </a:tblGrid>
              <a:tr h="329184">
                <a:tc>
                  <a:txBody>
                    <a:bodyPr wrap="square"/>
                    <a:lstStyle/>
                    <a:p>
                      <a:pPr algn="l"/>
                      <a:r>
                        <a:rPr sz="1050" b="1">
                          <a:solidFill>
                            <a:srgbClr val="FFFFFF"/>
                          </a:solidFill>
                        </a:rPr>
                        <a:t>One unit of plasma at</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l"/>
                      <a:r>
                        <a:rPr sz="1050" b="1">
                          <a:solidFill>
                            <a:srgbClr val="FFFFFF"/>
                          </a:solidFill>
                        </a:rPr>
                        <a:t>What AIA sees</a:t>
                      </a:r>
                    </a:p>
                  </a:txBody>
                  <a:tcPr marL="54864" marR="54864" marT="27432" marB="27432" anchor="ctr">
                    <a:lnL w="0">
                      <a:noFill/>
                    </a:lnL>
                    <a:lnR w="0">
                      <a:noFill/>
                    </a:lnR>
                    <a:lnT w="0">
                      <a:noFill/>
                    </a:lnT>
                    <a:lnB w="6350">
                      <a:solidFill>
                        <a:srgbClr val="D9D3E3"/>
                      </a:solidFill>
                    </a:lnB>
                    <a:solidFill>
                      <a:srgbClr val="57068C"/>
                    </a:solidFill>
                  </a:tcPr>
                </a:tc>
              </a:tr>
              <a:tr h="329184">
                <a:tc>
                  <a:txBody>
                    <a:bodyPr wrap="square"/>
                    <a:lstStyle/>
                    <a:p>
                      <a:pPr algn="l"/>
                      <a:r>
                        <a:rPr sz="1050" b="1">
                          <a:solidFill>
                            <a:srgbClr val="333333"/>
                          </a:solidFill>
                        </a:rPr>
                        <a:t>1 to 1.3 MK (warm)</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l"/>
                      <a:r>
                        <a:rPr sz="1050" b="0">
                          <a:solidFill>
                            <a:srgbClr val="333333"/>
                          </a:solidFill>
                        </a:rPr>
                        <a:t>171 Å: 36 to 95 DN/s; 193 Å: 29 to 55</a:t>
                      </a:r>
                    </a:p>
                  </a:txBody>
                  <a:tcPr marL="54864" marR="54864" marT="27432" marB="27432" anchor="ctr">
                    <a:lnL w="0">
                      <a:noFill/>
                    </a:lnL>
                    <a:lnR w="0">
                      <a:noFill/>
                    </a:lnR>
                    <a:lnT w="0">
                      <a:noFill/>
                    </a:lnT>
                    <a:lnB w="6350">
                      <a:solidFill>
                        <a:srgbClr val="D9D3E3"/>
                      </a:solidFill>
                    </a:lnB>
                    <a:solidFill>
                      <a:srgbClr val="FFFFFF"/>
                    </a:solidFill>
                  </a:tcPr>
                </a:tc>
              </a:tr>
              <a:tr h="329184">
                <a:tc>
                  <a:txBody>
                    <a:bodyPr wrap="square"/>
                    <a:lstStyle/>
                    <a:p>
                      <a:pPr algn="l"/>
                      <a:r>
                        <a:rPr sz="1050" b="1">
                          <a:solidFill>
                            <a:srgbClr val="333333"/>
                          </a:solidFill>
                        </a:rPr>
                        <a:t>8 MK (hot)</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l"/>
                      <a:r>
                        <a:rPr sz="1050" b="0">
                          <a:solidFill>
                            <a:srgbClr val="333333"/>
                          </a:solidFill>
                        </a:rPr>
                        <a:t>94 Å: 0.266 DN/s; no channel above 0.4</a:t>
                      </a:r>
                    </a:p>
                  </a:txBody>
                  <a:tcPr marL="54864" marR="54864" marT="27432" marB="27432" anchor="ctr">
                    <a:lnL w="0">
                      <a:noFill/>
                    </a:lnL>
                    <a:lnR w="0">
                      <a:noFill/>
                    </a:lnR>
                    <a:lnT w="0">
                      <a:noFill/>
                    </a:lnT>
                    <a:lnB w="6350">
                      <a:solidFill>
                        <a:srgbClr val="D9D3E3"/>
                      </a:solidFill>
                    </a:lnB>
                    <a:solidFill>
                      <a:srgbClr val="FFFFFF"/>
                    </a:solidFill>
                  </a:tcPr>
                </a:tc>
              </a:tr>
            </a:tbl>
          </a:graphicData>
        </a:graphic>
      </p:graphicFrame>
      <p:graphicFrame>
        <p:nvGraphicFramePr>
          <p:cNvPr id="5" name="Table 4"/>
          <p:cNvGraphicFramePr>
            <a:graphicFrameLocks noGrp="1"/>
          </p:cNvGraphicFramePr>
          <p:nvPr/>
        </p:nvGraphicFramePr>
        <p:xfrm>
          <a:off x="365760" y="2697480"/>
          <a:ext cx="5120640" cy="987552"/>
        </p:xfrm>
        <a:graphic>
          <a:graphicData uri="http://schemas.openxmlformats.org/drawingml/2006/table">
            <a:tbl>
              <a:tblPr firstRow="1" bandRow="1"/>
              <a:tblGrid>
                <a:gridCol w="2514600"/>
                <a:gridCol w="685800"/>
                <a:gridCol w="1371600"/>
                <a:gridCol w="548640"/>
              </a:tblGrid>
              <a:tr h="329184">
                <a:tc>
                  <a:txBody>
                    <a:bodyPr wrap="square"/>
                    <a:lstStyle/>
                    <a:p>
                      <a:pPr algn="l"/>
                      <a:r>
                        <a:rPr sz="1050" b="1">
                          <a:solidFill>
                            <a:srgbClr val="FFFFFF"/>
                          </a:solidFill>
                        </a:rPr>
                        <a:t>A flare core: 94 Å = 164 ± 11.5</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050" b="1">
                          <a:solidFill>
                            <a:srgbClr val="FFFFFF"/>
                          </a:solidFill>
                        </a:rPr>
                        <a:t>Sparsity</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050" b="1">
                          <a:solidFill>
                            <a:srgbClr val="FFFFFF"/>
                          </a:solidFill>
                        </a:rPr>
                        <a:t>Penalty (μ = 1)</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050" b="1">
                          <a:solidFill>
                            <a:srgbClr val="FFFFFF"/>
                          </a:solidFill>
                        </a:rPr>
                        <a:t>Total</a:t>
                      </a:r>
                    </a:p>
                  </a:txBody>
                  <a:tcPr marL="54864" marR="54864" marT="27432" marB="27432" anchor="ctr">
                    <a:lnL w="0">
                      <a:noFill/>
                    </a:lnL>
                    <a:lnR w="0">
                      <a:noFill/>
                    </a:lnR>
                    <a:lnT w="0">
                      <a:noFill/>
                    </a:lnT>
                    <a:lnB w="6350">
                      <a:solidFill>
                        <a:srgbClr val="D9D3E3"/>
                      </a:solidFill>
                    </a:lnB>
                    <a:solidFill>
                      <a:srgbClr val="57068C"/>
                    </a:solidFill>
                  </a:tcPr>
                </a:tc>
              </a:tr>
              <a:tr h="329184">
                <a:tc>
                  <a:txBody>
                    <a:bodyPr wrap="square"/>
                    <a:lstStyle/>
                    <a:p>
                      <a:pPr algn="l"/>
                      <a:r>
                        <a:rPr sz="1050" b="1">
                          <a:solidFill>
                            <a:srgbClr val="333333"/>
                          </a:solidFill>
                        </a:rPr>
                        <a:t>Hot plasma in, cheapest shape: 164 ÷ 0.67 ≈ 245 units</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50" b="0">
                          <a:solidFill>
                            <a:srgbClr val="333333"/>
                          </a:solidFill>
                        </a:rPr>
                        <a:t>245</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50" b="0">
                          <a:solidFill>
                            <a:srgbClr val="333333"/>
                          </a:solidFill>
                        </a:rPr>
                        <a:t>0</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50" b="0">
                          <a:solidFill>
                            <a:srgbClr val="333333"/>
                          </a:solidFill>
                        </a:rPr>
                        <a:t>245</a:t>
                      </a:r>
                    </a:p>
                  </a:txBody>
                  <a:tcPr marL="54864" marR="54864" marT="27432" marB="27432" anchor="ctr">
                    <a:lnL w="0">
                      <a:noFill/>
                    </a:lnL>
                    <a:lnR w="0">
                      <a:noFill/>
                    </a:lnR>
                    <a:lnT w="0">
                      <a:noFill/>
                    </a:lnT>
                    <a:lnB w="6350">
                      <a:solidFill>
                        <a:srgbClr val="D9D3E3"/>
                      </a:solidFill>
                    </a:lnB>
                    <a:solidFill>
                      <a:srgbClr val="FFFFFF"/>
                    </a:solidFill>
                  </a:tcPr>
                </a:tc>
              </a:tr>
              <a:tr h="329184">
                <a:tc>
                  <a:txBody>
                    <a:bodyPr wrap="square"/>
                    <a:lstStyle/>
                    <a:p>
                      <a:pPr algn="l"/>
                      <a:r>
                        <a:rPr sz="1050" b="1">
                          <a:solidFill>
                            <a:srgbClr val="333333"/>
                          </a:solidFill>
                        </a:rPr>
                        <a:t>Hot plasma out: 94 Å ≈ 0, 148 below the band</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050" b="0">
                          <a:solidFill>
                            <a:srgbClr val="333333"/>
                          </a:solidFill>
                        </a:rPr>
                        <a:t>0</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050" b="0">
                          <a:solidFill>
                            <a:srgbClr val="333333"/>
                          </a:solidFill>
                        </a:rPr>
                        <a:t>(148 ÷ 16.1)² = 85</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050" b="0">
                          <a:solidFill>
                            <a:srgbClr val="333333"/>
                          </a:solidFill>
                        </a:rPr>
                        <a:t>85</a:t>
                      </a:r>
                    </a:p>
                  </a:txBody>
                  <a:tcPr marL="54864" marR="54864" marT="27432" marB="27432" anchor="ctr">
                    <a:lnL w="0">
                      <a:noFill/>
                    </a:lnL>
                    <a:lnR w="0">
                      <a:noFill/>
                    </a:lnR>
                    <a:lnT w="0">
                      <a:noFill/>
                    </a:lnT>
                    <a:lnB w="6350">
                      <a:solidFill>
                        <a:srgbClr val="D9D3E3"/>
                      </a:solidFill>
                    </a:lnB>
                    <a:solidFill>
                      <a:srgbClr val="E3DFE9"/>
                    </a:solidFill>
                  </a:tcPr>
                </a:tc>
              </a:tr>
            </a:tbl>
          </a:graphicData>
        </a:graphic>
      </p:graphicFrame>
      <p:sp>
        <p:nvSpPr>
          <p:cNvPr id="6" name="TextBox 5"/>
          <p:cNvSpPr txBox="1"/>
          <p:nvPr/>
        </p:nvSpPr>
        <p:spPr>
          <a:xfrm>
            <a:off x="365760" y="3858768"/>
            <a:ext cx="5120640" cy="548640"/>
          </a:xfrm>
          <a:prstGeom prst="rect">
            <a:avLst/>
          </a:prstGeom>
          <a:noFill/>
        </p:spPr>
        <p:txBody>
          <a:bodyPr wrap="square" anchor="t" lIns="0" rIns="0" tIns="0" bIns="0">
            <a:spAutoFit/>
          </a:bodyPr>
          <a:lstStyle/>
          <a:p>
            <a:pPr algn="l">
              <a:spcAft>
                <a:spcPts val="600"/>
              </a:spcAft>
            </a:pPr>
            <a:r>
              <a:rPr sz="1000" b="0" i="0">
                <a:solidFill>
                  <a:srgbClr val="6B6B6B"/>
                </a:solidFill>
              </a:rPr>
              <a:t>Brighter pixels draw more of their 94 Å from hot plasma: the best answer reproduces 91% of 94 Å at 1 to 1.8× the Bright level, 44% at 10 to 32×, 26% at flare cores (solver 100, 88, 94%).</a:t>
            </a:r>
          </a:p>
        </p:txBody>
      </p:sp>
      <p:sp>
        <p:nvSpPr>
          <p:cNvPr id="7" name="TextBox 6"/>
          <p:cNvSpPr txBox="1"/>
          <p:nvPr/>
        </p:nvSpPr>
        <p:spPr>
          <a:xfrm>
            <a:off x="5760720" y="1554480"/>
            <a:ext cx="3017520" cy="3017520"/>
          </a:xfrm>
          <a:prstGeom prst="rect">
            <a:avLst/>
          </a:prstGeom>
          <a:noFill/>
        </p:spPr>
        <p:txBody>
          <a:bodyPr wrap="square" anchor="t" lIns="0" rIns="0" tIns="0" bIns="0">
            <a:spAutoFit/>
          </a:bodyPr>
          <a:lstStyle/>
          <a:p>
            <a:pPr algn="l" marL="182880" indent="-182880">
              <a:spcAft>
                <a:spcPts val="500"/>
              </a:spcAft>
              <a:buClr>
                <a:srgbClr val="333333"/>
              </a:buClr>
              <a:buChar char="•"/>
            </a:pPr>
            <a:r>
              <a:rPr sz="1100" b="0" i="0">
                <a:solidFill>
                  <a:srgbClr val="333333"/>
                </a:solidFill>
              </a:rPr>
              <a:t>Warm plasma lights 171, 193, 211 Å by tens of DN/s: it has to be in the DEM, and its 94 Å comes free.</a:t>
            </a:r>
          </a:p>
          <a:p>
            <a:pPr algn="l" marL="182880" indent="-182880">
              <a:spcAft>
                <a:spcPts val="500"/>
              </a:spcAft>
              <a:buClr>
                <a:srgbClr val="333333"/>
              </a:buClr>
              <a:buChar char="•"/>
            </a:pPr>
            <a:r>
              <a:rPr sz="1100" b="0" i="0">
                <a:solidFill>
                  <a:srgbClr val="333333"/>
                </a:solidFill>
              </a:rPr>
              <a:t>Hot plasma lights no channel above 0.4 DN/s: a bright 94 Å reading needs hundreds of units, all paid for by the sparsity term.</a:t>
            </a:r>
          </a:p>
          <a:p>
            <a:pPr algn="l" marL="182880" indent="-182880">
              <a:spcAft>
                <a:spcPts val="500"/>
              </a:spcAft>
              <a:buClr>
                <a:srgbClr val="333333"/>
              </a:buClr>
              <a:buChar char="•"/>
            </a:pPr>
            <a:r>
              <a:rPr sz="1100" b="0" i="0">
                <a:solidFill>
                  <a:srgbClr val="333333"/>
                </a:solidFill>
              </a:rPr>
              <a:t>Leaving it out costs 85; putting it in costs at least 245. The best answer leaves it out.</a:t>
            </a:r>
          </a:p>
          <a:p>
            <a:pPr algn="l" marL="182880" indent="-182880">
              <a:spcAft>
                <a:spcPts val="500"/>
              </a:spcAft>
              <a:buClr>
                <a:srgbClr val="333333"/>
              </a:buClr>
              <a:buChar char="•"/>
            </a:pPr>
            <a:r>
              <a:rPr sz="1100" b="1" i="0">
                <a:solidFill>
                  <a:srgbClr val="57068C"/>
                </a:solidFill>
              </a:rPr>
              <a:t>At μ = 100 the penalty is 8,500: the plasma goes back 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The fix: a stiffer band, chosen on validation</a:t>
            </a:r>
          </a:p>
        </p:txBody>
      </p:sp>
      <p:graphicFrame>
        <p:nvGraphicFramePr>
          <p:cNvPr id="3" name="Table 2"/>
          <p:cNvGraphicFramePr>
            <a:graphicFrameLocks noGrp="1"/>
          </p:cNvGraphicFramePr>
          <p:nvPr/>
        </p:nvGraphicFramePr>
        <p:xfrm>
          <a:off x="365760" y="960120"/>
          <a:ext cx="8412478" cy="2240280"/>
        </p:xfrm>
        <a:graphic>
          <a:graphicData uri="http://schemas.openxmlformats.org/drawingml/2006/table">
            <a:tbl>
              <a:tblPr firstRow="1" bandRow="1"/>
              <a:tblGrid>
                <a:gridCol w="3094245"/>
                <a:gridCol w="1160342"/>
                <a:gridCol w="1160342"/>
                <a:gridCol w="1450427"/>
                <a:gridCol w="1547122"/>
              </a:tblGrid>
              <a:tr h="320040">
                <a:tc>
                  <a:txBody>
                    <a:bodyPr wrap="square"/>
                    <a:lstStyle/>
                    <a:p>
                      <a:pPr algn="l"/>
                      <a:r>
                        <a:rPr sz="1150" b="1">
                          <a:solidFill>
                            <a:srgbClr val="FFFFFF"/>
                          </a:solidFill>
                        </a:rPr>
                        <a:t>Best answer under the loss, validation</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DEM error</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Quiet MSE</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Flare-core 94 Å</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Flare-core emission</a:t>
                      </a:r>
                    </a:p>
                  </a:txBody>
                  <a:tcPr marL="54864" marR="54864" marT="27432" marB="27432" anchor="ctr">
                    <a:lnL w="0">
                      <a:noFill/>
                    </a:lnL>
                    <a:lnR w="0">
                      <a:noFill/>
                    </a:lnR>
                    <a:lnT w="0">
                      <a:noFill/>
                    </a:lnT>
                    <a:lnB w="6350">
                      <a:solidFill>
                        <a:srgbClr val="D9D3E3"/>
                      </a:solidFill>
                    </a:lnB>
                    <a:solidFill>
                      <a:srgbClr val="57068C"/>
                    </a:solidFill>
                  </a:tcPr>
                </a:tc>
              </a:tr>
              <a:tr h="320040">
                <a:tc>
                  <a:txBody>
                    <a:bodyPr wrap="square"/>
                    <a:lstStyle/>
                    <a:p>
                      <a:pPr algn="l"/>
                      <a:r>
                        <a:rPr sz="1150" b="1">
                          <a:solidFill>
                            <a:srgbClr val="333333"/>
                          </a:solidFill>
                        </a:rPr>
                        <a:t>Original (μ = 1)</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36.9</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0.076</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26%</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30%</a:t>
                      </a:r>
                    </a:p>
                  </a:txBody>
                  <a:tcPr marL="54864" marR="54864" marT="27432" marB="27432" anchor="ctr">
                    <a:lnL w="0">
                      <a:noFill/>
                    </a:lnL>
                    <a:lnR w="0">
                      <a:noFill/>
                    </a:lnR>
                    <a:lnT w="0">
                      <a:noFill/>
                    </a:lnT>
                    <a:lnB w="6350">
                      <a:solidFill>
                        <a:srgbClr val="D9D3E3"/>
                      </a:solidFill>
                    </a:lnB>
                    <a:solidFill>
                      <a:srgbClr val="FFFFFF"/>
                    </a:solidFill>
                  </a:tcPr>
                </a:tc>
              </a:tr>
              <a:tr h="320040">
                <a:tc>
                  <a:txBody>
                    <a:bodyPr wrap="square"/>
                    <a:lstStyle/>
                    <a:p>
                      <a:pPr algn="l"/>
                      <a:r>
                        <a:rPr sz="1150" b="1">
                          <a:solidFill>
                            <a:srgbClr val="333333"/>
                          </a:solidFill>
                        </a:rPr>
                        <a:t>μ = 10</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10.8</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0.037</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81%</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90%</a:t>
                      </a:r>
                    </a:p>
                  </a:txBody>
                  <a:tcPr marL="54864" marR="54864" marT="27432" marB="27432" anchor="ctr">
                    <a:lnL w="0">
                      <a:noFill/>
                    </a:lnL>
                    <a:lnR w="0">
                      <a:noFill/>
                    </a:lnR>
                    <a:lnT w="0">
                      <a:noFill/>
                    </a:lnT>
                    <a:lnB w="6350">
                      <a:solidFill>
                        <a:srgbClr val="D9D3E3"/>
                      </a:solidFill>
                    </a:lnB>
                    <a:solidFill>
                      <a:srgbClr val="FFFFFF"/>
                    </a:solidFill>
                  </a:tcPr>
                </a:tc>
              </a:tr>
              <a:tr h="320040">
                <a:tc>
                  <a:txBody>
                    <a:bodyPr wrap="square"/>
                    <a:lstStyle/>
                    <a:p>
                      <a:pPr algn="l"/>
                      <a:r>
                        <a:rPr sz="1150" b="1">
                          <a:solidFill>
                            <a:srgbClr val="333333"/>
                          </a:solidFill>
                        </a:rPr>
                        <a:t>μ = 30</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5.10</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0.032</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89%</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97%</a:t>
                      </a:r>
                    </a:p>
                  </a:txBody>
                  <a:tcPr marL="54864" marR="54864" marT="27432" marB="27432" anchor="ctr">
                    <a:lnL w="0">
                      <a:noFill/>
                    </a:lnL>
                    <a:lnR w="0">
                      <a:noFill/>
                    </a:lnR>
                    <a:lnT w="0">
                      <a:noFill/>
                    </a:lnT>
                    <a:lnB w="6350">
                      <a:solidFill>
                        <a:srgbClr val="D9D3E3"/>
                      </a:solidFill>
                    </a:lnB>
                    <a:solidFill>
                      <a:srgbClr val="FFFFFF"/>
                    </a:solidFill>
                  </a:tcPr>
                </a:tc>
              </a:tr>
              <a:tr h="320040">
                <a:tc>
                  <a:txBody>
                    <a:bodyPr wrap="square"/>
                    <a:lstStyle/>
                    <a:p>
                      <a:pPr algn="l"/>
                      <a:r>
                        <a:rPr sz="1150" b="1">
                          <a:solidFill>
                            <a:srgbClr val="333333"/>
                          </a:solidFill>
                        </a:rPr>
                        <a:t>μ = 100</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150" b="0">
                          <a:solidFill>
                            <a:srgbClr val="333333"/>
                          </a:solidFill>
                        </a:rPr>
                        <a:t>2.32</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150" b="0">
                          <a:solidFill>
                            <a:srgbClr val="333333"/>
                          </a:solidFill>
                        </a:rPr>
                        <a:t>0.041</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150" b="0">
                          <a:solidFill>
                            <a:srgbClr val="333333"/>
                          </a:solidFill>
                        </a:rPr>
                        <a:t>93%</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150" b="0">
                          <a:solidFill>
                            <a:srgbClr val="333333"/>
                          </a:solidFill>
                        </a:rPr>
                        <a:t>100%</a:t>
                      </a:r>
                    </a:p>
                  </a:txBody>
                  <a:tcPr marL="54864" marR="54864" marT="27432" marB="27432" anchor="ctr">
                    <a:lnL w="0">
                      <a:noFill/>
                    </a:lnL>
                    <a:lnR w="0">
                      <a:noFill/>
                    </a:lnR>
                    <a:lnT w="0">
                      <a:noFill/>
                    </a:lnT>
                    <a:lnB w="6350">
                      <a:solidFill>
                        <a:srgbClr val="D9D3E3"/>
                      </a:solidFill>
                    </a:lnB>
                    <a:solidFill>
                      <a:srgbClr val="E3DFE9"/>
                    </a:solidFill>
                  </a:tcPr>
                </a:tc>
              </a:tr>
              <a:tr h="320040">
                <a:tc>
                  <a:txBody>
                    <a:bodyPr wrap="square"/>
                    <a:lstStyle/>
                    <a:p>
                      <a:pPr algn="l"/>
                      <a:r>
                        <a:rPr sz="1150" b="1">
                          <a:solidFill>
                            <a:srgbClr val="333333"/>
                          </a:solidFill>
                        </a:rPr>
                        <a:t>μ = 300</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1.80</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0.048</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94%</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101%</a:t>
                      </a:r>
                    </a:p>
                  </a:txBody>
                  <a:tcPr marL="54864" marR="54864" marT="27432" marB="27432" anchor="ctr">
                    <a:lnL w="0">
                      <a:noFill/>
                    </a:lnL>
                    <a:lnR w="0">
                      <a:noFill/>
                    </a:lnR>
                    <a:lnT w="0">
                      <a:noFill/>
                    </a:lnT>
                    <a:lnB w="6350">
                      <a:solidFill>
                        <a:srgbClr val="D9D3E3"/>
                      </a:solidFill>
                    </a:lnB>
                    <a:solidFill>
                      <a:srgbClr val="FFFFFF"/>
                    </a:solidFill>
                  </a:tcPr>
                </a:tc>
              </a:tr>
              <a:tr h="320040">
                <a:tc>
                  <a:txBody>
                    <a:bodyPr wrap="square"/>
                    <a:lstStyle/>
                    <a:p>
                      <a:pPr algn="l"/>
                      <a:r>
                        <a:rPr sz="1150" b="1">
                          <a:solidFill>
                            <a:srgbClr val="333333"/>
                          </a:solidFill>
                        </a:rPr>
                        <a:t>Supervised model (a trained network)</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6.10</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0.054</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91%</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95%</a:t>
                      </a:r>
                    </a:p>
                  </a:txBody>
                  <a:tcPr marL="54864" marR="54864" marT="27432" marB="27432" anchor="ctr">
                    <a:lnL w="0">
                      <a:noFill/>
                    </a:lnL>
                    <a:lnR w="0">
                      <a:noFill/>
                    </a:lnR>
                    <a:lnT w="0">
                      <a:noFill/>
                    </a:lnT>
                    <a:lnB w="6350">
                      <a:solidFill>
                        <a:srgbClr val="D9D3E3"/>
                      </a:solidFill>
                    </a:lnB>
                    <a:solidFill>
                      <a:srgbClr val="FFFFFF"/>
                    </a:solidFill>
                  </a:tcPr>
                </a:tc>
              </a:tr>
            </a:tbl>
          </a:graphicData>
        </a:graphic>
      </p:graphicFrame>
      <p:sp>
        <p:nvSpPr>
          <p:cNvPr id="4" name="TextBox 3"/>
          <p:cNvSpPr txBox="1"/>
          <p:nvPr/>
        </p:nvSpPr>
        <p:spPr>
          <a:xfrm>
            <a:off x="365760" y="3246120"/>
            <a:ext cx="8412480" cy="868680"/>
          </a:xfrm>
          <a:prstGeom prst="rect">
            <a:avLst/>
          </a:prstGeom>
          <a:noFill/>
        </p:spPr>
        <p:txBody>
          <a:bodyPr wrap="square" anchor="t" lIns="0" rIns="0" tIns="0" bIns="0">
            <a:spAutoFit/>
          </a:bodyPr>
          <a:lstStyle/>
          <a:p>
            <a:pPr algn="l" marL="182880" indent="-182880">
              <a:spcAft>
                <a:spcPts val="300"/>
              </a:spcAft>
              <a:buClr>
                <a:srgbClr val="333333"/>
              </a:buClr>
              <a:buChar char="•"/>
            </a:pPr>
            <a:r>
              <a:rPr sz="1150" b="0" i="0">
                <a:solidFill>
                  <a:srgbClr val="333333"/>
                </a:solidFill>
              </a:rPr>
              <a:t>If a network learned the loss perfectly, how close to the solver would it get? Solved per pixel, no network, on the validation split.</a:t>
            </a:r>
          </a:p>
          <a:p>
            <a:pPr algn="l" marL="182880" indent="-182880">
              <a:spcAft>
                <a:spcPts val="300"/>
              </a:spcAft>
              <a:buClr>
                <a:srgbClr val="333333"/>
              </a:buClr>
              <a:buChar char="•"/>
            </a:pPr>
            <a:r>
              <a:rPr sz="1150" b="0" i="0">
                <a:solidFill>
                  <a:srgbClr val="333333"/>
                </a:solidFill>
              </a:rPr>
              <a:t>Stiffer helps bright pixels and costs faint ones: at faint pixels the band is mostly noise.</a:t>
            </a:r>
          </a:p>
          <a:p>
            <a:pPr algn="l" marL="182880" indent="-182880">
              <a:spcAft>
                <a:spcPts val="300"/>
              </a:spcAft>
              <a:buClr>
                <a:srgbClr val="333333"/>
              </a:buClr>
              <a:buChar char="•"/>
            </a:pPr>
            <a:r>
              <a:rPr sz="1150" b="1" i="0">
                <a:solidFill>
                  <a:srgbClr val="57068C"/>
                </a:solidFill>
              </a:rPr>
              <a:t>μ = 100: most of the gain, Quiet error still below the supervised model's.</a:t>
            </a:r>
          </a:p>
        </p:txBody>
      </p:sp>
      <p:sp>
        <p:nvSpPr>
          <p:cNvPr id="5" name="TextBox 4"/>
          <p:cNvSpPr txBox="1"/>
          <p:nvPr/>
        </p:nvSpPr>
        <p:spPr>
          <a:xfrm>
            <a:off x="365760" y="4114800"/>
            <a:ext cx="8412480" cy="274320"/>
          </a:xfrm>
          <a:prstGeom prst="rect">
            <a:avLst/>
          </a:prstGeom>
          <a:noFill/>
        </p:spPr>
        <p:txBody>
          <a:bodyPr wrap="square" anchor="t" lIns="0" rIns="0" tIns="0" bIns="0">
            <a:spAutoFit/>
          </a:bodyPr>
          <a:lstStyle/>
          <a:p>
            <a:pPr algn="l">
              <a:spcAft>
                <a:spcPts val="600"/>
              </a:spcAft>
            </a:pPr>
            <a:r>
              <a:rPr sz="1000" b="0" i="1">
                <a:solidFill>
                  <a:srgbClr val="6B6B6B"/>
                </a:solidFill>
              </a:rPr>
              <a:t>μ is one scalar chosen on validation, like any loss weight; training never sees a DEM. The 94 Å column, which needs no solver DEM, plateaus at μ = 100.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On the stiff band, longer training is what helps</a:t>
            </a:r>
          </a:p>
        </p:txBody>
      </p:sp>
      <p:graphicFrame>
        <p:nvGraphicFramePr>
          <p:cNvPr id="3" name="Table 2"/>
          <p:cNvGraphicFramePr>
            <a:graphicFrameLocks noGrp="1"/>
          </p:cNvGraphicFramePr>
          <p:nvPr/>
        </p:nvGraphicFramePr>
        <p:xfrm>
          <a:off x="365760" y="868680"/>
          <a:ext cx="8412476" cy="2651760"/>
        </p:xfrm>
        <a:graphic>
          <a:graphicData uri="http://schemas.openxmlformats.org/drawingml/2006/table">
            <a:tbl>
              <a:tblPr firstRow="1" bandRow="1"/>
              <a:tblGrid>
                <a:gridCol w="2341618"/>
                <a:gridCol w="780539"/>
                <a:gridCol w="693812"/>
                <a:gridCol w="780539"/>
                <a:gridCol w="780539"/>
                <a:gridCol w="1040719"/>
                <a:gridCol w="1127445"/>
                <a:gridCol w="867265"/>
              </a:tblGrid>
              <a:tr h="265176">
                <a:tc>
                  <a:txBody>
                    <a:bodyPr wrap="square"/>
                    <a:lstStyle/>
                    <a:p>
                      <a:pPr algn="l"/>
                      <a:r>
                        <a:rPr sz="1000" b="1">
                          <a:solidFill>
                            <a:srgbClr val="FFFFFF"/>
                          </a:solidFill>
                        </a:rPr>
                        <a:t>BP run, band ×100</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000" b="1">
                          <a:solidFill>
                            <a:srgbClr val="FFFFFF"/>
                          </a:solidFill>
                        </a:rPr>
                        <a:t>DEM MSE</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000" b="1">
                          <a:solidFill>
                            <a:srgbClr val="FFFFFF"/>
                          </a:solidFill>
                        </a:rPr>
                        <a:t>Median</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000" b="1">
                          <a:solidFill>
                            <a:srgbClr val="FFFFFF"/>
                          </a:solidFill>
                        </a:rPr>
                        <a:t>AIA MSE</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000" b="1">
                          <a:solidFill>
                            <a:srgbClr val="FFFFFF"/>
                          </a:solidFill>
                        </a:rPr>
                        <a:t>Quiet MSE</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000" b="1">
                          <a:solidFill>
                            <a:srgbClr val="FFFFFF"/>
                          </a:solidFill>
                        </a:rPr>
                        <a:t>Flare-core EM</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000" b="1">
                          <a:solidFill>
                            <a:srgbClr val="FFFFFF"/>
                          </a:solidFill>
                        </a:rPr>
                        <a:t>Flare-core 94 Å</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000" b="1">
                          <a:solidFill>
                            <a:srgbClr val="FFFFFF"/>
                          </a:solidFill>
                        </a:rPr>
                        <a:t>Validation</a:t>
                      </a:r>
                    </a:p>
                  </a:txBody>
                  <a:tcPr marL="54864" marR="54864" marT="27432" marB="27432" anchor="ctr">
                    <a:lnL w="0">
                      <a:noFill/>
                    </a:lnL>
                    <a:lnR w="0">
                      <a:noFill/>
                    </a:lnR>
                    <a:lnT w="0">
                      <a:noFill/>
                    </a:lnT>
                    <a:lnB w="6350">
                      <a:solidFill>
                        <a:srgbClr val="D9D3E3"/>
                      </a:solidFill>
                    </a:lnB>
                    <a:solidFill>
                      <a:srgbClr val="57068C"/>
                    </a:solidFill>
                  </a:tcPr>
                </a:tc>
              </a:tr>
              <a:tr h="265176">
                <a:tc>
                  <a:txBody>
                    <a:bodyPr wrap="square"/>
                    <a:lstStyle/>
                    <a:p>
                      <a:pPr algn="l"/>
                      <a:r>
                        <a:rPr sz="1000" b="1">
                          <a:solidFill>
                            <a:srgbClr val="333333"/>
                          </a:solidFill>
                        </a:rPr>
                        <a:t>Original loss, base (reference)</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4.56</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0.023</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83</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0.057</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35%</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15%</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39.7</a:t>
                      </a:r>
                    </a:p>
                  </a:txBody>
                  <a:tcPr marL="54864" marR="54864" marT="27432" marB="27432" anchor="ctr">
                    <a:lnL w="0">
                      <a:noFill/>
                    </a:lnL>
                    <a:lnR w="0">
                      <a:noFill/>
                    </a:lnR>
                    <a:lnT w="0">
                      <a:noFill/>
                    </a:lnT>
                    <a:lnB w="6350">
                      <a:solidFill>
                        <a:srgbClr val="D9D3E3"/>
                      </a:solidFill>
                    </a:lnB>
                    <a:solidFill>
                      <a:srgbClr val="FFFFFF"/>
                    </a:solidFill>
                  </a:tcPr>
                </a:tc>
              </a:tr>
              <a:tr h="265176">
                <a:tc>
                  <a:txBody>
                    <a:bodyPr wrap="square"/>
                    <a:lstStyle/>
                    <a:p>
                      <a:pPr algn="l"/>
                      <a:r>
                        <a:rPr sz="1000" b="1">
                          <a:solidFill>
                            <a:srgbClr val="333333"/>
                          </a:solidFill>
                        </a:rPr>
                        <a:t>40 epochs</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2.37</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0.062</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44</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0.035</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89%</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68%</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20.1</a:t>
                      </a:r>
                    </a:p>
                  </a:txBody>
                  <a:tcPr marL="54864" marR="54864" marT="27432" marB="27432" anchor="ctr">
                    <a:lnL w="0">
                      <a:noFill/>
                    </a:lnL>
                    <a:lnR w="0">
                      <a:noFill/>
                    </a:lnR>
                    <a:lnT w="0">
                      <a:noFill/>
                    </a:lnT>
                    <a:lnB w="6350">
                      <a:solidFill>
                        <a:srgbClr val="D9D3E3"/>
                      </a:solidFill>
                    </a:lnB>
                    <a:solidFill>
                      <a:srgbClr val="FFFFFF"/>
                    </a:solidFill>
                  </a:tcPr>
                </a:tc>
              </a:tr>
              <a:tr h="265176">
                <a:tc>
                  <a:txBody>
                    <a:bodyPr wrap="square"/>
                    <a:lstStyle/>
                    <a:p>
                      <a:pPr algn="l"/>
                      <a:r>
                        <a:rPr sz="1000" b="1">
                          <a:solidFill>
                            <a:srgbClr val="333333"/>
                          </a:solidFill>
                        </a:rPr>
                        <a:t>120 epochs</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2.00</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0.041</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44</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0.032</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92%</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75%</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17.8</a:t>
                      </a:r>
                    </a:p>
                  </a:txBody>
                  <a:tcPr marL="54864" marR="54864" marT="27432" marB="27432" anchor="ctr">
                    <a:lnL w="0">
                      <a:noFill/>
                    </a:lnL>
                    <a:lnR w="0">
                      <a:noFill/>
                    </a:lnR>
                    <a:lnT w="0">
                      <a:noFill/>
                    </a:lnT>
                    <a:lnB w="6350">
                      <a:solidFill>
                        <a:srgbClr val="D9D3E3"/>
                      </a:solidFill>
                    </a:lnB>
                    <a:solidFill>
                      <a:srgbClr val="FFFFFF"/>
                    </a:solidFill>
                  </a:tcPr>
                </a:tc>
              </a:tr>
              <a:tr h="265176">
                <a:tc>
                  <a:txBody>
                    <a:bodyPr wrap="square"/>
                    <a:lstStyle/>
                    <a:p>
                      <a:pPr algn="l"/>
                      <a:r>
                        <a:rPr sz="1000" b="1">
                          <a:solidFill>
                            <a:srgbClr val="333333"/>
                          </a:solidFill>
                        </a:rPr>
                        <a:t>240 epochs from scratch</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1.74</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0.036</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591</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0.035</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91%</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73%</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14.0</a:t>
                      </a:r>
                    </a:p>
                  </a:txBody>
                  <a:tcPr marL="54864" marR="54864" marT="27432" marB="27432" anchor="ctr">
                    <a:lnL w="0">
                      <a:noFill/>
                    </a:lnL>
                    <a:lnR w="0">
                      <a:noFill/>
                    </a:lnR>
                    <a:lnT w="0">
                      <a:noFill/>
                    </a:lnT>
                    <a:lnB w="6350">
                      <a:solidFill>
                        <a:srgbClr val="D9D3E3"/>
                      </a:solidFill>
                    </a:lnB>
                    <a:solidFill>
                      <a:srgbClr val="FFFFFF"/>
                    </a:solidFill>
                  </a:tcPr>
                </a:tc>
              </a:tr>
              <a:tr h="265176">
                <a:tc>
                  <a:txBody>
                    <a:bodyPr wrap="square"/>
                    <a:lstStyle/>
                    <a:p>
                      <a:pPr algn="l"/>
                      <a:r>
                        <a:rPr sz="1000" b="1">
                          <a:solidFill>
                            <a:srgbClr val="333333"/>
                          </a:solidFill>
                        </a:rPr>
                        <a:t>120 + 120 epochs, continued</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000" b="0">
                          <a:solidFill>
                            <a:srgbClr val="333333"/>
                          </a:solidFill>
                        </a:rPr>
                        <a:t>1.75</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000" b="0">
                          <a:solidFill>
                            <a:srgbClr val="333333"/>
                          </a:solidFill>
                        </a:rPr>
                        <a:t>0.036</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000" b="0">
                          <a:solidFill>
                            <a:srgbClr val="333333"/>
                          </a:solidFill>
                        </a:rPr>
                        <a:t>103</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000" b="0">
                          <a:solidFill>
                            <a:srgbClr val="333333"/>
                          </a:solidFill>
                        </a:rPr>
                        <a:t>0.032</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000" b="0">
                          <a:solidFill>
                            <a:srgbClr val="333333"/>
                          </a:solidFill>
                        </a:rPr>
                        <a:t>93%</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000" b="0">
                          <a:solidFill>
                            <a:srgbClr val="333333"/>
                          </a:solidFill>
                        </a:rPr>
                        <a:t>77%</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000" b="0">
                          <a:solidFill>
                            <a:srgbClr val="333333"/>
                          </a:solidFill>
                        </a:rPr>
                        <a:t>15.8</a:t>
                      </a:r>
                    </a:p>
                  </a:txBody>
                  <a:tcPr marL="54864" marR="54864" marT="27432" marB="27432" anchor="ctr">
                    <a:lnL w="0">
                      <a:noFill/>
                    </a:lnL>
                    <a:lnR w="0">
                      <a:noFill/>
                    </a:lnR>
                    <a:lnT w="0">
                      <a:noFill/>
                    </a:lnT>
                    <a:lnB w="6350">
                      <a:solidFill>
                        <a:srgbClr val="D9D3E3"/>
                      </a:solidFill>
                    </a:lnB>
                    <a:solidFill>
                      <a:srgbClr val="E3DFE9"/>
                    </a:solidFill>
                  </a:tcPr>
                </a:tc>
              </a:tr>
              <a:tr h="265176">
                <a:tc>
                  <a:txBody>
                    <a:bodyPr wrap="square"/>
                    <a:lstStyle/>
                    <a:p>
                      <a:pPr algn="l"/>
                      <a:r>
                        <a:rPr sz="1000" b="1">
                          <a:solidFill>
                            <a:srgbClr val="333333"/>
                          </a:solidFill>
                        </a:rPr>
                        <a:t>+ oversample flare cores</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2.50</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0.071</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39</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0.038</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88%</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63%</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21.1</a:t>
                      </a:r>
                    </a:p>
                  </a:txBody>
                  <a:tcPr marL="54864" marR="54864" marT="27432" marB="27432" anchor="ctr">
                    <a:lnL w="0">
                      <a:noFill/>
                    </a:lnL>
                    <a:lnR w="0">
                      <a:noFill/>
                    </a:lnR>
                    <a:lnT w="0">
                      <a:noFill/>
                    </a:lnT>
                    <a:lnB w="6350">
                      <a:solidFill>
                        <a:srgbClr val="D9D3E3"/>
                      </a:solidFill>
                    </a:lnB>
                    <a:solidFill>
                      <a:srgbClr val="FFFFFF"/>
                    </a:solidFill>
                  </a:tcPr>
                </a:tc>
              </a:tr>
              <a:tr h="265176">
                <a:tc>
                  <a:txBody>
                    <a:bodyPr wrap="square"/>
                    <a:lstStyle/>
                    <a:p>
                      <a:pPr algn="l"/>
                      <a:r>
                        <a:rPr sz="1000" b="1">
                          <a:solidFill>
                            <a:srgbClr val="333333"/>
                          </a:solidFill>
                        </a:rPr>
                        <a:t>10M parameters</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35.7</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0.041</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1.7M</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0.070</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92%</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74%</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
                      </a:r>
                    </a:p>
                  </a:txBody>
                  <a:tcPr marL="54864" marR="54864" marT="27432" marB="27432" anchor="ctr">
                    <a:lnL w="0">
                      <a:noFill/>
                    </a:lnL>
                    <a:lnR w="0">
                      <a:noFill/>
                    </a:lnR>
                    <a:lnT w="0">
                      <a:noFill/>
                    </a:lnT>
                    <a:lnB w="6350">
                      <a:solidFill>
                        <a:srgbClr val="D9D3E3"/>
                      </a:solidFill>
                    </a:lnB>
                    <a:solidFill>
                      <a:srgbClr val="FFFFFF"/>
                    </a:solidFill>
                  </a:tcPr>
                </a:tc>
              </a:tr>
              <a:tr h="265176">
                <a:tc>
                  <a:txBody>
                    <a:bodyPr wrap="square"/>
                    <a:lstStyle/>
                    <a:p>
                      <a:pPr algn="l"/>
                      <a:r>
                        <a:rPr sz="1000" b="1">
                          <a:solidFill>
                            <a:srgbClr val="333333"/>
                          </a:solidFill>
                        </a:rPr>
                        <a:t>680 wide (1.43M), 120 epochs</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897</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0.034</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21.7M</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12.5</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115%</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78%</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4,170</a:t>
                      </a:r>
                    </a:p>
                  </a:txBody>
                  <a:tcPr marL="54864" marR="54864" marT="27432" marB="27432" anchor="ctr">
                    <a:lnL w="0">
                      <a:noFill/>
                    </a:lnL>
                    <a:lnR w="0">
                      <a:noFill/>
                    </a:lnR>
                    <a:lnT w="0">
                      <a:noFill/>
                    </a:lnT>
                    <a:lnB w="6350">
                      <a:solidFill>
                        <a:srgbClr val="D9D3E3"/>
                      </a:solidFill>
                    </a:lnB>
                    <a:solidFill>
                      <a:srgbClr val="FFFFFF"/>
                    </a:solidFill>
                  </a:tcPr>
                </a:tc>
              </a:tr>
              <a:tr h="265176">
                <a:tc>
                  <a:txBody>
                    <a:bodyPr wrap="square"/>
                    <a:lstStyle/>
                    <a:p>
                      <a:pPr algn="l"/>
                      <a:r>
                        <a:rPr sz="1000" b="1">
                          <a:solidFill>
                            <a:srgbClr val="333333"/>
                          </a:solidFill>
                        </a:rPr>
                        <a:t>Supervised model</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0.91</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0.112</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157</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0.034</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92%</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85%</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000" b="0">
                          <a:solidFill>
                            <a:srgbClr val="333333"/>
                          </a:solidFill>
                        </a:rPr>
                        <a:t>6.10</a:t>
                      </a:r>
                    </a:p>
                  </a:txBody>
                  <a:tcPr marL="54864" marR="54864" marT="27432" marB="27432" anchor="ctr">
                    <a:lnL w="0">
                      <a:noFill/>
                    </a:lnL>
                    <a:lnR w="0">
                      <a:noFill/>
                    </a:lnR>
                    <a:lnT w="0">
                      <a:noFill/>
                    </a:lnT>
                    <a:lnB w="6350">
                      <a:solidFill>
                        <a:srgbClr val="D9D3E3"/>
                      </a:solidFill>
                    </a:lnB>
                    <a:solidFill>
                      <a:srgbClr val="FFFFFF"/>
                    </a:solidFill>
                  </a:tcPr>
                </a:tc>
              </a:tr>
            </a:tbl>
          </a:graphicData>
        </a:graphic>
      </p:graphicFrame>
      <p:sp>
        <p:nvSpPr>
          <p:cNvPr id="4" name="TextBox 3"/>
          <p:cNvSpPr txBox="1"/>
          <p:nvPr/>
        </p:nvSpPr>
        <p:spPr>
          <a:xfrm>
            <a:off x="365760" y="3611880"/>
            <a:ext cx="8412480" cy="822960"/>
          </a:xfrm>
          <a:prstGeom prst="rect">
            <a:avLst/>
          </a:prstGeom>
          <a:noFill/>
        </p:spPr>
        <p:txBody>
          <a:bodyPr wrap="square" anchor="t" lIns="0" rIns="0" tIns="0" bIns="0">
            <a:spAutoFit/>
          </a:bodyPr>
          <a:lstStyle/>
          <a:p>
            <a:pPr algn="l" marL="182880" indent="-182880">
              <a:spcAft>
                <a:spcPts val="300"/>
              </a:spcAft>
              <a:buClr>
                <a:srgbClr val="333333"/>
              </a:buClr>
              <a:buChar char="•"/>
            </a:pPr>
            <a:r>
              <a:rPr sz="1150" b="0" i="0">
                <a:solidFill>
                  <a:srgbClr val="333333"/>
                </a:solidFill>
              </a:rPr>
              <a:t>The band alone halves DEM MSE; the network then sits far above its best answer (118% at flare cores), so training is the limit and longer training helps. 240 from scratch misfits rare pixels (AIA MSE 591); bigger models blow up.</a:t>
            </a:r>
          </a:p>
          <a:p>
            <a:pPr algn="l" marL="182880" indent="-182880">
              <a:spcAft>
                <a:spcPts val="300"/>
              </a:spcAft>
              <a:buClr>
                <a:srgbClr val="333333"/>
              </a:buClr>
              <a:buChar char="•"/>
            </a:pPr>
            <a:r>
              <a:rPr sz="1150" b="1" i="0">
                <a:solidFill>
                  <a:srgbClr val="57068C"/>
                </a:solidFill>
              </a:rPr>
              <a:t>Final BP model: band ×100, 120 epochs, then 120 more continued from that checkpoint.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Flare cores now: 93% of the solver's emission, 77% of its 94 Å</a:t>
            </a:r>
          </a:p>
        </p:txBody>
      </p:sp>
      <p:graphicFrame>
        <p:nvGraphicFramePr>
          <p:cNvPr id="3" name="Table 2"/>
          <p:cNvGraphicFramePr>
            <a:graphicFrameLocks noGrp="1"/>
          </p:cNvGraphicFramePr>
          <p:nvPr/>
        </p:nvGraphicFramePr>
        <p:xfrm>
          <a:off x="365760" y="914400"/>
          <a:ext cx="4297679" cy="2304288"/>
        </p:xfrm>
        <a:graphic>
          <a:graphicData uri="http://schemas.openxmlformats.org/drawingml/2006/table">
            <a:tbl>
              <a:tblPr firstRow="1" bandRow="1"/>
              <a:tblGrid>
                <a:gridCol w="1637211"/>
                <a:gridCol w="573024"/>
                <a:gridCol w="573024"/>
                <a:gridCol w="900466"/>
                <a:gridCol w="613954"/>
              </a:tblGrid>
              <a:tr h="329184">
                <a:tc>
                  <a:txBody>
                    <a:bodyPr wrap="square"/>
                    <a:lstStyle/>
                    <a:p>
                      <a:pPr algn="l"/>
                      <a:r>
                        <a:rPr sz="1100" b="1">
                          <a:solidFill>
                            <a:srgbClr val="FFFFFF"/>
                          </a:solidFill>
                        </a:rPr>
                        <a:t>BP flare cores, shared test</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00" b="1">
                          <a:solidFill>
                            <a:srgbClr val="FFFFFF"/>
                          </a:solidFill>
                        </a:rPr>
                        <a:t>Old BP</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00" b="1">
                          <a:solidFill>
                            <a:srgbClr val="FFFFFF"/>
                          </a:solidFill>
                        </a:rPr>
                        <a:t>New BP</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00" b="1">
                          <a:solidFill>
                            <a:srgbClr val="FFFFFF"/>
                          </a:solidFill>
                        </a:rPr>
                        <a:t>Supervised</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00" b="1">
                          <a:solidFill>
                            <a:srgbClr val="FFFFFF"/>
                          </a:solidFill>
                        </a:rPr>
                        <a:t>Solver</a:t>
                      </a:r>
                    </a:p>
                  </a:txBody>
                  <a:tcPr marL="54864" marR="54864" marT="27432" marB="27432" anchor="ctr">
                    <a:lnL w="0">
                      <a:noFill/>
                    </a:lnL>
                    <a:lnR w="0">
                      <a:noFill/>
                    </a:lnR>
                    <a:lnT w="0">
                      <a:noFill/>
                    </a:lnT>
                    <a:lnB w="6350">
                      <a:solidFill>
                        <a:srgbClr val="D9D3E3"/>
                      </a:solidFill>
                    </a:lnB>
                    <a:solidFill>
                      <a:srgbClr val="57068C"/>
                    </a:solidFill>
                  </a:tcPr>
                </a:tc>
              </a:tr>
              <a:tr h="329184">
                <a:tc>
                  <a:txBody>
                    <a:bodyPr wrap="square"/>
                    <a:lstStyle/>
                    <a:p>
                      <a:pPr algn="l"/>
                      <a:r>
                        <a:rPr sz="1100" b="1">
                          <a:solidFill>
                            <a:srgbClr val="333333"/>
                          </a:solidFill>
                        </a:rPr>
                        <a:t>Emission vs solver</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40%</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93%</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92%</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100%</a:t>
                      </a:r>
                    </a:p>
                  </a:txBody>
                  <a:tcPr marL="54864" marR="54864" marT="27432" marB="27432" anchor="ctr">
                    <a:lnL w="0">
                      <a:noFill/>
                    </a:lnL>
                    <a:lnR w="0">
                      <a:noFill/>
                    </a:lnR>
                    <a:lnT w="0">
                      <a:noFill/>
                    </a:lnT>
                    <a:lnB w="6350">
                      <a:solidFill>
                        <a:srgbClr val="D9D3E3"/>
                      </a:solidFill>
                    </a:lnB>
                    <a:solidFill>
                      <a:srgbClr val="FFFFFF"/>
                    </a:solidFill>
                  </a:tcPr>
                </a:tc>
              </a:tr>
              <a:tr h="329184">
                <a:tc>
                  <a:txBody>
                    <a:bodyPr wrap="square"/>
                    <a:lstStyle/>
                    <a:p>
                      <a:pPr algn="l"/>
                      <a:r>
                        <a:rPr sz="1100" b="1">
                          <a:solidFill>
                            <a:srgbClr val="333333"/>
                          </a:solidFill>
                        </a:rPr>
                        <a:t>94 Å reproduced</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23%</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77%</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85%</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92%</a:t>
                      </a:r>
                    </a:p>
                  </a:txBody>
                  <a:tcPr marL="54864" marR="54864" marT="27432" marB="27432" anchor="ctr">
                    <a:lnL w="0">
                      <a:noFill/>
                    </a:lnL>
                    <a:lnR w="0">
                      <a:noFill/>
                    </a:lnR>
                    <a:lnT w="0">
                      <a:noFill/>
                    </a:lnT>
                    <a:lnB w="6350">
                      <a:solidFill>
                        <a:srgbClr val="D9D3E3"/>
                      </a:solidFill>
                    </a:lnB>
                    <a:solidFill>
                      <a:srgbClr val="FFFFFF"/>
                    </a:solidFill>
                  </a:tcPr>
                </a:tc>
              </a:tr>
              <a:tr h="329184">
                <a:tc>
                  <a:txBody>
                    <a:bodyPr wrap="square"/>
                    <a:lstStyle/>
                    <a:p>
                      <a:pPr algn="l"/>
                      <a:r>
                        <a:rPr sz="1100" b="1">
                          <a:solidFill>
                            <a:srgbClr val="333333"/>
                          </a:solidFill>
                        </a:rPr>
                        <a:t>131 Å reproduced</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76%</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101%</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90%</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101%</a:t>
                      </a:r>
                    </a:p>
                  </a:txBody>
                  <a:tcPr marL="54864" marR="54864" marT="27432" marB="27432" anchor="ctr">
                    <a:lnL w="0">
                      <a:noFill/>
                    </a:lnL>
                    <a:lnR w="0">
                      <a:noFill/>
                    </a:lnR>
                    <a:lnT w="0">
                      <a:noFill/>
                    </a:lnT>
                    <a:lnB w="6350">
                      <a:solidFill>
                        <a:srgbClr val="D9D3E3"/>
                      </a:solidFill>
                    </a:lnB>
                    <a:solidFill>
                      <a:srgbClr val="FFFFFF"/>
                    </a:solidFill>
                  </a:tcPr>
                </a:tc>
              </a:tr>
              <a:tr h="329184">
                <a:tc>
                  <a:txBody>
                    <a:bodyPr wrap="square"/>
                    <a:lstStyle/>
                    <a:p>
                      <a:pPr algn="l"/>
                      <a:r>
                        <a:rPr sz="1100" b="1">
                          <a:solidFill>
                            <a:srgbClr val="333333"/>
                          </a:solidFill>
                        </a:rPr>
                        <a:t>Peak height vs solver</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23%</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66%</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91%</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100%</a:t>
                      </a:r>
                    </a:p>
                  </a:txBody>
                  <a:tcPr marL="54864" marR="54864" marT="27432" marB="27432" anchor="ctr">
                    <a:lnL w="0">
                      <a:noFill/>
                    </a:lnL>
                    <a:lnR w="0">
                      <a:noFill/>
                    </a:lnR>
                    <a:lnT w="0">
                      <a:noFill/>
                    </a:lnT>
                    <a:lnB w="6350">
                      <a:solidFill>
                        <a:srgbClr val="D9D3E3"/>
                      </a:solidFill>
                    </a:lnB>
                    <a:solidFill>
                      <a:srgbClr val="FFFFFF"/>
                    </a:solidFill>
                  </a:tcPr>
                </a:tc>
              </a:tr>
              <a:tr h="329184">
                <a:tc>
                  <a:txBody>
                    <a:bodyPr wrap="square"/>
                    <a:lstStyle/>
                    <a:p>
                      <a:pPr algn="l"/>
                      <a:r>
                        <a:rPr sz="1100" b="1">
                          <a:solidFill>
                            <a:srgbClr val="333333"/>
                          </a:solidFill>
                        </a:rPr>
                        <a:t>Temperature shift (dex)</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−0.18</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−0.01</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0.00</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0</a:t>
                      </a:r>
                    </a:p>
                  </a:txBody>
                  <a:tcPr marL="54864" marR="54864" marT="27432" marB="27432" anchor="ctr">
                    <a:lnL w="0">
                      <a:noFill/>
                    </a:lnL>
                    <a:lnR w="0">
                      <a:noFill/>
                    </a:lnR>
                    <a:lnT w="0">
                      <a:noFill/>
                    </a:lnT>
                    <a:lnB w="6350">
                      <a:solidFill>
                        <a:srgbClr val="D9D3E3"/>
                      </a:solidFill>
                    </a:lnB>
                    <a:solidFill>
                      <a:srgbClr val="FFFFFF"/>
                    </a:solidFill>
                  </a:tcPr>
                </a:tc>
              </a:tr>
              <a:tr h="329184">
                <a:tc>
                  <a:txBody>
                    <a:bodyPr wrap="square"/>
                    <a:lstStyle/>
                    <a:p>
                      <a:pPr algn="l"/>
                      <a:r>
                        <a:rPr sz="1100" b="1">
                          <a:solidFill>
                            <a:srgbClr val="333333"/>
                          </a:solidFill>
                        </a:rPr>
                        <a:t>Curves with extra peaks</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83%</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25%</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13%</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18%</a:t>
                      </a:r>
                    </a:p>
                  </a:txBody>
                  <a:tcPr marL="54864" marR="54864" marT="27432" marB="27432" anchor="ctr">
                    <a:lnL w="0">
                      <a:noFill/>
                    </a:lnL>
                    <a:lnR w="0">
                      <a:noFill/>
                    </a:lnR>
                    <a:lnT w="0">
                      <a:noFill/>
                    </a:lnT>
                    <a:lnB w="6350">
                      <a:solidFill>
                        <a:srgbClr val="D9D3E3"/>
                      </a:solidFill>
                    </a:lnB>
                    <a:solidFill>
                      <a:srgbClr val="FFFFFF"/>
                    </a:solidFill>
                  </a:tcPr>
                </a:tc>
              </a:tr>
            </a:tbl>
          </a:graphicData>
        </a:graphic>
      </p:graphicFrame>
      <p:sp>
        <p:nvSpPr>
          <p:cNvPr id="4" name="TextBox 3"/>
          <p:cNvSpPr txBox="1"/>
          <p:nvPr/>
        </p:nvSpPr>
        <p:spPr>
          <a:xfrm>
            <a:off x="365760" y="3383280"/>
            <a:ext cx="4297680" cy="1051560"/>
          </a:xfrm>
          <a:prstGeom prst="rect">
            <a:avLst/>
          </a:prstGeom>
          <a:noFill/>
        </p:spPr>
        <p:txBody>
          <a:bodyPr wrap="square" anchor="t" lIns="0" rIns="0" tIns="0" bIns="0">
            <a:spAutoFit/>
          </a:bodyPr>
          <a:lstStyle/>
          <a:p>
            <a:pPr algn="l" marL="182880" indent="-182880">
              <a:spcAft>
                <a:spcPts val="400"/>
              </a:spcAft>
              <a:buClr>
                <a:srgbClr val="333333"/>
              </a:buClr>
              <a:buChar char="•"/>
            </a:pPr>
            <a:r>
              <a:rPr sz="1100" b="0" i="0">
                <a:solidFill>
                  <a:srgbClr val="333333"/>
                </a:solidFill>
              </a:rPr>
              <a:t>Spurious extra peaks were 42% of the old error; 3.5% now.</a:t>
            </a:r>
          </a:p>
          <a:p>
            <a:pPr algn="l" marL="182880" indent="-182880">
              <a:spcAft>
                <a:spcPts val="400"/>
              </a:spcAft>
              <a:buClr>
                <a:srgbClr val="333333"/>
              </a:buClr>
              <a:buChar char="•"/>
            </a:pPr>
            <a:r>
              <a:rPr sz="1100" b="0" i="0">
                <a:solidFill>
                  <a:srgbClr val="333333"/>
                </a:solidFill>
              </a:rPr>
              <a:t>It tracks the solver's peak height to ~100; above 3,000 it reaches 40%.</a:t>
            </a:r>
          </a:p>
        </p:txBody>
      </p:sp>
      <p:pic>
        <p:nvPicPr>
          <p:cNvPr id="5" name="Picture 4" descr="fig4_example_curves_bp.png"/>
          <p:cNvPicPr>
            <a:picLocks noChangeAspect="1"/>
          </p:cNvPicPr>
          <p:nvPr/>
        </p:nvPicPr>
        <p:blipFill>
          <a:blip r:embed="rId3"/>
          <a:stretch>
            <a:fillRect/>
          </a:stretch>
        </p:blipFill>
        <p:spPr>
          <a:xfrm>
            <a:off x="4709160" y="1226058"/>
            <a:ext cx="4069080" cy="2577084"/>
          </a:xfrm>
          <a:prstGeom prst="rect">
            <a:avLst/>
          </a:prstGeom>
        </p:spPr>
      </p:pic>
      <p:sp>
        <p:nvSpPr>
          <p:cNvPr id="6" name="TextBox 5"/>
          <p:cNvSpPr txBox="1"/>
          <p:nvPr/>
        </p:nvSpPr>
        <p:spPr>
          <a:xfrm>
            <a:off x="4709160" y="4114800"/>
            <a:ext cx="4069080" cy="274320"/>
          </a:xfrm>
          <a:prstGeom prst="rect">
            <a:avLst/>
          </a:prstGeom>
          <a:noFill/>
        </p:spPr>
        <p:txBody>
          <a:bodyPr wrap="square" anchor="t" lIns="0" rIns="0" tIns="0" bIns="0">
            <a:spAutoFit/>
          </a:bodyPr>
          <a:lstStyle/>
          <a:p>
            <a:pPr algn="l">
              <a:spcAft>
                <a:spcPts val="0"/>
              </a:spcAft>
            </a:pPr>
            <a:r>
              <a:rPr sz="950" b="0" i="1">
                <a:solidFill>
                  <a:srgbClr val="6B6B6B"/>
                </a:solidFill>
              </a:rPr>
              <a:t>New BP model at random flare cores (top rows), the same draw as two slides back.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What remains: flare cores still set the BP DEM MSE</a:t>
            </a:r>
          </a:p>
        </p:txBody>
      </p:sp>
      <p:sp>
        <p:nvSpPr>
          <p:cNvPr id="3" name="TextBox 2"/>
          <p:cNvSpPr txBox="1"/>
          <p:nvPr/>
        </p:nvSpPr>
        <p:spPr>
          <a:xfrm>
            <a:off x="365760" y="914400"/>
            <a:ext cx="4114800" cy="3566160"/>
          </a:xfrm>
          <a:prstGeom prst="rect">
            <a:avLst/>
          </a:prstGeom>
          <a:noFill/>
        </p:spPr>
        <p:txBody>
          <a:bodyPr wrap="square" anchor="t" lIns="0" rIns="0" tIns="0" bIns="0">
            <a:spAutoFit/>
          </a:bodyPr>
          <a:lstStyle/>
          <a:p>
            <a:pPr algn="l" marL="182880" indent="-182880">
              <a:spcAft>
                <a:spcPts val="700"/>
              </a:spcAft>
              <a:buClr>
                <a:srgbClr val="333333"/>
              </a:buClr>
              <a:buChar char="•"/>
            </a:pPr>
            <a:r>
              <a:rPr sz="1150" b="0" i="0">
                <a:solidFill>
                  <a:srgbClr val="333333"/>
                </a:solidFill>
              </a:rPr>
              <a:t>Error vs supervised by brightness: 0.55 on the faintest pixels, 1.0 at 0.3–1×, 0.9 to 1.3 at 1–10×, 1.9 at 10–32×, 2.0 at flare cores (old model: 0.64, 1.8, 2 to 5, 18, 4.7).</a:t>
            </a:r>
          </a:p>
          <a:p>
            <a:pPr algn="l" marL="182880" indent="-182880">
              <a:spcAft>
                <a:spcPts val="700"/>
              </a:spcAft>
              <a:buClr>
                <a:srgbClr val="333333"/>
              </a:buClr>
              <a:buChar char="•"/>
            </a:pPr>
            <a:r>
              <a:rPr sz="1150" b="0" i="0">
                <a:solidFill>
                  <a:srgbClr val="333333"/>
                </a:solidFill>
              </a:rPr>
              <a:t>Flare cores: 94% of our BP error, and the DEM MSE gap (1.75 vs 0.91). 94 Å is at 77% of observed against the solver's 92%; every other channel is at 100%.</a:t>
            </a:r>
          </a:p>
          <a:p>
            <a:pPr algn="l" marL="182880" indent="-182880">
              <a:spcAft>
                <a:spcPts val="700"/>
              </a:spcAft>
              <a:buClr>
                <a:srgbClr val="333333"/>
              </a:buClr>
              <a:buChar char="•"/>
            </a:pPr>
            <a:r>
              <a:rPr sz="1150" b="0" i="0">
                <a:solidFill>
                  <a:srgbClr val="333333"/>
                </a:solidFill>
              </a:rPr>
              <a:t>Longer training keeps closing it; 240 epochs from scratch starts to misfit a few pixels' AIA. A third 120-epoch continuation is untested.</a:t>
            </a:r>
          </a:p>
          <a:p>
            <a:pPr algn="l" marL="182880" indent="-182880">
              <a:spcAft>
                <a:spcPts val="700"/>
              </a:spcAft>
              <a:buClr>
                <a:srgbClr val="333333"/>
              </a:buClr>
              <a:buChar char="•"/>
            </a:pPr>
            <a:r>
              <a:rPr sz="1150" b="1" i="0">
                <a:solidFill>
                  <a:srgbClr val="57068C"/>
                </a:solidFill>
              </a:rPr>
              <a:t>The BP loss was the limit; training is now the limit, and it still has room.</a:t>
            </a:r>
          </a:p>
        </p:txBody>
      </p:sp>
      <p:pic>
        <p:nvPicPr>
          <p:cNvPr id="4" name="Picture 3" descr="fig5_aia_fit_flare_cores_bp.png"/>
          <p:cNvPicPr>
            <a:picLocks noChangeAspect="1"/>
          </p:cNvPicPr>
          <p:nvPr/>
        </p:nvPicPr>
        <p:blipFill>
          <a:blip r:embed="rId3"/>
          <a:stretch>
            <a:fillRect/>
          </a:stretch>
        </p:blipFill>
        <p:spPr>
          <a:xfrm>
            <a:off x="4663440" y="889091"/>
            <a:ext cx="4114800" cy="3159578"/>
          </a:xfrm>
          <a:prstGeom prst="rect">
            <a:avLst/>
          </a:prstGeom>
        </p:spPr>
      </p:pic>
      <p:sp>
        <p:nvSpPr>
          <p:cNvPr id="5" name="TextBox 4"/>
          <p:cNvSpPr txBox="1"/>
          <p:nvPr/>
        </p:nvSpPr>
        <p:spPr>
          <a:xfrm>
            <a:off x="4663440" y="4114800"/>
            <a:ext cx="4114800" cy="274320"/>
          </a:xfrm>
          <a:prstGeom prst="rect">
            <a:avLst/>
          </a:prstGeom>
          <a:noFill/>
        </p:spPr>
        <p:txBody>
          <a:bodyPr wrap="square" anchor="t" lIns="0" rIns="0" tIns="0" bIns="0">
            <a:spAutoFit/>
          </a:bodyPr>
          <a:lstStyle/>
          <a:p>
            <a:pPr algn="l">
              <a:spcAft>
                <a:spcPts val="0"/>
              </a:spcAft>
            </a:pPr>
            <a:r>
              <a:rPr sz="950" b="0" i="1">
                <a:solidFill>
                  <a:srgbClr val="6B6B6B"/>
                </a:solidFill>
              </a:rPr>
              <a:t>New BP model: reconstructed over observed AIA at flare cores.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1700" y="846450"/>
            <a:ext cx="8520600" cy="1671000"/>
          </a:xfrm>
        </p:spPr>
        <p:txBody>
          <a:bodyPr/>
          <a:lstStyle/>
          <a:p>
            <a:pPr algn="ctr"/>
            <a:r>
              <a:rPr sz="4100"/>
              <a:t>Part 5</a:t>
            </a:r>
            <a:br/>
            <a:r>
              <a:rPr sz="4100"/>
              <a:t>Next steps</a:t>
            </a:r>
          </a:p>
        </p:txBody>
      </p:sp>
      <p:sp>
        <p:nvSpPr>
          <p:cNvPr id="3" name="TextBox 2"/>
          <p:cNvSpPr txBox="1"/>
          <p:nvPr/>
        </p:nvSpPr>
        <p:spPr>
          <a:xfrm>
            <a:off x="457200" y="2606040"/>
            <a:ext cx="8229600" cy="457200"/>
          </a:xfrm>
          <a:prstGeom prst="rect">
            <a:avLst/>
          </a:prstGeom>
          <a:noFill/>
        </p:spPr>
        <p:txBody>
          <a:bodyPr wrap="square" anchor="t" lIns="0" rIns="0" tIns="0" bIns="0">
            <a:spAutoFit/>
          </a:bodyPr>
          <a:lstStyle/>
          <a:p>
            <a:pPr algn="ctr">
              <a:spcAft>
                <a:spcPts val="600"/>
              </a:spcAft>
            </a:pPr>
            <a:r>
              <a:rPr sz="1800" b="0" i="1">
                <a:solidFill>
                  <a:srgbClr val="6B6B6B"/>
                </a:solidFill>
              </a:rPr>
              <a:t>What we learned, and what to decide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What we learned</a:t>
            </a:r>
          </a:p>
        </p:txBody>
      </p:sp>
      <p:sp>
        <p:nvSpPr>
          <p:cNvPr id="3" name="Rounded Rectangle 2"/>
          <p:cNvSpPr/>
          <p:nvPr/>
        </p:nvSpPr>
        <p:spPr>
          <a:xfrm>
            <a:off x="365760" y="1005840"/>
            <a:ext cx="2682240" cy="141732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1133856"/>
            <a:ext cx="2353056" cy="320040"/>
          </a:xfrm>
          <a:prstGeom prst="rect">
            <a:avLst/>
          </a:prstGeom>
          <a:noFill/>
        </p:spPr>
        <p:txBody>
          <a:bodyPr wrap="square" anchor="t" lIns="0" rIns="0" tIns="0" bIns="0">
            <a:spAutoFit/>
          </a:bodyPr>
          <a:lstStyle/>
          <a:p>
            <a:pPr algn="l">
              <a:spcAft>
                <a:spcPts val="600"/>
              </a:spcAft>
            </a:pPr>
            <a:r>
              <a:rPr sz="1300" b="1" i="0">
                <a:solidFill>
                  <a:srgbClr val="57068C"/>
                </a:solidFill>
              </a:rPr>
              <a:t>1. Train on the objective</a:t>
            </a:r>
          </a:p>
        </p:txBody>
      </p:sp>
      <p:sp>
        <p:nvSpPr>
          <p:cNvPr id="5" name="TextBox 4"/>
          <p:cNvSpPr txBox="1"/>
          <p:nvPr/>
        </p:nvSpPr>
        <p:spPr>
          <a:xfrm>
            <a:off x="530352" y="1481328"/>
            <a:ext cx="2353056" cy="868680"/>
          </a:xfrm>
          <a:prstGeom prst="rect">
            <a:avLst/>
          </a:prstGeom>
          <a:noFill/>
        </p:spPr>
        <p:txBody>
          <a:bodyPr wrap="square" anchor="t" lIns="0" rIns="0" tIns="0" bIns="0">
            <a:spAutoFit/>
          </a:bodyPr>
          <a:lstStyle/>
          <a:p>
            <a:pPr algn="l">
              <a:spcAft>
                <a:spcPts val="600"/>
              </a:spcAft>
            </a:pPr>
            <a:r>
              <a:rPr sz="1200" b="0" i="0">
                <a:solidFill>
                  <a:srgbClr val="333333"/>
                </a:solidFill>
              </a:rPr>
              <a:t>The solver's own objective reproduces its DEMs without labels.</a:t>
            </a:r>
          </a:p>
        </p:txBody>
      </p:sp>
      <p:sp>
        <p:nvSpPr>
          <p:cNvPr id="6" name="Rounded Rectangle 5"/>
          <p:cNvSpPr/>
          <p:nvPr/>
        </p:nvSpPr>
        <p:spPr>
          <a:xfrm>
            <a:off x="3230880" y="1005840"/>
            <a:ext cx="2682240" cy="141732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95472" y="1133856"/>
            <a:ext cx="2353056" cy="320040"/>
          </a:xfrm>
          <a:prstGeom prst="rect">
            <a:avLst/>
          </a:prstGeom>
          <a:noFill/>
        </p:spPr>
        <p:txBody>
          <a:bodyPr wrap="square" anchor="t" lIns="0" rIns="0" tIns="0" bIns="0">
            <a:spAutoFit/>
          </a:bodyPr>
          <a:lstStyle/>
          <a:p>
            <a:pPr algn="l">
              <a:spcAft>
                <a:spcPts val="600"/>
              </a:spcAft>
            </a:pPr>
            <a:r>
              <a:rPr sz="1300" b="1" i="0">
                <a:solidFill>
                  <a:srgbClr val="57068C"/>
                </a:solidFill>
              </a:rPr>
              <a:t>2. Check the loss first</a:t>
            </a:r>
          </a:p>
        </p:txBody>
      </p:sp>
      <p:sp>
        <p:nvSpPr>
          <p:cNvPr id="8" name="TextBox 7"/>
          <p:cNvSpPr txBox="1"/>
          <p:nvPr/>
        </p:nvSpPr>
        <p:spPr>
          <a:xfrm>
            <a:off x="3395472" y="1481328"/>
            <a:ext cx="2353056" cy="868680"/>
          </a:xfrm>
          <a:prstGeom prst="rect">
            <a:avLst/>
          </a:prstGeom>
          <a:noFill/>
        </p:spPr>
        <p:txBody>
          <a:bodyPr wrap="square" anchor="t" lIns="0" rIns="0" tIns="0" bIns="0">
            <a:spAutoFit/>
          </a:bodyPr>
          <a:lstStyle/>
          <a:p>
            <a:pPr algn="l">
              <a:spcAft>
                <a:spcPts val="600"/>
              </a:spcAft>
            </a:pPr>
            <a:r>
              <a:rPr sz="1200" b="0" i="0">
                <a:solidFill>
                  <a:srgbClr val="333333"/>
                </a:solidFill>
              </a:rPr>
              <a:t>The BP network sat at its loss's optimum, and that optimum dropped the hot plasma. No training change could fix that; a stiffer band did.</a:t>
            </a:r>
          </a:p>
        </p:txBody>
      </p:sp>
      <p:sp>
        <p:nvSpPr>
          <p:cNvPr id="9" name="Rounded Rectangle 8"/>
          <p:cNvSpPr/>
          <p:nvPr/>
        </p:nvSpPr>
        <p:spPr>
          <a:xfrm>
            <a:off x="6096000" y="1005840"/>
            <a:ext cx="2682240" cy="141732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0592" y="1133856"/>
            <a:ext cx="2353056" cy="320040"/>
          </a:xfrm>
          <a:prstGeom prst="rect">
            <a:avLst/>
          </a:prstGeom>
          <a:noFill/>
        </p:spPr>
        <p:txBody>
          <a:bodyPr wrap="square" anchor="t" lIns="0" rIns="0" tIns="0" bIns="0">
            <a:spAutoFit/>
          </a:bodyPr>
          <a:lstStyle/>
          <a:p>
            <a:pPr algn="l">
              <a:spcAft>
                <a:spcPts val="600"/>
              </a:spcAft>
            </a:pPr>
            <a:r>
              <a:rPr sz="1300" b="1" i="0">
                <a:solidFill>
                  <a:srgbClr val="57068C"/>
                </a:solidFill>
              </a:rPr>
              <a:t>3. Simple scales</a:t>
            </a:r>
          </a:p>
        </p:txBody>
      </p:sp>
      <p:sp>
        <p:nvSpPr>
          <p:cNvPr id="11" name="TextBox 10"/>
          <p:cNvSpPr txBox="1"/>
          <p:nvPr/>
        </p:nvSpPr>
        <p:spPr>
          <a:xfrm>
            <a:off x="6260592" y="1481328"/>
            <a:ext cx="2353056" cy="868680"/>
          </a:xfrm>
          <a:prstGeom prst="rect">
            <a:avLst/>
          </a:prstGeom>
          <a:noFill/>
        </p:spPr>
        <p:txBody>
          <a:bodyPr wrap="square" anchor="t" lIns="0" rIns="0" tIns="0" bIns="0">
            <a:spAutoFit/>
          </a:bodyPr>
          <a:lstStyle/>
          <a:p>
            <a:pPr algn="l">
              <a:spcAft>
                <a:spcPts val="600"/>
              </a:spcAft>
            </a:pPr>
            <a:r>
              <a:rPr sz="1200" b="0" i="0">
                <a:solidFill>
                  <a:srgbClr val="333333"/>
                </a:solidFill>
              </a:rPr>
              <a:t>A centre-pixel MLP; the patch CNN never won on unseen days.</a:t>
            </a:r>
          </a:p>
        </p:txBody>
      </p:sp>
      <p:sp>
        <p:nvSpPr>
          <p:cNvPr id="12" name="Rounded Rectangle 11"/>
          <p:cNvSpPr/>
          <p:nvPr/>
        </p:nvSpPr>
        <p:spPr>
          <a:xfrm>
            <a:off x="365760" y="2606040"/>
            <a:ext cx="2682240" cy="141732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2734056"/>
            <a:ext cx="2353056" cy="320040"/>
          </a:xfrm>
          <a:prstGeom prst="rect">
            <a:avLst/>
          </a:prstGeom>
          <a:noFill/>
        </p:spPr>
        <p:txBody>
          <a:bodyPr wrap="square" anchor="t" lIns="0" rIns="0" tIns="0" bIns="0">
            <a:spAutoFit/>
          </a:bodyPr>
          <a:lstStyle/>
          <a:p>
            <a:pPr algn="l">
              <a:spcAft>
                <a:spcPts val="600"/>
              </a:spcAft>
            </a:pPr>
            <a:r>
              <a:rPr sz="1300" b="1" i="0">
                <a:solidFill>
                  <a:srgbClr val="57068C"/>
                </a:solidFill>
              </a:rPr>
              <a:t>4. Size has a ceiling</a:t>
            </a:r>
          </a:p>
        </p:txBody>
      </p:sp>
      <p:sp>
        <p:nvSpPr>
          <p:cNvPr id="14" name="TextBox 13"/>
          <p:cNvSpPr txBox="1"/>
          <p:nvPr/>
        </p:nvSpPr>
        <p:spPr>
          <a:xfrm>
            <a:off x="530352" y="3081528"/>
            <a:ext cx="2353056" cy="868680"/>
          </a:xfrm>
          <a:prstGeom prst="rect">
            <a:avLst/>
          </a:prstGeom>
          <a:noFill/>
        </p:spPr>
        <p:txBody>
          <a:bodyPr wrap="square" anchor="t" lIns="0" rIns="0" tIns="0" bIns="0">
            <a:spAutoFit/>
          </a:bodyPr>
          <a:lstStyle/>
          <a:p>
            <a:pPr algn="l">
              <a:spcAft>
                <a:spcPts val="600"/>
              </a:spcAft>
            </a:pPr>
            <a:r>
              <a:rPr sz="1200" b="0" i="0">
                <a:solidFill>
                  <a:srgbClr val="333333"/>
                </a:solidFill>
              </a:rPr>
              <a:t>Fresh pixels pay off up to width 336; 1.43M and 10M models blow up on a few rare pixels, on both tracks.</a:t>
            </a:r>
          </a:p>
        </p:txBody>
      </p:sp>
      <p:sp>
        <p:nvSpPr>
          <p:cNvPr id="15" name="Rounded Rectangle 14"/>
          <p:cNvSpPr/>
          <p:nvPr/>
        </p:nvSpPr>
        <p:spPr>
          <a:xfrm>
            <a:off x="3230880" y="2606040"/>
            <a:ext cx="2682240" cy="141732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95472" y="2734056"/>
            <a:ext cx="2353056" cy="320040"/>
          </a:xfrm>
          <a:prstGeom prst="rect">
            <a:avLst/>
          </a:prstGeom>
          <a:noFill/>
        </p:spPr>
        <p:txBody>
          <a:bodyPr wrap="square" anchor="t" lIns="0" rIns="0" tIns="0" bIns="0">
            <a:spAutoFit/>
          </a:bodyPr>
          <a:lstStyle/>
          <a:p>
            <a:pPr algn="l">
              <a:spcAft>
                <a:spcPts val="600"/>
              </a:spcAft>
            </a:pPr>
            <a:r>
              <a:rPr sz="1300" b="1" i="0">
                <a:solidFill>
                  <a:srgbClr val="57068C"/>
                </a:solidFill>
              </a:rPr>
              <a:t>5. Heavy tails</a:t>
            </a:r>
          </a:p>
        </p:txBody>
      </p:sp>
      <p:sp>
        <p:nvSpPr>
          <p:cNvPr id="17" name="TextBox 16"/>
          <p:cNvSpPr txBox="1"/>
          <p:nvPr/>
        </p:nvSpPr>
        <p:spPr>
          <a:xfrm>
            <a:off x="3395472" y="3081528"/>
            <a:ext cx="2353056" cy="868680"/>
          </a:xfrm>
          <a:prstGeom prst="rect">
            <a:avLst/>
          </a:prstGeom>
          <a:noFill/>
        </p:spPr>
        <p:txBody>
          <a:bodyPr wrap="square" anchor="t" lIns="0" rIns="0" tIns="0" bIns="0">
            <a:spAutoFit/>
          </a:bodyPr>
          <a:lstStyle/>
          <a:p>
            <a:pPr algn="l">
              <a:spcAft>
                <a:spcPts val="600"/>
              </a:spcAft>
            </a:pPr>
            <a:r>
              <a:rPr sz="1200" b="0" i="0">
                <a:solidFill>
                  <a:srgbClr val="333333"/>
                </a:solidFill>
              </a:rPr>
              <a:t>Report medians and percentiles: a handful of pixels can own the mean, or blow up.</a:t>
            </a:r>
          </a:p>
        </p:txBody>
      </p:sp>
      <p:sp>
        <p:nvSpPr>
          <p:cNvPr id="18" name="Rounded Rectangle 17"/>
          <p:cNvSpPr/>
          <p:nvPr/>
        </p:nvSpPr>
        <p:spPr>
          <a:xfrm>
            <a:off x="6096000" y="2606040"/>
            <a:ext cx="2682240" cy="141732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0592" y="2734056"/>
            <a:ext cx="2353056" cy="320040"/>
          </a:xfrm>
          <a:prstGeom prst="rect">
            <a:avLst/>
          </a:prstGeom>
          <a:noFill/>
        </p:spPr>
        <p:txBody>
          <a:bodyPr wrap="square" anchor="t" lIns="0" rIns="0" tIns="0" bIns="0">
            <a:spAutoFit/>
          </a:bodyPr>
          <a:lstStyle/>
          <a:p>
            <a:pPr algn="l">
              <a:spcAft>
                <a:spcPts val="600"/>
              </a:spcAft>
            </a:pPr>
            <a:r>
              <a:rPr sz="1300" b="1" i="0">
                <a:solidFill>
                  <a:srgbClr val="57068C"/>
                </a:solidFill>
              </a:rPr>
              <a:t>6. Input encoding</a:t>
            </a:r>
          </a:p>
        </p:txBody>
      </p:sp>
      <p:sp>
        <p:nvSpPr>
          <p:cNvPr id="20" name="TextBox 19"/>
          <p:cNvSpPr txBox="1"/>
          <p:nvPr/>
        </p:nvSpPr>
        <p:spPr>
          <a:xfrm>
            <a:off x="6260592" y="3081528"/>
            <a:ext cx="2353056" cy="868680"/>
          </a:xfrm>
          <a:prstGeom prst="rect">
            <a:avLst/>
          </a:prstGeom>
          <a:noFill/>
        </p:spPr>
        <p:txBody>
          <a:bodyPr wrap="square" anchor="t" lIns="0" rIns="0" tIns="0" bIns="0">
            <a:spAutoFit/>
          </a:bodyPr>
          <a:lstStyle/>
          <a:p>
            <a:pPr algn="l">
              <a:spcAft>
                <a:spcPts val="600"/>
              </a:spcAft>
            </a:pPr>
            <a:r>
              <a:rPr sz="1200" b="0" i="0">
                <a:solidFill>
                  <a:srgbClr val="333333"/>
                </a:solidFill>
              </a:rPr>
              <a:t>√ + Fourier features for both tracks: lifts ElasticNet past the supervised model and beats log1p on the stiff BP band.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Next</a:t>
            </a:r>
          </a:p>
        </p:txBody>
      </p:sp>
      <p:sp>
        <p:nvSpPr>
          <p:cNvPr id="3" name="Rounded Rectangle 2"/>
          <p:cNvSpPr/>
          <p:nvPr/>
        </p:nvSpPr>
        <p:spPr>
          <a:xfrm>
            <a:off x="365760" y="1005840"/>
            <a:ext cx="4114800" cy="146304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1133856"/>
            <a:ext cx="3785616" cy="320040"/>
          </a:xfrm>
          <a:prstGeom prst="rect">
            <a:avLst/>
          </a:prstGeom>
          <a:noFill/>
        </p:spPr>
        <p:txBody>
          <a:bodyPr wrap="square" anchor="t" lIns="0" rIns="0" tIns="0" bIns="0">
            <a:spAutoFit/>
          </a:bodyPr>
          <a:lstStyle/>
          <a:p>
            <a:pPr algn="l">
              <a:spcAft>
                <a:spcPts val="600"/>
              </a:spcAft>
            </a:pPr>
            <a:r>
              <a:rPr sz="1300" b="1" i="0">
                <a:solidFill>
                  <a:srgbClr val="57068C"/>
                </a:solidFill>
              </a:rPr>
              <a:t>Keep training BP</a:t>
            </a:r>
          </a:p>
        </p:txBody>
      </p:sp>
      <p:sp>
        <p:nvSpPr>
          <p:cNvPr id="5" name="TextBox 4"/>
          <p:cNvSpPr txBox="1"/>
          <p:nvPr/>
        </p:nvSpPr>
        <p:spPr>
          <a:xfrm>
            <a:off x="530352" y="1481328"/>
            <a:ext cx="3785616" cy="914400"/>
          </a:xfrm>
          <a:prstGeom prst="rect">
            <a:avLst/>
          </a:prstGeom>
          <a:noFill/>
        </p:spPr>
        <p:txBody>
          <a:bodyPr wrap="square" anchor="t" lIns="0" rIns="0" tIns="0" bIns="0">
            <a:spAutoFit/>
          </a:bodyPr>
          <a:lstStyle/>
          <a:p>
            <a:pPr algn="l">
              <a:spcAft>
                <a:spcPts val="600"/>
              </a:spcAft>
            </a:pPr>
            <a:r>
              <a:rPr sz="1300" b="0" i="0">
                <a:solidFill>
                  <a:srgbClr val="333333"/>
                </a:solidFill>
              </a:rPr>
              <a:t>The stiff-band model still improves with epochs; a third 120-epoch continuation is untested. Watch the AIA fit on rare pixels.</a:t>
            </a:r>
          </a:p>
        </p:txBody>
      </p:sp>
      <p:sp>
        <p:nvSpPr>
          <p:cNvPr id="6" name="Rounded Rectangle 5"/>
          <p:cNvSpPr/>
          <p:nvPr/>
        </p:nvSpPr>
        <p:spPr>
          <a:xfrm>
            <a:off x="4663440" y="1005840"/>
            <a:ext cx="4114800" cy="146304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8032" y="1133856"/>
            <a:ext cx="3785616" cy="320040"/>
          </a:xfrm>
          <a:prstGeom prst="rect">
            <a:avLst/>
          </a:prstGeom>
          <a:noFill/>
        </p:spPr>
        <p:txBody>
          <a:bodyPr wrap="square" anchor="t" lIns="0" rIns="0" tIns="0" bIns="0">
            <a:spAutoFit/>
          </a:bodyPr>
          <a:lstStyle/>
          <a:p>
            <a:pPr algn="l">
              <a:spcAft>
                <a:spcPts val="600"/>
              </a:spcAft>
            </a:pPr>
            <a:r>
              <a:rPr sz="1300" b="1" i="0">
                <a:solidFill>
                  <a:srgbClr val="57068C"/>
                </a:solidFill>
              </a:rPr>
              <a:t>Validate on every pixel</a:t>
            </a:r>
          </a:p>
        </p:txBody>
      </p:sp>
      <p:sp>
        <p:nvSpPr>
          <p:cNvPr id="8" name="TextBox 7"/>
          <p:cNvSpPr txBox="1"/>
          <p:nvPr/>
        </p:nvSpPr>
        <p:spPr>
          <a:xfrm>
            <a:off x="4828032" y="1481328"/>
            <a:ext cx="3785616" cy="914400"/>
          </a:xfrm>
          <a:prstGeom prst="rect">
            <a:avLst/>
          </a:prstGeom>
          <a:noFill/>
        </p:spPr>
        <p:txBody>
          <a:bodyPr wrap="square" anchor="t" lIns="0" rIns="0" tIns="0" bIns="0">
            <a:spAutoFit/>
          </a:bodyPr>
          <a:lstStyle/>
          <a:p>
            <a:pPr algn="l">
              <a:spcAft>
                <a:spcPts val="600"/>
              </a:spcAft>
            </a:pPr>
            <a:r>
              <a:rPr sz="1300" b="0" i="0">
                <a:solidFill>
                  <a:srgbClr val="333333"/>
                </a:solidFill>
              </a:rPr>
              <a:t>A sampled validation set missed the blow-ups; score all pixels.</a:t>
            </a:r>
          </a:p>
        </p:txBody>
      </p:sp>
      <p:sp>
        <p:nvSpPr>
          <p:cNvPr id="9" name="Rounded Rectangle 8"/>
          <p:cNvSpPr/>
          <p:nvPr/>
        </p:nvSpPr>
        <p:spPr>
          <a:xfrm>
            <a:off x="365760" y="2651760"/>
            <a:ext cx="4114800" cy="146304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2779776"/>
            <a:ext cx="3785616" cy="320040"/>
          </a:xfrm>
          <a:prstGeom prst="rect">
            <a:avLst/>
          </a:prstGeom>
          <a:noFill/>
        </p:spPr>
        <p:txBody>
          <a:bodyPr wrap="square" anchor="t" lIns="0" rIns="0" tIns="0" bIns="0">
            <a:spAutoFit/>
          </a:bodyPr>
          <a:lstStyle/>
          <a:p>
            <a:pPr algn="l">
              <a:spcAft>
                <a:spcPts val="600"/>
              </a:spcAft>
            </a:pPr>
            <a:r>
              <a:rPr sz="1300" b="1" i="0">
                <a:solidFill>
                  <a:srgbClr val="57068C"/>
                </a:solidFill>
              </a:rPr>
              <a:t>Direct DEM output</a:t>
            </a:r>
          </a:p>
        </p:txBody>
      </p:sp>
      <p:sp>
        <p:nvSpPr>
          <p:cNvPr id="11" name="TextBox 10"/>
          <p:cNvSpPr txBox="1"/>
          <p:nvPr/>
        </p:nvSpPr>
        <p:spPr>
          <a:xfrm>
            <a:off x="530352" y="3127248"/>
            <a:ext cx="3785616" cy="914400"/>
          </a:xfrm>
          <a:prstGeom prst="rect">
            <a:avLst/>
          </a:prstGeom>
          <a:noFill/>
        </p:spPr>
        <p:txBody>
          <a:bodyPr wrap="square" anchor="t" lIns="0" rIns="0" tIns="0" bIns="0">
            <a:spAutoFit/>
          </a:bodyPr>
          <a:lstStyle/>
          <a:p>
            <a:pPr algn="l">
              <a:spcAft>
                <a:spcPts val="600"/>
              </a:spcAft>
            </a:pPr>
            <a:r>
              <a:rPr sz="1300" b="0" i="0">
                <a:solidFill>
                  <a:srgbClr val="333333"/>
                </a:solidFill>
              </a:rPr>
              <a:t>Predict the 18 bins instead of 54 basis weights (deferred).</a:t>
            </a:r>
          </a:p>
        </p:txBody>
      </p:sp>
      <p:sp>
        <p:nvSpPr>
          <p:cNvPr id="12" name="Rounded Rectangle 11"/>
          <p:cNvSpPr/>
          <p:nvPr/>
        </p:nvSpPr>
        <p:spPr>
          <a:xfrm>
            <a:off x="4663440" y="2651760"/>
            <a:ext cx="4114800" cy="146304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28032" y="2779776"/>
            <a:ext cx="3785616" cy="320040"/>
          </a:xfrm>
          <a:prstGeom prst="rect">
            <a:avLst/>
          </a:prstGeom>
          <a:noFill/>
        </p:spPr>
        <p:txBody>
          <a:bodyPr wrap="square" anchor="t" lIns="0" rIns="0" tIns="0" bIns="0">
            <a:spAutoFit/>
          </a:bodyPr>
          <a:lstStyle/>
          <a:p>
            <a:pPr algn="l">
              <a:spcAft>
                <a:spcPts val="600"/>
              </a:spcAft>
            </a:pPr>
            <a:r>
              <a:rPr sz="1300" b="1" i="0">
                <a:solidFill>
                  <a:srgbClr val="57068C"/>
                </a:solidFill>
              </a:rPr>
              <a:t>Uncertainty, AIA + XRT</a:t>
            </a:r>
          </a:p>
        </p:txBody>
      </p:sp>
      <p:sp>
        <p:nvSpPr>
          <p:cNvPr id="14" name="TextBox 13"/>
          <p:cNvSpPr txBox="1"/>
          <p:nvPr/>
        </p:nvSpPr>
        <p:spPr>
          <a:xfrm>
            <a:off x="4828032" y="3127248"/>
            <a:ext cx="3785616" cy="914400"/>
          </a:xfrm>
          <a:prstGeom prst="rect">
            <a:avLst/>
          </a:prstGeom>
          <a:noFill/>
        </p:spPr>
        <p:txBody>
          <a:bodyPr wrap="square" anchor="t" lIns="0" rIns="0" tIns="0" bIns="0">
            <a:spAutoFit/>
          </a:bodyPr>
          <a:lstStyle/>
          <a:p>
            <a:pPr algn="l">
              <a:spcAft>
                <a:spcPts val="600"/>
              </a:spcAft>
            </a:pPr>
            <a:r>
              <a:rPr sz="1300" b="0" i="0">
                <a:solidFill>
                  <a:srgbClr val="333333"/>
                </a:solidFill>
              </a:rPr>
              <a:t>A distribution over DEMs from the noisy re-solves; XRT for the hot plasma.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For discussion</a:t>
            </a:r>
          </a:p>
        </p:txBody>
      </p:sp>
      <p:sp>
        <p:nvSpPr>
          <p:cNvPr id="3" name="TextBox 2"/>
          <p:cNvSpPr txBox="1"/>
          <p:nvPr/>
        </p:nvSpPr>
        <p:spPr>
          <a:xfrm>
            <a:off x="365760" y="1005840"/>
            <a:ext cx="8412480" cy="3383280"/>
          </a:xfrm>
          <a:prstGeom prst="rect">
            <a:avLst/>
          </a:prstGeom>
          <a:noFill/>
        </p:spPr>
        <p:txBody>
          <a:bodyPr wrap="square" anchor="t" lIns="0" rIns="0" tIns="0" bIns="0">
            <a:spAutoFit/>
          </a:bodyPr>
          <a:lstStyle/>
          <a:p>
            <a:pPr algn="l" marL="182880" indent="-182880">
              <a:spcAft>
                <a:spcPts val="1800"/>
              </a:spcAft>
              <a:buClr>
                <a:srgbClr val="333333"/>
              </a:buClr>
              <a:buChar char="•"/>
            </a:pPr>
            <a:r>
              <a:rPr sz="1500" b="0" i="0">
                <a:solidFill>
                  <a:srgbClr val="333333"/>
                </a:solidFill>
              </a:rPr>
              <a:t>Which metric should lead the paper? DEM MSE is set by 0.01% of pixels; up to the 99th percentile we are level with or ahead of the supervised model on BP.</a:t>
            </a:r>
          </a:p>
          <a:p>
            <a:pPr algn="l" marL="182880" indent="-182880">
              <a:spcAft>
                <a:spcPts val="1800"/>
              </a:spcAft>
              <a:buClr>
                <a:srgbClr val="333333"/>
              </a:buClr>
              <a:buChar char="•"/>
            </a:pPr>
            <a:r>
              <a:rPr sz="1500" b="0" i="0">
                <a:solidFill>
                  <a:srgbClr val="333333"/>
                </a:solidFill>
              </a:rPr>
              <a:t>Train the BP model longer (a third continuation), or freeze here at 1.9× the supervised DEM MSE?</a:t>
            </a:r>
          </a:p>
          <a:p>
            <a:pPr algn="l" marL="182880" indent="-182880">
              <a:spcAft>
                <a:spcPts val="1800"/>
              </a:spcAft>
              <a:buClr>
                <a:srgbClr val="333333"/>
              </a:buClr>
              <a:buChar char="•"/>
            </a:pPr>
            <a:r>
              <a:rPr sz="1500" b="0" i="0">
                <a:solidFill>
                  <a:srgbClr val="333333"/>
                </a:solidFill>
              </a:rPr>
              <a:t>Is AIA + XRT in scope for this paper?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1700" y="846450"/>
            <a:ext cx="8520600" cy="1671000"/>
          </a:xfrm>
        </p:spPr>
        <p:txBody>
          <a:bodyPr/>
          <a:lstStyle/>
          <a:p>
            <a:pPr algn="ctr"/>
            <a:r>
              <a:rPr sz="4100"/>
              <a:t>Appendix</a:t>
            </a:r>
            <a:br/>
            <a:r>
              <a:rPr sz="4100"/>
              <a:t>Backup slides</a:t>
            </a:r>
          </a:p>
        </p:txBody>
      </p:sp>
      <p:sp>
        <p:nvSpPr>
          <p:cNvPr id="3" name="TextBox 2"/>
          <p:cNvSpPr txBox="1"/>
          <p:nvPr/>
        </p:nvSpPr>
        <p:spPr>
          <a:xfrm>
            <a:off x="457200" y="2606040"/>
            <a:ext cx="8229600" cy="457200"/>
          </a:xfrm>
          <a:prstGeom prst="rect">
            <a:avLst/>
          </a:prstGeom>
          <a:noFill/>
        </p:spPr>
        <p:txBody>
          <a:bodyPr wrap="square" anchor="t" lIns="0" rIns="0" tIns="0" bIns="0">
            <a:spAutoFit/>
          </a:bodyPr>
          <a:lstStyle/>
          <a:p>
            <a:pPr algn="ctr">
              <a:spcAft>
                <a:spcPts val="600"/>
              </a:spcAft>
            </a:pPr>
            <a:r>
              <a:rPr sz="1800" b="0" i="1">
                <a:solidFill>
                  <a:srgbClr val="6B6B6B"/>
                </a:solidFill>
              </a:rPr>
              <a:t>The history, and answers to likely questions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Six channels underdetermine the DEM: the regulariser picks it</a:t>
            </a:r>
          </a:p>
        </p:txBody>
      </p:sp>
      <p:sp>
        <p:nvSpPr>
          <p:cNvPr id="3" name="TextBox 2"/>
          <p:cNvSpPr txBox="1"/>
          <p:nvPr/>
        </p:nvSpPr>
        <p:spPr>
          <a:xfrm>
            <a:off x="365760" y="914400"/>
            <a:ext cx="8412480" cy="1371600"/>
          </a:xfrm>
          <a:prstGeom prst="rect">
            <a:avLst/>
          </a:prstGeom>
          <a:noFill/>
        </p:spPr>
        <p:txBody>
          <a:bodyPr wrap="square" anchor="t" lIns="0" rIns="0" tIns="0" bIns="0">
            <a:spAutoFit/>
          </a:bodyPr>
          <a:lstStyle/>
          <a:p>
            <a:pPr algn="l" marL="182880" indent="-182880">
              <a:spcAft>
                <a:spcPts val="500"/>
              </a:spcAft>
              <a:buClr>
                <a:srgbClr val="333333"/>
              </a:buClr>
              <a:buChar char="•"/>
            </a:pPr>
            <a:r>
              <a:rPr sz="1250" b="0" i="0">
                <a:solidFill>
                  <a:srgbClr val="333333"/>
                </a:solidFill>
              </a:rPr>
              <a:t>Before any network: five losses optimised directly, pixel by pixel, on 4 timestamps, each compared with BP.</a:t>
            </a:r>
          </a:p>
          <a:p>
            <a:pPr algn="l" marL="182880" indent="-182880">
              <a:spcAft>
                <a:spcPts val="500"/>
              </a:spcAft>
              <a:buClr>
                <a:srgbClr val="333333"/>
              </a:buClr>
              <a:buChar char="•"/>
            </a:pPr>
            <a:r>
              <a:rPr sz="1250" b="0" i="0">
                <a:solidFill>
                  <a:srgbClr val="333333"/>
                </a:solidFill>
              </a:rPr>
              <a:t>Fit-only losses (χ² + smoothness, max entropy, Tikhonov) reconstruct AIA ~12x better than BP, yet land ~5x further from its DEM.</a:t>
            </a:r>
          </a:p>
          <a:p>
            <a:pPr algn="l" marL="182880" indent="-182880">
              <a:spcAft>
                <a:spcPts val="500"/>
              </a:spcAft>
              <a:buClr>
                <a:srgbClr val="333333"/>
              </a:buClr>
              <a:buChar char="•"/>
            </a:pPr>
            <a:r>
              <a:rPr sz="1250" b="0" i="0">
                <a:solidFill>
                  <a:srgbClr val="333333"/>
                </a:solidFill>
              </a:rPr>
              <a:t>BP's own terms (noise band + L1) land on BP's DEM: MAE 0.03 vs 0.18–0.20.</a:t>
            </a:r>
          </a:p>
        </p:txBody>
      </p:sp>
      <p:pic>
        <p:nvPicPr>
          <p:cNvPr id="4" name="Picture 3" descr="loss_pixels.png"/>
          <p:cNvPicPr>
            <a:picLocks noChangeAspect="1"/>
          </p:cNvPicPr>
          <p:nvPr/>
        </p:nvPicPr>
        <p:blipFill>
          <a:blip r:embed="rId3"/>
          <a:stretch>
            <a:fillRect/>
          </a:stretch>
        </p:blipFill>
        <p:spPr>
          <a:xfrm>
            <a:off x="365760" y="1949398"/>
            <a:ext cx="8412480" cy="1807060"/>
          </a:xfrm>
          <a:prstGeom prst="rect">
            <a:avLst/>
          </a:prstGeom>
        </p:spPr>
      </p:pic>
      <p:sp>
        <p:nvSpPr>
          <p:cNvPr id="5" name="TextBox 4"/>
          <p:cNvSpPr txBox="1"/>
          <p:nvPr/>
        </p:nvSpPr>
        <p:spPr>
          <a:xfrm>
            <a:off x="365760" y="3794760"/>
            <a:ext cx="8412480" cy="274320"/>
          </a:xfrm>
          <a:prstGeom prst="rect">
            <a:avLst/>
          </a:prstGeom>
          <a:noFill/>
        </p:spPr>
        <p:txBody>
          <a:bodyPr wrap="square" anchor="t" lIns="0" rIns="0" tIns="0" bIns="0">
            <a:spAutoFit/>
          </a:bodyPr>
          <a:lstStyle/>
          <a:p>
            <a:pPr algn="l">
              <a:spcAft>
                <a:spcPts val="0"/>
              </a:spcAft>
            </a:pPr>
            <a:r>
              <a:rPr sz="950" b="0" i="1">
                <a:solidFill>
                  <a:srgbClr val="6B6B6B"/>
                </a:solidFill>
              </a:rPr>
              <a:t>Two example pixels; BP in black. Legend MAE is AIA reconstruction error.</a:t>
            </a:r>
          </a:p>
        </p:txBody>
      </p:sp>
      <p:sp>
        <p:nvSpPr>
          <p:cNvPr id="6" name="TextBox 5"/>
          <p:cNvSpPr txBox="1"/>
          <p:nvPr/>
        </p:nvSpPr>
        <p:spPr>
          <a:xfrm>
            <a:off x="365760" y="4114800"/>
            <a:ext cx="8412480" cy="274320"/>
          </a:xfrm>
          <a:prstGeom prst="rect">
            <a:avLst/>
          </a:prstGeom>
          <a:noFill/>
        </p:spPr>
        <p:txBody>
          <a:bodyPr wrap="square" anchor="t" lIns="0" rIns="0" tIns="0" bIns="0">
            <a:spAutoFit/>
          </a:bodyPr>
          <a:lstStyle/>
          <a:p>
            <a:pPr algn="l">
              <a:spcAft>
                <a:spcPts val="600"/>
              </a:spcAft>
            </a:pPr>
            <a:r>
              <a:rPr sz="1250" b="1" i="0">
                <a:solidFill>
                  <a:srgbClr val="57068C"/>
                </a:solidFill>
              </a:rPr>
              <a:t>So the network has to train on the solver's objective, not on fit.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A per-pixel MLP missed BP's shape; a patch CNN tracked it</a:t>
            </a:r>
          </a:p>
        </p:txBody>
      </p:sp>
      <p:sp>
        <p:nvSpPr>
          <p:cNvPr id="3" name="TextBox 2"/>
          <p:cNvSpPr txBox="1"/>
          <p:nvPr/>
        </p:nvSpPr>
        <p:spPr>
          <a:xfrm>
            <a:off x="365760" y="868680"/>
            <a:ext cx="8412480" cy="274320"/>
          </a:xfrm>
          <a:prstGeom prst="rect">
            <a:avLst/>
          </a:prstGeom>
          <a:noFill/>
        </p:spPr>
        <p:txBody>
          <a:bodyPr wrap="square" anchor="t" lIns="0" rIns="0" tIns="0" bIns="0">
            <a:spAutoFit/>
          </a:bodyPr>
          <a:lstStyle/>
          <a:p>
            <a:pPr algn="l">
              <a:spcAft>
                <a:spcPts val="600"/>
              </a:spcAft>
            </a:pPr>
            <a:r>
              <a:rPr sz="1050" b="0" i="0">
                <a:solidFill>
                  <a:srgbClr val="6B6B6B"/>
                </a:solidFill>
              </a:rPr>
              <a:t>4 images: X2.1 flare (2011), quiet Sun (2012), moderate activity (2013), X1.6 flare (2014); small crops near disk centre.</a:t>
            </a:r>
          </a:p>
        </p:txBody>
      </p:sp>
      <p:sp>
        <p:nvSpPr>
          <p:cNvPr id="4" name="TextBox 3"/>
          <p:cNvSpPr txBox="1"/>
          <p:nvPr/>
        </p:nvSpPr>
        <p:spPr>
          <a:xfrm>
            <a:off x="365760" y="1280160"/>
            <a:ext cx="4937760" cy="3017520"/>
          </a:xfrm>
          <a:prstGeom prst="rect">
            <a:avLst/>
          </a:prstGeom>
          <a:noFill/>
        </p:spPr>
        <p:txBody>
          <a:bodyPr wrap="square" anchor="t" lIns="0" rIns="0" tIns="0" bIns="0">
            <a:spAutoFit/>
          </a:bodyPr>
          <a:lstStyle/>
          <a:p>
            <a:pPr algn="l" marL="182880" indent="-182880">
              <a:spcAft>
                <a:spcPts val="1000"/>
              </a:spcAft>
              <a:buClr>
                <a:srgbClr val="333333"/>
              </a:buClr>
              <a:buChar char="•"/>
            </a:pPr>
            <a:r>
              <a:rPr sz="1250" b="1" i="0">
                <a:solidFill>
                  <a:srgbClr val="57068C"/>
                </a:solidFill>
              </a:rPr>
              <a:t>First try: </a:t>
            </a:r>
            <a:r>
              <a:rPr sz="1250" b="0" i="0">
                <a:solidFill>
                  <a:srgbClr val="333333"/>
                </a:solidFill>
              </a:rPr>
              <a:t>the 6 intensities of one pixel → MLP (213k params) → 54 weights, trained on the BP loss over ~221k pixels. Smooth, single-peaked curves, but further from BP: DEM error 0.078 vs the CNN's 0.047.</a:t>
            </a:r>
          </a:p>
          <a:p>
            <a:pPr algn="l" marL="182880" indent="-182880">
              <a:spcAft>
                <a:spcPts val="1000"/>
              </a:spcAft>
              <a:buClr>
                <a:srgbClr val="333333"/>
              </a:buClr>
              <a:buChar char="•"/>
            </a:pPr>
            <a:r>
              <a:rPr sz="1250" b="1" i="0">
                <a:solidFill>
                  <a:srgbClr val="57068C"/>
                </a:solidFill>
              </a:rPr>
              <a:t>Patch CNN: </a:t>
            </a:r>
            <a:r>
              <a:rPr sz="1250" b="0" i="0">
                <a:solidFill>
                  <a:srgbClr val="333333"/>
                </a:solidFill>
              </a:rPr>
              <a:t>a 9×9 neighbourhood → CNN (~1.5M params) → 54 weights. Tracked BP's shape, with sparsity close to BP's on held-out pixels.</a:t>
            </a:r>
          </a:p>
          <a:p>
            <a:pPr algn="l" marL="182880" indent="-182880">
              <a:spcAft>
                <a:spcPts val="1000"/>
              </a:spcAft>
              <a:buClr>
                <a:srgbClr val="333333"/>
              </a:buClr>
              <a:buChar char="•"/>
            </a:pPr>
            <a:r>
              <a:rPr sz="1250" b="0" i="0">
                <a:solidFill>
                  <a:srgbClr val="333333"/>
                </a:solidFill>
              </a:rPr>
              <a:t>Trained on one image, then on all 4 jointly; zeroing the neighbourhood for 10% of batches kept it usable on a single pixel.</a:t>
            </a:r>
          </a:p>
        </p:txBody>
      </p:sp>
      <p:pic>
        <p:nvPicPr>
          <p:cNvPr id="5" name="Picture 4" descr="first_mlp_vs_cnn.png"/>
          <p:cNvPicPr>
            <a:picLocks noChangeAspect="1"/>
          </p:cNvPicPr>
          <p:nvPr/>
        </p:nvPicPr>
        <p:blipFill>
          <a:blip r:embed="rId3"/>
          <a:stretch>
            <a:fillRect/>
          </a:stretch>
        </p:blipFill>
        <p:spPr>
          <a:xfrm>
            <a:off x="6042660" y="1188720"/>
            <a:ext cx="2179320" cy="2971800"/>
          </a:xfrm>
          <a:prstGeom prst="rect">
            <a:avLst/>
          </a:prstGeom>
        </p:spPr>
      </p:pic>
      <p:sp>
        <p:nvSpPr>
          <p:cNvPr id="6" name="TextBox 5"/>
          <p:cNvSpPr txBox="1"/>
          <p:nvPr/>
        </p:nvSpPr>
        <p:spPr>
          <a:xfrm>
            <a:off x="5486400" y="4206240"/>
            <a:ext cx="3291840" cy="274320"/>
          </a:xfrm>
          <a:prstGeom prst="rect">
            <a:avLst/>
          </a:prstGeom>
          <a:noFill/>
        </p:spPr>
        <p:txBody>
          <a:bodyPr wrap="square" anchor="t" lIns="0" rIns="0" tIns="0" bIns="0">
            <a:spAutoFit/>
          </a:bodyPr>
          <a:lstStyle/>
          <a:p>
            <a:pPr algn="l">
              <a:spcAft>
                <a:spcPts val="0"/>
              </a:spcAft>
            </a:pPr>
            <a:r>
              <a:rPr sz="950" b="0" i="1">
                <a:solidFill>
                  <a:srgbClr val="6B6B6B"/>
                </a:solidFill>
              </a:rPr>
              <a:t>Held-out pixels, X2.1 flare image.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Ablation: the gap was capacity, not missing context</a:t>
            </a:r>
          </a:p>
        </p:txBody>
      </p:sp>
      <p:sp>
        <p:nvSpPr>
          <p:cNvPr id="3" name="TextBox 2"/>
          <p:cNvSpPr txBox="1"/>
          <p:nvPr/>
        </p:nvSpPr>
        <p:spPr>
          <a:xfrm>
            <a:off x="365760" y="1307592"/>
            <a:ext cx="2286000" cy="256032"/>
          </a:xfrm>
          <a:prstGeom prst="rect">
            <a:avLst/>
          </a:prstGeom>
          <a:noFill/>
        </p:spPr>
        <p:txBody>
          <a:bodyPr wrap="square" anchor="t" lIns="0" rIns="0" tIns="0" bIns="0">
            <a:spAutoFit/>
          </a:bodyPr>
          <a:lstStyle/>
          <a:p>
            <a:pPr algn="l">
              <a:spcAft>
                <a:spcPts val="600"/>
              </a:spcAft>
            </a:pPr>
            <a:r>
              <a:rPr sz="1200" b="1" i="0">
                <a:solidFill>
                  <a:srgbClr val="57068C"/>
                </a:solidFill>
              </a:rPr>
              <a:t>Patch CNN</a:t>
            </a:r>
          </a:p>
        </p:txBody>
      </p:sp>
      <p:cxnSp>
        <p:nvCxnSpPr>
          <p:cNvPr id="4" name="Connector 3"/>
          <p:cNvCxnSpPr/>
          <p:nvPr/>
        </p:nvCxnSpPr>
        <p:spPr>
          <a:xfrm>
            <a:off x="2743200" y="1426464"/>
            <a:ext cx="5669280" cy="0"/>
          </a:xfrm>
          <a:prstGeom prst="line">
            <a:avLst/>
          </a:prstGeom>
          <a:ln w="9525">
            <a:solidFill>
              <a:srgbClr val="ECEBE8"/>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082795" y="1348740"/>
            <a:ext cx="155448" cy="155448"/>
          </a:xfrm>
          <a:prstGeom prst="ellipse">
            <a:avLst/>
          </a:prstGeom>
          <a:solidFill>
            <a:srgbClr val="570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79391" y="1307592"/>
            <a:ext cx="548640" cy="237744"/>
          </a:xfrm>
          <a:prstGeom prst="rect">
            <a:avLst/>
          </a:prstGeom>
          <a:noFill/>
        </p:spPr>
        <p:txBody>
          <a:bodyPr wrap="square" anchor="t" lIns="0" rIns="0" tIns="0" bIns="0">
            <a:spAutoFit/>
          </a:bodyPr>
          <a:lstStyle/>
          <a:p>
            <a:pPr algn="l">
              <a:spcAft>
                <a:spcPts val="600"/>
              </a:spcAft>
            </a:pPr>
            <a:r>
              <a:rPr sz="1100" b="1" i="0">
                <a:solidFill>
                  <a:srgbClr val="57068C"/>
                </a:solidFill>
              </a:rPr>
              <a:t>1.70</a:t>
            </a:r>
          </a:p>
        </p:txBody>
      </p:sp>
      <p:sp>
        <p:nvSpPr>
          <p:cNvPr id="7" name="TextBox 6"/>
          <p:cNvSpPr txBox="1"/>
          <p:nvPr/>
        </p:nvSpPr>
        <p:spPr>
          <a:xfrm>
            <a:off x="365760" y="1691640"/>
            <a:ext cx="2286000" cy="256032"/>
          </a:xfrm>
          <a:prstGeom prst="rect">
            <a:avLst/>
          </a:prstGeom>
          <a:noFill/>
        </p:spPr>
        <p:txBody>
          <a:bodyPr wrap="square" anchor="t" lIns="0" rIns="0" tIns="0" bIns="0">
            <a:spAutoFit/>
          </a:bodyPr>
          <a:lstStyle/>
          <a:p>
            <a:pPr algn="l">
              <a:spcAft>
                <a:spcPts val="600"/>
              </a:spcAft>
            </a:pPr>
            <a:r>
              <a:rPr sz="1200" b="0" i="0">
                <a:solidFill>
                  <a:srgbClr val="333333"/>
                </a:solidFill>
              </a:rPr>
              <a:t>Shuffled-patch CNN</a:t>
            </a:r>
          </a:p>
        </p:txBody>
      </p:sp>
      <p:cxnSp>
        <p:nvCxnSpPr>
          <p:cNvPr id="8" name="Connector 7"/>
          <p:cNvCxnSpPr/>
          <p:nvPr/>
        </p:nvCxnSpPr>
        <p:spPr>
          <a:xfrm>
            <a:off x="2743200" y="1810512"/>
            <a:ext cx="5669280" cy="0"/>
          </a:xfrm>
          <a:prstGeom prst="line">
            <a:avLst/>
          </a:prstGeom>
          <a:ln w="9525">
            <a:solidFill>
              <a:srgbClr val="ECEBE8"/>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6633971" y="1732788"/>
            <a:ext cx="155448" cy="155448"/>
          </a:xfrm>
          <a:prstGeom prst="ellipse">
            <a:avLst/>
          </a:prstGeom>
          <a:solidFill>
            <a:srgbClr val="570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0567" y="1691640"/>
            <a:ext cx="548640" cy="237744"/>
          </a:xfrm>
          <a:prstGeom prst="rect">
            <a:avLst/>
          </a:prstGeom>
          <a:noFill/>
        </p:spPr>
        <p:txBody>
          <a:bodyPr wrap="square" anchor="t" lIns="0" rIns="0" tIns="0" bIns="0">
            <a:spAutoFit/>
          </a:bodyPr>
          <a:lstStyle/>
          <a:p>
            <a:pPr algn="l">
              <a:spcAft>
                <a:spcPts val="600"/>
              </a:spcAft>
            </a:pPr>
            <a:r>
              <a:rPr sz="1100" b="1" i="0">
                <a:solidFill>
                  <a:srgbClr val="57068C"/>
                </a:solidFill>
              </a:rPr>
              <a:t>1.88</a:t>
            </a:r>
          </a:p>
        </p:txBody>
      </p:sp>
      <p:sp>
        <p:nvSpPr>
          <p:cNvPr id="11" name="TextBox 10"/>
          <p:cNvSpPr txBox="1"/>
          <p:nvPr/>
        </p:nvSpPr>
        <p:spPr>
          <a:xfrm>
            <a:off x="365760" y="2075688"/>
            <a:ext cx="2286000" cy="256032"/>
          </a:xfrm>
          <a:prstGeom prst="rect">
            <a:avLst/>
          </a:prstGeom>
          <a:noFill/>
        </p:spPr>
        <p:txBody>
          <a:bodyPr wrap="square" anchor="t" lIns="0" rIns="0" tIns="0" bIns="0">
            <a:spAutoFit/>
          </a:bodyPr>
          <a:lstStyle/>
          <a:p>
            <a:pPr algn="l">
              <a:spcAft>
                <a:spcPts val="600"/>
              </a:spcAft>
            </a:pPr>
            <a:r>
              <a:rPr sz="1200" b="0" i="0">
                <a:solidFill>
                  <a:srgbClr val="333333"/>
                </a:solidFill>
              </a:rPr>
              <a:t>Centre-pixel MLP</a:t>
            </a:r>
          </a:p>
        </p:txBody>
      </p:sp>
      <p:cxnSp>
        <p:nvCxnSpPr>
          <p:cNvPr id="12" name="Connector 11"/>
          <p:cNvCxnSpPr/>
          <p:nvPr/>
        </p:nvCxnSpPr>
        <p:spPr>
          <a:xfrm>
            <a:off x="2743200" y="2194560"/>
            <a:ext cx="5669280" cy="0"/>
          </a:xfrm>
          <a:prstGeom prst="line">
            <a:avLst/>
          </a:prstGeom>
          <a:ln w="9525">
            <a:solidFill>
              <a:srgbClr val="ECEBE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775703" y="2116836"/>
            <a:ext cx="155448" cy="155448"/>
          </a:xfrm>
          <a:prstGeom prst="ellipse">
            <a:avLst/>
          </a:prstGeom>
          <a:solidFill>
            <a:srgbClr val="570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72299" y="2075688"/>
            <a:ext cx="548640" cy="237744"/>
          </a:xfrm>
          <a:prstGeom prst="rect">
            <a:avLst/>
          </a:prstGeom>
          <a:noFill/>
        </p:spPr>
        <p:txBody>
          <a:bodyPr wrap="square" anchor="t" lIns="0" rIns="0" tIns="0" bIns="0">
            <a:spAutoFit/>
          </a:bodyPr>
          <a:lstStyle/>
          <a:p>
            <a:pPr algn="l">
              <a:spcAft>
                <a:spcPts val="600"/>
              </a:spcAft>
            </a:pPr>
            <a:r>
              <a:rPr sz="1100" b="1" i="0">
                <a:solidFill>
                  <a:srgbClr val="57068C"/>
                </a:solidFill>
              </a:rPr>
              <a:t>1.89</a:t>
            </a:r>
          </a:p>
        </p:txBody>
      </p:sp>
      <p:sp>
        <p:nvSpPr>
          <p:cNvPr id="15" name="TextBox 14"/>
          <p:cNvSpPr txBox="1"/>
          <p:nvPr/>
        </p:nvSpPr>
        <p:spPr>
          <a:xfrm>
            <a:off x="365760" y="2459736"/>
            <a:ext cx="2286000" cy="256032"/>
          </a:xfrm>
          <a:prstGeom prst="rect">
            <a:avLst/>
          </a:prstGeom>
          <a:noFill/>
        </p:spPr>
        <p:txBody>
          <a:bodyPr wrap="square" anchor="t" lIns="0" rIns="0" tIns="0" bIns="0">
            <a:spAutoFit/>
          </a:bodyPr>
          <a:lstStyle/>
          <a:p>
            <a:pPr algn="l">
              <a:spcAft>
                <a:spcPts val="600"/>
              </a:spcAft>
            </a:pPr>
            <a:r>
              <a:rPr sz="1200" b="0" i="0">
                <a:solidFill>
                  <a:srgbClr val="333333"/>
                </a:solidFill>
              </a:rPr>
              <a:t>Flat-patch MLP</a:t>
            </a:r>
          </a:p>
        </p:txBody>
      </p:sp>
      <p:cxnSp>
        <p:nvCxnSpPr>
          <p:cNvPr id="16" name="Connector 15"/>
          <p:cNvCxnSpPr/>
          <p:nvPr/>
        </p:nvCxnSpPr>
        <p:spPr>
          <a:xfrm>
            <a:off x="2743200" y="2578608"/>
            <a:ext cx="5669280" cy="0"/>
          </a:xfrm>
          <a:prstGeom prst="line">
            <a:avLst/>
          </a:prstGeom>
          <a:ln w="9525">
            <a:solidFill>
              <a:srgbClr val="ECEBE8"/>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626095" y="2500884"/>
            <a:ext cx="155448" cy="155448"/>
          </a:xfrm>
          <a:prstGeom prst="ellipse">
            <a:avLst/>
          </a:prstGeom>
          <a:solidFill>
            <a:srgbClr val="570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2691" y="2459736"/>
            <a:ext cx="548640" cy="237744"/>
          </a:xfrm>
          <a:prstGeom prst="rect">
            <a:avLst/>
          </a:prstGeom>
          <a:noFill/>
        </p:spPr>
        <p:txBody>
          <a:bodyPr wrap="square" anchor="t" lIns="0" rIns="0" tIns="0" bIns="0">
            <a:spAutoFit/>
          </a:bodyPr>
          <a:lstStyle/>
          <a:p>
            <a:pPr algn="l">
              <a:spcAft>
                <a:spcPts val="600"/>
              </a:spcAft>
            </a:pPr>
            <a:r>
              <a:rPr sz="1100" b="1" i="0">
                <a:solidFill>
                  <a:srgbClr val="57068C"/>
                </a:solidFill>
              </a:rPr>
              <a:t>1.95</a:t>
            </a:r>
          </a:p>
        </p:txBody>
      </p:sp>
      <p:cxnSp>
        <p:nvCxnSpPr>
          <p:cNvPr id="19" name="Connector 18"/>
          <p:cNvCxnSpPr/>
          <p:nvPr/>
        </p:nvCxnSpPr>
        <p:spPr>
          <a:xfrm>
            <a:off x="2743200" y="2770632"/>
            <a:ext cx="5669280" cy="0"/>
          </a:xfrm>
          <a:prstGeom prst="line">
            <a:avLst/>
          </a:prstGeom>
          <a:ln w="12700">
            <a:solidFill>
              <a:srgbClr val="B9B4C2"/>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468880" y="2807208"/>
            <a:ext cx="548640" cy="228600"/>
          </a:xfrm>
          <a:prstGeom prst="rect">
            <a:avLst/>
          </a:prstGeom>
          <a:noFill/>
        </p:spPr>
        <p:txBody>
          <a:bodyPr wrap="square" anchor="t" lIns="0" rIns="0" tIns="0" bIns="0">
            <a:spAutoFit/>
          </a:bodyPr>
          <a:lstStyle/>
          <a:p>
            <a:pPr algn="ctr">
              <a:spcAft>
                <a:spcPts val="600"/>
              </a:spcAft>
            </a:pPr>
            <a:r>
              <a:rPr sz="1000" b="0" i="0">
                <a:solidFill>
                  <a:srgbClr val="6B6B6B"/>
                </a:solidFill>
              </a:rPr>
              <a:t>1.6</a:t>
            </a:r>
          </a:p>
        </p:txBody>
      </p:sp>
      <p:sp>
        <p:nvSpPr>
          <p:cNvPr id="21" name="TextBox 20"/>
          <p:cNvSpPr txBox="1"/>
          <p:nvPr/>
        </p:nvSpPr>
        <p:spPr>
          <a:xfrm>
            <a:off x="3886199" y="2807208"/>
            <a:ext cx="548640" cy="228600"/>
          </a:xfrm>
          <a:prstGeom prst="rect">
            <a:avLst/>
          </a:prstGeom>
          <a:noFill/>
        </p:spPr>
        <p:txBody>
          <a:bodyPr wrap="square" anchor="t" lIns="0" rIns="0" tIns="0" bIns="0">
            <a:spAutoFit/>
          </a:bodyPr>
          <a:lstStyle/>
          <a:p>
            <a:pPr algn="ctr">
              <a:spcAft>
                <a:spcPts val="600"/>
              </a:spcAft>
            </a:pPr>
            <a:r>
              <a:rPr sz="1000" b="0" i="0">
                <a:solidFill>
                  <a:srgbClr val="6B6B6B"/>
                </a:solidFill>
              </a:rPr>
              <a:t>1.7</a:t>
            </a:r>
          </a:p>
        </p:txBody>
      </p:sp>
      <p:sp>
        <p:nvSpPr>
          <p:cNvPr id="22" name="TextBox 21"/>
          <p:cNvSpPr txBox="1"/>
          <p:nvPr/>
        </p:nvSpPr>
        <p:spPr>
          <a:xfrm>
            <a:off x="5303520" y="2807208"/>
            <a:ext cx="548640" cy="228600"/>
          </a:xfrm>
          <a:prstGeom prst="rect">
            <a:avLst/>
          </a:prstGeom>
          <a:noFill/>
        </p:spPr>
        <p:txBody>
          <a:bodyPr wrap="square" anchor="t" lIns="0" rIns="0" tIns="0" bIns="0">
            <a:spAutoFit/>
          </a:bodyPr>
          <a:lstStyle/>
          <a:p>
            <a:pPr algn="ctr">
              <a:spcAft>
                <a:spcPts val="600"/>
              </a:spcAft>
            </a:pPr>
            <a:r>
              <a:rPr sz="1000" b="0" i="0">
                <a:solidFill>
                  <a:srgbClr val="6B6B6B"/>
                </a:solidFill>
              </a:rPr>
              <a:t>1.8</a:t>
            </a:r>
          </a:p>
        </p:txBody>
      </p:sp>
      <p:sp>
        <p:nvSpPr>
          <p:cNvPr id="23" name="TextBox 22"/>
          <p:cNvSpPr txBox="1"/>
          <p:nvPr/>
        </p:nvSpPr>
        <p:spPr>
          <a:xfrm>
            <a:off x="6720839" y="2807208"/>
            <a:ext cx="548640" cy="228600"/>
          </a:xfrm>
          <a:prstGeom prst="rect">
            <a:avLst/>
          </a:prstGeom>
          <a:noFill/>
        </p:spPr>
        <p:txBody>
          <a:bodyPr wrap="square" anchor="t" lIns="0" rIns="0" tIns="0" bIns="0">
            <a:spAutoFit/>
          </a:bodyPr>
          <a:lstStyle/>
          <a:p>
            <a:pPr algn="ctr">
              <a:spcAft>
                <a:spcPts val="600"/>
              </a:spcAft>
            </a:pPr>
            <a:r>
              <a:rPr sz="1000" b="0" i="0">
                <a:solidFill>
                  <a:srgbClr val="6B6B6B"/>
                </a:solidFill>
              </a:rPr>
              <a:t>1.9</a:t>
            </a:r>
          </a:p>
        </p:txBody>
      </p:sp>
      <p:sp>
        <p:nvSpPr>
          <p:cNvPr id="24" name="TextBox 23"/>
          <p:cNvSpPr txBox="1"/>
          <p:nvPr/>
        </p:nvSpPr>
        <p:spPr>
          <a:xfrm>
            <a:off x="8138160" y="2807208"/>
            <a:ext cx="548640" cy="228600"/>
          </a:xfrm>
          <a:prstGeom prst="rect">
            <a:avLst/>
          </a:prstGeom>
          <a:noFill/>
        </p:spPr>
        <p:txBody>
          <a:bodyPr wrap="square" anchor="t" lIns="0" rIns="0" tIns="0" bIns="0">
            <a:spAutoFit/>
          </a:bodyPr>
          <a:lstStyle/>
          <a:p>
            <a:pPr algn="ctr">
              <a:spcAft>
                <a:spcPts val="600"/>
              </a:spcAft>
            </a:pPr>
            <a:r>
              <a:rPr sz="1000" b="0" i="0">
                <a:solidFill>
                  <a:srgbClr val="6B6B6B"/>
                </a:solidFill>
              </a:rPr>
              <a:t>2.0</a:t>
            </a:r>
          </a:p>
        </p:txBody>
      </p:sp>
      <p:cxnSp>
        <p:nvCxnSpPr>
          <p:cNvPr id="25" name="Connector 24"/>
          <p:cNvCxnSpPr/>
          <p:nvPr/>
        </p:nvCxnSpPr>
        <p:spPr>
          <a:xfrm>
            <a:off x="5436108" y="1143000"/>
            <a:ext cx="0" cy="1627632"/>
          </a:xfrm>
          <a:prstGeom prst="line">
            <a:avLst/>
          </a:prstGeom>
          <a:ln w="15875">
            <a:solidFill>
              <a:srgbClr val="333333"/>
            </a:solidFill>
            <a:prstDash val="dash"/>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978908" y="886968"/>
            <a:ext cx="914400" cy="237744"/>
          </a:xfrm>
          <a:prstGeom prst="rect">
            <a:avLst/>
          </a:prstGeom>
          <a:noFill/>
        </p:spPr>
        <p:txBody>
          <a:bodyPr wrap="square" anchor="t" lIns="0" rIns="0" tIns="0" bIns="0">
            <a:spAutoFit/>
          </a:bodyPr>
          <a:lstStyle/>
          <a:p>
            <a:pPr algn="ctr">
              <a:spcAft>
                <a:spcPts val="600"/>
              </a:spcAft>
            </a:pPr>
            <a:r>
              <a:rPr sz="1100" b="1" i="0">
                <a:solidFill>
                  <a:srgbClr val="333333"/>
                </a:solidFill>
              </a:rPr>
              <a:t>BP 1.79</a:t>
            </a:r>
          </a:p>
        </p:txBody>
      </p:sp>
      <p:sp>
        <p:nvSpPr>
          <p:cNvPr id="27" name="TextBox 26"/>
          <p:cNvSpPr txBox="1"/>
          <p:nvPr/>
        </p:nvSpPr>
        <p:spPr>
          <a:xfrm>
            <a:off x="2743200" y="3026664"/>
            <a:ext cx="5669280" cy="274320"/>
          </a:xfrm>
          <a:prstGeom prst="rect">
            <a:avLst/>
          </a:prstGeom>
          <a:noFill/>
        </p:spPr>
        <p:txBody>
          <a:bodyPr wrap="square" anchor="t" lIns="0" rIns="0" tIns="0" bIns="0">
            <a:spAutoFit/>
          </a:bodyPr>
          <a:lstStyle/>
          <a:p>
            <a:pPr algn="l">
              <a:spcAft>
                <a:spcPts val="0"/>
              </a:spcAft>
            </a:pPr>
            <a:r>
              <a:rPr sz="950" b="0" i="1">
                <a:solidFill>
                  <a:srgbClr val="6B6B6B"/>
                </a:solidFill>
              </a:rPr>
              <a:t>Effective number of active basis weights, mean over 4 images (lower = sparser).</a:t>
            </a:r>
          </a:p>
        </p:txBody>
      </p:sp>
      <p:sp>
        <p:nvSpPr>
          <p:cNvPr id="28" name="TextBox 27"/>
          <p:cNvSpPr txBox="1"/>
          <p:nvPr/>
        </p:nvSpPr>
        <p:spPr>
          <a:xfrm>
            <a:off x="365760" y="3246120"/>
            <a:ext cx="8412480" cy="1097280"/>
          </a:xfrm>
          <a:prstGeom prst="rect">
            <a:avLst/>
          </a:prstGeom>
          <a:noFill/>
        </p:spPr>
        <p:txBody>
          <a:bodyPr wrap="square" anchor="t" lIns="0" rIns="0" tIns="0" bIns="0">
            <a:spAutoFit/>
          </a:bodyPr>
          <a:lstStyle/>
          <a:p>
            <a:pPr algn="l" marL="182880" indent="-182880">
              <a:spcAft>
                <a:spcPts val="500"/>
              </a:spcAft>
              <a:buClr>
                <a:srgbClr val="333333"/>
              </a:buClr>
              <a:buChar char="•"/>
            </a:pPr>
            <a:r>
              <a:rPr sz="1250" b="0" i="0">
                <a:solidFill>
                  <a:srgbClr val="333333"/>
                </a:solidFill>
              </a:rPr>
              <a:t>Four variants at ~1.45M params, same BP loss, same 4 images.</a:t>
            </a:r>
          </a:p>
          <a:p>
            <a:pPr algn="l" marL="182880" indent="-182880">
              <a:spcAft>
                <a:spcPts val="500"/>
              </a:spcAft>
              <a:buClr>
                <a:srgbClr val="333333"/>
              </a:buClr>
              <a:buChar char="•"/>
            </a:pPr>
            <a:r>
              <a:rPr sz="1250" b="0" i="0">
                <a:solidFill>
                  <a:srgbClr val="333333"/>
                </a:solidFill>
              </a:rPr>
              <a:t>Size, not neighbours, closed the gap: DEM error vs BP 0.042 for the 1.43M centre-pixel MLP, 0.047 for the patch CNN, 0.078 for the first MLP.</a:t>
            </a:r>
          </a:p>
          <a:p>
            <a:pPr algn="l" marL="182880" indent="-182880">
              <a:spcAft>
                <a:spcPts val="500"/>
              </a:spcAft>
              <a:buClr>
                <a:srgbClr val="333333"/>
              </a:buClr>
              <a:buChar char="•"/>
            </a:pPr>
            <a:r>
              <a:rPr sz="1250" b="0" i="0">
                <a:solidFill>
                  <a:srgbClr val="333333"/>
                </a:solidFill>
              </a:rPr>
              <a:t>The patch CNN was sparsest, but measured on held-out pixels of the training images.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On unseen days, the patch CNN's edge disappeared</a:t>
            </a:r>
          </a:p>
        </p:txBody>
      </p:sp>
      <p:sp>
        <p:nvSpPr>
          <p:cNvPr id="3" name="TextBox 2"/>
          <p:cNvSpPr txBox="1"/>
          <p:nvPr/>
        </p:nvSpPr>
        <p:spPr>
          <a:xfrm>
            <a:off x="365760" y="914400"/>
            <a:ext cx="4937760" cy="3383280"/>
          </a:xfrm>
          <a:prstGeom prst="rect">
            <a:avLst/>
          </a:prstGeom>
          <a:noFill/>
        </p:spPr>
        <p:txBody>
          <a:bodyPr wrap="square" anchor="t" lIns="0" rIns="0" tIns="0" bIns="0">
            <a:spAutoFit/>
          </a:bodyPr>
          <a:lstStyle/>
          <a:p>
            <a:pPr algn="l" marL="182880" indent="-182880">
              <a:spcAft>
                <a:spcPts val="900"/>
              </a:spcAft>
              <a:buClr>
                <a:srgbClr val="333333"/>
              </a:buClr>
              <a:buChar char="•"/>
            </a:pPr>
            <a:r>
              <a:rPr sz="1250" b="0" i="0">
                <a:solidFill>
                  <a:srgbClr val="333333"/>
                </a:solidFill>
              </a:rPr>
              <a:t>Leave one image out: train on 3, test on the 4th; patch CNN and centre-pixel MLP, 4 folds.</a:t>
            </a:r>
          </a:p>
          <a:p>
            <a:pPr algn="l" marL="182880" indent="-182880">
              <a:spcAft>
                <a:spcPts val="900"/>
              </a:spcAft>
              <a:buClr>
                <a:srgbClr val="333333"/>
              </a:buClr>
              <a:buChar char="•"/>
            </a:pPr>
            <a:r>
              <a:rPr sz="1250" b="0" i="0">
                <a:solidFill>
                  <a:srgbClr val="333333"/>
                </a:solidFill>
              </a:rPr>
              <a:t>Neither is consistently closer to BP's sparsity on the unseen image; the MLP fits AIA better on 3 of 4.</a:t>
            </a:r>
          </a:p>
          <a:p>
            <a:pPr algn="l" marL="182880" indent="-182880">
              <a:spcAft>
                <a:spcPts val="900"/>
              </a:spcAft>
              <a:buClr>
                <a:srgbClr val="333333"/>
              </a:buClr>
              <a:buChar char="•"/>
            </a:pPr>
            <a:r>
              <a:rPr sz="1250" b="0" i="0">
                <a:solidFill>
                  <a:srgbClr val="333333"/>
                </a:solidFill>
              </a:rPr>
              <a:t>Little overfitting (held-out within ±0.2 of in-sample on 3 folds), except the X1.6 flare: peaks too cool (logT ~6.1 vs BP ~6.4), with one other flare image in training.</a:t>
            </a:r>
          </a:p>
          <a:p>
            <a:pPr algn="l" marL="182880" indent="-182880">
              <a:spcAft>
                <a:spcPts val="900"/>
              </a:spcAft>
              <a:buClr>
                <a:srgbClr val="333333"/>
              </a:buClr>
              <a:buChar char="•"/>
            </a:pPr>
            <a:r>
              <a:rPr sz="1250" b="1" i="0">
                <a:solidFill>
                  <a:srgbClr val="57068C"/>
                </a:solidFill>
              </a:rPr>
              <a:t>Carry the simpler centre-pixel MLP forward, and get more flare data → scaling.</a:t>
            </a:r>
          </a:p>
        </p:txBody>
      </p:sp>
      <p:pic>
        <p:nvPicPr>
          <p:cNvPr id="4" name="Picture 3" descr="loo_flare.png"/>
          <p:cNvPicPr>
            <a:picLocks noChangeAspect="1"/>
          </p:cNvPicPr>
          <p:nvPr/>
        </p:nvPicPr>
        <p:blipFill>
          <a:blip r:embed="rId3"/>
          <a:stretch>
            <a:fillRect/>
          </a:stretch>
        </p:blipFill>
        <p:spPr>
          <a:xfrm>
            <a:off x="5486400" y="827579"/>
            <a:ext cx="3291840" cy="3282601"/>
          </a:xfrm>
          <a:prstGeom prst="rect">
            <a:avLst/>
          </a:prstGeom>
        </p:spPr>
      </p:pic>
      <p:sp>
        <p:nvSpPr>
          <p:cNvPr id="5" name="TextBox 4"/>
          <p:cNvSpPr txBox="1"/>
          <p:nvPr/>
        </p:nvSpPr>
        <p:spPr>
          <a:xfrm>
            <a:off x="5486400" y="4114800"/>
            <a:ext cx="3291840" cy="274320"/>
          </a:xfrm>
          <a:prstGeom prst="rect">
            <a:avLst/>
          </a:prstGeom>
          <a:noFill/>
        </p:spPr>
        <p:txBody>
          <a:bodyPr wrap="square" anchor="t" lIns="0" rIns="0" tIns="0" bIns="0">
            <a:spAutoFit/>
          </a:bodyPr>
          <a:lstStyle/>
          <a:p>
            <a:pPr algn="l">
              <a:spcAft>
                <a:spcPts val="0"/>
              </a:spcAft>
            </a:pPr>
            <a:r>
              <a:rPr sz="950" b="0" i="1">
                <a:solidFill>
                  <a:srgbClr val="6B6B6B"/>
                </a:solidFill>
              </a:rPr>
              <a:t>Held-out X1.6 flare image: CNN and MLP (dashed) vs BP.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The first full-disk runs collapsed to an all-zero DEM</a:t>
            </a:r>
          </a:p>
        </p:txBody>
      </p:sp>
      <p:sp>
        <p:nvSpPr>
          <p:cNvPr id="3" name="TextBox 2"/>
          <p:cNvSpPr txBox="1"/>
          <p:nvPr/>
        </p:nvSpPr>
        <p:spPr>
          <a:xfrm>
            <a:off x="365760" y="914400"/>
            <a:ext cx="5212080" cy="3383280"/>
          </a:xfrm>
          <a:prstGeom prst="rect">
            <a:avLst/>
          </a:prstGeom>
          <a:noFill/>
        </p:spPr>
        <p:txBody>
          <a:bodyPr wrap="square" anchor="t" lIns="0" rIns="0" tIns="0" bIns="0">
            <a:spAutoFit/>
          </a:bodyPr>
          <a:lstStyle/>
          <a:p>
            <a:pPr algn="l" marL="182880" indent="-182880">
              <a:spcAft>
                <a:spcPts val="900"/>
              </a:spcAft>
              <a:buClr>
                <a:srgbClr val="333333"/>
              </a:buClr>
              <a:buChar char="•"/>
            </a:pPr>
            <a:r>
              <a:rPr sz="1250" b="0" i="0">
                <a:solidFill>
                  <a:srgbClr val="333333"/>
                </a:solidFill>
              </a:rPr>
              <a:t>Full-disk intensities span ~7 decades (10⁻³ off-limb to 10⁴ in flare cores); the small crops spanned about one.</a:t>
            </a:r>
          </a:p>
          <a:p>
            <a:pPr algn="l" marL="182880" indent="-182880">
              <a:spcAft>
                <a:spcPts val="900"/>
              </a:spcAft>
              <a:buClr>
                <a:srgbClr val="333333"/>
              </a:buClr>
              <a:buChar char="•"/>
            </a:pPr>
            <a:r>
              <a:rPr sz="1250" b="0" i="0">
                <a:solidFill>
                  <a:srgbClr val="333333"/>
                </a:solidFill>
              </a:rPr>
              <a:t>Fed raw, the untrained network predicted AIA ~7× outside the noise band: loss 5×10¹³ at step 0. The output softplus underflowed, its gradient became exactly zero, and every pixel predicted zero.</a:t>
            </a:r>
          </a:p>
          <a:p>
            <a:pPr algn="l" marL="182880" indent="-182880">
              <a:spcAft>
                <a:spcPts val="900"/>
              </a:spcAft>
              <a:buClr>
                <a:srgbClr val="333333"/>
              </a:buClr>
              <a:buChar char="•"/>
            </a:pPr>
            <a:r>
              <a:rPr sz="1250" b="0" i="0">
                <a:solidFill>
                  <a:srgbClr val="333333"/>
                </a:solidFill>
              </a:rPr>
              <a:t>Fix: a bounded input (log1p then, √ + Fourier now; loss and metrics stay in physical units), learning-rate warmup, a clamped softplus whose gradient cannot vanish, and a guard that stops a run whose loss freezes.</a:t>
            </a:r>
          </a:p>
          <a:p>
            <a:pPr algn="l" marL="182880" indent="-182880">
              <a:spcAft>
                <a:spcPts val="900"/>
              </a:spcAft>
              <a:buClr>
                <a:srgbClr val="333333"/>
              </a:buClr>
              <a:buChar char="•"/>
            </a:pPr>
            <a:r>
              <a:rPr sz="1250" b="1" i="0">
                <a:solidFill>
                  <a:srgbClr val="57068C"/>
                </a:solidFill>
              </a:rPr>
              <a:t>A 64-block smoke test could not catch it: it never drew a flare pixel.</a:t>
            </a:r>
          </a:p>
        </p:txBody>
      </p:sp>
      <p:sp>
        <p:nvSpPr>
          <p:cNvPr id="4" name="Rounded Rectangle 3"/>
          <p:cNvSpPr/>
          <p:nvPr/>
        </p:nvSpPr>
        <p:spPr>
          <a:xfrm>
            <a:off x="6035040" y="1097280"/>
            <a:ext cx="2651760" cy="73152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1300" b="1">
                <a:solidFill>
                  <a:srgbClr val="57068C"/>
                </a:solidFill>
              </a:rPr>
              <a:t>Raw intensity</a:t>
            </a:r>
          </a:p>
          <a:p>
            <a:pPr algn="ctr"/>
            <a:r>
              <a:rPr sz="1100">
                <a:solidFill>
                  <a:srgbClr val="333333"/>
                </a:solidFill>
              </a:rPr>
              <a:t>10⁻³ … 10⁴</a:t>
            </a:r>
          </a:p>
        </p:txBody>
      </p:sp>
      <p:sp>
        <p:nvSpPr>
          <p:cNvPr id="5" name="Rounded Rectangle 4"/>
          <p:cNvSpPr/>
          <p:nvPr/>
        </p:nvSpPr>
        <p:spPr>
          <a:xfrm>
            <a:off x="6035040" y="2194560"/>
            <a:ext cx="2651760" cy="731520"/>
          </a:xfrm>
          <a:prstGeom prst="roundRect">
            <a:avLst>
              <a:gd name="adj" fmla="val 6000"/>
            </a:avLst>
          </a:prstGeom>
          <a:solidFill>
            <a:srgbClr val="57068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1300" b="1">
                <a:solidFill>
                  <a:srgbClr val="FFFFFF"/>
                </a:solidFill>
              </a:rPr>
              <a:t>log1p</a:t>
            </a:r>
          </a:p>
          <a:p>
            <a:pPr algn="ctr"/>
            <a:r>
              <a:rPr sz="1100">
                <a:solidFill>
                  <a:srgbClr val="FFFFFF"/>
                </a:solidFill>
              </a:rPr>
              <a:t>input only</a:t>
            </a:r>
          </a:p>
        </p:txBody>
      </p:sp>
      <p:cxnSp>
        <p:nvCxnSpPr>
          <p:cNvPr id="6" name="Connector 5"/>
          <p:cNvCxnSpPr/>
          <p:nvPr/>
        </p:nvCxnSpPr>
        <p:spPr>
          <a:xfrm>
            <a:off x="7360920" y="1828800"/>
            <a:ext cx="0" cy="365760"/>
          </a:xfrm>
          <a:prstGeom prst="line">
            <a:avLst/>
          </a:prstGeom>
          <a:ln w="19050">
            <a:solidFill>
              <a:srgbClr val="57068C"/>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035040" y="3291840"/>
            <a:ext cx="2651760" cy="73152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lstStyle/>
          <a:p>
            <a:pPr algn="ctr"/>
            <a:r>
              <a:rPr sz="1300" b="1">
                <a:solidFill>
                  <a:srgbClr val="57068C"/>
                </a:solidFill>
              </a:rPr>
              <a:t>Network input</a:t>
            </a:r>
          </a:p>
          <a:p>
            <a:pPr algn="ctr"/>
            <a:r>
              <a:rPr sz="1100">
                <a:solidFill>
                  <a:srgbClr val="333333"/>
                </a:solidFill>
              </a:rPr>
              <a:t>0 … 9.2</a:t>
            </a:r>
          </a:p>
        </p:txBody>
      </p:sp>
      <p:cxnSp>
        <p:nvCxnSpPr>
          <p:cNvPr id="8" name="Connector 7"/>
          <p:cNvCxnSpPr/>
          <p:nvPr/>
        </p:nvCxnSpPr>
        <p:spPr>
          <a:xfrm>
            <a:off x="7360920" y="2926080"/>
            <a:ext cx="0" cy="365760"/>
          </a:xfrm>
          <a:prstGeom prst="line">
            <a:avLst/>
          </a:prstGeom>
          <a:ln w="19050">
            <a:solidFill>
              <a:srgbClr val="57068C"/>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How we score at scale</a:t>
            </a:r>
          </a:p>
        </p:txBody>
      </p:sp>
      <p:sp>
        <p:nvSpPr>
          <p:cNvPr id="3" name="TextBox 2"/>
          <p:cNvSpPr txBox="1"/>
          <p:nvPr/>
        </p:nvSpPr>
        <p:spPr>
          <a:xfrm>
            <a:off x="365760" y="914400"/>
            <a:ext cx="5120640" cy="3474720"/>
          </a:xfrm>
          <a:prstGeom prst="rect">
            <a:avLst/>
          </a:prstGeom>
          <a:noFill/>
        </p:spPr>
        <p:txBody>
          <a:bodyPr wrap="square" anchor="t" lIns="0" rIns="0" tIns="0" bIns="0">
            <a:spAutoFit/>
          </a:bodyPr>
          <a:lstStyle/>
          <a:p>
            <a:pPr algn="l" marL="182880" indent="-182880">
              <a:spcAft>
                <a:spcPts val="900"/>
              </a:spcAft>
              <a:buClr>
                <a:srgbClr val="333333"/>
              </a:buClr>
              <a:buChar char="•"/>
            </a:pPr>
            <a:r>
              <a:rPr sz="1200" b="0" i="0">
                <a:solidFill>
                  <a:srgbClr val="333333"/>
                </a:solidFill>
              </a:rPr>
              <a:t>153 test days, never seen in training; each scored on random quarters of the image against 5 solver targets (the clean solve and 4 noisy re-solves).</a:t>
            </a:r>
          </a:p>
          <a:p>
            <a:pPr algn="l" marL="182880" indent="-182880">
              <a:spcAft>
                <a:spcPts val="900"/>
              </a:spcAft>
              <a:buClr>
                <a:srgbClr val="333333"/>
              </a:buClr>
              <a:buChar char="•"/>
            </a:pPr>
            <a:r>
              <a:rPr sz="1200" b="0" i="0">
                <a:solidFill>
                  <a:srgbClr val="333333"/>
                </a:solidFill>
              </a:rPr>
              <a:t>Bright = any channel above its top-5% cutoff (~10% of pixels); the rest is Quiet.</a:t>
            </a:r>
          </a:p>
          <a:p>
            <a:pPr algn="l" marL="182880" indent="-182880">
              <a:spcAft>
                <a:spcPts val="900"/>
              </a:spcAft>
              <a:buClr>
                <a:srgbClr val="333333"/>
              </a:buClr>
              <a:buChar char="•"/>
            </a:pPr>
            <a:r>
              <a:rPr sz="1200" b="0" i="0">
                <a:solidFill>
                  <a:srgbClr val="333333"/>
                </a:solidFill>
              </a:rPr>
              <a:t>DEM against the solver: MSE, total-emission error, W1 (temperature-shape distance). AIA reconstruction against the observation: MAE, MSE.</a:t>
            </a:r>
          </a:p>
          <a:p>
            <a:pPr algn="l" marL="182880" indent="-182880">
              <a:spcAft>
                <a:spcPts val="900"/>
              </a:spcAft>
              <a:buClr>
                <a:srgbClr val="333333"/>
              </a:buClr>
              <a:buChar char="•"/>
            </a:pPr>
            <a:r>
              <a:rPr sz="1200" b="0" i="0">
                <a:solidFill>
                  <a:srgbClr val="333333"/>
                </a:solidFill>
              </a:rPr>
              <a:t>We also report medians and percentiles: the error is extremely heavy-tailed. For our final BP model, the worst 1% of pixels hold 98% of the DEM error, and the flare cores (0.01% of pixels, 1 in 10,000) alone hold 94%.</a:t>
            </a:r>
          </a:p>
        </p:txBody>
      </p:sp>
      <p:sp>
        <p:nvSpPr>
          <p:cNvPr id="4" name="Rectangle 3"/>
          <p:cNvSpPr/>
          <p:nvPr/>
        </p:nvSpPr>
        <p:spPr>
          <a:xfrm>
            <a:off x="5806440" y="960120"/>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61888" y="96012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17336" y="96012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72784" y="96012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28232" y="96012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0" y="96012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39128" y="960120"/>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94576" y="960120"/>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50024" y="96012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05472" y="96012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60920" y="960120"/>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516368" y="96012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671816" y="96012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27264" y="96012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82712" y="96012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38160" y="96012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06440" y="1115568"/>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61888" y="111556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1115568"/>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72784" y="1115568"/>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28232" y="111556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0" y="111556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739128" y="111556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94576" y="1115568"/>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50024" y="1115568"/>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05472" y="111556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60920" y="111556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516368" y="111556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71816" y="111556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27264" y="111556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82712" y="111556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38160" y="111556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06440" y="127101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961888" y="1271016"/>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117336" y="1271016"/>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72784" y="1271016"/>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28232" y="127101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583680" y="127101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739128" y="1271016"/>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894576" y="127101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050024" y="127101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205472" y="127101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360920" y="127101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516368" y="127101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671816" y="127101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827264" y="127101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982712" y="1271016"/>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138160" y="1271016"/>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806440" y="142646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961888" y="142646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17336" y="142646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272784" y="142646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428232" y="142646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583680" y="142646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739128" y="1426464"/>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894576" y="142646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050024" y="142646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205472" y="142646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360920" y="142646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7516368" y="1426464"/>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671816" y="142646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7827264" y="142646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982712" y="142646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138160" y="1426464"/>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806440" y="1581912"/>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61888" y="158191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117336" y="158191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272784" y="1581912"/>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428232" y="158191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583680" y="158191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739128" y="158191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894576" y="1581912"/>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7050024" y="1581912"/>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7205472" y="158191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7360920" y="158191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7516368" y="1581912"/>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7671816" y="158191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7827264" y="158191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7982712" y="158191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8138160" y="158191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5806440" y="173736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5961888" y="173736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117336" y="173736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272784" y="1737360"/>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428232" y="173736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583680" y="173736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739128" y="173736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6894576" y="173736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7050024" y="1737360"/>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7205472" y="173736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7360920" y="173736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7516368" y="1737360"/>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7671816" y="173736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7827264" y="1737360"/>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7982712" y="173736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8138160" y="1737360"/>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5806440" y="1892808"/>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5961888" y="189280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6117336" y="1892808"/>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6272784" y="189280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6428232" y="189280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6583680" y="189280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6739128" y="189280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6894576" y="189280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7050024" y="189280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7205472" y="189280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7360920" y="189280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7516368" y="189280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7671816" y="189280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7827264" y="189280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7982712" y="189280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8138160" y="1892808"/>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5806440" y="204825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5961888" y="204825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6117336" y="204825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6272784" y="2048256"/>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6428232" y="2048256"/>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6583680" y="204825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6739128" y="2048256"/>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6894576" y="204825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7050024" y="204825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7205472" y="204825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7360920" y="204825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7516368" y="204825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7671816" y="204825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7827264" y="204825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7982712" y="204825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8138160" y="2048256"/>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5806440" y="220370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5961888" y="2203704"/>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6117336" y="220370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6272784" y="2203704"/>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6428232" y="220370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6583680" y="220370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6739128" y="220370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6894576" y="220370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7050024" y="220370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7205472" y="220370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7360920" y="220370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7516368" y="220370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7671816" y="220370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7827264" y="220370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7982712" y="2203704"/>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8138160" y="220370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5806440" y="2359152"/>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5961888" y="2359152"/>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6117336" y="235915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6272784" y="2359152"/>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6428232" y="2359152"/>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6583680" y="235915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6739128" y="235915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6894576" y="235915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7050024" y="235915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7205472" y="235915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7360920" y="2359152"/>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7516368" y="235915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7671816" y="2359152"/>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7827264" y="235915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7982712" y="2359152"/>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8138160" y="235915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5806440" y="2514600"/>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5961888" y="2514600"/>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6117336" y="251460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6272784" y="2514600"/>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6428232" y="251460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6583680" y="251460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6739128" y="251460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6894576" y="251460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7050024" y="2514600"/>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7205472" y="251460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7360920" y="251460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7516368" y="251460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7671816" y="2514600"/>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7827264" y="251460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7982712" y="251460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8138160" y="251460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5806440" y="2670048"/>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5961888" y="267004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6117336" y="2670048"/>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6272784" y="267004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6428232" y="267004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6583680" y="267004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6739128" y="267004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6894576" y="267004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7050024" y="267004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7205472" y="267004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7360920" y="267004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7516368" y="267004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7671816" y="267004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7827264" y="2670048"/>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7982712" y="2670048"/>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8138160" y="2670048"/>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5806440" y="282549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5961888" y="282549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6117336" y="282549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6272784" y="282549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6428232" y="282549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6583680" y="282549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6739128" y="282549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6894576" y="282549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7050024" y="2825496"/>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7205472" y="282549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7360920" y="282549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7516368" y="282549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7671816" y="282549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7827264" y="282549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7982712" y="282549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8138160" y="2825496"/>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5806440" y="298094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5961888" y="298094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6117336" y="298094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6272784" y="298094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6428232" y="298094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6583680" y="298094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6739128" y="2980944"/>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6894576" y="2980944"/>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7050024" y="298094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7205472" y="298094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7360920" y="2980944"/>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7516368" y="298094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7671816" y="298094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7827264" y="298094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7982712" y="2980944"/>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8138160" y="2980944"/>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5806440" y="313639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5961888" y="313639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6117336" y="313639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6272784" y="313639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6428232" y="313639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6583680" y="3136392"/>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6739128" y="313639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6894576" y="3136392"/>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7050024" y="313639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7205472" y="313639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7360920" y="313639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7516368" y="313639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7671816" y="313639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7827264" y="313639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7982712" y="3136392"/>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8138160" y="3136392"/>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5806440" y="329184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5961888" y="329184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6117336" y="329184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6272784" y="329184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6428232" y="329184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6583680" y="329184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6739128" y="329184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6894576" y="329184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7050024" y="329184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7205472" y="3291840"/>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7360920" y="329184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7516368" y="329184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7671816" y="329184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7827264" y="329184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7982712" y="3291840"/>
            <a:ext cx="155448" cy="155448"/>
          </a:xfrm>
          <a:prstGeom prst="rect">
            <a:avLst/>
          </a:prstGeom>
          <a:solidFill>
            <a:srgbClr val="57068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8138160" y="3291840"/>
            <a:ext cx="155448" cy="155448"/>
          </a:xfrm>
          <a:prstGeom prst="rect">
            <a:avLst/>
          </a:prstGeom>
          <a:solidFill>
            <a:srgbClr val="F4F1F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TextBox 259"/>
          <p:cNvSpPr txBox="1"/>
          <p:nvPr/>
        </p:nvSpPr>
        <p:spPr>
          <a:xfrm>
            <a:off x="5806440" y="3520440"/>
            <a:ext cx="2487168" cy="822960"/>
          </a:xfrm>
          <a:prstGeom prst="rect">
            <a:avLst/>
          </a:prstGeom>
          <a:noFill/>
        </p:spPr>
        <p:txBody>
          <a:bodyPr wrap="square" anchor="t" lIns="0" rIns="0" tIns="0" bIns="0">
            <a:spAutoFit/>
          </a:bodyPr>
          <a:lstStyle/>
          <a:p>
            <a:pPr algn="l">
              <a:spcAft>
                <a:spcPts val="600"/>
              </a:spcAft>
            </a:pPr>
            <a:r>
              <a:rPr sz="950" b="1" i="0">
                <a:solidFill>
                  <a:srgbClr val="57068C"/>
                </a:solidFill>
              </a:rPr>
              <a:t>One test day: </a:t>
            </a:r>
            <a:r>
              <a:rPr sz="950" b="0" i="0">
                <a:solidFill>
                  <a:srgbClr val="333333"/>
                </a:solidFill>
              </a:rPr>
              <a:t>2048² DEM image = 256 blocks of 128². One target is scored on its own random 64 (purple). × 5 targets: the clean solve + 4 noisy re-solves.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ElasticNet: the final model, and its flare cores</a:t>
            </a:r>
          </a:p>
        </p:txBody>
      </p:sp>
      <p:graphicFrame>
        <p:nvGraphicFramePr>
          <p:cNvPr id="3" name="Table 2"/>
          <p:cNvGraphicFramePr>
            <a:graphicFrameLocks noGrp="1"/>
          </p:cNvGraphicFramePr>
          <p:nvPr/>
        </p:nvGraphicFramePr>
        <p:xfrm>
          <a:off x="365760" y="914400"/>
          <a:ext cx="4571998" cy="1984248"/>
        </p:xfrm>
        <a:graphic>
          <a:graphicData uri="http://schemas.openxmlformats.org/drawingml/2006/table">
            <a:tbl>
              <a:tblPr firstRow="1" bandRow="1"/>
              <a:tblGrid>
                <a:gridCol w="1925052"/>
                <a:gridCol w="914400"/>
                <a:gridCol w="1010652"/>
                <a:gridCol w="721894"/>
              </a:tblGrid>
              <a:tr h="283464">
                <a:tc>
                  <a:txBody>
                    <a:bodyPr wrap="square"/>
                    <a:lstStyle/>
                    <a:p>
                      <a:pPr algn="l"/>
                      <a:r>
                        <a:rPr sz="1100" b="1">
                          <a:solidFill>
                            <a:srgbClr val="FFFFFF"/>
                          </a:solidFill>
                        </a:rPr>
                        <a:t>ENet flare cores, shared test</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00" b="1">
                          <a:solidFill>
                            <a:srgbClr val="FFFFFF"/>
                          </a:solidFill>
                        </a:rPr>
                        <a:t>Label-free</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00" b="1">
                          <a:solidFill>
                            <a:srgbClr val="FFFFFF"/>
                          </a:solidFill>
                        </a:rPr>
                        <a:t>Supervised</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00" b="1">
                          <a:solidFill>
                            <a:srgbClr val="FFFFFF"/>
                          </a:solidFill>
                        </a:rPr>
                        <a:t>Solver</a:t>
                      </a:r>
                    </a:p>
                  </a:txBody>
                  <a:tcPr marL="54864" marR="54864" marT="27432" marB="27432" anchor="ctr">
                    <a:lnL w="0">
                      <a:noFill/>
                    </a:lnL>
                    <a:lnR w="0">
                      <a:noFill/>
                    </a:lnR>
                    <a:lnT w="0">
                      <a:noFill/>
                    </a:lnT>
                    <a:lnB w="6350">
                      <a:solidFill>
                        <a:srgbClr val="D9D3E3"/>
                      </a:solidFill>
                    </a:lnB>
                    <a:solidFill>
                      <a:srgbClr val="57068C"/>
                    </a:solidFill>
                  </a:tcPr>
                </a:tc>
              </a:tr>
              <a:tr h="283464">
                <a:tc>
                  <a:txBody>
                    <a:bodyPr wrap="square"/>
                    <a:lstStyle/>
                    <a:p>
                      <a:pPr algn="l"/>
                      <a:r>
                        <a:rPr sz="1100" b="1">
                          <a:solidFill>
                            <a:srgbClr val="333333"/>
                          </a:solidFill>
                        </a:rPr>
                        <a:t>Share of ENet DEM error</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44%</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34%</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
                      </a:r>
                    </a:p>
                  </a:txBody>
                  <a:tcPr marL="54864" marR="54864" marT="27432" marB="27432" anchor="ctr">
                    <a:lnL w="0">
                      <a:noFill/>
                    </a:lnL>
                    <a:lnR w="0">
                      <a:noFill/>
                    </a:lnR>
                    <a:lnT w="0">
                      <a:noFill/>
                    </a:lnT>
                    <a:lnB w="6350">
                      <a:solidFill>
                        <a:srgbClr val="D9D3E3"/>
                      </a:solidFill>
                    </a:lnB>
                    <a:solidFill>
                      <a:srgbClr val="FFFFFF"/>
                    </a:solidFill>
                  </a:tcPr>
                </a:tc>
              </a:tr>
              <a:tr h="283464">
                <a:tc>
                  <a:txBody>
                    <a:bodyPr wrap="square"/>
                    <a:lstStyle/>
                    <a:p>
                      <a:pPr algn="l"/>
                      <a:r>
                        <a:rPr sz="1100" b="1">
                          <a:solidFill>
                            <a:srgbClr val="333333"/>
                          </a:solidFill>
                        </a:rPr>
                        <a:t>Emission vs solver</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99%</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87%</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100%</a:t>
                      </a:r>
                    </a:p>
                  </a:txBody>
                  <a:tcPr marL="54864" marR="54864" marT="27432" marB="27432" anchor="ctr">
                    <a:lnL w="0">
                      <a:noFill/>
                    </a:lnL>
                    <a:lnR w="0">
                      <a:noFill/>
                    </a:lnR>
                    <a:lnT w="0">
                      <a:noFill/>
                    </a:lnT>
                    <a:lnB w="6350">
                      <a:solidFill>
                        <a:srgbClr val="D9D3E3"/>
                      </a:solidFill>
                    </a:lnB>
                    <a:solidFill>
                      <a:srgbClr val="FFFFFF"/>
                    </a:solidFill>
                  </a:tcPr>
                </a:tc>
              </a:tr>
              <a:tr h="283464">
                <a:tc>
                  <a:txBody>
                    <a:bodyPr wrap="square"/>
                    <a:lstStyle/>
                    <a:p>
                      <a:pPr algn="l"/>
                      <a:r>
                        <a:rPr sz="1100" b="1">
                          <a:solidFill>
                            <a:srgbClr val="333333"/>
                          </a:solidFill>
                        </a:rPr>
                        <a:t>Peak height vs solver</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101%</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92%</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100%</a:t>
                      </a:r>
                    </a:p>
                  </a:txBody>
                  <a:tcPr marL="54864" marR="54864" marT="27432" marB="27432" anchor="ctr">
                    <a:lnL w="0">
                      <a:noFill/>
                    </a:lnL>
                    <a:lnR w="0">
                      <a:noFill/>
                    </a:lnR>
                    <a:lnT w="0">
                      <a:noFill/>
                    </a:lnT>
                    <a:lnB w="6350">
                      <a:solidFill>
                        <a:srgbClr val="D9D3E3"/>
                      </a:solidFill>
                    </a:lnB>
                    <a:solidFill>
                      <a:srgbClr val="FFFFFF"/>
                    </a:solidFill>
                  </a:tcPr>
                </a:tc>
              </a:tr>
              <a:tr h="283464">
                <a:tc>
                  <a:txBody>
                    <a:bodyPr wrap="square"/>
                    <a:lstStyle/>
                    <a:p>
                      <a:pPr algn="l"/>
                      <a:r>
                        <a:rPr sz="1100" b="1">
                          <a:solidFill>
                            <a:srgbClr val="333333"/>
                          </a:solidFill>
                        </a:rPr>
                        <a:t>94 Å reproduced</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53%</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48%</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55%</a:t>
                      </a:r>
                    </a:p>
                  </a:txBody>
                  <a:tcPr marL="54864" marR="54864" marT="27432" marB="27432" anchor="ctr">
                    <a:lnL w="0">
                      <a:noFill/>
                    </a:lnL>
                    <a:lnR w="0">
                      <a:noFill/>
                    </a:lnR>
                    <a:lnT w="0">
                      <a:noFill/>
                    </a:lnT>
                    <a:lnB w="6350">
                      <a:solidFill>
                        <a:srgbClr val="D9D3E3"/>
                      </a:solidFill>
                    </a:lnB>
                    <a:solidFill>
                      <a:srgbClr val="FFFFFF"/>
                    </a:solidFill>
                  </a:tcPr>
                </a:tc>
              </a:tr>
              <a:tr h="283464">
                <a:tc>
                  <a:txBody>
                    <a:bodyPr wrap="square"/>
                    <a:lstStyle/>
                    <a:p>
                      <a:pPr algn="l"/>
                      <a:r>
                        <a:rPr sz="1100" b="1">
                          <a:solidFill>
                            <a:srgbClr val="333333"/>
                          </a:solidFill>
                        </a:rPr>
                        <a:t>171 Å reproduced</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97%</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70%</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100%</a:t>
                      </a:r>
                    </a:p>
                  </a:txBody>
                  <a:tcPr marL="54864" marR="54864" marT="27432" marB="27432" anchor="ctr">
                    <a:lnL w="0">
                      <a:noFill/>
                    </a:lnL>
                    <a:lnR w="0">
                      <a:noFill/>
                    </a:lnR>
                    <a:lnT w="0">
                      <a:noFill/>
                    </a:lnT>
                    <a:lnB w="6350">
                      <a:solidFill>
                        <a:srgbClr val="D9D3E3"/>
                      </a:solidFill>
                    </a:lnB>
                    <a:solidFill>
                      <a:srgbClr val="FFFFFF"/>
                    </a:solidFill>
                  </a:tcPr>
                </a:tc>
              </a:tr>
              <a:tr h="283464">
                <a:tc>
                  <a:txBody>
                    <a:bodyPr wrap="square"/>
                    <a:lstStyle/>
                    <a:p>
                      <a:pPr algn="l"/>
                      <a:r>
                        <a:rPr sz="1100" b="1">
                          <a:solidFill>
                            <a:srgbClr val="333333"/>
                          </a:solidFill>
                        </a:rPr>
                        <a:t>Curves with extra peaks</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18%</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18%</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21%</a:t>
                      </a:r>
                    </a:p>
                  </a:txBody>
                  <a:tcPr marL="54864" marR="54864" marT="27432" marB="27432" anchor="ctr">
                    <a:lnL w="0">
                      <a:noFill/>
                    </a:lnL>
                    <a:lnR w="0">
                      <a:noFill/>
                    </a:lnR>
                    <a:lnT w="0">
                      <a:noFill/>
                    </a:lnT>
                    <a:lnB w="6350">
                      <a:solidFill>
                        <a:srgbClr val="D9D3E3"/>
                      </a:solidFill>
                    </a:lnB>
                    <a:solidFill>
                      <a:srgbClr val="FFFFFF"/>
                    </a:solidFill>
                  </a:tcPr>
                </a:tc>
              </a:tr>
            </a:tbl>
          </a:graphicData>
        </a:graphic>
      </p:graphicFrame>
      <p:sp>
        <p:nvSpPr>
          <p:cNvPr id="4" name="TextBox 3"/>
          <p:cNvSpPr txBox="1"/>
          <p:nvPr/>
        </p:nvSpPr>
        <p:spPr>
          <a:xfrm>
            <a:off x="365760" y="3017520"/>
            <a:ext cx="4572000" cy="1371600"/>
          </a:xfrm>
          <a:prstGeom prst="rect">
            <a:avLst/>
          </a:prstGeom>
          <a:noFill/>
        </p:spPr>
        <p:txBody>
          <a:bodyPr wrap="square" anchor="t" lIns="0" rIns="0" tIns="0" bIns="0">
            <a:spAutoFit/>
          </a:bodyPr>
          <a:lstStyle/>
          <a:p>
            <a:pPr algn="l" marL="182880" indent="-182880">
              <a:spcAft>
                <a:spcPts val="300"/>
              </a:spcAft>
              <a:buClr>
                <a:srgbClr val="333333"/>
              </a:buClr>
              <a:buChar char="•"/>
            </a:pPr>
            <a:r>
              <a:rPr sz="1050" b="0" i="0">
                <a:solidFill>
                  <a:srgbClr val="333333"/>
                </a:solidFill>
              </a:rPr>
              <a:t>Final: width 336, √ + Fourier input (chosen on validation), 40 epochs, the solver's α = 0.001, λ = 0.5, C = 6. Ahead of supervised on all six measures (Part 3).</a:t>
            </a:r>
          </a:p>
          <a:p>
            <a:pPr algn="l" marL="182880" indent="-182880">
              <a:spcAft>
                <a:spcPts val="300"/>
              </a:spcAft>
              <a:buClr>
                <a:srgbClr val="333333"/>
              </a:buClr>
              <a:buChar char="•"/>
            </a:pPr>
            <a:r>
              <a:rPr sz="1050" b="0" i="0">
                <a:solidFill>
                  <a:srgbClr val="333333"/>
                </a:solidFill>
              </a:rPr>
              <a:t>No band to price: the fit term is quadratic. At flare cores it reproduces the channels as the solver itself does (94 Å 53% vs 55%).</a:t>
            </a:r>
          </a:p>
          <a:p>
            <a:pPr algn="l" marL="182880" indent="-182880">
              <a:spcAft>
                <a:spcPts val="300"/>
              </a:spcAft>
              <a:buClr>
                <a:srgbClr val="333333"/>
              </a:buClr>
              <a:buChar char="•"/>
            </a:pPr>
            <a:r>
              <a:rPr sz="1050" b="0" i="0">
                <a:solidFill>
                  <a:srgbClr val="333333"/>
                </a:solidFill>
              </a:rPr>
              <a:t>From 722k up, a few bright pixels blow up by orders of magnitude; 336 is the largest stable width.</a:t>
            </a:r>
          </a:p>
        </p:txBody>
      </p:sp>
      <p:pic>
        <p:nvPicPr>
          <p:cNvPr id="5" name="Picture 4" descr="fig4_example_curves_enet.png"/>
          <p:cNvPicPr>
            <a:picLocks noChangeAspect="1"/>
          </p:cNvPicPr>
          <p:nvPr/>
        </p:nvPicPr>
        <p:blipFill>
          <a:blip r:embed="rId3"/>
          <a:stretch>
            <a:fillRect/>
          </a:stretch>
        </p:blipFill>
        <p:spPr>
          <a:xfrm>
            <a:off x="5074920" y="1341882"/>
            <a:ext cx="3703320" cy="2345436"/>
          </a:xfrm>
          <a:prstGeom prst="rect">
            <a:avLst/>
          </a:prstGeom>
        </p:spPr>
      </p:pic>
      <p:sp>
        <p:nvSpPr>
          <p:cNvPr id="6" name="TextBox 5"/>
          <p:cNvSpPr txBox="1"/>
          <p:nvPr/>
        </p:nvSpPr>
        <p:spPr>
          <a:xfrm>
            <a:off x="5074920" y="4114800"/>
            <a:ext cx="3703320" cy="274320"/>
          </a:xfrm>
          <a:prstGeom prst="rect">
            <a:avLst/>
          </a:prstGeom>
          <a:noFill/>
        </p:spPr>
        <p:txBody>
          <a:bodyPr wrap="square" anchor="t" lIns="0" rIns="0" tIns="0" bIns="0">
            <a:spAutoFit/>
          </a:bodyPr>
          <a:lstStyle/>
          <a:p>
            <a:pPr algn="l">
              <a:spcAft>
                <a:spcPts val="0"/>
              </a:spcAft>
            </a:pPr>
            <a:r>
              <a:rPr sz="950" b="0" i="1">
                <a:solidFill>
                  <a:srgbClr val="6B6B6B"/>
                </a:solidFill>
              </a:rPr>
              <a:t>ElasticNet model at random flare cores (top rows). Black solver, blue ours, orange supervised.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Multi-peaked DEMs: the new BP model finds 60% of them</a:t>
            </a:r>
          </a:p>
        </p:txBody>
      </p:sp>
      <p:graphicFrame>
        <p:nvGraphicFramePr>
          <p:cNvPr id="3" name="Table 2"/>
          <p:cNvGraphicFramePr>
            <a:graphicFrameLocks noGrp="1"/>
          </p:cNvGraphicFramePr>
          <p:nvPr/>
        </p:nvGraphicFramePr>
        <p:xfrm>
          <a:off x="365760" y="960120"/>
          <a:ext cx="6035039" cy="1645920"/>
        </p:xfrm>
        <a:graphic>
          <a:graphicData uri="http://schemas.openxmlformats.org/drawingml/2006/table">
            <a:tbl>
              <a:tblPr firstRow="1" bandRow="1"/>
              <a:tblGrid>
                <a:gridCol w="2377440"/>
                <a:gridCol w="1645919"/>
                <a:gridCol w="1005840"/>
                <a:gridCol w="1005840"/>
              </a:tblGrid>
              <a:tr h="329184">
                <a:tc>
                  <a:txBody>
                    <a:bodyPr wrap="square"/>
                    <a:lstStyle/>
                    <a:p>
                      <a:pPr algn="l"/>
                      <a:r>
                        <a:rPr sz="1150" b="1">
                          <a:solidFill>
                            <a:srgbClr val="FFFFFF"/>
                          </a:solidFill>
                        </a:rPr>
                        <a:t>BP track, shared test</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Flagged multi-peaked</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Precision</a:t>
                      </a:r>
                    </a:p>
                  </a:txBody>
                  <a:tcPr marL="54864" marR="54864" marT="27432" marB="27432"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Recall</a:t>
                      </a:r>
                    </a:p>
                  </a:txBody>
                  <a:tcPr marL="54864" marR="54864" marT="27432" marB="27432" anchor="ctr">
                    <a:lnL w="0">
                      <a:noFill/>
                    </a:lnL>
                    <a:lnR w="0">
                      <a:noFill/>
                    </a:lnR>
                    <a:lnT w="0">
                      <a:noFill/>
                    </a:lnT>
                    <a:lnB w="6350">
                      <a:solidFill>
                        <a:srgbClr val="D9D3E3"/>
                      </a:solidFill>
                    </a:lnB>
                    <a:solidFill>
                      <a:srgbClr val="57068C"/>
                    </a:solidFill>
                  </a:tcPr>
                </a:tc>
              </a:tr>
              <a:tr h="329184">
                <a:tc>
                  <a:txBody>
                    <a:bodyPr wrap="square"/>
                    <a:lstStyle/>
                    <a:p>
                      <a:pPr algn="l"/>
                      <a:r>
                        <a:rPr sz="1150" b="1">
                          <a:solidFill>
                            <a:srgbClr val="333333"/>
                          </a:solidFill>
                        </a:rPr>
                        <a:t>Solver (BP)</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13.5% of pixels</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
                      </a:r>
                    </a:p>
                  </a:txBody>
                  <a:tcPr marL="54864" marR="54864" marT="27432" marB="27432" anchor="ctr">
                    <a:lnL w="0">
                      <a:noFill/>
                    </a:lnL>
                    <a:lnR w="0">
                      <a:noFill/>
                    </a:lnR>
                    <a:lnT w="0">
                      <a:noFill/>
                    </a:lnT>
                    <a:lnB w="6350">
                      <a:solidFill>
                        <a:srgbClr val="D9D3E3"/>
                      </a:solidFill>
                    </a:lnB>
                    <a:solidFill>
                      <a:srgbClr val="FFFFFF"/>
                    </a:solidFill>
                  </a:tcPr>
                </a:tc>
              </a:tr>
              <a:tr h="329184">
                <a:tc>
                  <a:txBody>
                    <a:bodyPr wrap="square"/>
                    <a:lstStyle/>
                    <a:p>
                      <a:pPr algn="l"/>
                      <a:r>
                        <a:rPr sz="1150" b="1">
                          <a:solidFill>
                            <a:srgbClr val="333333"/>
                          </a:solidFill>
                        </a:rPr>
                        <a:t>Old BP model (original loss)</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9.9%</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36%</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26%</a:t>
                      </a:r>
                    </a:p>
                  </a:txBody>
                  <a:tcPr marL="54864" marR="54864" marT="27432" marB="27432" anchor="ctr">
                    <a:lnL w="0">
                      <a:noFill/>
                    </a:lnL>
                    <a:lnR w="0">
                      <a:noFill/>
                    </a:lnR>
                    <a:lnT w="0">
                      <a:noFill/>
                    </a:lnT>
                    <a:lnB w="6350">
                      <a:solidFill>
                        <a:srgbClr val="D9D3E3"/>
                      </a:solidFill>
                    </a:lnB>
                    <a:solidFill>
                      <a:srgbClr val="FFFFFF"/>
                    </a:solidFill>
                  </a:tcPr>
                </a:tc>
              </a:tr>
              <a:tr h="329184">
                <a:tc>
                  <a:txBody>
                    <a:bodyPr wrap="square"/>
                    <a:lstStyle/>
                    <a:p>
                      <a:pPr algn="l"/>
                      <a:r>
                        <a:rPr sz="1150" b="1">
                          <a:solidFill>
                            <a:srgbClr val="333333"/>
                          </a:solidFill>
                        </a:rPr>
                        <a:t>New BP model (stiff band)</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150" b="0">
                          <a:solidFill>
                            <a:srgbClr val="333333"/>
                          </a:solidFill>
                        </a:rPr>
                        <a:t>15.5%</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150" b="0">
                          <a:solidFill>
                            <a:srgbClr val="333333"/>
                          </a:solidFill>
                        </a:rPr>
                        <a:t>53%</a:t>
                      </a:r>
                    </a:p>
                  </a:txBody>
                  <a:tcPr marL="54864" marR="54864" marT="27432" marB="27432" anchor="ctr">
                    <a:lnL w="0">
                      <a:noFill/>
                    </a:lnL>
                    <a:lnR w="0">
                      <a:noFill/>
                    </a:lnR>
                    <a:lnT w="0">
                      <a:noFill/>
                    </a:lnT>
                    <a:lnB w="6350">
                      <a:solidFill>
                        <a:srgbClr val="D9D3E3"/>
                      </a:solidFill>
                    </a:lnB>
                    <a:solidFill>
                      <a:srgbClr val="E3DFE9"/>
                    </a:solidFill>
                  </a:tcPr>
                </a:tc>
                <a:tc>
                  <a:txBody>
                    <a:bodyPr wrap="square"/>
                    <a:lstStyle/>
                    <a:p>
                      <a:pPr algn="r"/>
                      <a:r>
                        <a:rPr sz="1150" b="0">
                          <a:solidFill>
                            <a:srgbClr val="333333"/>
                          </a:solidFill>
                        </a:rPr>
                        <a:t>60%</a:t>
                      </a:r>
                    </a:p>
                  </a:txBody>
                  <a:tcPr marL="54864" marR="54864" marT="27432" marB="27432" anchor="ctr">
                    <a:lnL w="0">
                      <a:noFill/>
                    </a:lnL>
                    <a:lnR w="0">
                      <a:noFill/>
                    </a:lnR>
                    <a:lnT w="0">
                      <a:noFill/>
                    </a:lnT>
                    <a:lnB w="6350">
                      <a:solidFill>
                        <a:srgbClr val="D9D3E3"/>
                      </a:solidFill>
                    </a:lnB>
                    <a:solidFill>
                      <a:srgbClr val="E3DFE9"/>
                    </a:solidFill>
                  </a:tcPr>
                </a:tc>
              </a:tr>
              <a:tr h="329184">
                <a:tc>
                  <a:txBody>
                    <a:bodyPr wrap="square"/>
                    <a:lstStyle/>
                    <a:p>
                      <a:pPr algn="l"/>
                      <a:r>
                        <a:rPr sz="1150" b="1">
                          <a:solidFill>
                            <a:srgbClr val="333333"/>
                          </a:solidFill>
                        </a:rPr>
                        <a:t>Supervised</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41.1%</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24%</a:t>
                      </a:r>
                    </a:p>
                  </a:txBody>
                  <a:tcPr marL="54864" marR="54864" marT="27432" marB="27432"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72%</a:t>
                      </a:r>
                    </a:p>
                  </a:txBody>
                  <a:tcPr marL="54864" marR="54864" marT="27432" marB="27432" anchor="ctr">
                    <a:lnL w="0">
                      <a:noFill/>
                    </a:lnL>
                    <a:lnR w="0">
                      <a:noFill/>
                    </a:lnR>
                    <a:lnT w="0">
                      <a:noFill/>
                    </a:lnT>
                    <a:lnB w="6350">
                      <a:solidFill>
                        <a:srgbClr val="D9D3E3"/>
                      </a:solidFill>
                    </a:lnB>
                    <a:solidFill>
                      <a:srgbClr val="FFFFFF"/>
                    </a:solidFill>
                  </a:tcPr>
                </a:tc>
              </a:tr>
            </a:tbl>
          </a:graphicData>
        </a:graphic>
      </p:graphicFrame>
      <p:sp>
        <p:nvSpPr>
          <p:cNvPr id="4" name="TextBox 3"/>
          <p:cNvSpPr txBox="1"/>
          <p:nvPr/>
        </p:nvSpPr>
        <p:spPr>
          <a:xfrm>
            <a:off x="365760" y="2743200"/>
            <a:ext cx="8412480" cy="1645920"/>
          </a:xfrm>
          <a:prstGeom prst="rect">
            <a:avLst/>
          </a:prstGeom>
          <a:noFill/>
        </p:spPr>
        <p:txBody>
          <a:bodyPr wrap="square" anchor="t" lIns="0" rIns="0" tIns="0" bIns="0">
            <a:spAutoFit/>
          </a:bodyPr>
          <a:lstStyle/>
          <a:p>
            <a:pPr algn="l" marL="182880" indent="-182880">
              <a:spcAft>
                <a:spcPts val="400"/>
              </a:spcAft>
              <a:buClr>
                <a:srgbClr val="333333"/>
              </a:buClr>
              <a:buChar char="•"/>
            </a:pPr>
            <a:r>
              <a:rPr sz="1100" b="0" i="0">
                <a:solidFill>
                  <a:srgbClr val="333333"/>
                </a:solidFill>
              </a:rPr>
              <a:t>Multi-peaked: two or more interior peaks with prominence ≥ 0.15 of the maximum, on the full shared test set.</a:t>
            </a:r>
          </a:p>
          <a:p>
            <a:pPr algn="l" marL="182880" indent="-182880">
              <a:spcAft>
                <a:spcPts val="400"/>
              </a:spcAft>
              <a:buClr>
                <a:srgbClr val="333333"/>
              </a:buClr>
              <a:buChar char="•"/>
            </a:pPr>
            <a:r>
              <a:rPr sz="1100" b="0" i="0">
                <a:solidFill>
                  <a:srgbClr val="333333"/>
                </a:solidFill>
              </a:rPr>
              <a:t>We flag fewer pixels than the supervised model and are right more often; the stiff band lifted recall from 26% to 60%.</a:t>
            </a:r>
          </a:p>
          <a:p>
            <a:pPr algn="l" marL="182880" indent="-182880">
              <a:spcAft>
                <a:spcPts val="400"/>
              </a:spcAft>
              <a:buClr>
                <a:srgbClr val="333333"/>
              </a:buClr>
              <a:buChar char="•"/>
            </a:pPr>
            <a:r>
              <a:rPr sz="1100" b="0" i="0">
                <a:solidFill>
                  <a:srgbClr val="333333"/>
                </a:solidFill>
              </a:rPr>
              <a:t>Where BP is multi-peaked, our gap from BP is the size of BP's own re-solve scatter (0.97×; 30 re-solves under photon noise at 80 pixels; 0.70× at single-peaked pixels).</a:t>
            </a:r>
          </a:p>
          <a:p>
            <a:pPr algn="l" marL="182880" indent="-182880">
              <a:spcAft>
                <a:spcPts val="400"/>
              </a:spcAft>
              <a:buClr>
                <a:srgbClr val="333333"/>
              </a:buClr>
              <a:buChar char="•"/>
            </a:pPr>
            <a:r>
              <a:rPr sz="1100" b="0" i="0">
                <a:solidFill>
                  <a:srgbClr val="333333"/>
                </a:solidFill>
              </a:rPr>
              <a:t>ElasticNet: the solver is multi-peaked on 62% of pixels; we find 82% of them at 87% precision (supervised: 84% at 80%).</a:t>
            </a:r>
          </a:p>
          <a:p>
            <a:pPr algn="l" marL="182880" indent="-182880">
              <a:spcAft>
                <a:spcPts val="400"/>
              </a:spcAft>
              <a:buClr>
                <a:srgbClr val="333333"/>
              </a:buClr>
              <a:buChar char="•"/>
            </a:pPr>
            <a:r>
              <a:rPr sz="1100" b="0" i="0">
                <a:solidFill>
                  <a:srgbClr val="333333"/>
                </a:solidFill>
              </a:rPr>
              <a:t>At BP flare cores, spurious extra peaks were 42% of the old error and are 3.5% now.</a:t>
            </a:r>
          </a:p>
        </p:txBody>
      </p:sp>
    </p:spTree>
  </p:cSld>
  <p:clrMapOvr>
    <a:masterClrMapping/>
  </p:clrMapOvr>
</p:sld>
</file>

<file path=ppt/theme/theme1.xml><?xml version="1.0" encoding="utf-8"?>
<a:theme xmlns:a="http://schemas.openxmlformats.org/drawingml/2006/main" xmlns:r="http://schemas.openxmlformats.org/officeDocument/2006/relationships" name="NYU Elegant">
  <a:themeElements>
    <a:clrScheme name="Simple Light">
      <a:dk1>
        <a:srgbClr val="57068C"/>
      </a:dk1>
      <a:lt1>
        <a:srgbClr val="FFFFFF"/>
      </a:lt1>
      <a:dk2>
        <a:srgbClr val="333333"/>
      </a:dk2>
      <a:lt2>
        <a:srgbClr val="E3DFE9"/>
      </a:lt2>
      <a:accent1>
        <a:srgbClr val="9A6ABA"/>
      </a:accent1>
      <a:accent2>
        <a:srgbClr val="330662"/>
      </a:accent2>
      <a:accent3>
        <a:srgbClr val="007E8A"/>
      </a:accent3>
      <a:accent4>
        <a:srgbClr val="E97300"/>
      </a:accent4>
      <a:accent5>
        <a:srgbClr val="799A05"/>
      </a:accent5>
      <a:accent6>
        <a:srgbClr val="C50F3C"/>
      </a:accent6>
      <a:hlink>
        <a:srgbClr val="5706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