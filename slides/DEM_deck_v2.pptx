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50" b="1"/>
              <a:t>BP median pixel error by model size (lower is better)</a:t>
            </a:r>
          </a:p>
        </c:rich>
      </c:tx>
      <c:layout/>
      <c:overlay val="0"/>
    </c:title>
    <c:autoTitleDeleted val="0"/>
    <c:plotArea>
      <c:lineChart>
        <c:grouping val="standard"/>
        <c:varyColors val="0"/>
        <c:ser>
          <c:idx val="0"/>
          <c:order val="0"/>
          <c:tx>
            <c:strRef>
              <c:f>Sheet1!$B$1</c:f>
              <c:strCache>
                <c:ptCount val="1"/>
                <c:pt idx="0">
                  <c:v>BP median pixel error</c:v>
                </c:pt>
              </c:strCache>
            </c:strRef>
          </c:tx>
          <c:spPr>
            <a:ln w="28575">
              <a:solidFill>
                <a:srgbClr val="57068C"/>
              </a:solidFill>
            </a:ln>
          </c:spPr>
          <c:marker>
            <c:spPr>
              <a:solidFill>
                <a:srgbClr val="57068C"/>
              </a:solidFill>
              <a:ln>
                <a:solidFill>
                  <a:srgbClr val="57068C"/>
                </a:solidFill>
              </a:ln>
            </c:spPr>
          </c:marker>
          <c:cat>
            <c:strRef>
              <c:f>Sheet1!$A$2:$A$8</c:f>
              <c:strCache>
                <c:ptCount val="7"/>
                <c:pt idx="0">
                  <c:v>20k</c:v>
                </c:pt>
                <c:pt idx="1">
                  <c:v>42k</c:v>
                </c:pt>
                <c:pt idx="2">
                  <c:v>87k</c:v>
                </c:pt>
                <c:pt idx="3">
                  <c:v>176k</c:v>
                </c:pt>
                <c:pt idx="4">
                  <c:v>360k</c:v>
                </c:pt>
                <c:pt idx="5">
                  <c:v>722k</c:v>
                </c:pt>
                <c:pt idx="6">
                  <c:v>1.43M</c:v>
                </c:pt>
              </c:strCache>
            </c:strRef>
          </c:cat>
          <c:val>
            <c:numRef>
              <c:f>Sheet1!$B$2:$B$8</c:f>
              <c:numCache>
                <c:formatCode>General</c:formatCode>
                <c:ptCount val="7"/>
                <c:pt idx="0">
                  <c:v>0.068</c:v>
                </c:pt>
                <c:pt idx="1">
                  <c:v>0.047</c:v>
                </c:pt>
                <c:pt idx="2">
                  <c:v>0.043</c:v>
                </c:pt>
                <c:pt idx="3">
                  <c:v>0.03</c:v>
                </c:pt>
                <c:pt idx="4">
                  <c:v>0.026</c:v>
                </c:pt>
                <c:pt idx="5">
                  <c:v>0.025</c:v>
                </c:pt>
                <c:pt idx="6">
                  <c:v>0.023</c:v>
                </c:pt>
              </c:numCache>
            </c:numRef>
          </c:val>
          <c:smooth val="0"/>
        </c:ser>
        <c:dLbls>
          <c:numFmt formatCode="0.000" sourceLinked="0"/>
          <c:txPr>
            <a:bodyPr/>
            <a:lstStyle/>
            <a:p>
              <a:pPr>
                <a:defRPr sz="9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00"/>
            </a:pPr>
          </a:p>
        </c:txPr>
        <c:crossAx val="2140495176"/>
        <c:crosses val="autoZero"/>
        <c:auto val="1"/>
        <c:lblAlgn val="ctr"/>
        <c:lblOffset val="100"/>
        <c:noMultiLvlLbl val="0"/>
      </c:catAx>
      <c:valAx>
        <c:axId val="2140495176"/>
        <c:scaling>
          <c:max val="0.08"/>
          <c:min val="0.0"/>
        </c:scaling>
        <c:delete val="0"/>
        <c:axPos val="l"/>
        <c:majorGridlines>
          <c:spPr>
            <a:ln>
              <a:solidFill>
                <a:srgbClr val="ECEBE8"/>
              </a:solidFill>
            </a:ln>
          </c:spPr>
        </c:majorGridlines>
        <c:majorTickMark val="out"/>
        <c:minorTickMark val="none"/>
        <c:tickLblPos val="nextTo"/>
        <c:txPr>
          <a:bodyPr/>
          <a:lstStyle/>
          <a:p>
            <a:pPr>
              <a:defRPr sz="9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four things to remember. Numbers are from the final models (BP 1.43M, ElasticNet 360k, fresh pixels) on the shared test set: 153 days never seen in training.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with SiLU (680 wide for BP, 336 for ElasticNet), 54 non-negative basis weights out; DEM = B times w over 18 bins, logT 5.5 to 7.2; predicted AIA = R times DEM. One forward pass per pixel.</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run before October seeded each block's pixel draw by the block alone, so it reused the same 30M pixels every epoch. All results from here on use fresh pixels every epoch, as described. The fixed-sample runs scored better: validation loss BP 2.156 against 2.237, ElasticNet 0.0582 against 0.0689, far beyond the 0.2 to 0.4% run-to-run spread; only ElasticNet's flare cores improved with fresh pixels. 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June write-up called the first MLP's curves noisy and oscillating, but no figure of them survives and its checkpoint was not kept. Retrained with the unchanged June code, its curves are smooth: none has three or more peaks. The real difference is accuracy, on 400 held-out pixels per image: mean DEM error against BP 0.078 against the CNN's 0.047, W1 0.055 against 0.048 dex. It had even seen these pixels in training. It is the same architecture as today's production model, at width 256 with raw intensities.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The centre-pixel MLP was closest to BP on 3 of 4 images; the CNN on the X1.6 flare. So the CNN's lower sparsity did not mean DEMs closer to BP. Capacity and input scaling were not separated: the 213k MLP took raw intensities, and at full scale MLPs on log1p inputs does well.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submissions died the same way before the fix; the cause was visible at step 0, before any weight update. Gradient clipping does not help, because Adam normalises the step size.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Bright cutoffs and the test set come from the supervised side's protocol, so both models are scored on identical pixels. W1 treats each DEM as a distribution over logT.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~1.5M parameters, fresh pixels, same 917 training days; scored on the 153 test days. The MLP is better on the training objective at every percentile and in every brightness decile on BP (median 0.98 vs 1.01, p99 17.9 vs 18.8, p99.9 51 vs 57). The CNN reconstructs BP's AIA slightly better. This is the fifth comparison; none found a CNN advantage on unseen days.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Fresh-pixel sweep, every width scored on the full test set (results/plots/17_sweep_resample). 10k collapsed (validation loss 61) and is left off the chart. BP validation loss: 2.155 at 1.43M, 2.148 at 360k (a tie within run-to-run noise), 2.237 at 176k. ElasticNet validation is best at 1.43M (0.0528), but its 722k and 1.43M models predict a few bright pixels orders of magnitude too bright: AIA MSE 41,849 and 908,611 against 650 at 360k. Validation scores a fixed sample of 512 pixels per block and never saw them. Multi-peak recall is 22-26% from 42k up; the fixed-sample sweep's cliff below 176k does not reproduce.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Label-free trains on the observation through R; supervised trains on solver DEMs. Supervised wins the DEM-against-solver metric on both tracks. On ElasticNet we win total-emission error, W1 and AIA MAE (10 times lower); on BP we win W1 only, and the BP DEM MSE is set by flare cores (Part 7). EM error is the total-emission error; W1 is in dex.</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Per-pixel error is the squared error summed over the 18 bins. BP percentiles, label-free against supervised: median 0.023 vs 0.112, p90 3.4 vs 2.0, p99 68 vs 27. ElasticNet: median 1.07 vs 1.12, p99 35.5 vs 35.5, p99.9 155 vs 178.</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Peaks are counted on the zero-padded curve with prominence 0.15 times the maximum, over the full test set. Self-consistency: 80 multi-peaked bright pixels, 30 BP re-solves each under photon noise; our deviation from BP is 0.96 times BP's own re-solve scatter (0.68 at single-peaked pixels). On ElasticNet both models find ~85% of multi-peaked pixels.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ElasticNet flare cores are close to the solver: 88% of its emission, peak 79% as high, and 20% multi-peaked against the solver's 21%.</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 ElasticNet our flare-core reconstruction matches the solver's (94 A: 0.41 vs 0.55; cool channels 1.00 vs 0.98) and beats the supervised model's (0.70 to 0.76 on the cool channels). The supervised model's sqrt plus Fourier input made BP flare cores worse, consistent with a training problem rather than an input-representation one.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In one slide</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No labels needed</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network trained on the solver's own objective reproduces its DEMs. Solver DEMs are used only to evaluate.</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Small models suffice</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An MLP on one pixel's 6 intensities (1.43M parameters for BP, 360k for ElasticNet): one forward pass per pixel, no neighbourhood.</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Close to the supervised model</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BP: typical-pixel error 5× lower (median 0.023 vs 0.112). ElasticNet: same error on 90% of pixels, 10× lower AIA error.</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 the open problem</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0.01% of pixels, ~90% of the BP error. There our BP model misses the hot channels: a training problem.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train, and on what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1.43M / 360k</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with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1.43M parameters for BP, 360k for ElasticNet (Part 5); one forward pass per pixel.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Each epoch draws 512 fresh random pixels from each of the 58,688 blocks(917*64), for 40 epochs.</a:t>
            </a:r>
          </a:p>
          <a:p>
            <a:pPr algn="l" marL="182880" indent="-182880">
              <a:spcAft>
                <a:spcPts val="700"/>
              </a:spcAft>
              <a:buClr>
                <a:srgbClr val="333333"/>
              </a:buClr>
              <a:buChar char="•"/>
            </a:pPr>
            <a:r>
              <a:rPr sz="1250" b="0" i="0">
                <a:solidFill>
                  <a:srgbClr val="333333"/>
                </a:solidFill>
              </a:rPr>
              <a:t>Earlier runs reused one fixed ~30M-pixel sample (a sampler bug); at the old 176k size it scored better on validation (BP 4%, ElasticNet 18%).</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re-solves(only supervised).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loss gives BP's DEMs?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network, on four images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missed BP's shape; a patch CNN tracked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 quiet Sun (2012), moderate activity (2013), X1.6 flare (2014);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Smooth, single-peaked curves, but further from BP: DEM error 0.078 vs the CNN's 0.047.</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Tracked BP's shape, with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first_mlp_vs_cnn.png"/>
          <p:cNvPicPr>
            <a:picLocks noChangeAspect="1"/>
          </p:cNvPicPr>
          <p:nvPr/>
        </p:nvPicPr>
        <p:blipFill>
          <a:blip r:embed="rId3"/>
          <a:stretch>
            <a:fillRect/>
          </a:stretch>
        </p:blipFill>
        <p:spPr>
          <a:xfrm>
            <a:off x="6042660" y="1188720"/>
            <a:ext cx="2179320" cy="2971800"/>
          </a:xfrm>
          <a:prstGeom prst="rect">
            <a:avLst/>
          </a:prstGeom>
        </p:spPr>
      </p:pic>
      <p:sp>
        <p:nvSpPr>
          <p:cNvPr id="6" name="TextBox 5"/>
          <p:cNvSpPr txBox="1"/>
          <p:nvPr/>
        </p:nvSpPr>
        <p:spPr>
          <a:xfrm>
            <a:off x="5486400" y="420624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pixels, X2.1 flare image.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gap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Size, not neighbours, closed the gap: DEM error vs BP 0.042 for the 1.43M centre-pixel MLP, 0.047 for the patch CNN, 0.078 for the first MLP.</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4</a:t>
            </a:r>
            <a:br/>
            <a:r>
              <a:rPr sz="4100"/>
              <a:t>Scaling to the full dataset</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broke at full scale, and how we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first full-disk runs collapsed to an all-zero DEM</a:t>
            </a:r>
          </a:p>
        </p:txBody>
      </p:sp>
      <p:sp>
        <p:nvSpPr>
          <p:cNvPr id="3" name="TextBox 2"/>
          <p:cNvSpPr txBox="1"/>
          <p:nvPr/>
        </p:nvSpPr>
        <p:spPr>
          <a:xfrm>
            <a:off x="365760" y="914400"/>
            <a:ext cx="521208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Full-disk intensities span ~7 decades (10⁻³ off-limb to 10⁴ in flare cores); the small crops spanned about one.</a:t>
            </a:r>
          </a:p>
          <a:p>
            <a:pPr algn="l" marL="182880" indent="-182880">
              <a:spcAft>
                <a:spcPts val="900"/>
              </a:spcAft>
              <a:buClr>
                <a:srgbClr val="333333"/>
              </a:buClr>
              <a:buChar char="•"/>
            </a:pPr>
            <a:r>
              <a:rPr sz="1250" b="0" i="0">
                <a:solidFill>
                  <a:srgbClr val="333333"/>
                </a:solidFill>
              </a:rPr>
              <a:t>Fed raw, the untrained network predicted AIA ~7× outside the noise band: loss 5×10¹³ at step 0. The output softplus underflowed, its gradient became exactly zero, and every pixel predicted zero.</a:t>
            </a:r>
          </a:p>
          <a:p>
            <a:pPr algn="l" marL="182880" indent="-182880">
              <a:spcAft>
                <a:spcPts val="900"/>
              </a:spcAft>
              <a:buClr>
                <a:srgbClr val="333333"/>
              </a:buClr>
              <a:buChar char="•"/>
            </a:pPr>
            <a:r>
              <a:rPr sz="1250" b="0" i="0">
                <a:solidFill>
                  <a:srgbClr val="333333"/>
                </a:solidFill>
              </a:rPr>
              <a:t>Fix: log1p on the input only (loss and metrics stay in physical units), learning-rate warmup, a clamped softplus whose gradient cannot vanish, and a guard that stops a run whose loss freezes.</a:t>
            </a:r>
          </a:p>
          <a:p>
            <a:pPr algn="l" marL="182880" indent="-182880">
              <a:spcAft>
                <a:spcPts val="900"/>
              </a:spcAft>
              <a:buClr>
                <a:srgbClr val="333333"/>
              </a:buClr>
              <a:buChar char="•"/>
            </a:pPr>
            <a:r>
              <a:rPr sz="1250" b="1" i="0">
                <a:solidFill>
                  <a:srgbClr val="57068C"/>
                </a:solidFill>
              </a:rPr>
              <a:t>A 64-block smoke test could not catch it: it never drew a flare pixel.</a:t>
            </a:r>
          </a:p>
        </p:txBody>
      </p:sp>
      <p:sp>
        <p:nvSpPr>
          <p:cNvPr id="4" name="Rounded Rectangle 3"/>
          <p:cNvSpPr/>
          <p:nvPr/>
        </p:nvSpPr>
        <p:spPr>
          <a:xfrm>
            <a:off x="6035040" y="109728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Raw intensity</a:t>
            </a:r>
          </a:p>
          <a:p>
            <a:pPr algn="ctr"/>
            <a:r>
              <a:rPr sz="1100">
                <a:solidFill>
                  <a:srgbClr val="333333"/>
                </a:solidFill>
              </a:rPr>
              <a:t>10⁻³ … 10⁴</a:t>
            </a:r>
          </a:p>
        </p:txBody>
      </p:sp>
      <p:sp>
        <p:nvSpPr>
          <p:cNvPr id="5" name="Rounded Rectangle 4"/>
          <p:cNvSpPr/>
          <p:nvPr/>
        </p:nvSpPr>
        <p:spPr>
          <a:xfrm>
            <a:off x="6035040" y="2194560"/>
            <a:ext cx="2651760" cy="73152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log1p</a:t>
            </a:r>
          </a:p>
          <a:p>
            <a:pPr algn="ctr"/>
            <a:r>
              <a:rPr sz="1100">
                <a:solidFill>
                  <a:srgbClr val="FFFFFF"/>
                </a:solidFill>
              </a:rPr>
              <a:t>input only</a:t>
            </a:r>
          </a:p>
        </p:txBody>
      </p:sp>
      <p:cxnSp>
        <p:nvCxnSpPr>
          <p:cNvPr id="6" name="Connector 5"/>
          <p:cNvCxnSpPr/>
          <p:nvPr/>
        </p:nvCxnSpPr>
        <p:spPr>
          <a:xfrm>
            <a:off x="7360920" y="182880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035040" y="329184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Network input</a:t>
            </a:r>
          </a:p>
          <a:p>
            <a:pPr algn="ctr"/>
            <a:r>
              <a:rPr sz="1100">
                <a:solidFill>
                  <a:srgbClr val="333333"/>
                </a:solidFill>
              </a:rPr>
              <a:t>0 … 9.2</a:t>
            </a:r>
          </a:p>
        </p:txBody>
      </p:sp>
      <p:cxnSp>
        <p:nvCxnSpPr>
          <p:cNvPr id="8" name="Connector 7"/>
          <p:cNvCxnSpPr/>
          <p:nvPr/>
        </p:nvCxnSpPr>
        <p:spPr>
          <a:xfrm>
            <a:off x="7360920" y="292608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How we score at scale</a:t>
            </a:r>
          </a:p>
        </p:txBody>
      </p:sp>
      <p:sp>
        <p:nvSpPr>
          <p:cNvPr id="3" name="TextBox 2"/>
          <p:cNvSpPr txBox="1"/>
          <p:nvPr/>
        </p:nvSpPr>
        <p:spPr>
          <a:xfrm>
            <a:off x="365760" y="914400"/>
            <a:ext cx="5120640" cy="3474720"/>
          </a:xfrm>
          <a:prstGeom prst="rect">
            <a:avLst/>
          </a:prstGeom>
          <a:noFill/>
        </p:spPr>
        <p:txBody>
          <a:bodyPr wrap="square" anchor="t" lIns="0" rIns="0" tIns="0" bIns="0">
            <a:spAutoFit/>
          </a:bodyPr>
          <a:lstStyle/>
          <a:p>
            <a:pPr algn="l" marL="182880" indent="-182880">
              <a:spcAft>
                <a:spcPts val="900"/>
              </a:spcAft>
              <a:buClr>
                <a:srgbClr val="333333"/>
              </a:buClr>
              <a:buChar char="•"/>
            </a:pPr>
            <a:r>
              <a:rPr sz="1200" b="0" i="0">
                <a:solidFill>
                  <a:srgbClr val="333333"/>
                </a:solidFill>
              </a:rPr>
              <a:t>153 test days, never seen in training; each scored on random quarters of the image against 5 solver targets (the clean solve and 4 noisy re-solves).</a:t>
            </a:r>
          </a:p>
          <a:p>
            <a:pPr algn="l" marL="182880" indent="-182880">
              <a:spcAft>
                <a:spcPts val="900"/>
              </a:spcAft>
              <a:buClr>
                <a:srgbClr val="333333"/>
              </a:buClr>
              <a:buChar char="•"/>
            </a:pPr>
            <a:r>
              <a:rPr sz="1200" b="0" i="0">
                <a:solidFill>
                  <a:srgbClr val="333333"/>
                </a:solidFill>
              </a:rPr>
              <a:t>Bright = any channel above its top-5% cutoff (~10% of pixels); the rest is Quiet.</a:t>
            </a:r>
          </a:p>
          <a:p>
            <a:pPr algn="l" marL="182880" indent="-182880">
              <a:spcAft>
                <a:spcPts val="900"/>
              </a:spcAft>
              <a:buClr>
                <a:srgbClr val="333333"/>
              </a:buClr>
              <a:buChar char="•"/>
            </a:pPr>
            <a:r>
              <a:rPr sz="1200" b="0" i="0">
                <a:solidFill>
                  <a:srgbClr val="333333"/>
                </a:solidFill>
              </a:rPr>
              <a:t>DEM against the solver: MSE, total-emission error, W1 (temperature-shape distance). AIA reconstruction against the observation: MAE, MSE.</a:t>
            </a:r>
          </a:p>
          <a:p>
            <a:pPr algn="l" marL="182880" indent="-182880">
              <a:spcAft>
                <a:spcPts val="900"/>
              </a:spcAft>
              <a:buClr>
                <a:srgbClr val="333333"/>
              </a:buClr>
              <a:buChar char="•"/>
            </a:pPr>
            <a:r>
              <a:rPr sz="1200" b="0" i="0">
                <a:solidFill>
                  <a:srgbClr val="333333"/>
                </a:solidFill>
              </a:rPr>
              <a:t>We also report medians and percentiles: the error is extremely heavy-tailed (one pixel in 5 million once made up 94% of a model's mean loss).</a:t>
            </a:r>
          </a:p>
        </p:txBody>
      </p:sp>
      <p:sp>
        <p:nvSpPr>
          <p:cNvPr id="4" name="Rectangle 3"/>
          <p:cNvSpPr/>
          <p:nvPr/>
        </p:nvSpPr>
        <p:spPr>
          <a:xfrm>
            <a:off x="580644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6188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1733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7278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2823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739128"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94576"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5002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0547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6092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1636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7181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2726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6188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278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823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912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9457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5002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0547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6092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1636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71816"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27264"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8271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644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6188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17336"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72784"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823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3912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9457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5002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0547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6092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16368"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7181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2726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82712"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38160"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80644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961888"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1733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7278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2823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58368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73912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89457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05002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20547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6092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51636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67181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82726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98271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138160"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806440"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6188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1733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27278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2823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8368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73912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894576"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05002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20547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36092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516368"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67181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827264"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98271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13816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80644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96188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1733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27278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42823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58368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73912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89457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5002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0547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6092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516368"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67181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82726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98271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138160"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80644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96188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117336"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27278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2823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73912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89457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05002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20547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36092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51636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67181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82726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98271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813816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80644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96188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11733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72784"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28232"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58368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739128"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89457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05002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20547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36092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51636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67181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82726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98271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38160"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80644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961888"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11733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272784"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42823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58368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3912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9457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5002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20547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36092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51636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67181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82726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982712"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813816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580644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5961888"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11733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6272784"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642823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658368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73912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89457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705002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205472"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6092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51636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671816"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782726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798271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13816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5806440"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5961888"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11733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627278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642823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658368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673912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689457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705002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720547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736092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751636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7671816"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827264"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98271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813816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580644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596188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6117336"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627278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2823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58368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73912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689457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05002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20547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36092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751636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767181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782726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7982712"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813816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580644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596188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611733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627278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642823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658368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673912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689457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7050024" y="282549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720547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736092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51636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67181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82726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98271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3816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580644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596188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611733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627278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642823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658368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6739128"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6894576"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705002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720547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736092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751636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767181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782726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798271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813816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580644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596188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611733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627278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642823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6583680"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673912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6894576"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705002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720547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736092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751636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767181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782726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7982712"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13816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580644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596188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611733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627278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6428232"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658368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673912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689457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705002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720547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6092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751636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767181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782726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98271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813816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806440" y="3520440"/>
            <a:ext cx="2487168" cy="822960"/>
          </a:xfrm>
          <a:prstGeom prst="rect">
            <a:avLst/>
          </a:prstGeom>
          <a:noFill/>
        </p:spPr>
        <p:txBody>
          <a:bodyPr wrap="square" anchor="t" lIns="0" rIns="0" tIns="0" bIns="0">
            <a:spAutoFit/>
          </a:bodyPr>
          <a:lstStyle/>
          <a:p>
            <a:pPr algn="l">
              <a:spcAft>
                <a:spcPts val="600"/>
              </a:spcAft>
            </a:pPr>
            <a:r>
              <a:rPr sz="950" b="1" i="0">
                <a:solidFill>
                  <a:srgbClr val="57068C"/>
                </a:solidFill>
              </a:rPr>
              <a:t>One test day: </a:t>
            </a:r>
            <a:r>
              <a:rPr sz="950" b="0" i="0">
                <a:solidFill>
                  <a:srgbClr val="333333"/>
                </a:solidFill>
              </a:rPr>
              <a:t>2048² DEM image = 256 blocks of 128². One target is scored on its own random 64 (purple). × 5 targets: the clean solve + 4 noisy re-solves.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5</a:t>
            </a:r>
            <a:br/>
            <a:r>
              <a:rPr sz="4100"/>
              <a:t>Experiments at scale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CNN or MLP, and how big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centre-pixel MLP beat the patch CNN</a:t>
            </a:r>
          </a:p>
        </p:txBody>
      </p:sp>
      <p:sp>
        <p:nvSpPr>
          <p:cNvPr id="3" name="TextBox 2"/>
          <p:cNvSpPr txBox="1"/>
          <p:nvPr/>
        </p:nvSpPr>
        <p:spPr>
          <a:xfrm>
            <a:off x="365760" y="91440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Same 917 training days and losses, ~1.5M parameters each, fresh pixels; scored on the 153 test days.</a:t>
            </a:r>
          </a:p>
        </p:txBody>
      </p:sp>
      <p:graphicFrame>
        <p:nvGraphicFramePr>
          <p:cNvPr id="4" name="Table 3"/>
          <p:cNvGraphicFramePr>
            <a:graphicFrameLocks noGrp="1"/>
          </p:cNvGraphicFramePr>
          <p:nvPr/>
        </p:nvGraphicFramePr>
        <p:xfrm>
          <a:off x="365760" y="1417320"/>
          <a:ext cx="8412477" cy="1645920"/>
        </p:xfrm>
        <a:graphic>
          <a:graphicData uri="http://schemas.openxmlformats.org/drawingml/2006/table">
            <a:tbl>
              <a:tblPr firstRow="1" bandRow="1"/>
              <a:tblGrid>
                <a:gridCol w="2877953"/>
                <a:gridCol w="1438976"/>
                <a:gridCol w="1438976"/>
                <a:gridCol w="1328286"/>
                <a:gridCol w="1328286"/>
              </a:tblGrid>
              <a:tr h="329184">
                <a:tc>
                  <a:txBody>
                    <a:bodyPr wrap="square"/>
                    <a:lstStyle/>
                    <a:p>
                      <a:pPr algn="l"/>
                      <a:r>
                        <a:rPr sz="115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CNN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CNN</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50" b="0">
                          <a:solidFill>
                            <a:srgbClr val="333333"/>
                          </a:solidFill>
                        </a:rPr>
                        <a:t>Training objective (test)</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2.07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0.057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0.245</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BP objective: median / p99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0.98 /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1.01 / 18.8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Sparsity (BP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1.90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2.03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5.53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5.17</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AIA MAE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4.93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4.73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0.54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0.82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246120"/>
            <a:ext cx="8412480" cy="365760"/>
          </a:xfrm>
          <a:prstGeom prst="rect">
            <a:avLst/>
          </a:prstGeom>
          <a:noFill/>
        </p:spPr>
        <p:txBody>
          <a:bodyPr wrap="square" anchor="t" lIns="0" rIns="0" tIns="0" bIns="0">
            <a:spAutoFit/>
          </a:bodyPr>
          <a:lstStyle/>
          <a:p>
            <a:pPr algn="l">
              <a:spcAft>
                <a:spcPts val="600"/>
              </a:spcAft>
            </a:pPr>
            <a:r>
              <a:rPr sz="1300" b="1" i="0">
                <a:solidFill>
                  <a:srgbClr val="57068C"/>
                </a:solidFill>
              </a:rPr>
              <a:t>The simplest model scales: no neighbourhood needed.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Bigger helps, until ElasticNet turns unstable</a:t>
            </a:r>
          </a:p>
        </p:txBody>
      </p:sp>
      <p:graphicFrame>
        <p:nvGraphicFramePr>
          <p:cNvPr id="3" name="Chart 2"/>
          <p:cNvGraphicFramePr>
            <a:graphicFrameLocks noGrp="1"/>
          </p:cNvGraphicFramePr>
          <p:nvPr/>
        </p:nvGraphicFramePr>
        <p:xfrm>
          <a:off x="365760" y="914400"/>
          <a:ext cx="4937760" cy="3017520"/>
        </p:xfrm>
        <a:graphic>
          <a:graphicData uri="http://schemas.openxmlformats.org/drawingml/2006/chart">
            <c:chart xmlns:c="http://schemas.openxmlformats.org/drawingml/2006/chart" r:id="rId3"/>
          </a:graphicData>
        </a:graphic>
      </p:graphicFrame>
      <p:sp>
        <p:nvSpPr>
          <p:cNvPr id="4" name="TextBox 3"/>
          <p:cNvSpPr txBox="1"/>
          <p:nvPr/>
        </p:nvSpPr>
        <p:spPr>
          <a:xfrm>
            <a:off x="5486400" y="1005840"/>
            <a:ext cx="3291840" cy="3108960"/>
          </a:xfrm>
          <a:prstGeom prst="rect">
            <a:avLst/>
          </a:prstGeom>
          <a:noFill/>
        </p:spPr>
        <p:txBody>
          <a:bodyPr wrap="square" anchor="t" lIns="0" rIns="0" tIns="0" bIns="0">
            <a:spAutoFit/>
          </a:bodyPr>
          <a:lstStyle/>
          <a:p>
            <a:pPr algn="l" marL="182880" indent="-182880">
              <a:spcAft>
                <a:spcPts val="800"/>
              </a:spcAft>
              <a:buClr>
                <a:srgbClr val="333333"/>
              </a:buClr>
              <a:buChar char="•"/>
            </a:pPr>
            <a:r>
              <a:rPr sz="1200" b="0" i="0">
                <a:solidFill>
                  <a:srgbClr val="333333"/>
                </a:solidFill>
              </a:rPr>
              <a:t>BP: error on the typical pixel falls steadily with size; validation picks 1.43M.</a:t>
            </a:r>
          </a:p>
          <a:p>
            <a:pPr algn="l" marL="182880" indent="-182880">
              <a:spcAft>
                <a:spcPts val="800"/>
              </a:spcAft>
              <a:buClr>
                <a:srgbClr val="333333"/>
              </a:buClr>
              <a:buChar char="•"/>
            </a:pPr>
            <a:r>
              <a:rPr sz="1200" b="0" i="0">
                <a:solidFill>
                  <a:srgbClr val="333333"/>
                </a:solidFill>
              </a:rPr>
              <a:t>ElasticNet: from 722k up, a few bright pixels blow up by orders of magnitude; 360k is the largest stable size.</a:t>
            </a:r>
          </a:p>
          <a:p>
            <a:pPr algn="l" marL="182880" indent="-182880">
              <a:spcAft>
                <a:spcPts val="800"/>
              </a:spcAft>
              <a:buClr>
                <a:srgbClr val="333333"/>
              </a:buClr>
              <a:buChar char="•"/>
            </a:pPr>
            <a:r>
              <a:rPr sz="1200" b="0" i="0">
                <a:solidFill>
                  <a:srgbClr val="333333"/>
                </a:solidFill>
              </a:rPr>
              <a:t>With the old fixed sample nothing above 176k helped; with fresh pixels, size pays off.</a:t>
            </a:r>
          </a:p>
          <a:p>
            <a:pPr algn="l" marL="182880" indent="-182880">
              <a:spcAft>
                <a:spcPts val="800"/>
              </a:spcAft>
              <a:buClr>
                <a:srgbClr val="333333"/>
              </a:buClr>
              <a:buChar char="•"/>
            </a:pPr>
            <a:r>
              <a:rPr sz="1200" b="1" i="0">
                <a:solidFill>
                  <a:srgbClr val="57068C"/>
                </a:solidFill>
              </a:rPr>
              <a:t>Final: BP 1.43M, ElasticNet 360k.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6</a:t>
            </a:r>
            <a:br/>
            <a:r>
              <a:rPr sz="4100"/>
              <a:t>Results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Against the solver and the supervised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Against the supervised model: close on ElasticNet, behind on BP</a:t>
            </a:r>
          </a:p>
        </p:txBody>
      </p:sp>
      <p:graphicFrame>
        <p:nvGraphicFramePr>
          <p:cNvPr id="3" name="Table 2"/>
          <p:cNvGraphicFramePr>
            <a:graphicFrameLocks noGrp="1"/>
          </p:cNvGraphicFramePr>
          <p:nvPr/>
        </p:nvGraphicFramePr>
        <p:xfrm>
          <a:off x="365760" y="1005840"/>
          <a:ext cx="8412476" cy="1920240"/>
        </p:xfrm>
        <a:graphic>
          <a:graphicData uri="http://schemas.openxmlformats.org/drawingml/2006/table">
            <a:tbl>
              <a:tblPr firstRow="1" bandRow="1"/>
              <a:tblGrid>
                <a:gridCol w="2503714"/>
                <a:gridCol w="1201782"/>
                <a:gridCol w="1201782"/>
                <a:gridCol w="1101634"/>
                <a:gridCol w="1201782"/>
                <a:gridCol w="1201782"/>
              </a:tblGrid>
              <a:tr h="384048">
                <a:tc>
                  <a:txBody>
                    <a:bodyPr wrap="square"/>
                    <a:lstStyle/>
                    <a:p>
                      <a:pPr algn="l"/>
                      <a:r>
                        <a:rPr sz="120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W1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r>
              <a:tr h="384048">
                <a:tc>
                  <a:txBody>
                    <a:bodyPr wrap="square"/>
                    <a:lstStyle/>
                    <a:p>
                      <a:pPr algn="l"/>
                      <a:r>
                        <a:rPr sz="1200" b="1">
                          <a:solidFill>
                            <a:srgbClr val="333333"/>
                          </a:solidFill>
                        </a:rPr>
                        <a:t>BP, label-free (1.43M)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20.2%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0.084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4.43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174</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BP,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14.3%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0.133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2.95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label-free (360k)</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0.48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12.7%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0.111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0.60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650</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598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108960"/>
            <a:ext cx="8412480" cy="82296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Bold = better. ElasticNet: we win emission, W1 and AIA MAE (10× lower). BP: we win W1; the rest is set by flare cores (Part 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typical pixel and the average tell different stories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0.023 vs 0.112</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BP median pixel error, ours vs supervised: ~5× better on the typical pixel</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98%</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sits in the worst 1% of pixels (supervised 95%)</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On the typical BP pixel we are ~5× closer to the solver than the supervised model.</a:t>
            </a:r>
          </a:p>
          <a:p>
            <a:pPr algn="l" marL="182880" indent="-182880">
              <a:spcAft>
                <a:spcPts val="1200"/>
              </a:spcAft>
              <a:buClr>
                <a:srgbClr val="333333"/>
              </a:buClr>
              <a:buChar char="•"/>
            </a:pPr>
            <a:r>
              <a:rPr sz="1300" b="0" i="0">
                <a:solidFill>
                  <a:srgbClr val="333333"/>
                </a:solidFill>
              </a:rPr>
              <a:t>From the 90th percentile up, supervised is better on BP (p99: 27 vs 68).</a:t>
            </a:r>
          </a:p>
          <a:p>
            <a:pPr algn="l" marL="182880" indent="-182880">
              <a:spcAft>
                <a:spcPts val="1200"/>
              </a:spcAft>
              <a:buClr>
                <a:srgbClr val="333333"/>
              </a:buClr>
              <a:buChar char="•"/>
            </a:pPr>
            <a:r>
              <a:rPr sz="1300" b="0" i="0">
                <a:solidFill>
                  <a:srgbClr val="333333"/>
                </a:solidFill>
              </a:rPr>
              <a:t>ElasticNet: ours is as good or better at the median, p99 and p99.9.</a:t>
            </a:r>
          </a:p>
          <a:p>
            <a:pPr algn="l" marL="182880" indent="-182880">
              <a:spcAft>
                <a:spcPts val="1200"/>
              </a:spcAft>
              <a:buClr>
                <a:srgbClr val="333333"/>
              </a:buClr>
              <a:buChar char="•"/>
            </a:pPr>
            <a:r>
              <a:rPr sz="1300" b="0" i="0">
                <a:solidFill>
                  <a:srgbClr val="333333"/>
                </a:solidFill>
              </a:rPr>
              <a:t>The BP average is set by the worst 1% of pixels, for both models.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Multi-peaked DEMs: we find a quarter, within BP's own noise</a:t>
            </a:r>
          </a:p>
        </p:txBody>
      </p:sp>
      <p:graphicFrame>
        <p:nvGraphicFramePr>
          <p:cNvPr id="3" name="Table 2"/>
          <p:cNvGraphicFramePr>
            <a:graphicFrameLocks noGrp="1"/>
          </p:cNvGraphicFramePr>
          <p:nvPr/>
        </p:nvGraphicFramePr>
        <p:xfrm>
          <a:off x="365760" y="1005840"/>
          <a:ext cx="5669280" cy="1463040"/>
        </p:xfrm>
        <a:graphic>
          <a:graphicData uri="http://schemas.openxmlformats.org/drawingml/2006/table">
            <a:tbl>
              <a:tblPr firstRow="1" bandRow="1"/>
              <a:tblGrid>
                <a:gridCol w="1645920"/>
                <a:gridCol w="1828800"/>
                <a:gridCol w="1097280"/>
                <a:gridCol w="1097280"/>
              </a:tblGrid>
              <a:tr h="365760">
                <a:tc>
                  <a:txBody>
                    <a:bodyPr wrap="square"/>
                    <a:lstStyle/>
                    <a:p>
                      <a:pPr algn="l"/>
                      <a:r>
                        <a:rPr sz="1200" b="1">
                          <a:solidFill>
                            <a:srgbClr val="FFFFFF"/>
                          </a:solidFill>
                        </a:rPr>
                        <a:t>BP track</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Flagged multi-peaked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Precision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Recall</a:t>
                      </a:r>
                    </a:p>
                  </a:txBody>
                  <a:tcPr marL="54864" marR="54864" marT="27432" marB="27432" anchor="ctr">
                    <a:lnL w="0">
                      <a:noFill/>
                    </a:lnL>
                    <a:lnR w="0">
                      <a:noFill/>
                    </a:lnR>
                    <a:lnT w="0">
                      <a:noFill/>
                    </a:lnT>
                    <a:lnB w="6350">
                      <a:solidFill>
                        <a:srgbClr val="D9D3E3"/>
                      </a:solidFill>
                    </a:lnB>
                    <a:solidFill>
                      <a:srgbClr val="57068C"/>
                    </a:solidFill>
                  </a:tcPr>
                </a:tc>
              </a:tr>
              <a:tr h="365760">
                <a:tc>
                  <a:txBody>
                    <a:bodyPr wrap="square"/>
                    <a:lstStyle/>
                    <a:p>
                      <a:pPr algn="l"/>
                      <a:r>
                        <a:rPr sz="1200" b="1">
                          <a:solidFill>
                            <a:srgbClr val="333333"/>
                          </a:solidFill>
                        </a:rPr>
                        <a:t>Solver (BP)</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13.5% of pixels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200" b="1">
                          <a:solidFill>
                            <a:srgbClr val="333333"/>
                          </a:solidFill>
                        </a:rPr>
                        <a:t>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26%</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200" b="1">
                          <a:solidFill>
                            <a:srgbClr val="333333"/>
                          </a:solidFill>
                        </a:rPr>
                        <a:t>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41.1%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72%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2697480"/>
            <a:ext cx="8412480" cy="128016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We flag few pixels and are right more often; the supervised model flags many and misses few.</a:t>
            </a:r>
          </a:p>
          <a:p>
            <a:pPr algn="l" marL="182880" indent="-182880">
              <a:spcAft>
                <a:spcPts val="600"/>
              </a:spcAft>
              <a:buClr>
                <a:srgbClr val="333333"/>
              </a:buClr>
              <a:buChar char="•"/>
            </a:pPr>
            <a:r>
              <a:rPr sz="1250" b="0" i="0">
                <a:solidFill>
                  <a:srgbClr val="333333"/>
                </a:solidFill>
              </a:rPr>
              <a:t>Where BP is multi-peaked, our gap from BP is the size of BP's own re-solve scatter (0.96×): re-solving under photon noise moves BP's answer as much.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7</a:t>
            </a:r>
            <a:br/>
            <a:r>
              <a:rPr sz="4100"/>
              <a:t>Failures: bright pixels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Where the error is,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hold ~90% of the BP error</a:t>
            </a:r>
          </a:p>
        </p:txBody>
      </p:sp>
      <p:sp>
        <p:nvSpPr>
          <p:cNvPr id="3" name="TextBox 2"/>
          <p:cNvSpPr txBox="1"/>
          <p:nvPr/>
        </p:nvSpPr>
        <p:spPr>
          <a:xfrm>
            <a:off x="365760" y="914400"/>
            <a:ext cx="320040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Pixels at 32× the Bright cutoff or more: 0.01% of pixels, 91% of our BP DEM error, 90% of the supervised model's.</a:t>
            </a:r>
          </a:p>
          <a:p>
            <a:pPr algn="l" marL="182880" indent="-182880">
              <a:spcAft>
                <a:spcPts val="1000"/>
              </a:spcAft>
              <a:buClr>
                <a:srgbClr val="333333"/>
              </a:buClr>
              <a:buChar char="•"/>
            </a:pPr>
            <a:r>
              <a:rPr sz="1250" b="0" i="0">
                <a:solidFill>
                  <a:srgbClr val="333333"/>
                </a:solidFill>
              </a:rPr>
              <a:t>So the squared-error metric itself is set by flare cores, for both models.</a:t>
            </a:r>
          </a:p>
          <a:p>
            <a:pPr algn="l" marL="182880" indent="-182880">
              <a:spcAft>
                <a:spcPts val="1000"/>
              </a:spcAft>
              <a:buClr>
                <a:srgbClr val="333333"/>
              </a:buClr>
              <a:buChar char="•"/>
            </a:pPr>
            <a:r>
              <a:rPr sz="1250" b="0" i="0">
                <a:solidFill>
                  <a:srgbClr val="333333"/>
                </a:solidFill>
              </a:rPr>
              <a:t>Ordinary Bright pixels (1–10×): 10% of pixels, 3.5% of our error (supervised 5.5%).</a:t>
            </a:r>
          </a:p>
        </p:txBody>
      </p:sp>
      <p:pic>
        <p:nvPicPr>
          <p:cNvPr id="4" name="Picture 3" descr="fig1_error_share_by_brightness.png"/>
          <p:cNvPicPr>
            <a:picLocks noChangeAspect="1"/>
          </p:cNvPicPr>
          <p:nvPr/>
        </p:nvPicPr>
        <p:blipFill>
          <a:blip r:embed="rId2"/>
          <a:stretch>
            <a:fillRect/>
          </a:stretch>
        </p:blipFill>
        <p:spPr>
          <a:xfrm>
            <a:off x="3703320" y="1159727"/>
            <a:ext cx="5074920" cy="284690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BP, our gap grows with brightness; on ElasticNet it stays small</a:t>
            </a:r>
          </a:p>
        </p:txBody>
      </p:sp>
      <p:sp>
        <p:nvSpPr>
          <p:cNvPr id="3" name="TextBox 2"/>
          <p:cNvSpPr txBox="1"/>
          <p:nvPr/>
        </p:nvSpPr>
        <p:spPr>
          <a:xfrm>
            <a:off x="365760" y="868680"/>
            <a:ext cx="8412480" cy="8229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BP, our error / supervised: 0.66 on the faintest pixels, 1.8 at 0.3–1×, 5 at 3–10×, 22 at 10–32×.</a:t>
            </a:r>
          </a:p>
          <a:p>
            <a:pPr algn="l" marL="182880" indent="-182880">
              <a:spcAft>
                <a:spcPts val="400"/>
              </a:spcAft>
              <a:buClr>
                <a:srgbClr val="333333"/>
              </a:buClr>
              <a:buChar char="•"/>
            </a:pPr>
            <a:r>
              <a:rPr sz="1200" b="0" i="0">
                <a:solidFill>
                  <a:srgbClr val="333333"/>
                </a:solidFill>
              </a:rPr>
              <a:t>ElasticNet: 1.0–1.07 below 3× (90% of pixels), 1.5 at 3–10×, 7 at 10–32×, 1.6 at flare cores.</a:t>
            </a:r>
          </a:p>
        </p:txBody>
      </p:sp>
      <p:pic>
        <p:nvPicPr>
          <p:cNvPr id="4" name="Picture 3" descr="fig2_relative_error_by_brightness.png"/>
          <p:cNvPicPr>
            <a:picLocks noChangeAspect="1"/>
          </p:cNvPicPr>
          <p:nvPr/>
        </p:nvPicPr>
        <p:blipFill>
          <a:blip r:embed="rId2"/>
          <a:stretch>
            <a:fillRect/>
          </a:stretch>
        </p:blipFill>
        <p:spPr>
          <a:xfrm>
            <a:off x="1435395" y="1691640"/>
            <a:ext cx="6273209" cy="26974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BP flare cores, the model under-predicts and runs too cool</a:t>
            </a:r>
          </a:p>
        </p:txBody>
      </p:sp>
      <p:sp>
        <p:nvSpPr>
          <p:cNvPr id="3" name="TextBox 2"/>
          <p:cNvSpPr txBox="1"/>
          <p:nvPr/>
        </p:nvSpPr>
        <p:spPr>
          <a:xfrm>
            <a:off x="365760" y="914400"/>
            <a:ext cx="329184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BP flare cores: 20% of the solver's emission, peak 14% as high, 0.5 dex too cool.</a:t>
            </a:r>
          </a:p>
          <a:p>
            <a:pPr algn="l" marL="182880" indent="-182880">
              <a:spcAft>
                <a:spcPts val="1000"/>
              </a:spcAft>
              <a:buClr>
                <a:srgbClr val="333333"/>
              </a:buClr>
              <a:buChar char="•"/>
            </a:pPr>
            <a:r>
              <a:rPr sz="1250" b="0" i="0">
                <a:solidFill>
                  <a:srgbClr val="333333"/>
                </a:solidFill>
              </a:rPr>
              <a:t>88% of our flare-core DEMs have extra peaks (solver 18%); those spurious peaks are 74% of our BP error.</a:t>
            </a:r>
          </a:p>
          <a:p>
            <a:pPr algn="l" marL="182880" indent="-182880">
              <a:spcAft>
                <a:spcPts val="1000"/>
              </a:spcAft>
              <a:buClr>
                <a:srgbClr val="333333"/>
              </a:buClr>
              <a:buChar char="•"/>
            </a:pPr>
            <a:r>
              <a:rPr sz="1250" b="0" i="0">
                <a:solidFill>
                  <a:srgbClr val="333333"/>
                </a:solidFill>
              </a:rPr>
              <a:t>It tracks the solver's peak height up to a peak of ~100, then falls away.</a:t>
            </a:r>
          </a:p>
        </p:txBody>
      </p:sp>
      <p:pic>
        <p:nvPicPr>
          <p:cNvPr id="4" name="Picture 3" descr="fig4_example_curves_bp.png"/>
          <p:cNvPicPr>
            <a:picLocks noChangeAspect="1"/>
          </p:cNvPicPr>
          <p:nvPr/>
        </p:nvPicPr>
        <p:blipFill>
          <a:blip r:embed="rId3"/>
          <a:stretch>
            <a:fillRect/>
          </a:stretch>
        </p:blipFill>
        <p:spPr>
          <a:xfrm>
            <a:off x="3749039" y="990600"/>
            <a:ext cx="5029200" cy="3185160"/>
          </a:xfrm>
          <a:prstGeom prst="rect">
            <a:avLst/>
          </a:prstGeom>
        </p:spPr>
      </p:pic>
      <p:sp>
        <p:nvSpPr>
          <p:cNvPr id="5" name="TextBox 4"/>
          <p:cNvSpPr txBox="1"/>
          <p:nvPr/>
        </p:nvSpPr>
        <p:spPr>
          <a:xfrm>
            <a:off x="3749039" y="4206240"/>
            <a:ext cx="5029200" cy="274320"/>
          </a:xfrm>
          <a:prstGeom prst="rect">
            <a:avLst/>
          </a:prstGeom>
          <a:noFill/>
        </p:spPr>
        <p:txBody>
          <a:bodyPr wrap="square" anchor="t" lIns="0" rIns="0" tIns="0" bIns="0">
            <a:spAutoFit/>
          </a:bodyPr>
          <a:lstStyle/>
          <a:p>
            <a:pPr algn="l">
              <a:spcAft>
                <a:spcPts val="0"/>
              </a:spcAft>
            </a:pPr>
            <a:r>
              <a:rPr sz="950" b="0" i="1">
                <a:solidFill>
                  <a:srgbClr val="6B6B6B"/>
                </a:solidFill>
              </a:rPr>
              <a:t>Random BP pixels, top rows flare cores. Black solver, blue ours, orange supervised.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BP flare cores, the model fails its own objective</a:t>
            </a:r>
          </a:p>
        </p:txBody>
      </p:sp>
      <p:sp>
        <p:nvSpPr>
          <p:cNvPr id="3" name="TextBox 2"/>
          <p:cNvSpPr txBox="1"/>
          <p:nvPr/>
        </p:nvSpPr>
        <p:spPr>
          <a:xfrm>
            <a:off x="365760" y="868680"/>
            <a:ext cx="8412480" cy="91440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BP: the solver's DEM reproduces 92% of the observed 94 Å; ours reproduces 8% (131 Å: 36%). The cool channels are fit to within a few percent.</a:t>
            </a:r>
          </a:p>
          <a:p>
            <a:pPr algn="l" marL="182880" indent="-182880">
              <a:spcAft>
                <a:spcPts val="400"/>
              </a:spcAft>
              <a:buClr>
                <a:srgbClr val="333333"/>
              </a:buClr>
              <a:buChar char="•"/>
            </a:pPr>
            <a:r>
              <a:rPr sz="1200" b="1" i="0">
                <a:solidFill>
                  <a:srgbClr val="57068C"/>
                </a:solidFill>
              </a:rPr>
              <a:t>So better DEMs exist inside our basis: a training problem, not a representation limit.</a:t>
            </a:r>
          </a:p>
        </p:txBody>
      </p:sp>
      <p:pic>
        <p:nvPicPr>
          <p:cNvPr id="4" name="Picture 3" descr="fig5_aia_fit_flare_cores.png"/>
          <p:cNvPicPr>
            <a:picLocks noChangeAspect="1"/>
          </p:cNvPicPr>
          <p:nvPr/>
        </p:nvPicPr>
        <p:blipFill>
          <a:blip r:embed="rId3"/>
          <a:stretch>
            <a:fillRect/>
          </a:stretch>
        </p:blipFill>
        <p:spPr>
          <a:xfrm>
            <a:off x="1334386" y="1737360"/>
            <a:ext cx="6475227" cy="265176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Not solver noise, not missed double peaks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0.3%</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Bright error comes from the solver's own spread across its 5 targets (ENet 6%)</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1.4%</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comes from missing the solver's second peak</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Solver noise: re-solving under photon noise barely moves the solver at bright pixels, so it is not the label.</a:t>
            </a:r>
          </a:p>
          <a:p>
            <a:pPr algn="l" marL="182880" indent="-182880">
              <a:spcAft>
                <a:spcPts val="1200"/>
              </a:spcAft>
              <a:buClr>
                <a:srgbClr val="333333"/>
              </a:buClr>
              <a:buChar char="•"/>
            </a:pPr>
            <a:r>
              <a:rPr sz="1300" b="0" i="0">
                <a:solidFill>
                  <a:srgbClr val="333333"/>
                </a:solidFill>
              </a:rPr>
              <a:t>Missed double peaks: small.</a:t>
            </a:r>
          </a:p>
          <a:p>
            <a:pPr algn="l" marL="182880" indent="-182880">
              <a:spcAft>
                <a:spcPts val="1200"/>
              </a:spcAft>
              <a:buClr>
                <a:srgbClr val="333333"/>
              </a:buClr>
              <a:buChar char="•"/>
            </a:pPr>
            <a:r>
              <a:rPr sz="1300" b="1" i="0">
                <a:solidFill>
                  <a:srgbClr val="57068C"/>
                </a:solidFill>
              </a:rPr>
              <a:t>What remains is the BP flare-core shortfall and the spurious peaks.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8</a:t>
            </a:r>
            <a:br/>
            <a:r>
              <a:rPr sz="4100"/>
              <a:t>Lessons and next steps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learned, and what to decide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Rounded Rectangle 2"/>
          <p:cNvSpPr/>
          <p:nvPr/>
        </p:nvSpPr>
        <p:spPr>
          <a:xfrm>
            <a:off x="36576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1. Train on the objective</a:t>
            </a:r>
          </a:p>
        </p:txBody>
      </p:sp>
      <p:sp>
        <p:nvSpPr>
          <p:cNvPr id="5" name="TextBox 4"/>
          <p:cNvSpPr txBox="1"/>
          <p:nvPr/>
        </p:nvSpPr>
        <p:spPr>
          <a:xfrm>
            <a:off x="53035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solver's own objective reproduces its DEMs without labels.</a:t>
            </a:r>
          </a:p>
        </p:txBody>
      </p:sp>
      <p:sp>
        <p:nvSpPr>
          <p:cNvPr id="6" name="Rounded Rectangle 5"/>
          <p:cNvSpPr/>
          <p:nvPr/>
        </p:nvSpPr>
        <p:spPr>
          <a:xfrm>
            <a:off x="323088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9547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2. Simple scales</a:t>
            </a:r>
          </a:p>
        </p:txBody>
      </p:sp>
      <p:sp>
        <p:nvSpPr>
          <p:cNvPr id="8" name="TextBox 7"/>
          <p:cNvSpPr txBox="1"/>
          <p:nvPr/>
        </p:nvSpPr>
        <p:spPr>
          <a:xfrm>
            <a:off x="339547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A centre-pixel MLP; the patch CNN never won on unseen days.</a:t>
            </a:r>
          </a:p>
        </p:txBody>
      </p:sp>
      <p:sp>
        <p:nvSpPr>
          <p:cNvPr id="9" name="Rounded Rectangle 8"/>
          <p:cNvSpPr/>
          <p:nvPr/>
        </p:nvSpPr>
        <p:spPr>
          <a:xfrm>
            <a:off x="609600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059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3. Size needs data</a:t>
            </a:r>
          </a:p>
        </p:txBody>
      </p:sp>
      <p:sp>
        <p:nvSpPr>
          <p:cNvPr id="11" name="TextBox 10"/>
          <p:cNvSpPr txBox="1"/>
          <p:nvPr/>
        </p:nvSpPr>
        <p:spPr>
          <a:xfrm>
            <a:off x="626059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With one fixed 30M-pixel sample, nothing above 176k helped; with fresh pixels, bigger keeps helping.</a:t>
            </a:r>
          </a:p>
        </p:txBody>
      </p:sp>
      <p:sp>
        <p:nvSpPr>
          <p:cNvPr id="12" name="Rounded Rectangle 11"/>
          <p:cNvSpPr/>
          <p:nvPr/>
        </p:nvSpPr>
        <p:spPr>
          <a:xfrm>
            <a:off x="36576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4. Heavy tails</a:t>
            </a:r>
          </a:p>
        </p:txBody>
      </p:sp>
      <p:sp>
        <p:nvSpPr>
          <p:cNvPr id="14" name="TextBox 13"/>
          <p:cNvSpPr txBox="1"/>
          <p:nvPr/>
        </p:nvSpPr>
        <p:spPr>
          <a:xfrm>
            <a:off x="53035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Report medians and percentiles: a handful of pixels can own the mean, or blow up.</a:t>
            </a:r>
          </a:p>
        </p:txBody>
      </p:sp>
      <p:sp>
        <p:nvSpPr>
          <p:cNvPr id="15" name="Rounded Rectangle 14"/>
          <p:cNvSpPr/>
          <p:nvPr/>
        </p:nvSpPr>
        <p:spPr>
          <a:xfrm>
            <a:off x="323088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547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5. The open failure</a:t>
            </a:r>
          </a:p>
        </p:txBody>
      </p:sp>
      <p:sp>
        <p:nvSpPr>
          <p:cNvPr id="17" name="TextBox 16"/>
          <p:cNvSpPr txBox="1"/>
          <p:nvPr/>
        </p:nvSpPr>
        <p:spPr>
          <a:xfrm>
            <a:off x="339547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BP flare cores. The model misses the hot channels there: a training problem.</a:t>
            </a:r>
          </a:p>
        </p:txBody>
      </p:sp>
      <p:sp>
        <p:nvSpPr>
          <p:cNvPr id="18" name="Rounded Rectangle 17"/>
          <p:cNvSpPr/>
          <p:nvPr/>
        </p:nvSpPr>
        <p:spPr>
          <a:xfrm>
            <a:off x="609600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059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6. Tried, didn't help</a:t>
            </a:r>
          </a:p>
        </p:txBody>
      </p:sp>
      <p:sp>
        <p:nvSpPr>
          <p:cNvPr id="20" name="TextBox 19"/>
          <p:cNvSpPr txBox="1"/>
          <p:nvPr/>
        </p:nvSpPr>
        <p:spPr>
          <a:xfrm>
            <a:off x="626059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supervised model's sqrt + Fourier input made BP flare cores worse.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BP: oversample or up-weight the brightest pixels. ElasticNet: keep big models from blowing up on rare pixels.</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Validate on every pixel</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sampled validation set missed the ElasticNet blow-ups; score all pixels.</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Direct DEM output</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Predict the 18 bins instead of 54 basis weights (deferred).</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Uncertainty, AIA + XRT</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distribution over DEMs from the noisy re-solves; XRT for the hot plasma.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For discussion</a:t>
            </a:r>
          </a:p>
        </p:txBody>
      </p:sp>
      <p:sp>
        <p:nvSpPr>
          <p:cNvPr id="3" name="TextBox 2"/>
          <p:cNvSpPr txBox="1"/>
          <p:nvPr/>
        </p:nvSpPr>
        <p:spPr>
          <a:xfrm>
            <a:off x="365760" y="1005840"/>
            <a:ext cx="8412480" cy="338328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0" i="0">
                <a:solidFill>
                  <a:srgbClr val="333333"/>
                </a:solidFill>
              </a:rPr>
              <a:t>Which metric should lead the paper? DEM MSE is set by 0.01% of pixels; the median, W1 and AIA reconstruction tell a different story.</a:t>
            </a:r>
          </a:p>
          <a:p>
            <a:pPr algn="l" marL="182880" indent="-182880">
              <a:spcAft>
                <a:spcPts val="1400"/>
              </a:spcAft>
              <a:buClr>
                <a:srgbClr val="333333"/>
              </a:buClr>
              <a:buChar char="•"/>
            </a:pPr>
            <a:r>
              <a:rPr sz="1400" b="0" i="0">
                <a:solidFill>
                  <a:srgbClr val="333333"/>
                </a:solidFill>
              </a:rPr>
              <a:t>Is fixing flare cores worth changing the training objective, or do we report it as the known limitation?</a:t>
            </a:r>
          </a:p>
          <a:p>
            <a:pPr algn="l" marL="182880" indent="-182880">
              <a:spcAft>
                <a:spcPts val="1400"/>
              </a:spcAft>
              <a:buClr>
                <a:srgbClr val="333333"/>
              </a:buClr>
              <a:buChar char="•"/>
            </a:pPr>
            <a:r>
              <a:rPr sz="1400" b="0" i="0">
                <a:solidFill>
                  <a:srgbClr val="333333"/>
                </a:solidFill>
              </a:rPr>
              <a:t>Next model change: up-weight flare cores, or predict the 18 bins directly?</a:t>
            </a:r>
          </a:p>
          <a:p>
            <a:pPr algn="l" marL="182880" indent="-182880">
              <a:spcAft>
                <a:spcPts val="1400"/>
              </a:spcAft>
              <a:buClr>
                <a:srgbClr val="333333"/>
              </a:buClr>
              <a:buChar char="•"/>
            </a:pPr>
            <a:r>
              <a:rPr sz="1400" b="0" i="0">
                <a:solidFill>
                  <a:srgbClr val="333333"/>
                </a:solidFill>
              </a:rPr>
              <a:t>Is AIA + XRT in scope for this paper?</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