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50" b="1"/>
              <a:t>BP median pixel error by model size, log1p sweep (lower is better)</a:t>
            </a:r>
          </a:p>
        </c:rich>
      </c:tx>
      <c:layout/>
      <c:overlay val="0"/>
    </c:title>
    <c:autoTitleDeleted val="0"/>
    <c:plotArea>
      <c:lineChart>
        <c:grouping val="standard"/>
        <c:varyColors val="0"/>
        <c:ser>
          <c:idx val="0"/>
          <c:order val="0"/>
          <c:tx>
            <c:strRef>
              <c:f>Sheet1!$B$1</c:f>
              <c:strCache>
                <c:ptCount val="1"/>
                <c:pt idx="0">
                  <c:v>BP median pixel error</c:v>
                </c:pt>
              </c:strCache>
            </c:strRef>
          </c:tx>
          <c:spPr>
            <a:ln w="25400">
              <a:solidFill>
                <a:srgbClr val="57068C"/>
              </a:solidFill>
            </a:ln>
          </c:spPr>
          <c:marker>
            <c:symbol val="circle"/>
            <c:size val="6"/>
            <c:spPr>
              <a:solidFill>
                <a:srgbClr val="57068C"/>
              </a:solidFill>
              <a:ln>
                <a:solidFill>
                  <a:srgbClr val="57068C"/>
                </a:solidFill>
              </a:ln>
            </c:spPr>
          </c:marker>
          <c:dPt>
            <c:idx val="4"/>
            <c:marker>
              <c:symbol val="circle"/>
              <c:size val="13"/>
              <c:spPr>
                <a:solidFill>
                  <a:srgbClr val="57068C"/>
                </a:solidFill>
                <a:ln>
                  <a:solidFill>
                    <a:srgbClr val="57068C"/>
                  </a:solidFill>
                </a:ln>
              </c:spPr>
            </c:marker>
          </c:dPt>
          <c:cat>
            <c:strRef>
              <c:f>Sheet1!$A$2:$A$8</c:f>
              <c:strCache>
                <c:ptCount val="7"/>
                <c:pt idx="0">
                  <c:v>20k</c:v>
                </c:pt>
                <c:pt idx="1">
                  <c:v>42k</c:v>
                </c:pt>
                <c:pt idx="2">
                  <c:v>87k</c:v>
                </c:pt>
                <c:pt idx="3">
                  <c:v>176k</c:v>
                </c:pt>
                <c:pt idx="4">
                  <c:v>360k</c:v>
                </c:pt>
                <c:pt idx="5">
                  <c:v>722k</c:v>
                </c:pt>
                <c:pt idx="6">
                  <c:v>1.43M</c:v>
                </c:pt>
              </c:strCache>
            </c:strRef>
          </c:cat>
          <c:val>
            <c:numRef>
              <c:f>Sheet1!$B$2:$B$8</c:f>
              <c:numCache>
                <c:formatCode>General</c:formatCode>
                <c:ptCount val="7"/>
                <c:pt idx="0">
                  <c:v>0.068</c:v>
                </c:pt>
                <c:pt idx="1">
                  <c:v>0.047</c:v>
                </c:pt>
                <c:pt idx="2">
                  <c:v>0.043</c:v>
                </c:pt>
                <c:pt idx="3">
                  <c:v>0.03</c:v>
                </c:pt>
                <c:pt idx="4">
                  <c:v>0.026</c:v>
                </c:pt>
                <c:pt idx="5">
                  <c:v>0.025</c:v>
                </c:pt>
                <c:pt idx="6">
                  <c:v>0.023</c:v>
                </c:pt>
              </c:numCache>
            </c:numRef>
          </c:val>
          <c:smooth val="0"/>
        </c:ser>
        <c:dLbls>
          <c:numFmt formatCode="0.000" sourceLinked="0"/>
          <c:txPr>
            <a:bodyPr/>
            <a:lstStyle/>
            <a:p>
              <a:pPr>
                <a:defRPr sz="900"/>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900"/>
            </a:pPr>
          </a:p>
        </c:txPr>
        <c:crossAx val="2140495176"/>
        <c:crosses val="autoZero"/>
        <c:auto val="1"/>
        <c:lblAlgn val="ctr"/>
        <c:lblOffset val="100"/>
        <c:noMultiLvlLbl val="0"/>
      </c:catAx>
      <c:valAx>
        <c:axId val="2140495176"/>
        <c:scaling>
          <c:max val="0.08"/>
          <c:min val="0.0"/>
        </c:scaling>
        <c:delete val="0"/>
        <c:axPos val="l"/>
        <c:majorGridlines>
          <c:spPr>
            <a:ln>
              <a:solidFill>
                <a:srgbClr val="ECEBE8"/>
              </a:solidFill>
            </a:ln>
          </c:spPr>
        </c:majorGridlines>
        <c:majorTickMark val="out"/>
        <c:minorTickMark val="none"/>
        <c:tickLblPos val="nextTo"/>
        <c:txPr>
          <a:bodyPr/>
          <a:lstStyle/>
          <a:p>
            <a:pPr>
              <a:defRPr sz="9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four things to remember. Numbers are from the final models (one MLP of width 336 per track, about 400k parameters, fresh pixels) on the shared test set: 153 days never seen in training. The BP model is the stiff-band model of Part 7.</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intensities in, encoded as the supervised model does it (square root, then 12 Fourier frequencies: 150 inputs), four hidden layers of 336 with SiLU, 54 non-negative basis weights out; DEM = B times w over 18 bins, logT 5.5 to 7.2; predicted AIA = R times DEM. 409k parameters, one forward pass per pixel. The width is chosen in Part 5.</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One difference from the solver: BP treats the band as a rule that cannot be broken; our loss treats it as a price, set by the band weight mu. The original loss had mu = 1; the final BP model uses mu = 100, chosen in Part 7, where that difference turns out to matter.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run before October seeded each block's pixel draw by the block alone, so it reused the same 30M pixels every epoch. All results from here on use fresh pixels every epoch, as described. The fixed-sample runs scored better: validation loss BP 2.156 against 2.237, ElasticNet 0.0582 against 0.0689, far beyond the 0.2 to 0.4% run-to-run spread; only ElasticNet's flare cores improved with fresh pixels. 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June write-up called the first MLP's curves noisy and oscillating, but no figure of them survives and its checkpoint was not kept. Retrained with the unchanged June code, its curves are smooth: none has three or more peaks. The real difference is accuracy, on 400 held-out pixels per image: mean DEM error against BP 0.078 against the CNN's 0.047, W1 0.055 against 0.048 dex. It had even seen these pixels in training. It is the same architecture as today's production model, at width 256 with raw intensities.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shuffled-patch CNN applies a fixed random permutation to the 81 patch pixels. It was less sparse than the CNN on all 4 images, 1.88 against 1.70 on average, level with the centre-pixel MLP, so the spatial arrangement of the neighbours mattered. The flat-patch MLP was erratic across images: 1.61 on the X2.1 flare, 2.27 on quiet Sun. The centre-pixel MLP was closest to BP on 3 of 4 images; the CNN on the X1.6 flare. So the CNN's lower sparsity did not mean DEMs closer to BP. Capacity and input scaling were not separated: the 213k MLP took raw intensities, and at full scale MLPs on log1p inputs does well.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Closer to BP's sparsity: the CNN on 2 images, the MLP on 1, one tie; the MLP is closer on average, 0.19 against 0.25, because of the X1.6 flare image. Held-out sparsity by fold, MLP against CNN, with BP in brackets: X2.1 flare 1.59 vs 1.64 (1.97); quiet Sun 1.78 vs 1.61 (1.67); moderate 1.83 vs 1.83 (1.82); X1.6 flare 1.96 vs 2.31 (1.71). The ablation's in-sample edge, 1.70 vs 1.89, came from scoring pixels of images the model trained on. Four folds is a small sample; scaling is the real test.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submissions died the same way before the fix; the cause was visible at step 0, before any weight update. Gradient clipping does not help, because Adam normalises the step size.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Bright cutoffs and the test set come from the supervised side's protocol, so both models are scored on identical pixels. W1 treats each DEM as a distribution over logT.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~1.5M parameters, fresh pixels, same 917 training days; scored on the 153 test days. The MLP is better on the training objective at every percentile and in every brightness decile on BP (median 0.98 vs 1.01, p99 17.9 vs 18.8, p99.9 51 vs 57). The CNN reconstructs BP's AIA slightly better. This is the fifth comparison; none found a CNN advantage on unseen days.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Fresh-pixel sweep with the log1p input, every width scored on the full test set (results/plots/17_sweep_resample). We choose by validation loss, never by test numbers. BP validation: 2.148 at width 336 (360k, best), 2.155 at 1.43M (a tie within run-to-run noise), 2.167 at 722k, 2.237 at 176k. ElasticNet validation is best at 1.43M (0.0528), but its 722k and 1.43M models predict a few bright pixels orders of magnitude too bright (AIA MSE 41,849 and 908,611 against 650 at 360k); validation scores a fixed 512 pixels per block and never saw them. 10k collapsed and is left off the chart. Multi-peak recall is 22-26% from 42k up; the fixed-sample cliff below 176k does not reproduce. With the old fixed sample nothing above 176k helped; with fresh pixels size pays off up to width 336. Input encoding: on the original BP loss, square root plus Fourier features tied log1p on validation (2.1472 against 2.1478); ElasticNet 0.0533 against 0.0575. On the stiff BP band of Part 7 the tie breaks: square root plus Fourier beats log1p (DEM MSE 2.37 against 3.23), so both tracks use it, and the same width is 409k parameters with the 150 encoded inputs. Width 680 (1.43M) on the stiff band blew up on a few flare-core pixels, as the 10M models did on both tracks.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Label-free trains on the observation through R; supervised trains on solver DEMs. The BP numbers are the stiff-band model (band weight 100, 120 + 120 epochs, Part 7); the old BP final had DEM MSE 4.28 and EM error 19.6%. Supervised keeps DEM MSE on BP (0.91 against 1.75) and AIA MAE; we win DEM MAE, EM error, W1 and AIA MSE. On ElasticNet, with the square-root plus Fourier input, we win all six, DEM MAE and MSE included (MAE 0.151 vs 0.188, MSE 0.310 vs 0.318). EM error is the total-emission error; W1 is in dex.</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Per-pixel error is the squared error summed over the 18 bins. BP percentiles, label-free against supervised: median 0.036 vs 0.112, p90 1.9 vs 1.9, p99 25 vs 27, p99.9 170 vs 162. The old BP final: median 0.026, p90 3.5, p99 71. ElasticNet: median 0.85 vs 1.12, p99 30 vs 35, p99.9 102 vs 178.</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old BP final: log1p input, the original loss, 40 epochs. Pixels at 32 times the Bright cutoff or more are 0.01% of pixels and held 90% of its DEM error (and 90% of the supervised model's). At those pixels it held 40% of the solver's emission, peaked 23% as high and 0.18 dex too cool, and 83% of its curves had spurious extra peaks (solver 18%), 42% of its error. Yet it reproduced 171, 193 and 211 A to within a few percent there; only 94 A (23%) and 131 A (76%) were missed. Solver noise (0.4% of the Bright error) and missed second peaks (1.2%) were ruled out. So we read it as a training problem, and the last meeting suggested training-side fixes: oversample flare cores, train longer, a 10M model.</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on the square root plus Fourier input, so the base is the sqrt plus Fourier BP model (DEM MSE 4.56, slightly worse than the log1p final's 4.28). Oversampling draws pixels in proportion to brightness, 8.5 times more flare cores. 120 epochs is three times the schedule. The 10M model is 1,800 wide. Away from flare cores the four score the same (DEM MAE 0.105 to 0.106, Quiet MSE 0.057 to 0.058); the differences sit at flare cores, and go the wrong way for oversampling and the 10M model. The solver reproduces 92% of 94 A at flare cores.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Forget the network: for one pixel, which 54 weights give the lowest possible loss? The loss is convex in the weights, so an optimizer finds that bottom; no network can beat it on that pixel. On 12,000 validation pixels (6,000 flare cores) we found each pixel's best answer, then scored four answers under the same loss: the network's output, the best answer, the solver's DEM and the supervised model's DEM (both rewritten as 54 weights). The network sits 1 to 4% above its best answer at most brightness levels, 8% at flare cores, with the same DEM error as the best answer. And that best answer reproduces only 26% of 94 A. Look at the two terms: the solver keeps every channel in its band (penalty 6) but pays 1,119 in sparsity for the hot plasma; the best answer drops it, 220 plus a penalty of 243. Our loss rates the solver's DEM 2.4 times worse than a DEM without the hot plasma, so every training step moves away from the solver there. The supervised model scores worst of all under our loss yet is closest to the solver. This is the meeting's fifth point in numbers: the training objective and the evaluation disagree. It also explains the 15% emission shortfall at ordinary pixels: the best answer holds 82 to 86% of the solver's emission there.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response matrix says how bright each channel gets per unit of plasma (10^26 cm^-5 of emission measure; the 54 weights, the DEM and the sparsity term count in this unit). A unit of warm plasma (1 to 1.3 MK) lights 171, 193 and 211 A by tens to a hundred DN/s, so it has to be in the DEM anyway and its 94 A signal comes free. A unit of hot plasma (8 MK) lights no channel by more than 0.4 DN/s; only 94 and 131 A ask for it, so a bright 94 A reading needs hundreds of units. Worked example at a typical flare core: 94 A reads 164 DN/s with noise 11.5, band 148 to 180, half width 16.1. Put the hot plasma in: 164 / 0.27 = 616 units, sparsity 616, penalty 0. Leave it out: 94 A predicts about 0, 148 below the band, penalty (148 / 16.1)^2 = 85. At mu = 1 leaving it out wins, 85 against 616. At mu = 100 the penalty is 8,500 and the plasma goes back in. The band is sound: the noise follows photon counting. Brighter pixels draw more of their 94 A from hot plasma, so the share dropped grows with brightness: the best answer reproduces 91% of 94 A at 1 to 1.8x the Bright level, 44% at 10 to 32x, 26% at flare cores; the solver 100%, 88%, 94%. Raising mu reverses it: the best answer reproduces 81% of 94 A at flare cores with mu = 10 and 93% with mu = 100.</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screen tests the loss, not the network: for each candidate we solved every validation pixel's best answer directly and scored it against the solver's DEMs. It answers: if a network learned this loss perfectly, how close to the solver would it get? DEM error weights each brightness level by its share of validation pixels. Stiffer helps bright pixels and costs faint ones: at faint pixels the band is mostly noise, and a stiff band makes the best answer chase it, so Quiet error is lowest near mu = 30 and rises beyond. mu = 100 gives most of the gain with Quiet error still below the supervised model's; 300 lowers overall error only from 2.32 to 1.80 and raises Quiet error to 0.048. A second candidate, mu = 30 with the sparsity term divided by the square root of brightness, screened as well (1.95, Quiet 0.032) but trained worse (validation 22.4 against 20.1). The validation sample holds more flare cores than the shared test set, so these values run higher; compare rows with each other. The band weight is a hyperparameter chosen with solver DEMs on validation, as any loss weight would be; training never sees them.</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at width 336 with the square root plus Fourier input unless noted. The band alone halves DEM MSE (4.56 to 2.37) and lifts flare-core emission from 35% to 89%. Training is now the limit: at flare cores the network's loss sits 118% above its best answer after 40 epochs, against 8% on the original loss; after 120 epochs, 47%. So 120 epochs helps, and 120 more continued from that checkpoint with a fresh schedule helps again: DEM MSE 1.75, median 0.036, AIA MSE 103 (below the supervised model's 157), Quiet MSE 0.032. 240 epochs from scratch gets the same DEM gains but breaks the band on a few rare pixels: AIA MSE 591, and its band penalty at the validation flare cores is 130 times the 120-epoch model's (the continuation: 13 times). Oversampling still hurts (DEM MSE 2.50). Bigger models blow up on a few flare-core pixels: 10M (DEM MSE 35.7, AIA MSE 1.7M) and 680 wide (DEM MSE 897, its worst 1% of pixels carry 99.996% of the error). log1p input is worse here (3.23), so one encoding serves both tracks. Removing the gradient clip fits AIA better but worsens every DEM measure. Validation is the DEM error against the solver on the validation split, which chose the model; it holds more flare cores than the shared test set, so it runs higher.</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Shared test set, flare cores (32x and above), new model against the old final and the supervised model. Emission 40% to 93% (supervised 92%); 94 A reproduced 23% to 77% (solver 92%, supervised 85%); 131 A 76% to 101%; peak height 23% to 66% of the solver's (supervised 91%); mean temperature shift -0.18 dex to -0.01; W1 0.25 to 0.03 dex; curves with extra peaks 83% to 25% (solver 18%, supervised 13%), and their share of the BP error 42% to 3.5%. It tracks the solver's peak height to about 100 and still falls short on the tallest peaks: 0.80 of the solver at 100 to 320, 0.40 above 3,000.</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Our error over the supervised model's by brightness: 0.55 on the faintest pixels, 0.98 at 0.3 to 1x, 1.2 at 1 to 3x, 0.9 at 3 to 10x, 1.9 at 10 to 32x, 2.0 at flare cores (old model: 0.64, 1.8, 2.2 to 2.6, 5, 18, 4.7). Flare cores hold 94% of our BP error (supervised 90%) and set the DEM MSE, 1.75 against 0.91. At flare cores we reproduce 77% of 94 A against the solver's 92%; the cool channels and 131 A are at 100%. Longer training keeps closing the gap (240 epochs from scratch cuts the flare-core error another 13%) but starts to misfit a few pixels' AIA; a third 120-epoch continuation is untested. Why the median pixel error rose from 0.026 to 0.036 while Quiet MSE fell from 0.058 to 0.032 is open.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In one slide</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No labels needed</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network trained on the solver's own objective reproduces its DEMs. Solver DEMs are used only to evaluate.</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Small is enough</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400k-parameter MLP on one pixel's 6 intensities: one forward pass per pixel, no neighbourhood. Bigger models fail on rare pixels.</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Ahead of supervised on most measures</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ElasticNet: better on every metric. BP: 4 of 6, median pixel error 3× lower (0.036 vs 0.112); DEM MSE still 1.9× higher.</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Flare cores: found and fixed in the loss</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0.01% of pixels, ~90% of the BP error. The BP loss priced hot plasma out; a stiffer band puts it back (emission 40% → 93%).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train, and on what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409k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intensities in, encoded as √ then 12 Fourier frequencies (150 inputs; both tracks); 4 hidden layers of 336,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409k parameters (width chosen in Part 5); one forward pass per pixel.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μ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 μ prices leaving it.</a:t>
            </a:r>
          </a:p>
          <a:p>
            <a:pPr algn="l" marL="182880" indent="-182880">
              <a:spcAft>
                <a:spcPts val="200"/>
              </a:spcAft>
              <a:buClr>
                <a:srgbClr val="333333"/>
              </a:buClr>
              <a:buChar char="•"/>
            </a:pPr>
            <a:r>
              <a:rPr sz="1050" b="0" i="0">
                <a:solidFill>
                  <a:srgbClr val="333333"/>
                </a:solidFill>
              </a:rPr>
              <a:t>L1 picks the sparsest DEM that fits: BP's criterion. Final model: μ = 100 (Part 7).</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each training image is cut into 64 blocks of 256×256 per image. Each epoch draws 512 fresh random pixels from each of the 58,688 blocks (917 × 64); 40 epochs (the final BP model: 240, Part 7).</a:t>
            </a:r>
          </a:p>
          <a:p>
            <a:pPr algn="l" marL="182880" indent="-182880">
              <a:spcAft>
                <a:spcPts val="700"/>
              </a:spcAft>
              <a:buClr>
                <a:srgbClr val="333333"/>
              </a:buClr>
              <a:buChar char="•"/>
            </a:pPr>
            <a:r>
              <a:rPr sz="1250" b="0" i="0">
                <a:solidFill>
                  <a:srgbClr val="333333"/>
                </a:solidFill>
              </a:rPr>
              <a:t>Earlier runs reused one fixed ~30M-pixel sample (a sampler bug); at the old 176k size it scored better on validation (BP 4%, ElasticNet 18%).</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Finding a trainable objective</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loss gives BP's DEMs?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3</a:t>
            </a:r>
            <a:br/>
            <a:r>
              <a:rPr sz="4100"/>
              <a:t>Architecture on small data</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network, on four images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per-pixel MLP missed BP's shape; a patch CNN tracked it</a:t>
            </a:r>
          </a:p>
        </p:txBody>
      </p:sp>
      <p:sp>
        <p:nvSpPr>
          <p:cNvPr id="3" name="TextBox 2"/>
          <p:cNvSpPr txBox="1"/>
          <p:nvPr/>
        </p:nvSpPr>
        <p:spPr>
          <a:xfrm>
            <a:off x="365760" y="868680"/>
            <a:ext cx="8412480" cy="274320"/>
          </a:xfrm>
          <a:prstGeom prst="rect">
            <a:avLst/>
          </a:prstGeom>
          <a:noFill/>
        </p:spPr>
        <p:txBody>
          <a:bodyPr wrap="square" anchor="t" lIns="0" rIns="0" tIns="0" bIns="0">
            <a:spAutoFit/>
          </a:bodyPr>
          <a:lstStyle/>
          <a:p>
            <a:pPr algn="l">
              <a:spcAft>
                <a:spcPts val="600"/>
              </a:spcAft>
            </a:pPr>
            <a:r>
              <a:rPr sz="1050" b="0" i="0">
                <a:solidFill>
                  <a:srgbClr val="6B6B6B"/>
                </a:solidFill>
              </a:rPr>
              <a:t>4 images: X2.1 flare (2011), quiet Sun (2012), moderate activity (2013), X1.6 flare (2014); small crops near disk centre.</a:t>
            </a:r>
          </a:p>
        </p:txBody>
      </p:sp>
      <p:sp>
        <p:nvSpPr>
          <p:cNvPr id="4" name="TextBox 3"/>
          <p:cNvSpPr txBox="1"/>
          <p:nvPr/>
        </p:nvSpPr>
        <p:spPr>
          <a:xfrm>
            <a:off x="365760" y="1280160"/>
            <a:ext cx="493776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1" i="0">
                <a:solidFill>
                  <a:srgbClr val="57068C"/>
                </a:solidFill>
              </a:rPr>
              <a:t>First try: </a:t>
            </a:r>
            <a:r>
              <a:rPr sz="1250" b="0" i="0">
                <a:solidFill>
                  <a:srgbClr val="333333"/>
                </a:solidFill>
              </a:rPr>
              <a:t>the 6 intensities of one pixel → MLP (213k params) → 54 weights, trained on the BP loss over ~221k pixels. Smooth, single-peaked curves, but further from BP: DEM error 0.078 vs the CNN's 0.047.</a:t>
            </a:r>
          </a:p>
          <a:p>
            <a:pPr algn="l" marL="182880" indent="-182880">
              <a:spcAft>
                <a:spcPts val="1000"/>
              </a:spcAft>
              <a:buClr>
                <a:srgbClr val="333333"/>
              </a:buClr>
              <a:buChar char="•"/>
            </a:pPr>
            <a:r>
              <a:rPr sz="1250" b="1" i="0">
                <a:solidFill>
                  <a:srgbClr val="57068C"/>
                </a:solidFill>
              </a:rPr>
              <a:t>Patch CNN: </a:t>
            </a:r>
            <a:r>
              <a:rPr sz="1250" b="0" i="0">
                <a:solidFill>
                  <a:srgbClr val="333333"/>
                </a:solidFill>
              </a:rPr>
              <a:t>a 9×9 neighbourhood → CNN (~1.5M params) → 54 weights. Tracked BP's shape, with sparsity close to BP's on held-out pixels.</a:t>
            </a:r>
          </a:p>
          <a:p>
            <a:pPr algn="l" marL="182880" indent="-182880">
              <a:spcAft>
                <a:spcPts val="1000"/>
              </a:spcAft>
              <a:buClr>
                <a:srgbClr val="333333"/>
              </a:buClr>
              <a:buChar char="•"/>
            </a:pPr>
            <a:r>
              <a:rPr sz="1250" b="0" i="0">
                <a:solidFill>
                  <a:srgbClr val="333333"/>
                </a:solidFill>
              </a:rPr>
              <a:t>Trained on one image, then on all 4 jointly; zeroing the neighbourhood for 10% of batches kept it usable on a single pixel.</a:t>
            </a:r>
          </a:p>
        </p:txBody>
      </p:sp>
      <p:pic>
        <p:nvPicPr>
          <p:cNvPr id="5" name="Picture 4" descr="first_mlp_vs_cnn.png"/>
          <p:cNvPicPr>
            <a:picLocks noChangeAspect="1"/>
          </p:cNvPicPr>
          <p:nvPr/>
        </p:nvPicPr>
        <p:blipFill>
          <a:blip r:embed="rId3"/>
          <a:stretch>
            <a:fillRect/>
          </a:stretch>
        </p:blipFill>
        <p:spPr>
          <a:xfrm>
            <a:off x="6042660" y="1188720"/>
            <a:ext cx="2179320" cy="2971800"/>
          </a:xfrm>
          <a:prstGeom prst="rect">
            <a:avLst/>
          </a:prstGeom>
        </p:spPr>
      </p:pic>
      <p:sp>
        <p:nvSpPr>
          <p:cNvPr id="6" name="TextBox 5"/>
          <p:cNvSpPr txBox="1"/>
          <p:nvPr/>
        </p:nvSpPr>
        <p:spPr>
          <a:xfrm>
            <a:off x="5486400" y="420624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pixels, X2.1 flare image.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Ablation: the gap was capacity, not missing context</a:t>
            </a:r>
          </a:p>
        </p:txBody>
      </p:sp>
      <p:sp>
        <p:nvSpPr>
          <p:cNvPr id="3" name="TextBox 2"/>
          <p:cNvSpPr txBox="1"/>
          <p:nvPr/>
        </p:nvSpPr>
        <p:spPr>
          <a:xfrm>
            <a:off x="365760" y="1307592"/>
            <a:ext cx="2286000" cy="256032"/>
          </a:xfrm>
          <a:prstGeom prst="rect">
            <a:avLst/>
          </a:prstGeom>
          <a:noFill/>
        </p:spPr>
        <p:txBody>
          <a:bodyPr wrap="square" anchor="t" lIns="0" rIns="0" tIns="0" bIns="0">
            <a:spAutoFit/>
          </a:bodyPr>
          <a:lstStyle/>
          <a:p>
            <a:pPr algn="l">
              <a:spcAft>
                <a:spcPts val="600"/>
              </a:spcAft>
            </a:pPr>
            <a:r>
              <a:rPr sz="1200" b="1" i="0">
                <a:solidFill>
                  <a:srgbClr val="57068C"/>
                </a:solidFill>
              </a:rPr>
              <a:t>Patch CNN</a:t>
            </a:r>
          </a:p>
        </p:txBody>
      </p:sp>
      <p:cxnSp>
        <p:nvCxnSpPr>
          <p:cNvPr id="4" name="Connector 3"/>
          <p:cNvCxnSpPr/>
          <p:nvPr/>
        </p:nvCxnSpPr>
        <p:spPr>
          <a:xfrm>
            <a:off x="2743200" y="1426464"/>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082795" y="1348740"/>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79391" y="1307592"/>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1.70</a:t>
            </a:r>
          </a:p>
        </p:txBody>
      </p:sp>
      <p:sp>
        <p:nvSpPr>
          <p:cNvPr id="7" name="TextBox 6"/>
          <p:cNvSpPr txBox="1"/>
          <p:nvPr/>
        </p:nvSpPr>
        <p:spPr>
          <a:xfrm>
            <a:off x="365760" y="1691640"/>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Shuffled-patch CNN</a:t>
            </a:r>
          </a:p>
        </p:txBody>
      </p:sp>
      <p:cxnSp>
        <p:nvCxnSpPr>
          <p:cNvPr id="8" name="Connector 7"/>
          <p:cNvCxnSpPr/>
          <p:nvPr/>
        </p:nvCxnSpPr>
        <p:spPr>
          <a:xfrm>
            <a:off x="2743200" y="1810512"/>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633971" y="1732788"/>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0567" y="1691640"/>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1.88</a:t>
            </a:r>
          </a:p>
        </p:txBody>
      </p:sp>
      <p:sp>
        <p:nvSpPr>
          <p:cNvPr id="11" name="TextBox 10"/>
          <p:cNvSpPr txBox="1"/>
          <p:nvPr/>
        </p:nvSpPr>
        <p:spPr>
          <a:xfrm>
            <a:off x="365760" y="2075688"/>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Centre-pixel MLP</a:t>
            </a:r>
          </a:p>
        </p:txBody>
      </p:sp>
      <p:cxnSp>
        <p:nvCxnSpPr>
          <p:cNvPr id="12" name="Connector 11"/>
          <p:cNvCxnSpPr/>
          <p:nvPr/>
        </p:nvCxnSpPr>
        <p:spPr>
          <a:xfrm>
            <a:off x="2743200" y="2194560"/>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75703" y="2116836"/>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72299" y="2075688"/>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1.89</a:t>
            </a:r>
          </a:p>
        </p:txBody>
      </p:sp>
      <p:sp>
        <p:nvSpPr>
          <p:cNvPr id="15" name="TextBox 14"/>
          <p:cNvSpPr txBox="1"/>
          <p:nvPr/>
        </p:nvSpPr>
        <p:spPr>
          <a:xfrm>
            <a:off x="365760" y="2459736"/>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Flat-patch MLP</a:t>
            </a:r>
          </a:p>
        </p:txBody>
      </p:sp>
      <p:cxnSp>
        <p:nvCxnSpPr>
          <p:cNvPr id="16" name="Connector 15"/>
          <p:cNvCxnSpPr/>
          <p:nvPr/>
        </p:nvCxnSpPr>
        <p:spPr>
          <a:xfrm>
            <a:off x="2743200" y="2578608"/>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626095" y="2500884"/>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2691" y="2459736"/>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1.95</a:t>
            </a:r>
          </a:p>
        </p:txBody>
      </p:sp>
      <p:cxnSp>
        <p:nvCxnSpPr>
          <p:cNvPr id="19" name="Connector 18"/>
          <p:cNvCxnSpPr/>
          <p:nvPr/>
        </p:nvCxnSpPr>
        <p:spPr>
          <a:xfrm>
            <a:off x="2743200" y="2770632"/>
            <a:ext cx="5669280" cy="0"/>
          </a:xfrm>
          <a:prstGeom prst="line">
            <a:avLst/>
          </a:prstGeom>
          <a:ln w="12700">
            <a:solidFill>
              <a:srgbClr val="B9B4C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46888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1.6</a:t>
            </a:r>
          </a:p>
        </p:txBody>
      </p:sp>
      <p:sp>
        <p:nvSpPr>
          <p:cNvPr id="21" name="TextBox 20"/>
          <p:cNvSpPr txBox="1"/>
          <p:nvPr/>
        </p:nvSpPr>
        <p:spPr>
          <a:xfrm>
            <a:off x="388619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1.7</a:t>
            </a:r>
          </a:p>
        </p:txBody>
      </p:sp>
      <p:sp>
        <p:nvSpPr>
          <p:cNvPr id="22" name="TextBox 21"/>
          <p:cNvSpPr txBox="1"/>
          <p:nvPr/>
        </p:nvSpPr>
        <p:spPr>
          <a:xfrm>
            <a:off x="530352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1.8</a:t>
            </a:r>
          </a:p>
        </p:txBody>
      </p:sp>
      <p:sp>
        <p:nvSpPr>
          <p:cNvPr id="23" name="TextBox 22"/>
          <p:cNvSpPr txBox="1"/>
          <p:nvPr/>
        </p:nvSpPr>
        <p:spPr>
          <a:xfrm>
            <a:off x="672083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1.9</a:t>
            </a:r>
          </a:p>
        </p:txBody>
      </p:sp>
      <p:sp>
        <p:nvSpPr>
          <p:cNvPr id="24" name="TextBox 23"/>
          <p:cNvSpPr txBox="1"/>
          <p:nvPr/>
        </p:nvSpPr>
        <p:spPr>
          <a:xfrm>
            <a:off x="813816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2.0</a:t>
            </a:r>
          </a:p>
        </p:txBody>
      </p:sp>
      <p:cxnSp>
        <p:nvCxnSpPr>
          <p:cNvPr id="25" name="Connector 24"/>
          <p:cNvCxnSpPr/>
          <p:nvPr/>
        </p:nvCxnSpPr>
        <p:spPr>
          <a:xfrm>
            <a:off x="5436108" y="1143000"/>
            <a:ext cx="0" cy="1627632"/>
          </a:xfrm>
          <a:prstGeom prst="line">
            <a:avLst/>
          </a:prstGeom>
          <a:ln w="15875">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978908" y="886968"/>
            <a:ext cx="914400" cy="237744"/>
          </a:xfrm>
          <a:prstGeom prst="rect">
            <a:avLst/>
          </a:prstGeom>
          <a:noFill/>
        </p:spPr>
        <p:txBody>
          <a:bodyPr wrap="square" anchor="t" lIns="0" rIns="0" tIns="0" bIns="0">
            <a:spAutoFit/>
          </a:bodyPr>
          <a:lstStyle/>
          <a:p>
            <a:pPr algn="ctr">
              <a:spcAft>
                <a:spcPts val="600"/>
              </a:spcAft>
            </a:pPr>
            <a:r>
              <a:rPr sz="1100" b="1" i="0">
                <a:solidFill>
                  <a:srgbClr val="333333"/>
                </a:solidFill>
              </a:rPr>
              <a:t>BP 1.79</a:t>
            </a:r>
          </a:p>
        </p:txBody>
      </p:sp>
      <p:sp>
        <p:nvSpPr>
          <p:cNvPr id="27" name="TextBox 26"/>
          <p:cNvSpPr txBox="1"/>
          <p:nvPr/>
        </p:nvSpPr>
        <p:spPr>
          <a:xfrm>
            <a:off x="2743200" y="3026664"/>
            <a:ext cx="5669280" cy="274320"/>
          </a:xfrm>
          <a:prstGeom prst="rect">
            <a:avLst/>
          </a:prstGeom>
          <a:noFill/>
        </p:spPr>
        <p:txBody>
          <a:bodyPr wrap="square" anchor="t" lIns="0" rIns="0" tIns="0" bIns="0">
            <a:spAutoFit/>
          </a:bodyPr>
          <a:lstStyle/>
          <a:p>
            <a:pPr algn="l">
              <a:spcAft>
                <a:spcPts val="0"/>
              </a:spcAft>
            </a:pPr>
            <a:r>
              <a:rPr sz="950" b="0" i="1">
                <a:solidFill>
                  <a:srgbClr val="6B6B6B"/>
                </a:solidFill>
              </a:rPr>
              <a:t>Effective number of active basis weights, mean over 4 images (lower = sparser).</a:t>
            </a:r>
          </a:p>
        </p:txBody>
      </p:sp>
      <p:sp>
        <p:nvSpPr>
          <p:cNvPr id="28" name="TextBox 27"/>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Four variants at ~1.45M params, same BP loss, same 4 images.</a:t>
            </a:r>
          </a:p>
          <a:p>
            <a:pPr algn="l" marL="182880" indent="-182880">
              <a:spcAft>
                <a:spcPts val="500"/>
              </a:spcAft>
              <a:buClr>
                <a:srgbClr val="333333"/>
              </a:buClr>
              <a:buChar char="•"/>
            </a:pPr>
            <a:r>
              <a:rPr sz="1250" b="0" i="0">
                <a:solidFill>
                  <a:srgbClr val="333333"/>
                </a:solidFill>
              </a:rPr>
              <a:t>Size, not neighbours, closed the gap: DEM error vs BP 0.042 for the 1.43M centre-pixel MLP, 0.047 for the patch CNN, 0.078 for the first MLP.</a:t>
            </a:r>
          </a:p>
          <a:p>
            <a:pPr algn="l" marL="182880" indent="-182880">
              <a:spcAft>
                <a:spcPts val="500"/>
              </a:spcAft>
              <a:buClr>
                <a:srgbClr val="333333"/>
              </a:buClr>
              <a:buChar char="•"/>
            </a:pPr>
            <a:r>
              <a:rPr sz="1250" b="0" i="0">
                <a:solidFill>
                  <a:srgbClr val="333333"/>
                </a:solidFill>
              </a:rPr>
              <a:t>The patch CNN was sparsest, but measured on held-out pixels of the training images.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edge disappeared</a:t>
            </a:r>
          </a:p>
        </p:txBody>
      </p:sp>
      <p:sp>
        <p:nvSpPr>
          <p:cNvPr id="3" name="TextBox 2"/>
          <p:cNvSpPr txBox="1"/>
          <p:nvPr/>
        </p:nvSpPr>
        <p:spPr>
          <a:xfrm>
            <a:off x="365760" y="914400"/>
            <a:ext cx="493776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Leave one image out: train on 3, test on the 4th; patch CNN and centre-pixel MLP, 4 folds.</a:t>
            </a:r>
          </a:p>
          <a:p>
            <a:pPr algn="l" marL="182880" indent="-182880">
              <a:spcAft>
                <a:spcPts val="900"/>
              </a:spcAft>
              <a:buClr>
                <a:srgbClr val="333333"/>
              </a:buClr>
              <a:buChar char="•"/>
            </a:pPr>
            <a:r>
              <a:rPr sz="1250" b="0" i="0">
                <a:solidFill>
                  <a:srgbClr val="333333"/>
                </a:solidFill>
              </a:rPr>
              <a:t>Neither is consistently closer to BP's sparsity on the unseen image; the MLP fits AIA better on 3 of 4.</a:t>
            </a:r>
          </a:p>
          <a:p>
            <a:pPr algn="l" marL="182880" indent="-182880">
              <a:spcAft>
                <a:spcPts val="900"/>
              </a:spcAft>
              <a:buClr>
                <a:srgbClr val="333333"/>
              </a:buClr>
              <a:buChar char="•"/>
            </a:pPr>
            <a:r>
              <a:rPr sz="1250" b="0" i="0">
                <a:solidFill>
                  <a:srgbClr val="333333"/>
                </a:solidFill>
              </a:rPr>
              <a:t>Little overfitting (held-out within ±0.2 of in-sample on 3 folds), except the X1.6 flare: peaks too cool (logT ~6.1 vs BP ~6.4), with one other flare image in training.</a:t>
            </a:r>
          </a:p>
          <a:p>
            <a:pPr algn="l" marL="182880" indent="-182880">
              <a:spcAft>
                <a:spcPts val="900"/>
              </a:spcAft>
              <a:buClr>
                <a:srgbClr val="333333"/>
              </a:buClr>
              <a:buChar char="•"/>
            </a:pPr>
            <a:r>
              <a:rPr sz="1250" b="1" i="0">
                <a:solidFill>
                  <a:srgbClr val="57068C"/>
                </a:solidFill>
              </a:rPr>
              <a:t>Carry the simpler centre-pixel MLP forward, and get more flare data → scaling.</a:t>
            </a:r>
          </a:p>
        </p:txBody>
      </p:sp>
      <p:pic>
        <p:nvPicPr>
          <p:cNvPr id="4" name="Picture 3" descr="loo_flare.png"/>
          <p:cNvPicPr>
            <a:picLocks noChangeAspect="1"/>
          </p:cNvPicPr>
          <p:nvPr/>
        </p:nvPicPr>
        <p:blipFill>
          <a:blip r:embed="rId3"/>
          <a:stretch>
            <a:fillRect/>
          </a:stretch>
        </p:blipFill>
        <p:spPr>
          <a:xfrm>
            <a:off x="5486400" y="827579"/>
            <a:ext cx="3291840" cy="3282601"/>
          </a:xfrm>
          <a:prstGeom prst="rect">
            <a:avLst/>
          </a:prstGeom>
        </p:spPr>
      </p:pic>
      <p:sp>
        <p:nvSpPr>
          <p:cNvPr id="5" name="TextBox 4"/>
          <p:cNvSpPr txBox="1"/>
          <p:nvPr/>
        </p:nvSpPr>
        <p:spPr>
          <a:xfrm>
            <a:off x="5486400" y="411480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X1.6 flare image: CNN and MLP (dashed) vs BP.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4</a:t>
            </a:r>
            <a:br/>
            <a:r>
              <a:rPr sz="4100"/>
              <a:t>Scaling to the full dataset</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broke at full scale, and how we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first full-disk runs collapsed to an all-zero DEM</a:t>
            </a:r>
          </a:p>
        </p:txBody>
      </p:sp>
      <p:sp>
        <p:nvSpPr>
          <p:cNvPr id="3" name="TextBox 2"/>
          <p:cNvSpPr txBox="1"/>
          <p:nvPr/>
        </p:nvSpPr>
        <p:spPr>
          <a:xfrm>
            <a:off x="365760" y="914400"/>
            <a:ext cx="521208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Full-disk intensities span ~7 decades (10⁻³ off-limb to 10⁴ in flare cores); the small crops spanned about one.</a:t>
            </a:r>
          </a:p>
          <a:p>
            <a:pPr algn="l" marL="182880" indent="-182880">
              <a:spcAft>
                <a:spcPts val="900"/>
              </a:spcAft>
              <a:buClr>
                <a:srgbClr val="333333"/>
              </a:buClr>
              <a:buChar char="•"/>
            </a:pPr>
            <a:r>
              <a:rPr sz="1250" b="0" i="0">
                <a:solidFill>
                  <a:srgbClr val="333333"/>
                </a:solidFill>
              </a:rPr>
              <a:t>Fed raw, the untrained network predicted AIA ~7× outside the noise band: loss 5×10¹³ at step 0. The output softplus underflowed, its gradient became exactly zero, and every pixel predicted zero.</a:t>
            </a:r>
          </a:p>
          <a:p>
            <a:pPr algn="l" marL="182880" indent="-182880">
              <a:spcAft>
                <a:spcPts val="900"/>
              </a:spcAft>
              <a:buClr>
                <a:srgbClr val="333333"/>
              </a:buClr>
              <a:buChar char="•"/>
            </a:pPr>
            <a:r>
              <a:rPr sz="1250" b="0" i="0">
                <a:solidFill>
                  <a:srgbClr val="333333"/>
                </a:solidFill>
              </a:rPr>
              <a:t>Fix: a bounded input (log1p then, √ + Fourier now; loss and metrics stay in physical units), learning-rate warmup, a clamped softplus whose gradient cannot vanish, and a guard that stops a run whose loss freezes.</a:t>
            </a:r>
          </a:p>
          <a:p>
            <a:pPr algn="l" marL="182880" indent="-182880">
              <a:spcAft>
                <a:spcPts val="900"/>
              </a:spcAft>
              <a:buClr>
                <a:srgbClr val="333333"/>
              </a:buClr>
              <a:buChar char="•"/>
            </a:pPr>
            <a:r>
              <a:rPr sz="1250" b="1" i="0">
                <a:solidFill>
                  <a:srgbClr val="57068C"/>
                </a:solidFill>
              </a:rPr>
              <a:t>A 64-block smoke test could not catch it: it never drew a flare pixel.</a:t>
            </a:r>
          </a:p>
        </p:txBody>
      </p:sp>
      <p:sp>
        <p:nvSpPr>
          <p:cNvPr id="4" name="Rounded Rectangle 3"/>
          <p:cNvSpPr/>
          <p:nvPr/>
        </p:nvSpPr>
        <p:spPr>
          <a:xfrm>
            <a:off x="6035040" y="109728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Raw intensity</a:t>
            </a:r>
          </a:p>
          <a:p>
            <a:pPr algn="ctr"/>
            <a:r>
              <a:rPr sz="1100">
                <a:solidFill>
                  <a:srgbClr val="333333"/>
                </a:solidFill>
              </a:rPr>
              <a:t>10⁻³ … 10⁴</a:t>
            </a:r>
          </a:p>
        </p:txBody>
      </p:sp>
      <p:sp>
        <p:nvSpPr>
          <p:cNvPr id="5" name="Rounded Rectangle 4"/>
          <p:cNvSpPr/>
          <p:nvPr/>
        </p:nvSpPr>
        <p:spPr>
          <a:xfrm>
            <a:off x="6035040" y="2194560"/>
            <a:ext cx="2651760" cy="73152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log1p</a:t>
            </a:r>
          </a:p>
          <a:p>
            <a:pPr algn="ctr"/>
            <a:r>
              <a:rPr sz="1100">
                <a:solidFill>
                  <a:srgbClr val="FFFFFF"/>
                </a:solidFill>
              </a:rPr>
              <a:t>input only</a:t>
            </a:r>
          </a:p>
        </p:txBody>
      </p:sp>
      <p:cxnSp>
        <p:nvCxnSpPr>
          <p:cNvPr id="6" name="Connector 5"/>
          <p:cNvCxnSpPr/>
          <p:nvPr/>
        </p:nvCxnSpPr>
        <p:spPr>
          <a:xfrm>
            <a:off x="7360920" y="182880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035040" y="329184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Network input</a:t>
            </a:r>
          </a:p>
          <a:p>
            <a:pPr algn="ctr"/>
            <a:r>
              <a:rPr sz="1100">
                <a:solidFill>
                  <a:srgbClr val="333333"/>
                </a:solidFill>
              </a:rPr>
              <a:t>0 … 9.2</a:t>
            </a:r>
          </a:p>
        </p:txBody>
      </p:sp>
      <p:cxnSp>
        <p:nvCxnSpPr>
          <p:cNvPr id="8" name="Connector 7"/>
          <p:cNvCxnSpPr/>
          <p:nvPr/>
        </p:nvCxnSpPr>
        <p:spPr>
          <a:xfrm>
            <a:off x="7360920" y="292608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How we score at scale</a:t>
            </a:r>
          </a:p>
        </p:txBody>
      </p:sp>
      <p:sp>
        <p:nvSpPr>
          <p:cNvPr id="3" name="TextBox 2"/>
          <p:cNvSpPr txBox="1"/>
          <p:nvPr/>
        </p:nvSpPr>
        <p:spPr>
          <a:xfrm>
            <a:off x="365760" y="914400"/>
            <a:ext cx="5120640" cy="3474720"/>
          </a:xfrm>
          <a:prstGeom prst="rect">
            <a:avLst/>
          </a:prstGeom>
          <a:noFill/>
        </p:spPr>
        <p:txBody>
          <a:bodyPr wrap="square" anchor="t" lIns="0" rIns="0" tIns="0" bIns="0">
            <a:spAutoFit/>
          </a:bodyPr>
          <a:lstStyle/>
          <a:p>
            <a:pPr algn="l" marL="182880" indent="-182880">
              <a:spcAft>
                <a:spcPts val="900"/>
              </a:spcAft>
              <a:buClr>
                <a:srgbClr val="333333"/>
              </a:buClr>
              <a:buChar char="•"/>
            </a:pPr>
            <a:r>
              <a:rPr sz="1200" b="0" i="0">
                <a:solidFill>
                  <a:srgbClr val="333333"/>
                </a:solidFill>
              </a:rPr>
              <a:t>153 test days, never seen in training; each scored on random quarters of the image against 5 solver targets (the clean solve and 4 noisy re-solves).</a:t>
            </a:r>
          </a:p>
          <a:p>
            <a:pPr algn="l" marL="182880" indent="-182880">
              <a:spcAft>
                <a:spcPts val="900"/>
              </a:spcAft>
              <a:buClr>
                <a:srgbClr val="333333"/>
              </a:buClr>
              <a:buChar char="•"/>
            </a:pPr>
            <a:r>
              <a:rPr sz="1200" b="0" i="0">
                <a:solidFill>
                  <a:srgbClr val="333333"/>
                </a:solidFill>
              </a:rPr>
              <a:t>Bright = any channel above its top-5% cutoff (~10% of pixels); the rest is Quiet.</a:t>
            </a:r>
          </a:p>
          <a:p>
            <a:pPr algn="l" marL="182880" indent="-182880">
              <a:spcAft>
                <a:spcPts val="900"/>
              </a:spcAft>
              <a:buClr>
                <a:srgbClr val="333333"/>
              </a:buClr>
              <a:buChar char="•"/>
            </a:pPr>
            <a:r>
              <a:rPr sz="1200" b="0" i="0">
                <a:solidFill>
                  <a:srgbClr val="333333"/>
                </a:solidFill>
              </a:rPr>
              <a:t>DEM against the solver: MSE, total-emission error, W1 (temperature-shape distance). AIA reconstruction against the observation: MAE, MSE.</a:t>
            </a:r>
          </a:p>
          <a:p>
            <a:pPr algn="l" marL="182880" indent="-182880">
              <a:spcAft>
                <a:spcPts val="900"/>
              </a:spcAft>
              <a:buClr>
                <a:srgbClr val="333333"/>
              </a:buClr>
              <a:buChar char="•"/>
            </a:pPr>
            <a:r>
              <a:rPr sz="1200" b="0" i="0">
                <a:solidFill>
                  <a:srgbClr val="333333"/>
                </a:solidFill>
              </a:rPr>
              <a:t>We also report medians and percentiles: the error is extremely heavy-tailed. For our final BP model, the worst 1% of pixels hold 98% of the DEM error, and the flare cores (0.01% of pixels, 1 in 10,000) alone hold 94%.</a:t>
            </a:r>
          </a:p>
        </p:txBody>
      </p:sp>
      <p:sp>
        <p:nvSpPr>
          <p:cNvPr id="4" name="Rectangle 3"/>
          <p:cNvSpPr/>
          <p:nvPr/>
        </p:nvSpPr>
        <p:spPr>
          <a:xfrm>
            <a:off x="580644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6188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1733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7278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2823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739128"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94576"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5002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0547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6092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1636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7181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2726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8271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06440"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6188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278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823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912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9457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5002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0547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6092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1636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71816"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27264"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8271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3816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0644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96188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17336"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72784"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2823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73912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89457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5002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20547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36092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16368"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7181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2726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82712"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38160"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80644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961888"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1733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7278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2823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58368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73912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89457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05002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20547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6092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51636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67181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82726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98271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138160"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806440"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6188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11733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27278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2823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8368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73912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894576"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05002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20547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36092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516368"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67181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827264"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98271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13816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80644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96188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11733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27278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42823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58368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73912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89457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5002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0547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36092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516368"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67181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82726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98271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138160"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80644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96188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117336"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27278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2823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8368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73912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89457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05002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720547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736092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51636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767181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82726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798271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813816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80644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96188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11733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72784"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428232"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58368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739128"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89457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705002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720547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36092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51636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67181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82726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98271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8138160"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80644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961888"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11733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272784"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42823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58368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3912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9457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05002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20547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36092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51636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67181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82726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982712"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813816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580644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5961888"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611733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6272784"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642823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658368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673912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689457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705002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7205472"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736092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751636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7671816"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782726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798271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813816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5806440"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5961888"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611733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627278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642823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658368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673912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689457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705002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720547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736092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751636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7671816"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7827264"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798271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813816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580644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596188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6117336"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627278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642823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58368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673912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689457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705002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720547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736092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751636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767181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782726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7982712"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813816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580644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596188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611733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627278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642823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658368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673912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689457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7050024" y="282549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720547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736092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751636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767181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782726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798271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13816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580644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596188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ectangle 213"/>
          <p:cNvSpPr/>
          <p:nvPr/>
        </p:nvSpPr>
        <p:spPr>
          <a:xfrm>
            <a:off x="611733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627278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642823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658368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6739128"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6894576"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705002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720547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736092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751636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ectangle 223"/>
          <p:cNvSpPr/>
          <p:nvPr/>
        </p:nvSpPr>
        <p:spPr>
          <a:xfrm>
            <a:off x="767181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782726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798271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813816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580644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596188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611733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627278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642823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6583680"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673912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6894576"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705002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720547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736092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751636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767181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782726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7982712"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813816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580644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596188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p:cNvSpPr/>
          <p:nvPr/>
        </p:nvSpPr>
        <p:spPr>
          <a:xfrm>
            <a:off x="611733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627278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6428232"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658368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673912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689457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705002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720547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36092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p:cNvSpPr/>
          <p:nvPr/>
        </p:nvSpPr>
        <p:spPr>
          <a:xfrm>
            <a:off x="751636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767181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782726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98271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813816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5806440" y="3520440"/>
            <a:ext cx="2487168" cy="822960"/>
          </a:xfrm>
          <a:prstGeom prst="rect">
            <a:avLst/>
          </a:prstGeom>
          <a:noFill/>
        </p:spPr>
        <p:txBody>
          <a:bodyPr wrap="square" anchor="t" lIns="0" rIns="0" tIns="0" bIns="0">
            <a:spAutoFit/>
          </a:bodyPr>
          <a:lstStyle/>
          <a:p>
            <a:pPr algn="l">
              <a:spcAft>
                <a:spcPts val="600"/>
              </a:spcAft>
            </a:pPr>
            <a:r>
              <a:rPr sz="950" b="1" i="0">
                <a:solidFill>
                  <a:srgbClr val="57068C"/>
                </a:solidFill>
              </a:rPr>
              <a:t>One test day: </a:t>
            </a:r>
            <a:r>
              <a:rPr sz="950" b="0" i="0">
                <a:solidFill>
                  <a:srgbClr val="333333"/>
                </a:solidFill>
              </a:rPr>
              <a:t>2048² DEM image = 256 blocks of 128². One target is scored on its own random 64 (purple). × 5 targets: the clean solve + 4 noisy re-solves.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5</a:t>
            </a:r>
            <a:br/>
            <a:r>
              <a:rPr sz="4100"/>
              <a:t>Experiments at scale</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CNN or MLP, and how big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scale, the centre-pixel MLP beat the patch CNN</a:t>
            </a:r>
          </a:p>
        </p:txBody>
      </p:sp>
      <p:sp>
        <p:nvSpPr>
          <p:cNvPr id="3" name="TextBox 2"/>
          <p:cNvSpPr txBox="1"/>
          <p:nvPr/>
        </p:nvSpPr>
        <p:spPr>
          <a:xfrm>
            <a:off x="365760" y="914400"/>
            <a:ext cx="8412480" cy="6400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Same 917 training days and losses, matched at ~1.5M parameters each, fresh pixels; scored on the 153 test days. (The final model is smaller: next slide.)</a:t>
            </a:r>
          </a:p>
        </p:txBody>
      </p:sp>
      <p:graphicFrame>
        <p:nvGraphicFramePr>
          <p:cNvPr id="4" name="Table 3"/>
          <p:cNvGraphicFramePr>
            <a:graphicFrameLocks noGrp="1"/>
          </p:cNvGraphicFramePr>
          <p:nvPr/>
        </p:nvGraphicFramePr>
        <p:xfrm>
          <a:off x="365760" y="1417320"/>
          <a:ext cx="8412477" cy="1645920"/>
        </p:xfrm>
        <a:graphic>
          <a:graphicData uri="http://schemas.openxmlformats.org/drawingml/2006/table">
            <a:tbl>
              <a:tblPr firstRow="1" bandRow="1"/>
              <a:tblGrid>
                <a:gridCol w="2877953"/>
                <a:gridCol w="1438976"/>
                <a:gridCol w="1438976"/>
                <a:gridCol w="1328286"/>
                <a:gridCol w="1328286"/>
              </a:tblGrid>
              <a:tr h="329184">
                <a:tc>
                  <a:txBody>
                    <a:bodyPr wrap="square"/>
                    <a:lstStyle/>
                    <a:p>
                      <a:pPr algn="l"/>
                      <a:r>
                        <a:rPr sz="115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CNN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CNN</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150" b="0">
                          <a:solidFill>
                            <a:srgbClr val="333333"/>
                          </a:solidFill>
                        </a:rPr>
                        <a:t>Training objective (test)</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2.07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0.057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0.245</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BP objective: median / p99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0.98 /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1.01 / 18.8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Sparsity (BP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1.90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2.03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5.53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5.17</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AIA MAE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4.93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4.73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0.54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0.82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5" name="TextBox 4"/>
          <p:cNvSpPr txBox="1"/>
          <p:nvPr/>
        </p:nvSpPr>
        <p:spPr>
          <a:xfrm>
            <a:off x="365760" y="3246120"/>
            <a:ext cx="8412480" cy="365760"/>
          </a:xfrm>
          <a:prstGeom prst="rect">
            <a:avLst/>
          </a:prstGeom>
          <a:noFill/>
        </p:spPr>
        <p:txBody>
          <a:bodyPr wrap="square" anchor="t" lIns="0" rIns="0" tIns="0" bIns="0">
            <a:spAutoFit/>
          </a:bodyPr>
          <a:lstStyle/>
          <a:p>
            <a:pPr algn="l">
              <a:spcAft>
                <a:spcPts val="600"/>
              </a:spcAft>
            </a:pPr>
            <a:r>
              <a:rPr sz="1300" b="1" i="0">
                <a:solidFill>
                  <a:srgbClr val="57068C"/>
                </a:solidFill>
              </a:rPr>
              <a:t>The simplest model scales: no neighbourhood needed.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Choosing the model: width 336, for both tracks</a:t>
            </a:r>
          </a:p>
        </p:txBody>
      </p:sp>
      <p:graphicFrame>
        <p:nvGraphicFramePr>
          <p:cNvPr id="3" name="Chart 2"/>
          <p:cNvGraphicFramePr>
            <a:graphicFrameLocks noGrp="1"/>
          </p:cNvGraphicFramePr>
          <p:nvPr/>
        </p:nvGraphicFramePr>
        <p:xfrm>
          <a:off x="365760" y="914400"/>
          <a:ext cx="4846320" cy="3017520"/>
        </p:xfrm>
        <a:graphic>
          <a:graphicData uri="http://schemas.openxmlformats.org/drawingml/2006/chart">
            <c:chart xmlns:c="http://schemas.openxmlformats.org/drawingml/2006/chart" r:id="rId3"/>
          </a:graphicData>
        </a:graphic>
      </p:graphicFrame>
      <p:sp>
        <p:nvSpPr>
          <p:cNvPr id="4" name="TextBox 3"/>
          <p:cNvSpPr txBox="1"/>
          <p:nvPr/>
        </p:nvSpPr>
        <p:spPr>
          <a:xfrm>
            <a:off x="5440680" y="960120"/>
            <a:ext cx="3337560" cy="3200400"/>
          </a:xfrm>
          <a:prstGeom prst="rect">
            <a:avLst/>
          </a:prstGeom>
          <a:noFill/>
        </p:spPr>
        <p:txBody>
          <a:bodyPr wrap="square" anchor="t" lIns="0" rIns="0" tIns="0" bIns="0">
            <a:spAutoFit/>
          </a:bodyPr>
          <a:lstStyle/>
          <a:p>
            <a:pPr algn="l" marL="182880" indent="-182880">
              <a:spcAft>
                <a:spcPts val="700"/>
              </a:spcAft>
              <a:buClr>
                <a:srgbClr val="333333"/>
              </a:buClr>
              <a:buChar char="•"/>
            </a:pPr>
            <a:r>
              <a:rPr sz="1150" b="0" i="0">
                <a:solidFill>
                  <a:srgbClr val="333333"/>
                </a:solidFill>
              </a:rPr>
              <a:t>We choose by validation loss.</a:t>
            </a:r>
          </a:p>
          <a:p>
            <a:pPr algn="l" marL="182880" indent="-182880">
              <a:spcAft>
                <a:spcPts val="700"/>
              </a:spcAft>
              <a:buClr>
                <a:srgbClr val="333333"/>
              </a:buClr>
              <a:buChar char="•"/>
            </a:pPr>
            <a:r>
              <a:rPr sz="1150" b="0" i="0">
                <a:solidFill>
                  <a:srgbClr val="333333"/>
                </a:solidFill>
              </a:rPr>
              <a:t>BP: validation is best at width 336 (360k); 1.43M ties, but only nudges the typical pixel (0.026 → 0.023) at 4× the size, and on the stiff band (Part 7) it blows up on a few flare-core pixels.</a:t>
            </a:r>
          </a:p>
          <a:p>
            <a:pPr algn="l" marL="182880" indent="-182880">
              <a:spcAft>
                <a:spcPts val="700"/>
              </a:spcAft>
              <a:buClr>
                <a:srgbClr val="333333"/>
              </a:buClr>
              <a:buChar char="•"/>
            </a:pPr>
            <a:r>
              <a:rPr sz="1150" b="0" i="0">
                <a:solidFill>
                  <a:srgbClr val="333333"/>
                </a:solidFill>
              </a:rPr>
              <a:t>ElasticNet: from 722k up, a few bright pixels blow up by orders of magnitude; 336 is the largest stable width.</a:t>
            </a:r>
          </a:p>
          <a:p>
            <a:pPr algn="l" marL="182880" indent="-182880">
              <a:spcAft>
                <a:spcPts val="700"/>
              </a:spcAft>
              <a:buClr>
                <a:srgbClr val="333333"/>
              </a:buClr>
              <a:buChar char="•"/>
            </a:pPr>
            <a:r>
              <a:rPr sz="1150" b="0" i="0">
                <a:solidFill>
                  <a:srgbClr val="333333"/>
                </a:solidFill>
              </a:rPr>
              <a:t>Input, also by validation: √ + Fourier for ElasticNet (7% better) and, on the stiff band, for BP (DEM MSE 2.37 vs 3.23).</a:t>
            </a:r>
          </a:p>
        </p:txBody>
      </p:sp>
      <p:sp>
        <p:nvSpPr>
          <p:cNvPr id="5" name="TextBox 4"/>
          <p:cNvSpPr txBox="1"/>
          <p:nvPr/>
        </p:nvSpPr>
        <p:spPr>
          <a:xfrm>
            <a:off x="365760" y="4023360"/>
            <a:ext cx="8412480" cy="320040"/>
          </a:xfrm>
          <a:prstGeom prst="rect">
            <a:avLst/>
          </a:prstGeom>
          <a:noFill/>
        </p:spPr>
        <p:txBody>
          <a:bodyPr wrap="square" anchor="t" lIns="0" rIns="0" tIns="0" bIns="0">
            <a:spAutoFit/>
          </a:bodyPr>
          <a:lstStyle/>
          <a:p>
            <a:pPr algn="l">
              <a:spcAft>
                <a:spcPts val="600"/>
              </a:spcAft>
            </a:pPr>
            <a:r>
              <a:rPr sz="1300" b="1" i="0">
                <a:solidFill>
                  <a:srgbClr val="57068C"/>
                </a:solidFill>
              </a:rPr>
              <a:t>Final: one MLP of width 336 (409k parameters) per track, √ + Fourier input; BP on the stiff band (Part 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6</a:t>
            </a:r>
            <a:br/>
            <a:r>
              <a:rPr sz="4100"/>
              <a:t>Results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Against the solver and the supervised model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Against supervised: all six on ElasticNet, four of six on BP</a:t>
            </a:r>
          </a:p>
        </p:txBody>
      </p:sp>
      <p:graphicFrame>
        <p:nvGraphicFramePr>
          <p:cNvPr id="3" name="Table 2"/>
          <p:cNvGraphicFramePr>
            <a:graphicFrameLocks noGrp="1"/>
          </p:cNvGraphicFramePr>
          <p:nvPr/>
        </p:nvGraphicFramePr>
        <p:xfrm>
          <a:off x="365760" y="1005840"/>
          <a:ext cx="8412480" cy="1920240"/>
        </p:xfrm>
        <a:graphic>
          <a:graphicData uri="http://schemas.openxmlformats.org/drawingml/2006/table">
            <a:tbl>
              <a:tblPr firstRow="1" bandRow="1"/>
              <a:tblGrid>
                <a:gridCol w="2194560"/>
                <a:gridCol w="1051560"/>
                <a:gridCol w="1051560"/>
                <a:gridCol w="1051560"/>
                <a:gridCol w="960120"/>
                <a:gridCol w="1051560"/>
                <a:gridCol w="1051560"/>
              </a:tblGrid>
              <a:tr h="384048">
                <a:tc>
                  <a:txBody>
                    <a:bodyPr wrap="square"/>
                    <a:lstStyle/>
                    <a:p>
                      <a:pPr algn="l"/>
                      <a:r>
                        <a:rPr sz="120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DEM MAE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EM error</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W1</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MAE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r>
              <a:tr h="384048">
                <a:tc>
                  <a:txBody>
                    <a:bodyPr wrap="square"/>
                    <a:lstStyle/>
                    <a:p>
                      <a:pPr algn="l"/>
                      <a:r>
                        <a:rPr sz="1200" b="1">
                          <a:solidFill>
                            <a:srgbClr val="333333"/>
                          </a:solidFill>
                        </a:rPr>
                        <a:t>BP,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0.074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1.75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0.068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3.48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103</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BP,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0.100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14.3%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0.133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2.95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157</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0.151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0.31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12.2%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0.103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0.56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161</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18.0%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0.121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6.32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598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108960"/>
            <a:ext cx="8412480" cy="82296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Bold = better. ElasticNet: we win all six, DEM MAE and MSE included. BP: we win DEM MAE, EM error, W1 and AIA MSE; supervised keeps DEM MSE (set by flare cores, Part 7) and AIA MAE.</a:t>
            </a:r>
          </a:p>
        </p:txBody>
      </p:sp>
      <p:sp>
        <p:nvSpPr>
          <p:cNvPr id="5" name="TextBox 4"/>
          <p:cNvSpPr txBox="1"/>
          <p:nvPr/>
        </p:nvSpPr>
        <p:spPr>
          <a:xfrm>
            <a:off x="365760" y="3931920"/>
            <a:ext cx="8412480" cy="274320"/>
          </a:xfrm>
          <a:prstGeom prst="rect">
            <a:avLst/>
          </a:prstGeom>
          <a:noFill/>
        </p:spPr>
        <p:txBody>
          <a:bodyPr wrap="square" anchor="t" lIns="0" rIns="0" tIns="0" bIns="0">
            <a:spAutoFit/>
          </a:bodyPr>
          <a:lstStyle/>
          <a:p>
            <a:pPr algn="l">
              <a:spcAft>
                <a:spcPts val="600"/>
              </a:spcAft>
            </a:pPr>
            <a:r>
              <a:rPr sz="1000" b="0" i="1">
                <a:solidFill>
                  <a:srgbClr val="6B6B6B"/>
                </a:solidFill>
              </a:rPr>
              <a:t>BP, label-free, is the stiff-band model of Part 7. The old BP final: DEM MSE 4.28, EM error 19.6%, W1 0.083, AIA MSE 83.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typical pixel and the average tell different stories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0.036 vs 0.112</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BP median pixel error, ours vs supervised: ~3× better on the typical pixel</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98%</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sits in the worst 1% of pixels (supervised 95%)</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On the typical BP pixel we are ~3× closer to the solver than the supervised model.</a:t>
            </a:r>
          </a:p>
          <a:p>
            <a:pPr algn="l" marL="182880" indent="-182880">
              <a:spcAft>
                <a:spcPts val="1200"/>
              </a:spcAft>
              <a:buClr>
                <a:srgbClr val="333333"/>
              </a:buClr>
              <a:buChar char="•"/>
            </a:pPr>
            <a:r>
              <a:rPr sz="1300" b="0" i="0">
                <a:solidFill>
                  <a:srgbClr val="333333"/>
                </a:solidFill>
              </a:rPr>
              <a:t>Up to the 99th percentile we are level or ahead on BP (p90 1.9 vs 1.9, p99 25 vs 27); the gap opens in the last 0.1%: flare cores.</a:t>
            </a:r>
          </a:p>
          <a:p>
            <a:pPr algn="l" marL="182880" indent="-182880">
              <a:spcAft>
                <a:spcPts val="1200"/>
              </a:spcAft>
              <a:buClr>
                <a:srgbClr val="333333"/>
              </a:buClr>
              <a:buChar char="•"/>
            </a:pPr>
            <a:r>
              <a:rPr sz="1300" b="0" i="0">
                <a:solidFill>
                  <a:srgbClr val="333333"/>
                </a:solidFill>
              </a:rPr>
              <a:t>ElasticNet: ours is better at the median, p99 and p99.9.</a:t>
            </a:r>
          </a:p>
          <a:p>
            <a:pPr algn="l" marL="182880" indent="-182880">
              <a:spcAft>
                <a:spcPts val="1200"/>
              </a:spcAft>
              <a:buClr>
                <a:srgbClr val="333333"/>
              </a:buClr>
              <a:buChar char="•"/>
            </a:pPr>
            <a:r>
              <a:rPr sz="1300" b="0" i="0">
                <a:solidFill>
                  <a:srgbClr val="333333"/>
                </a:solidFill>
              </a:rPr>
              <a:t>The BP average is set by the worst 1% of pixels, for both models.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7</a:t>
            </a:r>
            <a:br/>
            <a:r>
              <a:rPr sz="4100"/>
              <a:t>Flare cores: the failure and the fix</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Why BP missed them, and what fixed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1 pixel in 10,000, held 90% of the BP error</a:t>
            </a:r>
          </a:p>
        </p:txBody>
      </p:sp>
      <p:sp>
        <p:nvSpPr>
          <p:cNvPr id="3" name="TextBox 2"/>
          <p:cNvSpPr txBox="1"/>
          <p:nvPr/>
        </p:nvSpPr>
        <p:spPr>
          <a:xfrm>
            <a:off x="365760" y="914400"/>
            <a:ext cx="3566160" cy="3474720"/>
          </a:xfrm>
          <a:prstGeom prst="rect">
            <a:avLst/>
          </a:prstGeom>
          <a:noFill/>
        </p:spPr>
        <p:txBody>
          <a:bodyPr wrap="square" anchor="t" lIns="0" rIns="0" tIns="0" bIns="0">
            <a:spAutoFit/>
          </a:bodyPr>
          <a:lstStyle/>
          <a:p>
            <a:pPr algn="l" marL="182880" indent="-182880">
              <a:spcAft>
                <a:spcPts val="800"/>
              </a:spcAft>
              <a:buClr>
                <a:srgbClr val="333333"/>
              </a:buClr>
              <a:buChar char="•"/>
            </a:pPr>
            <a:r>
              <a:rPr sz="1200" b="0" i="0">
                <a:solidFill>
                  <a:srgbClr val="333333"/>
                </a:solidFill>
              </a:rPr>
              <a:t>Old BP model: 0.01% of pixels, 90% of the DEM error (supervised: 90% too).</a:t>
            </a:r>
          </a:p>
          <a:p>
            <a:pPr algn="l" marL="182880" indent="-182880">
              <a:spcAft>
                <a:spcPts val="800"/>
              </a:spcAft>
              <a:buClr>
                <a:srgbClr val="333333"/>
              </a:buClr>
              <a:buChar char="•"/>
            </a:pPr>
            <a:r>
              <a:rPr sz="1200" b="0" i="0">
                <a:solidFill>
                  <a:srgbClr val="333333"/>
                </a:solidFill>
              </a:rPr>
              <a:t>There it held 40% of the solver's emission, peaked 23% as high, 0.2 dex too cool; 83% of its curves had extra peaks (solver 18%).</a:t>
            </a:r>
          </a:p>
          <a:p>
            <a:pPr algn="l" marL="182880" indent="-182880">
              <a:spcAft>
                <a:spcPts val="800"/>
              </a:spcAft>
              <a:buClr>
                <a:srgbClr val="333333"/>
              </a:buClr>
              <a:buChar char="•"/>
            </a:pPr>
            <a:r>
              <a:rPr sz="1200" b="0" i="0">
                <a:solidFill>
                  <a:srgbClr val="333333"/>
                </a:solidFill>
              </a:rPr>
              <a:t>It fit 171, 193 and 211 Å to a few percent, but reproduced only 23% of 94 Å: the hot plasma was missing.</a:t>
            </a:r>
          </a:p>
          <a:p>
            <a:pPr algn="l" marL="182880" indent="-182880">
              <a:spcAft>
                <a:spcPts val="800"/>
              </a:spcAft>
              <a:buClr>
                <a:srgbClr val="333333"/>
              </a:buClr>
              <a:buChar char="•"/>
            </a:pPr>
            <a:r>
              <a:rPr sz="1200" b="1" i="0">
                <a:solidFill>
                  <a:srgbClr val="57068C"/>
                </a:solidFill>
              </a:rPr>
              <a:t>Read as a training problem: oversample, train longer, go bigger.</a:t>
            </a:r>
          </a:p>
        </p:txBody>
      </p:sp>
      <p:pic>
        <p:nvPicPr>
          <p:cNvPr id="4" name="Picture 3" descr="fig4_example_curves_bp.png"/>
          <p:cNvPicPr>
            <a:picLocks noChangeAspect="1"/>
          </p:cNvPicPr>
          <p:nvPr/>
        </p:nvPicPr>
        <p:blipFill>
          <a:blip r:embed="rId3"/>
          <a:stretch>
            <a:fillRect/>
          </a:stretch>
        </p:blipFill>
        <p:spPr>
          <a:xfrm>
            <a:off x="3931920" y="979932"/>
            <a:ext cx="4846320" cy="3069336"/>
          </a:xfrm>
          <a:prstGeom prst="rect">
            <a:avLst/>
          </a:prstGeom>
        </p:spPr>
      </p:pic>
      <p:sp>
        <p:nvSpPr>
          <p:cNvPr id="5" name="TextBox 4"/>
          <p:cNvSpPr txBox="1"/>
          <p:nvPr/>
        </p:nvSpPr>
        <p:spPr>
          <a:xfrm>
            <a:off x="3931920" y="4069080"/>
            <a:ext cx="4846320" cy="274320"/>
          </a:xfrm>
          <a:prstGeom prst="rect">
            <a:avLst/>
          </a:prstGeom>
          <a:noFill/>
        </p:spPr>
        <p:txBody>
          <a:bodyPr wrap="square" anchor="t" lIns="0" rIns="0" tIns="0" bIns="0">
            <a:spAutoFit/>
          </a:bodyPr>
          <a:lstStyle/>
          <a:p>
            <a:pPr algn="l">
              <a:spcAft>
                <a:spcPts val="0"/>
              </a:spcAft>
            </a:pPr>
            <a:r>
              <a:rPr sz="950" b="0" i="1">
                <a:solidFill>
                  <a:srgbClr val="6B6B6B"/>
                </a:solidFill>
              </a:rPr>
              <a:t>Old BP model at random flare cores (top rows). Black solver, blue ours, orange supervised.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the original loss, none of the suggestions helped</a:t>
            </a:r>
          </a:p>
        </p:txBody>
      </p:sp>
      <p:graphicFrame>
        <p:nvGraphicFramePr>
          <p:cNvPr id="3" name="Table 2"/>
          <p:cNvGraphicFramePr>
            <a:graphicFrameLocks noGrp="1"/>
          </p:cNvGraphicFramePr>
          <p:nvPr/>
        </p:nvGraphicFramePr>
        <p:xfrm>
          <a:off x="365760" y="960120"/>
          <a:ext cx="8412477" cy="1828800"/>
        </p:xfrm>
        <a:graphic>
          <a:graphicData uri="http://schemas.openxmlformats.org/drawingml/2006/table">
            <a:tbl>
              <a:tblPr firstRow="1" bandRow="1"/>
              <a:tblGrid>
                <a:gridCol w="2713703"/>
                <a:gridCol w="995024"/>
                <a:gridCol w="904567"/>
                <a:gridCol w="995024"/>
                <a:gridCol w="1447308"/>
                <a:gridCol w="1356851"/>
              </a:tblGrid>
              <a:tr h="365760">
                <a:tc>
                  <a:txBody>
                    <a:bodyPr wrap="square"/>
                    <a:lstStyle/>
                    <a:p>
                      <a:pPr algn="l"/>
                      <a:r>
                        <a:rPr sz="1150" b="1">
                          <a:solidFill>
                            <a:srgbClr val="FFFFFF"/>
                          </a:solidFill>
                        </a:rPr>
                        <a:t>BP run, original loss</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Median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Flare-core emission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Flare-core 94 Å</a:t>
                      </a:r>
                    </a:p>
                  </a:txBody>
                  <a:tcPr marL="54864" marR="54864" marT="27432" marB="27432" anchor="ctr">
                    <a:lnL w="0">
                      <a:noFill/>
                    </a:lnL>
                    <a:lnR w="0">
                      <a:noFill/>
                    </a:lnR>
                    <a:lnT w="0">
                      <a:noFill/>
                    </a:lnT>
                    <a:lnB w="6350">
                      <a:solidFill>
                        <a:srgbClr val="D9D3E3"/>
                      </a:solidFill>
                    </a:lnB>
                    <a:solidFill>
                      <a:srgbClr val="57068C"/>
                    </a:solidFill>
                  </a:tcPr>
                </a:tc>
              </a:tr>
              <a:tr h="365760">
                <a:tc>
                  <a:txBody>
                    <a:bodyPr wrap="square"/>
                    <a:lstStyle/>
                    <a:p>
                      <a:pPr algn="l"/>
                      <a:r>
                        <a:rPr sz="1150" b="1">
                          <a:solidFill>
                            <a:srgbClr val="333333"/>
                          </a:solidFill>
                        </a:rPr>
                        <a:t>Base (√ + Fourier, 40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4.56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0.023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15%</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150" b="1">
                          <a:solidFill>
                            <a:srgbClr val="333333"/>
                          </a:solidFill>
                        </a:rPr>
                        <a:t>Oversample flare cores (8.5× more)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5.05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150" b="1">
                          <a:solidFill>
                            <a:srgbClr val="333333"/>
                          </a:solidFill>
                        </a:rPr>
                        <a:t>120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4.21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0.022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16%</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150" b="1">
                          <a:solidFill>
                            <a:srgbClr val="333333"/>
                          </a:solidFill>
                        </a:rPr>
                        <a:t>10M parameters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0.022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063240"/>
            <a:ext cx="8412480" cy="1280160"/>
          </a:xfrm>
          <a:prstGeom prst="rect">
            <a:avLst/>
          </a:prstGeom>
          <a:noFill/>
        </p:spPr>
        <p:txBody>
          <a:bodyPr wrap="square" anchor="t" lIns="0" rIns="0" tIns="0" bIns="0">
            <a:spAutoFit/>
          </a:bodyPr>
          <a:lstStyle/>
          <a:p>
            <a:pPr algn="l" marL="182880" indent="-182880">
              <a:spcAft>
                <a:spcPts val="500"/>
              </a:spcAft>
              <a:buClr>
                <a:srgbClr val="333333"/>
              </a:buClr>
              <a:buChar char="•"/>
            </a:pPr>
            <a:r>
              <a:rPr sz="1200" b="0" i="0">
                <a:solidFill>
                  <a:srgbClr val="333333"/>
                </a:solidFill>
              </a:rPr>
              <a:t>Away from flare cores all four score the same (DEM MAE 0.105 to 0.106, Quiet MSE 0.057 to 0.058).</a:t>
            </a:r>
          </a:p>
          <a:p>
            <a:pPr algn="l" marL="182880" indent="-182880">
              <a:spcAft>
                <a:spcPts val="500"/>
              </a:spcAft>
              <a:buClr>
                <a:srgbClr val="333333"/>
              </a:buClr>
              <a:buChar char="•"/>
            </a:pPr>
            <a:r>
              <a:rPr sz="1200" b="0" i="0">
                <a:solidFill>
                  <a:srgbClr val="333333"/>
                </a:solidFill>
              </a:rPr>
              <a:t>At flare cores, oversampling and the 10M model make it worse; 120 epochs moves emission from 35% to 37% (solver 94 Å: 92%).</a:t>
            </a:r>
          </a:p>
          <a:p>
            <a:pPr algn="l" marL="182880" indent="-182880">
              <a:spcAft>
                <a:spcPts val="500"/>
              </a:spcAft>
              <a:buClr>
                <a:srgbClr val="333333"/>
              </a:buClr>
              <a:buChar char="•"/>
            </a:pPr>
            <a:r>
              <a:rPr sz="1200" b="1" i="0">
                <a:solidFill>
                  <a:srgbClr val="57068C"/>
                </a:solidFill>
              </a:rPr>
              <a:t>Training harder does not help. The loss itself needs checking.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cause: the network already sits at its loss's best answer</a:t>
            </a:r>
          </a:p>
        </p:txBody>
      </p:sp>
      <p:sp>
        <p:nvSpPr>
          <p:cNvPr id="3" name="TextBox 2"/>
          <p:cNvSpPr txBox="1"/>
          <p:nvPr/>
        </p:nvSpPr>
        <p:spPr>
          <a:xfrm>
            <a:off x="365760" y="868680"/>
            <a:ext cx="8412480" cy="685800"/>
          </a:xfrm>
          <a:prstGeom prst="rect">
            <a:avLst/>
          </a:prstGeom>
          <a:noFill/>
        </p:spPr>
        <p:txBody>
          <a:bodyPr wrap="square" anchor="t" lIns="0" rIns="0" tIns="0" bIns="0">
            <a:spAutoFit/>
          </a:bodyPr>
          <a:lstStyle/>
          <a:p>
            <a:pPr algn="l" marL="182880" indent="-182880">
              <a:spcAft>
                <a:spcPts val="600"/>
              </a:spcAft>
              <a:buClr>
                <a:srgbClr val="333333"/>
              </a:buClr>
              <a:buChar char="•"/>
            </a:pPr>
            <a:r>
              <a:rPr sz="1200" b="0" i="0">
                <a:solidFill>
                  <a:srgbClr val="333333"/>
                </a:solidFill>
              </a:rPr>
              <a:t>Per pixel, solve the loss directly (it is convex): the best answer no network can beat. 12,000 validation pixels, 6,000 of them flare cores. Our network sits 1 to 4% above it (8% at flare cores).</a:t>
            </a:r>
          </a:p>
        </p:txBody>
      </p:sp>
      <p:graphicFrame>
        <p:nvGraphicFramePr>
          <p:cNvPr id="4" name="Table 3"/>
          <p:cNvGraphicFramePr>
            <a:graphicFrameLocks noGrp="1"/>
          </p:cNvGraphicFramePr>
          <p:nvPr/>
        </p:nvGraphicFramePr>
        <p:xfrm>
          <a:off x="365760" y="1645920"/>
          <a:ext cx="8412480" cy="1737360"/>
        </p:xfrm>
        <a:graphic>
          <a:graphicData uri="http://schemas.openxmlformats.org/drawingml/2006/table">
            <a:tbl>
              <a:tblPr firstRow="1" bandRow="1"/>
              <a:tblGrid>
                <a:gridCol w="2804160"/>
                <a:gridCol w="934720"/>
                <a:gridCol w="1869440"/>
                <a:gridCol w="1402080"/>
                <a:gridCol w="1402080"/>
              </a:tblGrid>
              <a:tr h="347472">
                <a:tc>
                  <a:txBody>
                    <a:bodyPr wrap="square"/>
                    <a:lstStyle/>
                    <a:p>
                      <a:pPr algn="l"/>
                      <a:r>
                        <a:rPr sz="1150" b="1">
                          <a:solidFill>
                            <a:srgbClr val="FFFFFF"/>
                          </a:solidFill>
                        </a:rPr>
                        <a:t>Flare cores, validation, original loss</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Loss</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Sparsity + band penalty</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94 Å reproduced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Emission vs solver</a:t>
                      </a:r>
                    </a:p>
                  </a:txBody>
                  <a:tcPr marL="54864" marR="54864" marT="27432" marB="27432" anchor="ctr">
                    <a:lnL w="0">
                      <a:noFill/>
                    </a:lnL>
                    <a:lnR w="0">
                      <a:noFill/>
                    </a:lnR>
                    <a:lnT w="0">
                      <a:noFill/>
                    </a:lnT>
                    <a:lnB w="6350">
                      <a:solidFill>
                        <a:srgbClr val="D9D3E3"/>
                      </a:solidFill>
                    </a:lnB>
                    <a:solidFill>
                      <a:srgbClr val="57068C"/>
                    </a:solidFill>
                  </a:tcPr>
                </a:tc>
              </a:tr>
              <a:tr h="347472">
                <a:tc>
                  <a:txBody>
                    <a:bodyPr wrap="square"/>
                    <a:lstStyle/>
                    <a:p>
                      <a:pPr algn="l"/>
                      <a:r>
                        <a:rPr sz="1150" b="1">
                          <a:solidFill>
                            <a:srgbClr val="333333"/>
                          </a:solidFill>
                        </a:rPr>
                        <a:t>Old BP network</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565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294 + 270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38%</a:t>
                      </a:r>
                    </a:p>
                  </a:txBody>
                  <a:tcPr marL="54864" marR="54864" marT="27432" marB="27432" anchor="ctr">
                    <a:lnL w="0">
                      <a:noFill/>
                    </a:lnL>
                    <a:lnR w="0">
                      <a:noFill/>
                    </a:lnR>
                    <a:lnT w="0">
                      <a:noFill/>
                    </a:lnT>
                    <a:lnB w="6350">
                      <a:solidFill>
                        <a:srgbClr val="D9D3E3"/>
                      </a:solidFill>
                    </a:lnB>
                    <a:solidFill>
                      <a:srgbClr val="FFFFFF"/>
                    </a:solidFill>
                  </a:tcPr>
                </a:tc>
              </a:tr>
              <a:tr h="347472">
                <a:tc>
                  <a:txBody>
                    <a:bodyPr wrap="square"/>
                    <a:lstStyle/>
                    <a:p>
                      <a:pPr algn="l"/>
                      <a:r>
                        <a:rPr sz="1150" b="1">
                          <a:solidFill>
                            <a:srgbClr val="333333"/>
                          </a:solidFill>
                        </a:rPr>
                        <a:t>Best answer under the loss</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463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220 + 243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26%</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30%</a:t>
                      </a:r>
                    </a:p>
                  </a:txBody>
                  <a:tcPr marL="54864" marR="54864" marT="27432" marB="27432" anchor="ctr">
                    <a:lnL w="0">
                      <a:noFill/>
                    </a:lnL>
                    <a:lnR w="0">
                      <a:noFill/>
                    </a:lnR>
                    <a:lnT w="0">
                      <a:noFill/>
                    </a:lnT>
                    <a:lnB w="6350">
                      <a:solidFill>
                        <a:srgbClr val="D9D3E3"/>
                      </a:solidFill>
                    </a:lnB>
                    <a:solidFill>
                      <a:srgbClr val="E3DFE9"/>
                    </a:solidFill>
                  </a:tcPr>
                </a:tc>
              </a:tr>
              <a:tr h="347472">
                <a:tc>
                  <a:txBody>
                    <a:bodyPr wrap="square"/>
                    <a:lstStyle/>
                    <a:p>
                      <a:pPr algn="l"/>
                      <a:r>
                        <a:rPr sz="1150" b="1">
                          <a:solidFill>
                            <a:srgbClr val="333333"/>
                          </a:solidFill>
                        </a:rPr>
                        <a:t>Solver's DEM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1,125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1,119 + 6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347472">
                <a:tc>
                  <a:txBody>
                    <a:bodyPr wrap="square"/>
                    <a:lstStyle/>
                    <a:p>
                      <a:pPr algn="l"/>
                      <a:r>
                        <a:rPr sz="1150" b="1">
                          <a:solidFill>
                            <a:srgbClr val="333333"/>
                          </a:solidFill>
                        </a:rPr>
                        <a:t>Supervised model's DEM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1,878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1,107 + 771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95%</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5" name="TextBox 4"/>
          <p:cNvSpPr txBox="1"/>
          <p:nvPr/>
        </p:nvSpPr>
        <p:spPr>
          <a:xfrm>
            <a:off x="365760" y="3520440"/>
            <a:ext cx="8412480" cy="91440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A perfect network would land on the best answer, which still drops the hot plasma: 26% of 94 Å.</a:t>
            </a:r>
          </a:p>
          <a:p>
            <a:pPr algn="l" marL="182880" indent="-182880">
              <a:spcAft>
                <a:spcPts val="400"/>
              </a:spcAft>
              <a:buClr>
                <a:srgbClr val="333333"/>
              </a:buClr>
              <a:buChar char="•"/>
            </a:pPr>
            <a:r>
              <a:rPr sz="1200" b="0" i="0">
                <a:solidFill>
                  <a:srgbClr val="333333"/>
                </a:solidFill>
              </a:rPr>
              <a:t>Our loss rates the solver's DEM 2.4× worse than one without the hot plasma: every training step moves away from the solver there.</a:t>
            </a:r>
          </a:p>
          <a:p>
            <a:pPr algn="l" marL="182880" indent="-182880">
              <a:spcAft>
                <a:spcPts val="400"/>
              </a:spcAft>
              <a:buClr>
                <a:srgbClr val="333333"/>
              </a:buClr>
              <a:buChar char="•"/>
            </a:pPr>
            <a:r>
              <a:rPr sz="1200" b="1" i="0">
                <a:solidFill>
                  <a:srgbClr val="57068C"/>
                </a:solidFill>
              </a:rPr>
              <a:t>The loss, not training, was the limit.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Why: hot plasma is expensive to include and cheap to leave out</a:t>
            </a:r>
          </a:p>
        </p:txBody>
      </p:sp>
      <p:sp>
        <p:nvSpPr>
          <p:cNvPr id="3" name="TextBox 2"/>
          <p:cNvSpPr txBox="1"/>
          <p:nvPr/>
        </p:nvSpPr>
        <p:spPr>
          <a:xfrm>
            <a:off x="365760" y="868680"/>
            <a:ext cx="8412480" cy="640080"/>
          </a:xfrm>
          <a:prstGeom prst="rect">
            <a:avLst/>
          </a:prstGeom>
          <a:noFill/>
        </p:spPr>
        <p:txBody>
          <a:bodyPr wrap="square" anchor="t" lIns="0" rIns="0" tIns="0" bIns="0">
            <a:spAutoFit/>
          </a:bodyPr>
          <a:lstStyle/>
          <a:p>
            <a:pPr algn="l" marL="182880" indent="-182880">
              <a:spcAft>
                <a:spcPts val="600"/>
              </a:spcAft>
              <a:buClr>
                <a:srgbClr val="333333"/>
              </a:buClr>
              <a:buChar char="•"/>
            </a:pPr>
            <a:r>
              <a:rPr sz="1200" b="0" i="0">
                <a:solidFill>
                  <a:srgbClr val="333333"/>
                </a:solidFill>
              </a:rPr>
              <a:t>Solver: the noise band is a rule. Our loss: the band is a price. Loss = sparsity (sum of the 54 weights) + μ × band penalty (distance outside the band, squared), with μ = 1 originally.</a:t>
            </a:r>
          </a:p>
        </p:txBody>
      </p:sp>
      <p:graphicFrame>
        <p:nvGraphicFramePr>
          <p:cNvPr id="4" name="Table 3"/>
          <p:cNvGraphicFramePr>
            <a:graphicFrameLocks noGrp="1"/>
          </p:cNvGraphicFramePr>
          <p:nvPr/>
        </p:nvGraphicFramePr>
        <p:xfrm>
          <a:off x="365760" y="1554480"/>
          <a:ext cx="5120637" cy="987552"/>
        </p:xfrm>
        <a:graphic>
          <a:graphicData uri="http://schemas.openxmlformats.org/drawingml/2006/table">
            <a:tbl>
              <a:tblPr firstRow="1" bandRow="1"/>
              <a:tblGrid>
                <a:gridCol w="1815829"/>
                <a:gridCol w="472115"/>
                <a:gridCol w="617382"/>
                <a:gridCol w="617382"/>
                <a:gridCol w="617382"/>
                <a:gridCol w="508432"/>
                <a:gridCol w="472115"/>
              </a:tblGrid>
              <a:tr h="329184">
                <a:tc>
                  <a:txBody>
                    <a:bodyPr wrap="square"/>
                    <a:lstStyle/>
                    <a:p>
                      <a:pPr algn="l"/>
                      <a:r>
                        <a:rPr sz="1050" b="1">
                          <a:solidFill>
                            <a:srgbClr val="FFFFFF"/>
                          </a:solidFill>
                        </a:rPr>
                        <a:t>DN/s per unit of plasma</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94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131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171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193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211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335 Å</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050" b="1">
                          <a:solidFill>
                            <a:srgbClr val="333333"/>
                          </a:solidFill>
                        </a:rPr>
                        <a:t>Warm, 1 to 1.3 MK (logT 6.0–6.1)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0.5–1.2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36–95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29–55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0.4</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050" b="1">
                          <a:solidFill>
                            <a:srgbClr val="333333"/>
                          </a:solidFill>
                        </a:rPr>
                        <a:t>Hot, 8 MK (logT 6.9)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0.27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0.40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0.05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0.34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0.08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0.05</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graphicFrame>
        <p:nvGraphicFramePr>
          <p:cNvPr id="5" name="Table 4"/>
          <p:cNvGraphicFramePr>
            <a:graphicFrameLocks noGrp="1"/>
          </p:cNvGraphicFramePr>
          <p:nvPr/>
        </p:nvGraphicFramePr>
        <p:xfrm>
          <a:off x="365760" y="2697480"/>
          <a:ext cx="5120638" cy="987552"/>
        </p:xfrm>
        <a:graphic>
          <a:graphicData uri="http://schemas.openxmlformats.org/drawingml/2006/table">
            <a:tbl>
              <a:tblPr firstRow="1" bandRow="1"/>
              <a:tblGrid>
                <a:gridCol w="2605237"/>
                <a:gridCol w="718686"/>
                <a:gridCol w="1167865"/>
                <a:gridCol w="628850"/>
              </a:tblGrid>
              <a:tr h="329184">
                <a:tc>
                  <a:txBody>
                    <a:bodyPr wrap="square"/>
                    <a:lstStyle/>
                    <a:p>
                      <a:pPr algn="l"/>
                      <a:r>
                        <a:rPr sz="1050" b="1">
                          <a:solidFill>
                            <a:srgbClr val="FFFFFF"/>
                          </a:solidFill>
                        </a:rPr>
                        <a:t>A flare core: 94 Å = 164 ± 11.5</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Sparsity</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Penalty (μ = 1)</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Total</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050" b="1">
                          <a:solidFill>
                            <a:srgbClr val="333333"/>
                          </a:solidFill>
                        </a:rPr>
                        <a:t>Hot plasma in: 164 ÷ 0.27 ≈ 616 units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616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616</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050" b="1">
                          <a:solidFill>
                            <a:srgbClr val="333333"/>
                          </a:solidFill>
                        </a:rPr>
                        <a:t>Hot plasma out: 94 Å ≈ 0, 148 below the band</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50" b="0">
                          <a:solidFill>
                            <a:srgbClr val="333333"/>
                          </a:solidFill>
                        </a:rPr>
                        <a:t>0</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50" b="0">
                          <a:solidFill>
                            <a:srgbClr val="333333"/>
                          </a:solidFill>
                        </a:rPr>
                        <a:t>(148 ÷ 16.1)² = 85</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50" b="0">
                          <a:solidFill>
                            <a:srgbClr val="333333"/>
                          </a:solidFill>
                        </a:rPr>
                        <a:t>85</a:t>
                      </a:r>
                    </a:p>
                  </a:txBody>
                  <a:tcPr marL="54864" marR="54864" marT="27432" marB="27432" anchor="ctr">
                    <a:lnL w="0">
                      <a:noFill/>
                    </a:lnL>
                    <a:lnR w="0">
                      <a:noFill/>
                    </a:lnR>
                    <a:lnT w="0">
                      <a:noFill/>
                    </a:lnT>
                    <a:lnB w="6350">
                      <a:solidFill>
                        <a:srgbClr val="D9D3E3"/>
                      </a:solidFill>
                    </a:lnB>
                    <a:solidFill>
                      <a:srgbClr val="E3DFE9"/>
                    </a:solidFill>
                  </a:tcPr>
                </a:tc>
              </a:tr>
            </a:tbl>
          </a:graphicData>
        </a:graphic>
      </p:graphicFrame>
      <p:sp>
        <p:nvSpPr>
          <p:cNvPr id="6" name="TextBox 5"/>
          <p:cNvSpPr txBox="1"/>
          <p:nvPr/>
        </p:nvSpPr>
        <p:spPr>
          <a:xfrm>
            <a:off x="365760" y="3767328"/>
            <a:ext cx="5120640" cy="640080"/>
          </a:xfrm>
          <a:prstGeom prst="rect">
            <a:avLst/>
          </a:prstGeom>
          <a:noFill/>
        </p:spPr>
        <p:txBody>
          <a:bodyPr wrap="square" anchor="t" lIns="0" rIns="0" tIns="0" bIns="0">
            <a:spAutoFit/>
          </a:bodyPr>
          <a:lstStyle/>
          <a:p>
            <a:pPr algn="l">
              <a:spcAft>
                <a:spcPts val="600"/>
              </a:spcAft>
            </a:pPr>
            <a:r>
              <a:rPr sz="1000" b="0" i="0">
                <a:solidFill>
                  <a:srgbClr val="6B6B6B"/>
                </a:solidFill>
              </a:rPr>
              <a:t>Brighter pixels draw more of their 94 Å from hot plasma: the best answer reproduces 91% of 94 Å at 1 to 1.8× the Bright level, 44% at 10 to 32×, 26% at flare cores (solver 100, 88, 94%).</a:t>
            </a:r>
          </a:p>
        </p:txBody>
      </p:sp>
      <p:sp>
        <p:nvSpPr>
          <p:cNvPr id="7" name="TextBox 6"/>
          <p:cNvSpPr txBox="1"/>
          <p:nvPr/>
        </p:nvSpPr>
        <p:spPr>
          <a:xfrm>
            <a:off x="5760720" y="1554480"/>
            <a:ext cx="3017520" cy="3017520"/>
          </a:xfrm>
          <a:prstGeom prst="rect">
            <a:avLst/>
          </a:prstGeom>
          <a:noFill/>
        </p:spPr>
        <p:txBody>
          <a:bodyPr wrap="square" anchor="t" lIns="0" rIns="0" tIns="0" bIns="0">
            <a:spAutoFit/>
          </a:bodyPr>
          <a:lstStyle/>
          <a:p>
            <a:pPr algn="l" marL="182880" indent="-182880">
              <a:spcAft>
                <a:spcPts val="500"/>
              </a:spcAft>
              <a:buClr>
                <a:srgbClr val="333333"/>
              </a:buClr>
              <a:buChar char="•"/>
            </a:pPr>
            <a:r>
              <a:rPr sz="1100" b="0" i="0">
                <a:solidFill>
                  <a:srgbClr val="333333"/>
                </a:solidFill>
              </a:rPr>
              <a:t>Warm plasma lights 171, 193, 211 Å by tens of DN/s: it has to be in the DEM, and its 94 Å comes free.</a:t>
            </a:r>
          </a:p>
          <a:p>
            <a:pPr algn="l" marL="182880" indent="-182880">
              <a:spcAft>
                <a:spcPts val="500"/>
              </a:spcAft>
              <a:buClr>
                <a:srgbClr val="333333"/>
              </a:buClr>
              <a:buChar char="•"/>
            </a:pPr>
            <a:r>
              <a:rPr sz="1100" b="0" i="0">
                <a:solidFill>
                  <a:srgbClr val="333333"/>
                </a:solidFill>
              </a:rPr>
              <a:t>Hot plasma lights no channel above 0.4 DN/s: a bright 94 Å reading needs hundreds of units, all paid for by the sparsity term.</a:t>
            </a:r>
          </a:p>
          <a:p>
            <a:pPr algn="l" marL="182880" indent="-182880">
              <a:spcAft>
                <a:spcPts val="500"/>
              </a:spcAft>
              <a:buClr>
                <a:srgbClr val="333333"/>
              </a:buClr>
              <a:buChar char="•"/>
            </a:pPr>
            <a:r>
              <a:rPr sz="1100" b="0" i="0">
                <a:solidFill>
                  <a:srgbClr val="333333"/>
                </a:solidFill>
              </a:rPr>
              <a:t>Leaving it out costs 85; putting it in costs 616. The best answer leaves it out.</a:t>
            </a:r>
          </a:p>
          <a:p>
            <a:pPr algn="l" marL="182880" indent="-182880">
              <a:spcAft>
                <a:spcPts val="500"/>
              </a:spcAft>
              <a:buClr>
                <a:srgbClr val="333333"/>
              </a:buClr>
              <a:buChar char="•"/>
            </a:pPr>
            <a:r>
              <a:rPr sz="1100" b="1" i="0">
                <a:solidFill>
                  <a:srgbClr val="57068C"/>
                </a:solidFill>
              </a:rPr>
              <a:t>At μ = 100 the penalty is 8,500: the plasma goes back 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fix: a stiffer band, chosen on validation</a:t>
            </a:r>
          </a:p>
        </p:txBody>
      </p:sp>
      <p:graphicFrame>
        <p:nvGraphicFramePr>
          <p:cNvPr id="3" name="Table 2"/>
          <p:cNvGraphicFramePr>
            <a:graphicFrameLocks noGrp="1"/>
          </p:cNvGraphicFramePr>
          <p:nvPr/>
        </p:nvGraphicFramePr>
        <p:xfrm>
          <a:off x="365760" y="960120"/>
          <a:ext cx="8412478" cy="2240280"/>
        </p:xfrm>
        <a:graphic>
          <a:graphicData uri="http://schemas.openxmlformats.org/drawingml/2006/table">
            <a:tbl>
              <a:tblPr firstRow="1" bandRow="1"/>
              <a:tblGrid>
                <a:gridCol w="3094245"/>
                <a:gridCol w="1160342"/>
                <a:gridCol w="1160342"/>
                <a:gridCol w="1450427"/>
                <a:gridCol w="1547122"/>
              </a:tblGrid>
              <a:tr h="320040">
                <a:tc>
                  <a:txBody>
                    <a:bodyPr wrap="square"/>
                    <a:lstStyle/>
                    <a:p>
                      <a:pPr algn="l"/>
                      <a:r>
                        <a:rPr sz="1150" b="1">
                          <a:solidFill>
                            <a:srgbClr val="FFFFFF"/>
                          </a:solidFill>
                        </a:rPr>
                        <a:t>Best answer under the loss, validation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DEM error</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Quiet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Flare-core 94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Flare-core emission</a:t>
                      </a:r>
                    </a:p>
                  </a:txBody>
                  <a:tcPr marL="54864" marR="54864" marT="27432" marB="27432" anchor="ctr">
                    <a:lnL w="0">
                      <a:noFill/>
                    </a:lnL>
                    <a:lnR w="0">
                      <a:noFill/>
                    </a:lnR>
                    <a:lnT w="0">
                      <a:noFill/>
                    </a:lnT>
                    <a:lnB w="6350">
                      <a:solidFill>
                        <a:srgbClr val="D9D3E3"/>
                      </a:solidFill>
                    </a:lnB>
                    <a:solidFill>
                      <a:srgbClr val="57068C"/>
                    </a:solidFill>
                  </a:tcPr>
                </a:tc>
              </a:tr>
              <a:tr h="320040">
                <a:tc>
                  <a:txBody>
                    <a:bodyPr wrap="square"/>
                    <a:lstStyle/>
                    <a:p>
                      <a:pPr algn="l"/>
                      <a:r>
                        <a:rPr sz="1150" b="1">
                          <a:solidFill>
                            <a:srgbClr val="333333"/>
                          </a:solidFill>
                        </a:rPr>
                        <a:t>Original (μ = 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36.9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0.076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30%</a:t>
                      </a:r>
                    </a:p>
                  </a:txBody>
                  <a:tcPr marL="54864" marR="54864" marT="27432" marB="27432" anchor="ctr">
                    <a:lnL w="0">
                      <a:noFill/>
                    </a:lnL>
                    <a:lnR w="0">
                      <a:noFill/>
                    </a:lnR>
                    <a:lnT w="0">
                      <a:noFill/>
                    </a:lnT>
                    <a:lnB w="6350">
                      <a:solidFill>
                        <a:srgbClr val="D9D3E3"/>
                      </a:solidFill>
                    </a:lnB>
                    <a:solidFill>
                      <a:srgbClr val="FFFFFF"/>
                    </a:solidFill>
                  </a:tcPr>
                </a:tc>
              </a:tr>
              <a:tr h="320040">
                <a:tc>
                  <a:txBody>
                    <a:bodyPr wrap="square"/>
                    <a:lstStyle/>
                    <a:p>
                      <a:pPr algn="l"/>
                      <a:r>
                        <a:rPr sz="1150" b="1">
                          <a:solidFill>
                            <a:srgbClr val="333333"/>
                          </a:solidFill>
                        </a:rPr>
                        <a:t>μ = 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0.037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90%</a:t>
                      </a:r>
                    </a:p>
                  </a:txBody>
                  <a:tcPr marL="54864" marR="54864" marT="27432" marB="27432" anchor="ctr">
                    <a:lnL w="0">
                      <a:noFill/>
                    </a:lnL>
                    <a:lnR w="0">
                      <a:noFill/>
                    </a:lnR>
                    <a:lnT w="0">
                      <a:noFill/>
                    </a:lnT>
                    <a:lnB w="6350">
                      <a:solidFill>
                        <a:srgbClr val="D9D3E3"/>
                      </a:solidFill>
                    </a:lnB>
                    <a:solidFill>
                      <a:srgbClr val="FFFFFF"/>
                    </a:solidFill>
                  </a:tcPr>
                </a:tc>
              </a:tr>
              <a:tr h="320040">
                <a:tc>
                  <a:txBody>
                    <a:bodyPr wrap="square"/>
                    <a:lstStyle/>
                    <a:p>
                      <a:pPr algn="l"/>
                      <a:r>
                        <a:rPr sz="1150" b="1">
                          <a:solidFill>
                            <a:srgbClr val="333333"/>
                          </a:solidFill>
                        </a:rPr>
                        <a:t>μ = 30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97%</a:t>
                      </a:r>
                    </a:p>
                  </a:txBody>
                  <a:tcPr marL="54864" marR="54864" marT="27432" marB="27432" anchor="ctr">
                    <a:lnL w="0">
                      <a:noFill/>
                    </a:lnL>
                    <a:lnR w="0">
                      <a:noFill/>
                    </a:lnR>
                    <a:lnT w="0">
                      <a:noFill/>
                    </a:lnT>
                    <a:lnB w="6350">
                      <a:solidFill>
                        <a:srgbClr val="D9D3E3"/>
                      </a:solidFill>
                    </a:lnB>
                    <a:solidFill>
                      <a:srgbClr val="FFFFFF"/>
                    </a:solidFill>
                  </a:tcPr>
                </a:tc>
              </a:tr>
              <a:tr h="320040">
                <a:tc>
                  <a:txBody>
                    <a:bodyPr wrap="square"/>
                    <a:lstStyle/>
                    <a:p>
                      <a:pPr algn="l"/>
                      <a:r>
                        <a:rPr sz="1150" b="1">
                          <a:solidFill>
                            <a:srgbClr val="333333"/>
                          </a:solidFill>
                        </a:rPr>
                        <a:t>μ = 100</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2.32</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0.041</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93%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100%</a:t>
                      </a:r>
                    </a:p>
                  </a:txBody>
                  <a:tcPr marL="54864" marR="54864" marT="27432" marB="27432" anchor="ctr">
                    <a:lnL w="0">
                      <a:noFill/>
                    </a:lnL>
                    <a:lnR w="0">
                      <a:noFill/>
                    </a:lnR>
                    <a:lnT w="0">
                      <a:noFill/>
                    </a:lnT>
                    <a:lnB w="6350">
                      <a:solidFill>
                        <a:srgbClr val="D9D3E3"/>
                      </a:solidFill>
                    </a:lnB>
                    <a:solidFill>
                      <a:srgbClr val="E3DFE9"/>
                    </a:solidFill>
                  </a:tcPr>
                </a:tc>
              </a:tr>
              <a:tr h="320040">
                <a:tc>
                  <a:txBody>
                    <a:bodyPr wrap="square"/>
                    <a:lstStyle/>
                    <a:p>
                      <a:pPr algn="l"/>
                      <a:r>
                        <a:rPr sz="1150" b="1">
                          <a:solidFill>
                            <a:srgbClr val="333333"/>
                          </a:solidFill>
                        </a:rPr>
                        <a:t>μ = 300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1.80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0.048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101%</a:t>
                      </a:r>
                    </a:p>
                  </a:txBody>
                  <a:tcPr marL="54864" marR="54864" marT="27432" marB="27432" anchor="ctr">
                    <a:lnL w="0">
                      <a:noFill/>
                    </a:lnL>
                    <a:lnR w="0">
                      <a:noFill/>
                    </a:lnR>
                    <a:lnT w="0">
                      <a:noFill/>
                    </a:lnT>
                    <a:lnB w="6350">
                      <a:solidFill>
                        <a:srgbClr val="D9D3E3"/>
                      </a:solidFill>
                    </a:lnB>
                    <a:solidFill>
                      <a:srgbClr val="FFFFFF"/>
                    </a:solidFill>
                  </a:tcPr>
                </a:tc>
              </a:tr>
              <a:tr h="320040">
                <a:tc>
                  <a:txBody>
                    <a:bodyPr wrap="square"/>
                    <a:lstStyle/>
                    <a:p>
                      <a:pPr algn="l"/>
                      <a:r>
                        <a:rPr sz="1150" b="1">
                          <a:solidFill>
                            <a:srgbClr val="333333"/>
                          </a:solidFill>
                        </a:rPr>
                        <a:t>Supervised model (a trained network)</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6.10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0.054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95%</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291840"/>
            <a:ext cx="8412480" cy="109728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If a network learned the loss perfectly, how close to the solver would it get? Solved per pixel, no network, on the validation split.</a:t>
            </a:r>
          </a:p>
          <a:p>
            <a:pPr algn="l" marL="182880" indent="-182880">
              <a:spcAft>
                <a:spcPts val="400"/>
              </a:spcAft>
              <a:buClr>
                <a:srgbClr val="333333"/>
              </a:buClr>
              <a:buChar char="•"/>
            </a:pPr>
            <a:r>
              <a:rPr sz="1200" b="0" i="0">
                <a:solidFill>
                  <a:srgbClr val="333333"/>
                </a:solidFill>
              </a:rPr>
              <a:t>Stiffer helps bright pixels and costs faint ones: at faint pixels the band is mostly noise.</a:t>
            </a:r>
          </a:p>
          <a:p>
            <a:pPr algn="l" marL="182880" indent="-182880">
              <a:spcAft>
                <a:spcPts val="400"/>
              </a:spcAft>
              <a:buClr>
                <a:srgbClr val="333333"/>
              </a:buClr>
              <a:buChar char="•"/>
            </a:pPr>
            <a:r>
              <a:rPr sz="1200" b="1" i="0">
                <a:solidFill>
                  <a:srgbClr val="57068C"/>
                </a:solidFill>
              </a:rPr>
              <a:t>μ = 100: most of the gain, Quiet error still below the supervised model's.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the stiff band, longer training is what helps</a:t>
            </a:r>
          </a:p>
        </p:txBody>
      </p:sp>
      <p:graphicFrame>
        <p:nvGraphicFramePr>
          <p:cNvPr id="3" name="Table 2"/>
          <p:cNvGraphicFramePr>
            <a:graphicFrameLocks noGrp="1"/>
          </p:cNvGraphicFramePr>
          <p:nvPr/>
        </p:nvGraphicFramePr>
        <p:xfrm>
          <a:off x="365760" y="868680"/>
          <a:ext cx="8412476" cy="2651760"/>
        </p:xfrm>
        <a:graphic>
          <a:graphicData uri="http://schemas.openxmlformats.org/drawingml/2006/table">
            <a:tbl>
              <a:tblPr firstRow="1" bandRow="1"/>
              <a:tblGrid>
                <a:gridCol w="2341618"/>
                <a:gridCol w="780539"/>
                <a:gridCol w="693812"/>
                <a:gridCol w="780539"/>
                <a:gridCol w="780539"/>
                <a:gridCol w="1040719"/>
                <a:gridCol w="1127445"/>
                <a:gridCol w="867265"/>
              </a:tblGrid>
              <a:tr h="265176">
                <a:tc>
                  <a:txBody>
                    <a:bodyPr wrap="square"/>
                    <a:lstStyle/>
                    <a:p>
                      <a:pPr algn="l"/>
                      <a:r>
                        <a:rPr sz="1000" b="1">
                          <a:solidFill>
                            <a:srgbClr val="FFFFFF"/>
                          </a:solidFill>
                        </a:rPr>
                        <a:t>BP run, band ×100</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Median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Quiet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Flare-core EM</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Flare-core 94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Validation</a:t>
                      </a:r>
                    </a:p>
                  </a:txBody>
                  <a:tcPr marL="54864" marR="54864" marT="27432" marB="27432" anchor="ctr">
                    <a:lnL w="0">
                      <a:noFill/>
                    </a:lnL>
                    <a:lnR w="0">
                      <a:noFill/>
                    </a:lnR>
                    <a:lnT w="0">
                      <a:noFill/>
                    </a:lnT>
                    <a:lnB w="6350">
                      <a:solidFill>
                        <a:srgbClr val="D9D3E3"/>
                      </a:solidFill>
                    </a:lnB>
                    <a:solidFill>
                      <a:srgbClr val="57068C"/>
                    </a:solidFill>
                  </a:tcPr>
                </a:tc>
              </a:tr>
              <a:tr h="265176">
                <a:tc>
                  <a:txBody>
                    <a:bodyPr wrap="square"/>
                    <a:lstStyle/>
                    <a:p>
                      <a:pPr algn="l"/>
                      <a:r>
                        <a:rPr sz="1000" b="1">
                          <a:solidFill>
                            <a:srgbClr val="333333"/>
                          </a:solidFill>
                        </a:rPr>
                        <a:t>Original loss, base (reference)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4.56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0.023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39.7</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40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2.37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0.062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44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68%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20.1</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120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2.00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0.041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44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75%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17.8</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240 epochs from scratch</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1.74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591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73%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14.0</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120 + 120 epochs, continued</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1.75</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0.036</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103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0.032</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93%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77%</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15.8</a:t>
                      </a:r>
                    </a:p>
                  </a:txBody>
                  <a:tcPr marL="54864" marR="54864" marT="27432" marB="27432" anchor="ctr">
                    <a:lnL w="0">
                      <a:noFill/>
                    </a:lnL>
                    <a:lnR w="0">
                      <a:noFill/>
                    </a:lnR>
                    <a:lnT w="0">
                      <a:noFill/>
                    </a:lnT>
                    <a:lnB w="6350">
                      <a:solidFill>
                        <a:srgbClr val="D9D3E3"/>
                      </a:solidFill>
                    </a:lnB>
                    <a:solidFill>
                      <a:srgbClr val="E3DFE9"/>
                    </a:solidFill>
                  </a:tcPr>
                </a:tc>
              </a:tr>
              <a:tr h="265176">
                <a:tc>
                  <a:txBody>
                    <a:bodyPr wrap="square"/>
                    <a:lstStyle/>
                    <a:p>
                      <a:pPr algn="l"/>
                      <a:r>
                        <a:rPr sz="1000" b="1">
                          <a:solidFill>
                            <a:srgbClr val="333333"/>
                          </a:solidFill>
                        </a:rPr>
                        <a:t>+ oversample flare cores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2.50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0.071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39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63%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21.1</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10M parameters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35.7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0.041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1.7M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0.070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74%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680 wide (1.43M), 120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897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21.7M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115%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78%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4,170</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Supervised model</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0.112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6.10</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611880"/>
            <a:ext cx="8412480" cy="822960"/>
          </a:xfrm>
          <a:prstGeom prst="rect">
            <a:avLst/>
          </a:prstGeom>
          <a:noFill/>
        </p:spPr>
        <p:txBody>
          <a:bodyPr wrap="square" anchor="t" lIns="0" rIns="0" tIns="0" bIns="0">
            <a:spAutoFit/>
          </a:bodyPr>
          <a:lstStyle/>
          <a:p>
            <a:pPr algn="l" marL="182880" indent="-182880">
              <a:spcAft>
                <a:spcPts val="300"/>
              </a:spcAft>
              <a:buClr>
                <a:srgbClr val="333333"/>
              </a:buClr>
              <a:buChar char="•"/>
            </a:pPr>
            <a:r>
              <a:rPr sz="1150" b="0" i="0">
                <a:solidFill>
                  <a:srgbClr val="333333"/>
                </a:solidFill>
              </a:rPr>
              <a:t>The band alone halves DEM MSE; the network then sits far above its best answer (118% at flare cores), so training is the limit and longer training helps. 240 from scratch misfits rare pixels (AIA MSE 591); bigger models blow up.</a:t>
            </a:r>
          </a:p>
          <a:p>
            <a:pPr algn="l" marL="182880" indent="-182880">
              <a:spcAft>
                <a:spcPts val="300"/>
              </a:spcAft>
              <a:buClr>
                <a:srgbClr val="333333"/>
              </a:buClr>
              <a:buChar char="•"/>
            </a:pPr>
            <a:r>
              <a:rPr sz="1150" b="1" i="0">
                <a:solidFill>
                  <a:srgbClr val="57068C"/>
                </a:solidFill>
              </a:rPr>
              <a:t>Final BP model: band ×100, 120 epochs, then 120 more continued from that checkpoint.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now: 93% of the solver's emission, 77% of its 94 Å</a:t>
            </a:r>
          </a:p>
        </p:txBody>
      </p:sp>
      <p:graphicFrame>
        <p:nvGraphicFramePr>
          <p:cNvPr id="3" name="Table 2"/>
          <p:cNvGraphicFramePr>
            <a:graphicFrameLocks noGrp="1"/>
          </p:cNvGraphicFramePr>
          <p:nvPr/>
        </p:nvGraphicFramePr>
        <p:xfrm>
          <a:off x="365760" y="914400"/>
          <a:ext cx="4297677" cy="2304288"/>
        </p:xfrm>
        <a:graphic>
          <a:graphicData uri="http://schemas.openxmlformats.org/drawingml/2006/table">
            <a:tbl>
              <a:tblPr firstRow="1" bandRow="1"/>
              <a:tblGrid>
                <a:gridCol w="1818249"/>
                <a:gridCol w="578533"/>
                <a:gridCol w="578533"/>
                <a:gridCol w="743829"/>
                <a:gridCol w="578533"/>
              </a:tblGrid>
              <a:tr h="329184">
                <a:tc>
                  <a:txBody>
                    <a:bodyPr wrap="square"/>
                    <a:lstStyle/>
                    <a:p>
                      <a:pPr algn="l"/>
                      <a:r>
                        <a:rPr sz="1100" b="1">
                          <a:solidFill>
                            <a:srgbClr val="FFFFFF"/>
                          </a:solidFill>
                        </a:rPr>
                        <a:t>BP flare cores, shared test</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Old BP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New BP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Supervised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Solver</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100" b="1">
                          <a:solidFill>
                            <a:srgbClr val="333333"/>
                          </a:solidFill>
                        </a:rPr>
                        <a:t>Emission vs solver</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40%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94 Å reproduced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23%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77%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85%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131 Å reproduced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76%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101%</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Peak height vs solver</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23%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66%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Temperature shift (dex)</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−0.18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−0.01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0.00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0</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Curves with extra peaks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83%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383280"/>
            <a:ext cx="4297680" cy="1051560"/>
          </a:xfrm>
          <a:prstGeom prst="rect">
            <a:avLst/>
          </a:prstGeom>
          <a:noFill/>
        </p:spPr>
        <p:txBody>
          <a:bodyPr wrap="square" anchor="t" lIns="0" rIns="0" tIns="0" bIns="0">
            <a:spAutoFit/>
          </a:bodyPr>
          <a:lstStyle/>
          <a:p>
            <a:pPr algn="l" marL="182880" indent="-182880">
              <a:spcAft>
                <a:spcPts val="400"/>
              </a:spcAft>
              <a:buClr>
                <a:srgbClr val="333333"/>
              </a:buClr>
              <a:buChar char="•"/>
            </a:pPr>
            <a:r>
              <a:rPr sz="1100" b="0" i="0">
                <a:solidFill>
                  <a:srgbClr val="333333"/>
                </a:solidFill>
              </a:rPr>
              <a:t>Spurious extra peaks were 42% of the old error; 3.5% now.</a:t>
            </a:r>
          </a:p>
          <a:p>
            <a:pPr algn="l" marL="182880" indent="-182880">
              <a:spcAft>
                <a:spcPts val="400"/>
              </a:spcAft>
              <a:buClr>
                <a:srgbClr val="333333"/>
              </a:buClr>
              <a:buChar char="•"/>
            </a:pPr>
            <a:r>
              <a:rPr sz="1100" b="0" i="0">
                <a:solidFill>
                  <a:srgbClr val="333333"/>
                </a:solidFill>
              </a:rPr>
              <a:t>It tracks the solver's peak height to ~100; above 3,000 it reaches 40%.</a:t>
            </a:r>
          </a:p>
        </p:txBody>
      </p:sp>
      <p:pic>
        <p:nvPicPr>
          <p:cNvPr id="5" name="Picture 4" descr="fig4_example_curves_bp.png"/>
          <p:cNvPicPr>
            <a:picLocks noChangeAspect="1"/>
          </p:cNvPicPr>
          <p:nvPr/>
        </p:nvPicPr>
        <p:blipFill>
          <a:blip r:embed="rId3"/>
          <a:stretch>
            <a:fillRect/>
          </a:stretch>
        </p:blipFill>
        <p:spPr>
          <a:xfrm>
            <a:off x="4709160" y="1226058"/>
            <a:ext cx="4069080" cy="2577084"/>
          </a:xfrm>
          <a:prstGeom prst="rect">
            <a:avLst/>
          </a:prstGeom>
        </p:spPr>
      </p:pic>
      <p:sp>
        <p:nvSpPr>
          <p:cNvPr id="6" name="TextBox 5"/>
          <p:cNvSpPr txBox="1"/>
          <p:nvPr/>
        </p:nvSpPr>
        <p:spPr>
          <a:xfrm>
            <a:off x="4709160" y="4114800"/>
            <a:ext cx="4069080" cy="274320"/>
          </a:xfrm>
          <a:prstGeom prst="rect">
            <a:avLst/>
          </a:prstGeom>
          <a:noFill/>
        </p:spPr>
        <p:txBody>
          <a:bodyPr wrap="square" anchor="t" lIns="0" rIns="0" tIns="0" bIns="0">
            <a:spAutoFit/>
          </a:bodyPr>
          <a:lstStyle/>
          <a:p>
            <a:pPr algn="l">
              <a:spcAft>
                <a:spcPts val="0"/>
              </a:spcAft>
            </a:pPr>
            <a:r>
              <a:rPr sz="950" b="0" i="1">
                <a:solidFill>
                  <a:srgbClr val="6B6B6B"/>
                </a:solidFill>
              </a:rPr>
              <a:t>New BP model at random flare cores (top rows), the same draw as two slides back.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remains: flare cores still set the BP DEM MSE</a:t>
            </a:r>
          </a:p>
        </p:txBody>
      </p:sp>
      <p:sp>
        <p:nvSpPr>
          <p:cNvPr id="3" name="TextBox 2"/>
          <p:cNvSpPr txBox="1"/>
          <p:nvPr/>
        </p:nvSpPr>
        <p:spPr>
          <a:xfrm>
            <a:off x="365760" y="914400"/>
            <a:ext cx="4114800" cy="3566160"/>
          </a:xfrm>
          <a:prstGeom prst="rect">
            <a:avLst/>
          </a:prstGeom>
          <a:noFill/>
        </p:spPr>
        <p:txBody>
          <a:bodyPr wrap="square" anchor="t" lIns="0" rIns="0" tIns="0" bIns="0">
            <a:spAutoFit/>
          </a:bodyPr>
          <a:lstStyle/>
          <a:p>
            <a:pPr algn="l" marL="182880" indent="-182880">
              <a:spcAft>
                <a:spcPts val="700"/>
              </a:spcAft>
              <a:buClr>
                <a:srgbClr val="333333"/>
              </a:buClr>
              <a:buChar char="•"/>
            </a:pPr>
            <a:r>
              <a:rPr sz="1150" b="0" i="0">
                <a:solidFill>
                  <a:srgbClr val="333333"/>
                </a:solidFill>
              </a:rPr>
              <a:t>Error vs supervised by brightness: 0.55 on the faintest pixels, 1.0 at 0.3–1×, 0.9 to 1.3 at 1–10×, 1.9 at 10–32×, 2.0 at flare cores (old model: 0.64, 1.8, 2 to 5, 18, 4.7).</a:t>
            </a:r>
          </a:p>
          <a:p>
            <a:pPr algn="l" marL="182880" indent="-182880">
              <a:spcAft>
                <a:spcPts val="700"/>
              </a:spcAft>
              <a:buClr>
                <a:srgbClr val="333333"/>
              </a:buClr>
              <a:buChar char="•"/>
            </a:pPr>
            <a:r>
              <a:rPr sz="1150" b="0" i="0">
                <a:solidFill>
                  <a:srgbClr val="333333"/>
                </a:solidFill>
              </a:rPr>
              <a:t>Flare cores: 94% of our BP error, and the DEM MSE gap (1.75 vs 0.91). 94 Å is at 77% of observed against the solver's 92%; every other channel is at 100%.</a:t>
            </a:r>
          </a:p>
          <a:p>
            <a:pPr algn="l" marL="182880" indent="-182880">
              <a:spcAft>
                <a:spcPts val="700"/>
              </a:spcAft>
              <a:buClr>
                <a:srgbClr val="333333"/>
              </a:buClr>
              <a:buChar char="•"/>
            </a:pPr>
            <a:r>
              <a:rPr sz="1150" b="0" i="0">
                <a:solidFill>
                  <a:srgbClr val="333333"/>
                </a:solidFill>
              </a:rPr>
              <a:t>Longer training keeps closing it; 240 epochs from scratch starts to misfit a few pixels' AIA. A third 120-epoch continuation is untested.</a:t>
            </a:r>
          </a:p>
          <a:p>
            <a:pPr algn="l" marL="182880" indent="-182880">
              <a:spcAft>
                <a:spcPts val="700"/>
              </a:spcAft>
              <a:buClr>
                <a:srgbClr val="333333"/>
              </a:buClr>
              <a:buChar char="•"/>
            </a:pPr>
            <a:r>
              <a:rPr sz="1150" b="1" i="0">
                <a:solidFill>
                  <a:srgbClr val="57068C"/>
                </a:solidFill>
              </a:rPr>
              <a:t>The BP loss was the limit; training is now the limit, and it still has room.</a:t>
            </a:r>
          </a:p>
        </p:txBody>
      </p:sp>
      <p:pic>
        <p:nvPicPr>
          <p:cNvPr id="4" name="Picture 3" descr="fig5_aia_fit_flare_cores_bp.png"/>
          <p:cNvPicPr>
            <a:picLocks noChangeAspect="1"/>
          </p:cNvPicPr>
          <p:nvPr/>
        </p:nvPicPr>
        <p:blipFill>
          <a:blip r:embed="rId3"/>
          <a:stretch>
            <a:fillRect/>
          </a:stretch>
        </p:blipFill>
        <p:spPr>
          <a:xfrm>
            <a:off x="4663440" y="889091"/>
            <a:ext cx="4114800" cy="3159578"/>
          </a:xfrm>
          <a:prstGeom prst="rect">
            <a:avLst/>
          </a:prstGeom>
        </p:spPr>
      </p:pic>
      <p:sp>
        <p:nvSpPr>
          <p:cNvPr id="5" name="TextBox 4"/>
          <p:cNvSpPr txBox="1"/>
          <p:nvPr/>
        </p:nvSpPr>
        <p:spPr>
          <a:xfrm>
            <a:off x="4663440" y="4114800"/>
            <a:ext cx="4114800" cy="274320"/>
          </a:xfrm>
          <a:prstGeom prst="rect">
            <a:avLst/>
          </a:prstGeom>
          <a:noFill/>
        </p:spPr>
        <p:txBody>
          <a:bodyPr wrap="square" anchor="t" lIns="0" rIns="0" tIns="0" bIns="0">
            <a:spAutoFit/>
          </a:bodyPr>
          <a:lstStyle/>
          <a:p>
            <a:pPr algn="l">
              <a:spcAft>
                <a:spcPts val="0"/>
              </a:spcAft>
            </a:pPr>
            <a:r>
              <a:rPr sz="950" b="0" i="1">
                <a:solidFill>
                  <a:srgbClr val="6B6B6B"/>
                </a:solidFill>
              </a:rPr>
              <a:t>New BP model: reconstructed over observed AIA at flare cores.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8</a:t>
            </a:r>
            <a:br/>
            <a:r>
              <a:rPr sz="4100"/>
              <a:t>Next steps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learned, and what to decide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we learned</a:t>
            </a:r>
          </a:p>
        </p:txBody>
      </p:sp>
      <p:sp>
        <p:nvSpPr>
          <p:cNvPr id="3" name="Rounded Rectangle 2"/>
          <p:cNvSpPr/>
          <p:nvPr/>
        </p:nvSpPr>
        <p:spPr>
          <a:xfrm>
            <a:off x="36576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1. Train on the objective</a:t>
            </a:r>
          </a:p>
        </p:txBody>
      </p:sp>
      <p:sp>
        <p:nvSpPr>
          <p:cNvPr id="5" name="TextBox 4"/>
          <p:cNvSpPr txBox="1"/>
          <p:nvPr/>
        </p:nvSpPr>
        <p:spPr>
          <a:xfrm>
            <a:off x="53035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solver's own objective reproduces its DEMs without labels.</a:t>
            </a:r>
          </a:p>
        </p:txBody>
      </p:sp>
      <p:sp>
        <p:nvSpPr>
          <p:cNvPr id="6" name="Rounded Rectangle 5"/>
          <p:cNvSpPr/>
          <p:nvPr/>
        </p:nvSpPr>
        <p:spPr>
          <a:xfrm>
            <a:off x="323088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9547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2. Check the loss first</a:t>
            </a:r>
          </a:p>
        </p:txBody>
      </p:sp>
      <p:sp>
        <p:nvSpPr>
          <p:cNvPr id="8" name="TextBox 7"/>
          <p:cNvSpPr txBox="1"/>
          <p:nvPr/>
        </p:nvSpPr>
        <p:spPr>
          <a:xfrm>
            <a:off x="339547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BP network sat at its loss's optimum, and that optimum dropped the hot plasma. No training change could fix that; a stiffer band did.</a:t>
            </a:r>
          </a:p>
        </p:txBody>
      </p:sp>
      <p:sp>
        <p:nvSpPr>
          <p:cNvPr id="9" name="Rounded Rectangle 8"/>
          <p:cNvSpPr/>
          <p:nvPr/>
        </p:nvSpPr>
        <p:spPr>
          <a:xfrm>
            <a:off x="609600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059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3. Simple scales</a:t>
            </a:r>
          </a:p>
        </p:txBody>
      </p:sp>
      <p:sp>
        <p:nvSpPr>
          <p:cNvPr id="11" name="TextBox 10"/>
          <p:cNvSpPr txBox="1"/>
          <p:nvPr/>
        </p:nvSpPr>
        <p:spPr>
          <a:xfrm>
            <a:off x="626059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A centre-pixel MLP; the patch CNN never won on unseen days.</a:t>
            </a:r>
          </a:p>
        </p:txBody>
      </p:sp>
      <p:sp>
        <p:nvSpPr>
          <p:cNvPr id="12" name="Rounded Rectangle 11"/>
          <p:cNvSpPr/>
          <p:nvPr/>
        </p:nvSpPr>
        <p:spPr>
          <a:xfrm>
            <a:off x="36576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4. Size has a ceiling</a:t>
            </a:r>
          </a:p>
        </p:txBody>
      </p:sp>
      <p:sp>
        <p:nvSpPr>
          <p:cNvPr id="14" name="TextBox 13"/>
          <p:cNvSpPr txBox="1"/>
          <p:nvPr/>
        </p:nvSpPr>
        <p:spPr>
          <a:xfrm>
            <a:off x="53035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Fresh pixels pay off up to width 336; 1.43M and 10M models blow up on a few rare pixels, on both tracks.</a:t>
            </a:r>
          </a:p>
        </p:txBody>
      </p:sp>
      <p:sp>
        <p:nvSpPr>
          <p:cNvPr id="15" name="Rounded Rectangle 14"/>
          <p:cNvSpPr/>
          <p:nvPr/>
        </p:nvSpPr>
        <p:spPr>
          <a:xfrm>
            <a:off x="323088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547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5. Heavy tails</a:t>
            </a:r>
          </a:p>
        </p:txBody>
      </p:sp>
      <p:sp>
        <p:nvSpPr>
          <p:cNvPr id="17" name="TextBox 16"/>
          <p:cNvSpPr txBox="1"/>
          <p:nvPr/>
        </p:nvSpPr>
        <p:spPr>
          <a:xfrm>
            <a:off x="339547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Report medians and percentiles: a handful of pixels can own the mean, or blow up.</a:t>
            </a:r>
          </a:p>
        </p:txBody>
      </p:sp>
      <p:sp>
        <p:nvSpPr>
          <p:cNvPr id="18" name="Rounded Rectangle 17"/>
          <p:cNvSpPr/>
          <p:nvPr/>
        </p:nvSpPr>
        <p:spPr>
          <a:xfrm>
            <a:off x="609600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059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6. Input encoding</a:t>
            </a:r>
          </a:p>
        </p:txBody>
      </p:sp>
      <p:sp>
        <p:nvSpPr>
          <p:cNvPr id="20" name="TextBox 19"/>
          <p:cNvSpPr txBox="1"/>
          <p:nvPr/>
        </p:nvSpPr>
        <p:spPr>
          <a:xfrm>
            <a:off x="626059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 + Fourier features for both tracks: lifts ElasticNet past the supervised model and beats log1p on the stiff BP band.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Next</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Keep training BP</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The stiff-band model still improves with epochs; a third 120-epoch continuation is untested. Watch the AIA fit on rare pixels.</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Validate on every pixel</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sampled validation set missed the blow-ups; score all pixels.</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Direct DEM output</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Predict the 18 bins instead of 54 basis weights (deferred).</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Uncertainty, AIA + XRT</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distribution over DEMs from the noisy re-solves; XRT for the hot plasma.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For discussion</a:t>
            </a:r>
          </a:p>
        </p:txBody>
      </p:sp>
      <p:sp>
        <p:nvSpPr>
          <p:cNvPr id="3" name="TextBox 2"/>
          <p:cNvSpPr txBox="1"/>
          <p:nvPr/>
        </p:nvSpPr>
        <p:spPr>
          <a:xfrm>
            <a:off x="365760" y="1005840"/>
            <a:ext cx="8412480" cy="3383280"/>
          </a:xfrm>
          <a:prstGeom prst="rect">
            <a:avLst/>
          </a:prstGeom>
          <a:noFill/>
        </p:spPr>
        <p:txBody>
          <a:bodyPr wrap="square" anchor="t" lIns="0" rIns="0" tIns="0" bIns="0">
            <a:spAutoFit/>
          </a:bodyPr>
          <a:lstStyle/>
          <a:p>
            <a:pPr algn="l" marL="182880" indent="-182880">
              <a:spcAft>
                <a:spcPts val="1400"/>
              </a:spcAft>
              <a:buClr>
                <a:srgbClr val="333333"/>
              </a:buClr>
              <a:buChar char="•"/>
            </a:pPr>
            <a:r>
              <a:rPr sz="1400" b="0" i="0">
                <a:solidFill>
                  <a:srgbClr val="333333"/>
                </a:solidFill>
              </a:rPr>
              <a:t>Which metric should lead the paper? DEM MSE is set by 0.01% of pixels; up to the 99th percentile we are level with or ahead of the supervised model on BP.</a:t>
            </a:r>
          </a:p>
          <a:p>
            <a:pPr algn="l" marL="182880" indent="-182880">
              <a:spcAft>
                <a:spcPts val="1400"/>
              </a:spcAft>
              <a:buClr>
                <a:srgbClr val="333333"/>
              </a:buClr>
              <a:buChar char="•"/>
            </a:pPr>
            <a:r>
              <a:rPr sz="1400" b="0" i="0">
                <a:solidFill>
                  <a:srgbClr val="333333"/>
                </a:solidFill>
              </a:rPr>
              <a:t>The band weight is chosen on validation with solver DEMs, as any loss weight would be. Does that sit well with the label-free claim?</a:t>
            </a:r>
          </a:p>
          <a:p>
            <a:pPr algn="l" marL="182880" indent="-182880">
              <a:spcAft>
                <a:spcPts val="1400"/>
              </a:spcAft>
              <a:buClr>
                <a:srgbClr val="333333"/>
              </a:buClr>
              <a:buChar char="•"/>
            </a:pPr>
            <a:r>
              <a:rPr sz="1400" b="0" i="0">
                <a:solidFill>
                  <a:srgbClr val="333333"/>
                </a:solidFill>
              </a:rPr>
              <a:t>Train the BP model longer (a third continuation), or freeze here at 1.9× the supervised DEM MSE?</a:t>
            </a:r>
          </a:p>
          <a:p>
            <a:pPr algn="l" marL="182880" indent="-182880">
              <a:spcAft>
                <a:spcPts val="1400"/>
              </a:spcAft>
              <a:buClr>
                <a:srgbClr val="333333"/>
              </a:buClr>
              <a:buChar char="•"/>
            </a:pPr>
            <a:r>
              <a:rPr sz="1400" b="0" i="0">
                <a:solidFill>
                  <a:srgbClr val="333333"/>
                </a:solidFill>
              </a:rPr>
              <a:t>Is AIA + XRT in scope for this paper?</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