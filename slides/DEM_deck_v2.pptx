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BP multi-peak recall by model size</a:t>
            </a:r>
          </a:p>
        </c:rich>
      </c:tx>
      <c:layout/>
      <c:overlay val="0"/>
    </c:title>
    <c:autoTitleDeleted val="0"/>
    <c:plotArea>
      <c:lineChart>
        <c:grouping val="standard"/>
        <c:varyColors val="0"/>
        <c:ser>
          <c:idx val="0"/>
          <c:order val="0"/>
          <c:tx>
            <c:strRef>
              <c:f>Sheet1!$B$1</c:f>
              <c:strCache>
                <c:ptCount val="1"/>
                <c:pt idx="0">
                  <c:v>Multi-peak recall (%)</c:v>
                </c:pt>
              </c:strCache>
            </c:strRef>
          </c:tx>
          <c:spPr>
            <a:ln w="28575">
              <a:solidFill>
                <a:srgbClr val="57068C"/>
              </a:solidFill>
            </a:ln>
          </c:spPr>
          <c:marker>
            <c:spPr>
              <a:solidFill>
                <a:srgbClr val="57068C"/>
              </a:solidFill>
              <a:ln>
                <a:solidFill>
                  <a:srgbClr val="57068C"/>
                </a:solidFill>
              </a:ln>
            </c:spPr>
          </c:marker>
          <c:cat>
            <c:strRef>
              <c:f>Sheet1!$A$2:$A$9</c:f>
              <c:strCache>
                <c:ptCount val="8"/>
                <c:pt idx="0">
                  <c:v>10k</c:v>
                </c:pt>
                <c:pt idx="1">
                  <c:v>20k</c:v>
                </c:pt>
                <c:pt idx="2">
                  <c:v>42k</c:v>
                </c:pt>
                <c:pt idx="3">
                  <c:v>87k</c:v>
                </c:pt>
                <c:pt idx="4">
                  <c:v>176k</c:v>
                </c:pt>
                <c:pt idx="5">
                  <c:v>360k</c:v>
                </c:pt>
                <c:pt idx="6">
                  <c:v>722k</c:v>
                </c:pt>
                <c:pt idx="7">
                  <c:v>1.43M</c:v>
                </c:pt>
              </c:strCache>
            </c:strRef>
          </c:cat>
          <c:val>
            <c:numRef>
              <c:f>Sheet1!$B$2:$B$9</c:f>
              <c:numCache>
                <c:formatCode>General</c:formatCode>
                <c:ptCount val="8"/>
                <c:pt idx="0">
                  <c:v>21.4</c:v>
                </c:pt>
                <c:pt idx="1">
                  <c:v>7.6</c:v>
                </c:pt>
                <c:pt idx="2">
                  <c:v>8.9</c:v>
                </c:pt>
                <c:pt idx="3">
                  <c:v>8.1</c:v>
                </c:pt>
                <c:pt idx="4">
                  <c:v>26.3</c:v>
                </c:pt>
                <c:pt idx="5">
                  <c:v>27.1</c:v>
                </c:pt>
                <c:pt idx="6">
                  <c:v>27.7</c:v>
                </c:pt>
                <c:pt idx="7">
                  <c:v>29.5</c:v>
                </c:pt>
              </c:numCache>
            </c:numRef>
          </c:val>
          <c:smooth val="0"/>
        </c:ser>
        <c:dLbls>
          <c:numFmt formatCode="0&quot;%&quot;"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35.0"/>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four things to remember. Numbers are from the fresh-pixel models on the shared test set: 153 days never seen in training.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run before October seeded each block's pixel draw by the block alone, so it reused the same 30M pixels every epoch. All results from here on use fresh pixels every epoch, as described. The fixed-sample runs scored better: validation loss BP 2.156 against 2.237, ElasticNet 0.0582 against 0.0689, far beyond the 0.2 to 0.4% run-to-run spread; only ElasticNet's flare cores improved with fresh pixels.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a 176k MLP on log1p inputs does well.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fourth independent look at CNN against MLP: the ablation, leave-one-out, the 30-epoch run, and converged at scale. None found a CNN advantage on unseen days.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Average metrics alone would have picked a much smaller model: AIA MAE kept improving as recall collapsed. The 10k model fires at about the base rate, which is guessing, not detection. An earlier run up to 11M parameters found no further gain.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Label-free trains on the observation through R; supervised trains on solver DEMs. So supervised wins the DEM-against-solver metric, and label-free wins reconstruction of the observation on most counts. EM error is the total-emission error; W1 is in dex.</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Per-pixel error is the squared error summed over the 18 bins. BP percentiles, label-free against supervised: median 0.030 vs 0.112, p90 5.1 vs 2.0, p99 117 vs 27.</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Peaks are counted on the zero-padded curve with prominence 0.15 times the maximum, over the full test set. The fixed-sample model had the same recall (25%) at lower precision (46%).</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ElasticNet flare cores are milder: 73% of the solver's emission, 40% multi-peaked. The fixed-sample BP model was less extreme, at 41% of the emission.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supervised model's sqrt plus Fourier-feature input made flare cores worse, consistent with a training problem rather than an input-representation one.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In one slide</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No labels needed</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network trained on the solver's own objective reproduces its DEMs. Solver DEMs are used only to evaluate.</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Small is enough</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176k-parameter MLP on one pixel's 6 intensities: one forward pass per pixel, no neighbourhood.</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Typical pixels: closer to BP</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Median pixel error 0.030 vs the supervised model's 0.112, and better AIA reconstruction (MSE, both tracks).</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 the open problem</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0.01% of pixels, ~90% of the DEM error. There our model misses the hot channels: a training problem.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train, and on what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fresh random pixels from each of the 58,688 blocks(917*64), for 40 epochs.</a:t>
            </a:r>
          </a:p>
          <a:p>
            <a:pPr algn="l" marL="182880" indent="-182880">
              <a:spcAft>
                <a:spcPts val="700"/>
              </a:spcAft>
              <a:buClr>
                <a:srgbClr val="333333"/>
              </a:buClr>
              <a:buChar char="•"/>
            </a:pPr>
            <a:r>
              <a:rPr sz="1250" b="0" i="0">
                <a:solidFill>
                  <a:srgbClr val="333333"/>
                </a:solidFill>
              </a:rPr>
              <a:t>Earlier runs reused one fixed ~30M-pixel sample (a sampler bug) and scored better on validation (BP 4%, ElasticNet 18%).</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loss gives BP's DEMs?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network, on four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Scaling to the full dataset</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broke at full scale, and how we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log1p on the input only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914400"/>
            <a:ext cx="5120640" cy="3474720"/>
          </a:xfrm>
          <a:prstGeom prst="rect">
            <a:avLst/>
          </a:prstGeom>
          <a:noFill/>
        </p:spPr>
        <p:txBody>
          <a:bodyPr wrap="square" anchor="t" lIns="0" rIns="0" tIns="0" bIns="0">
            <a:spAutoFit/>
          </a:bodyPr>
          <a:lstStyle/>
          <a:p>
            <a:pPr algn="l" marL="182880" indent="-182880">
              <a:spcAft>
                <a:spcPts val="900"/>
              </a:spcAft>
              <a:buClr>
                <a:srgbClr val="333333"/>
              </a:buClr>
              <a:buChar char="•"/>
            </a:pPr>
            <a:r>
              <a:rPr sz="1200" b="0" i="0">
                <a:solidFill>
                  <a:srgbClr val="333333"/>
                </a:solidFill>
              </a:rPr>
              <a:t>153 test days, never seen in training; each scored on random quarters of the image against 5 solver targets (the clean solve and 4 noisy re-solves).</a:t>
            </a:r>
          </a:p>
          <a:p>
            <a:pPr algn="l" marL="182880" indent="-182880">
              <a:spcAft>
                <a:spcPts val="900"/>
              </a:spcAft>
              <a:buClr>
                <a:srgbClr val="333333"/>
              </a:buClr>
              <a:buChar char="•"/>
            </a:pPr>
            <a:r>
              <a:rPr sz="1200" b="0" i="0">
                <a:solidFill>
                  <a:srgbClr val="333333"/>
                </a:solidFill>
              </a:rPr>
              <a:t>Bright = any channel above its top-5% cutoff (~10% of pixels); the rest is Quiet.</a:t>
            </a:r>
          </a:p>
          <a:p>
            <a:pPr algn="l" marL="182880" indent="-182880">
              <a:spcAft>
                <a:spcPts val="900"/>
              </a:spcAft>
              <a:buClr>
                <a:srgbClr val="333333"/>
              </a:buClr>
              <a:buChar char="•"/>
            </a:pPr>
            <a:r>
              <a:rPr sz="1200" b="0" i="0">
                <a:solidFill>
                  <a:srgbClr val="333333"/>
                </a:solidFill>
              </a:rPr>
              <a:t>DEM against the solver: MSE, total-emission error, W1 (temperature-shape distance). AIA reconstruction against the observation: MAE, MSE.</a:t>
            </a:r>
          </a:p>
          <a:p>
            <a:pPr algn="l" marL="182880" indent="-182880">
              <a:spcAft>
                <a:spcPts val="900"/>
              </a:spcAft>
              <a:buClr>
                <a:srgbClr val="333333"/>
              </a:buClr>
              <a:buChar char="•"/>
            </a:pPr>
            <a:r>
              <a:rPr sz="1200" b="0" i="0">
                <a:solidFill>
                  <a:srgbClr val="333333"/>
                </a:solidFill>
              </a:rPr>
              <a:t>We also report medians and percentiles: the error is extremely heavy-tailed (one pixel in 5 million once made up 94% of a model's mean loss).</a:t>
            </a:r>
          </a:p>
        </p:txBody>
      </p:sp>
      <p:sp>
        <p:nvSpPr>
          <p:cNvPr id="4" name="Rectangle 3"/>
          <p:cNvSpPr/>
          <p:nvPr/>
        </p:nvSpPr>
        <p:spPr>
          <a:xfrm>
            <a:off x="580644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6188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1733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7278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2823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39128"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94576"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5002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0547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6092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1636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7181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2726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6188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823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912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9457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5002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0547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6092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636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71816"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27264"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8271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644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6188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17336"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72784"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823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3912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9457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002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0547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6092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16368"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181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82712"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38160"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80644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961888"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7278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2823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368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3912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9457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05002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0547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6092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1636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2726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8271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38160"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806440"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6188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1733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7278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823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73912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94576"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5002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20547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36092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16368"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67181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827264"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98271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13816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644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96188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1733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27278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2823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58368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73912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89457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5002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0547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6092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16368"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7181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2726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8271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138160"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644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96188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117336"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27278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2823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73912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9457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5002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0547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6092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1636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67181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82726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98271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13816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80644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6188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11733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72784"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28232"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58368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739128"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89457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05002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0547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36092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51636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7181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2726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98271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38160"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80644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961888"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11733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272784"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42823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58368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3912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9457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5002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20547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36092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51636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7181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82726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982712"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813816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580644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961888"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11733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6272784"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642823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58368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73912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89457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05002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205472"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6092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51636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671816"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782726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798271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13816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5806440"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961888"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11733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27278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42823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58368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673912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689457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05002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20547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736092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751636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671816"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827264"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98271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813816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80644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596188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6117336"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27278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2823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58368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73912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689457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05002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20547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36092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751636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767181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782726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7982712"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813816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580644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596188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11733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27278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642823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658368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673912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89457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7050024" y="282549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720547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36092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51636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7181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2726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98271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3816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580644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96188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611733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627278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642823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658368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6739128"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6894576"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705002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720547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736092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751636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767181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782726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798271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813816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80644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596188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611733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627278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642823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583680"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73912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6894576"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705002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720547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736092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751636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767181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782726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7982712"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13816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80644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96188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611733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627278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6428232"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658368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73912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689457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705002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20547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6092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751636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767181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782726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98271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813816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806440" y="3520440"/>
            <a:ext cx="2487168" cy="822960"/>
          </a:xfrm>
          <a:prstGeom prst="rect">
            <a:avLst/>
          </a:prstGeom>
          <a:noFill/>
        </p:spPr>
        <p:txBody>
          <a:bodyPr wrap="square" anchor="t" lIns="0" rIns="0" tIns="0" bIns="0">
            <a:spAutoFit/>
          </a:bodyPr>
          <a:lstStyle/>
          <a:p>
            <a:pPr algn="l">
              <a:spcAft>
                <a:spcPts val="600"/>
              </a:spcAft>
            </a:pPr>
            <a:r>
              <a:rPr sz="950" b="1" i="0">
                <a:solidFill>
                  <a:srgbClr val="57068C"/>
                </a:solidFill>
              </a:rPr>
              <a:t>One test day: </a:t>
            </a:r>
            <a:r>
              <a:rPr sz="950" b="0" i="0">
                <a:solidFill>
                  <a:srgbClr val="333333"/>
                </a:solidFill>
              </a:rPr>
              <a:t>2048² DEM image = 256 blocks of 128². One target is scored on its own random 64 (purple). × 5 targets: the clean solve + 4 noisy re-solves.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Experiments at scale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CNN or MLP, and how big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matched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~1.5M parameters each; scored on the 153 test days.</a:t>
            </a:r>
          </a:p>
        </p:txBody>
      </p:sp>
      <p:graphicFrame>
        <p:nvGraphicFramePr>
          <p:cNvPr id="4" name="Table 3"/>
          <p:cNvGraphicFramePr>
            <a:graphicFrameLocks noGrp="1"/>
          </p:cNvGraphicFramePr>
          <p:nvPr/>
        </p:nvGraphicFramePr>
        <p:xfrm>
          <a:off x="365760" y="1417320"/>
          <a:ext cx="8412480" cy="1316736"/>
        </p:xfrm>
        <a:graphic>
          <a:graphicData uri="http://schemas.openxmlformats.org/drawingml/2006/table">
            <a:tbl>
              <a:tblPr firstRow="1" bandRow="1"/>
              <a:tblGrid>
                <a:gridCol w="2804160"/>
                <a:gridCol w="1402080"/>
                <a:gridCol w="1402080"/>
                <a:gridCol w="1402080"/>
                <a:gridCol w="1402080"/>
              </a:tblGrid>
              <a:tr h="329184">
                <a:tc>
                  <a:txBody>
                    <a:bodyPr wrap="square"/>
                    <a:lstStyle/>
                    <a:p>
                      <a:pPr algn="l"/>
                      <a:r>
                        <a:rPr sz="115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CNN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CNN</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0">
                          <a:solidFill>
                            <a:srgbClr val="333333"/>
                          </a:solidFill>
                        </a:rPr>
                        <a:t>Sparsity (BP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1.96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3.61</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Training objective (val)</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2.145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2.241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1.850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1.858</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4.84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4.61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4.75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288036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
        <p:nvSpPr>
          <p:cNvPr id="6" name="TextBox 5"/>
          <p:cNvSpPr txBox="1"/>
          <p:nvPr/>
        </p:nvSpPr>
        <p:spPr>
          <a:xfrm>
            <a:off x="365760" y="329184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Shown: earlier fixed-sample runs (ENet then used α = 1). The fresh-pixel rerun replaces them.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176k parameters are enough</a:t>
            </a:r>
          </a:p>
        </p:txBody>
      </p:sp>
      <p:graphicFrame>
        <p:nvGraphicFramePr>
          <p:cNvPr id="3" name="Chart 2"/>
          <p:cNvGraphicFramePr>
            <a:graphicFrameLocks noGrp="1"/>
          </p:cNvGraphicFramePr>
          <p:nvPr/>
        </p:nvGraphicFramePr>
        <p:xfrm>
          <a:off x="365760" y="914400"/>
          <a:ext cx="512064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669280" y="1097280"/>
            <a:ext cx="3108960" cy="2743200"/>
          </a:xfrm>
          <a:prstGeom prst="rect">
            <a:avLst/>
          </a:prstGeom>
          <a:noFill/>
        </p:spPr>
        <p:txBody>
          <a:bodyPr wrap="square" anchor="t" lIns="0" rIns="0" tIns="0" bIns="0">
            <a:spAutoFit/>
          </a:bodyPr>
          <a:lstStyle/>
          <a:p>
            <a:pPr algn="l" marL="182880" indent="-182880">
              <a:spcAft>
                <a:spcPts val="1000"/>
              </a:spcAft>
              <a:buClr>
                <a:srgbClr val="333333"/>
              </a:buClr>
              <a:buChar char="•"/>
            </a:pPr>
            <a:r>
              <a:rPr sz="1200" b="0" i="0">
                <a:solidFill>
                  <a:srgbClr val="333333"/>
                </a:solidFill>
              </a:rPr>
              <a:t>MLP widths from 10k to 1.43M parameters, both tracks.</a:t>
            </a:r>
          </a:p>
          <a:p>
            <a:pPr algn="l" marL="182880" indent="-182880">
              <a:spcAft>
                <a:spcPts val="1000"/>
              </a:spcAft>
              <a:buClr>
                <a:srgbClr val="333333"/>
              </a:buClr>
              <a:buChar char="•"/>
            </a:pPr>
            <a:r>
              <a:rPr sz="1200" b="0" i="0">
                <a:solidFill>
                  <a:srgbClr val="333333"/>
                </a:solidFill>
              </a:rPr>
              <a:t>Below 176k, detection of multi-peaked pixels collapses; above it, nothing we report improves.</a:t>
            </a:r>
          </a:p>
          <a:p>
            <a:pPr algn="l" marL="182880" indent="-182880">
              <a:spcAft>
                <a:spcPts val="1000"/>
              </a:spcAft>
              <a:buClr>
                <a:srgbClr val="333333"/>
              </a:buClr>
              <a:buChar char="•"/>
            </a:pPr>
            <a:r>
              <a:rPr sz="1200" b="1" i="0">
                <a:solidFill>
                  <a:srgbClr val="57068C"/>
                </a:solidFill>
              </a:rPr>
              <a:t>Production: 4 hidden layers of 232, 176k parameters.</a:t>
            </a:r>
          </a:p>
        </p:txBody>
      </p:sp>
      <p:sp>
        <p:nvSpPr>
          <p:cNvPr id="5" name="TextBox 4"/>
          <p:cNvSpPr txBox="1"/>
          <p:nvPr/>
        </p:nvSpPr>
        <p:spPr>
          <a:xfrm>
            <a:off x="365760" y="406908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Shown: earlier fixed-sample sweep. The fresh-pixel sweep replaces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6</a:t>
            </a:r>
            <a:br/>
            <a:r>
              <a:rPr sz="4100"/>
              <a:t>Results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Against the solver and the supervised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the supervised model: worse DEM MSE, better reconstruction</a:t>
            </a:r>
          </a:p>
        </p:txBody>
      </p:sp>
      <p:graphicFrame>
        <p:nvGraphicFramePr>
          <p:cNvPr id="3" name="Table 2"/>
          <p:cNvGraphicFramePr>
            <a:graphicFrameLocks noGrp="1"/>
          </p:cNvGraphicFramePr>
          <p:nvPr/>
        </p:nvGraphicFramePr>
        <p:xfrm>
          <a:off x="365760" y="1005840"/>
          <a:ext cx="8412476" cy="1920240"/>
        </p:xfrm>
        <a:graphic>
          <a:graphicData uri="http://schemas.openxmlformats.org/drawingml/2006/table">
            <a:tbl>
              <a:tblPr firstRow="1" bandRow="1"/>
              <a:tblGrid>
                <a:gridCol w="2177347"/>
                <a:gridCol w="1286614"/>
                <a:gridCol w="1286614"/>
                <a:gridCol w="1088673"/>
                <a:gridCol w="1286614"/>
                <a:gridCol w="1286614"/>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5.28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25.5%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93</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14.7%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0.72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414</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54864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Bold = better. Supervised wins DEM MSE on both tracks; we win AIA MSE on both, and most of the rest on ElasticNet.</a:t>
            </a:r>
          </a:p>
        </p:txBody>
      </p:sp>
      <p:sp>
        <p:nvSpPr>
          <p:cNvPr id="5" name="TextBox 4"/>
          <p:cNvSpPr txBox="1"/>
          <p:nvPr/>
        </p:nvSpPr>
        <p:spPr>
          <a:xfrm>
            <a:off x="365760" y="370332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The earlier fixed-sample models scored better on DEM MSE (BP 4.19, ENet 0.59).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tell different stories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0.030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~4×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97%</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~4× closer to the solver than the supervised model.</a:t>
            </a:r>
          </a:p>
          <a:p>
            <a:pPr algn="l" marL="182880" indent="-182880">
              <a:spcAft>
                <a:spcPts val="1200"/>
              </a:spcAft>
              <a:buClr>
                <a:srgbClr val="333333"/>
              </a:buClr>
              <a:buChar char="•"/>
            </a:pPr>
            <a:r>
              <a:rPr sz="1300" b="0" i="0">
                <a:solidFill>
                  <a:srgbClr val="333333"/>
                </a:solidFill>
              </a:rPr>
              <a:t>From the 90th percentile up, supervised is better (p99: 27 vs 117).</a:t>
            </a:r>
          </a:p>
          <a:p>
            <a:pPr algn="l" marL="182880" indent="-182880">
              <a:spcAft>
                <a:spcPts val="1200"/>
              </a:spcAft>
              <a:buClr>
                <a:srgbClr val="333333"/>
              </a:buClr>
              <a:buChar char="•"/>
            </a:pPr>
            <a:r>
              <a:rPr sz="1300" b="0" i="0">
                <a:solidFill>
                  <a:srgbClr val="333333"/>
                </a:solidFill>
              </a:rPr>
              <a:t>The average is set by the worst 1% of pixels, for both models.</a:t>
            </a:r>
          </a:p>
          <a:p>
            <a:pPr algn="l" marL="182880" indent="-182880">
              <a:spcAft>
                <a:spcPts val="1200"/>
              </a:spcAft>
              <a:buClr>
                <a:srgbClr val="333333"/>
              </a:buClr>
              <a:buChar char="•"/>
            </a:pPr>
            <a:r>
              <a:rPr sz="1300" b="0" i="0">
                <a:solidFill>
                  <a:srgbClr val="333333"/>
                </a:solidFill>
              </a:rPr>
              <a:t>ElasticNet: supervised is better at the median too (1.12 vs 1.70).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we flag them precisely but find a quarter</a:t>
            </a:r>
          </a:p>
        </p:txBody>
      </p:sp>
      <p:graphicFrame>
        <p:nvGraphicFramePr>
          <p:cNvPr id="3" name="Table 2"/>
          <p:cNvGraphicFramePr>
            <a:graphicFrameLocks noGrp="1"/>
          </p:cNvGraphicFramePr>
          <p:nvPr/>
        </p:nvGraphicFramePr>
        <p:xfrm>
          <a:off x="365760" y="1005840"/>
          <a:ext cx="5669280" cy="1463040"/>
        </p:xfrm>
        <a:graphic>
          <a:graphicData uri="http://schemas.openxmlformats.org/drawingml/2006/table">
            <a:tbl>
              <a:tblPr firstRow="1" bandRow="1"/>
              <a:tblGrid>
                <a:gridCol w="1645920"/>
                <a:gridCol w="1828800"/>
                <a:gridCol w="1097280"/>
                <a:gridCol w="1097280"/>
              </a:tblGrid>
              <a:tr h="365760">
                <a:tc>
                  <a:txBody>
                    <a:bodyPr wrap="square"/>
                    <a:lstStyle/>
                    <a:p>
                      <a:pPr algn="l"/>
                      <a:r>
                        <a:rPr sz="1200" b="1">
                          <a:solidFill>
                            <a:srgbClr val="FFFFFF"/>
                          </a:solidFill>
                        </a:rPr>
                        <a:t>BP track</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Flagged multi-peaked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Precision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Recall</a:t>
                      </a:r>
                    </a:p>
                  </a:txBody>
                  <a:tcPr marL="54864" marR="54864" marT="27432" marB="27432" anchor="ctr">
                    <a:lnL w="0">
                      <a:noFill/>
                    </a:lnL>
                    <a:lnR w="0">
                      <a:noFill/>
                    </a:lnR>
                    <a:lnT w="0">
                      <a:noFill/>
                    </a:lnT>
                    <a:lnB w="6350">
                      <a:solidFill>
                        <a:srgbClr val="D9D3E3"/>
                      </a:solidFill>
                    </a:lnB>
                    <a:solidFill>
                      <a:srgbClr val="57068C"/>
                    </a:solidFill>
                  </a:tcPr>
                </a:tc>
              </a:tr>
              <a:tr h="365760">
                <a:tc>
                  <a:txBody>
                    <a:bodyPr wrap="square"/>
                    <a:lstStyle/>
                    <a:p>
                      <a:pPr algn="l"/>
                      <a:r>
                        <a:rPr sz="1200" b="1">
                          <a:solidFill>
                            <a:srgbClr val="333333"/>
                          </a:solidFill>
                        </a:rPr>
                        <a:t>Solver (BP)</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13.5% of pixels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25%</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72%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269748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We flag few pixels, and most are right; the supervised model flags many and misses few.</a:t>
            </a:r>
          </a:p>
          <a:p>
            <a:pPr algn="l" marL="182880" indent="-182880">
              <a:spcAft>
                <a:spcPts val="600"/>
              </a:spcAft>
              <a:buClr>
                <a:srgbClr val="333333"/>
              </a:buClr>
              <a:buChar char="•"/>
            </a:pPr>
            <a:r>
              <a:rPr sz="1250" b="0" i="0">
                <a:solidFill>
                  <a:srgbClr val="333333"/>
                </a:solidFill>
              </a:rPr>
              <a:t>Where BP is multi-peaked, our gap is about the size of BP's own re-solve scatter.</a:t>
            </a:r>
          </a:p>
        </p:txBody>
      </p:sp>
      <p:sp>
        <p:nvSpPr>
          <p:cNvPr id="5" name="TextBox 4"/>
          <p:cNvSpPr txBox="1"/>
          <p:nvPr/>
        </p:nvSpPr>
        <p:spPr>
          <a:xfrm>
            <a:off x="365760" y="3749039"/>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Last point: earlier fixed-sample result; the fresh-pixel check is running.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7</a:t>
            </a:r>
            <a:br/>
            <a:r>
              <a:rPr sz="4100"/>
              <a:t>Failures: bright pixels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Where the error is,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hold ~90% of the error</a:t>
            </a:r>
          </a:p>
        </p:txBody>
      </p:sp>
      <p:sp>
        <p:nvSpPr>
          <p:cNvPr id="3" name="TextBox 2"/>
          <p:cNvSpPr txBox="1"/>
          <p:nvPr/>
        </p:nvSpPr>
        <p:spPr>
          <a:xfrm>
            <a:off x="365760" y="914400"/>
            <a:ext cx="320040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Pixels at 32× the Bright cutoff or more: 0.01% of pixels, 88% of our BP DEM error, 90% of the supervised model's.</a:t>
            </a:r>
          </a:p>
          <a:p>
            <a:pPr algn="l" marL="182880" indent="-182880">
              <a:spcAft>
                <a:spcPts val="1000"/>
              </a:spcAft>
              <a:buClr>
                <a:srgbClr val="333333"/>
              </a:buClr>
              <a:buChar char="•"/>
            </a:pPr>
            <a:r>
              <a:rPr sz="1250" b="0" i="0">
                <a:solidFill>
                  <a:srgbClr val="333333"/>
                </a:solidFill>
              </a:rPr>
              <a:t>So the squared-error metric itself is set by flare cores, for both models.</a:t>
            </a:r>
          </a:p>
          <a:p>
            <a:pPr algn="l" marL="182880" indent="-182880">
              <a:spcAft>
                <a:spcPts val="1000"/>
              </a:spcAft>
              <a:buClr>
                <a:srgbClr val="333333"/>
              </a:buClr>
              <a:buChar char="•"/>
            </a:pPr>
            <a:r>
              <a:rPr sz="1250" b="0" i="0">
                <a:solidFill>
                  <a:srgbClr val="333333"/>
                </a:solidFill>
              </a:rPr>
              <a:t>Ordinary Bright pixels (1–10×): 10% of pixels, 5.5% of the error, for both.</a:t>
            </a:r>
          </a:p>
        </p:txBody>
      </p:sp>
      <p:pic>
        <p:nvPicPr>
          <p:cNvPr id="4" name="Picture 3" descr="fig1_error_share_by_brightness.png"/>
          <p:cNvPicPr>
            <a:picLocks noChangeAspect="1"/>
          </p:cNvPicPr>
          <p:nvPr/>
        </p:nvPicPr>
        <p:blipFill>
          <a:blip r:embed="rId2"/>
          <a:stretch>
            <a:fillRect/>
          </a:stretch>
        </p:blipFill>
        <p:spPr>
          <a:xfrm>
            <a:off x="3703320" y="1159727"/>
            <a:ext cx="5074920" cy="284690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Relative to DEM size, our gap grows with brightness</a:t>
            </a:r>
          </a:p>
        </p:txBody>
      </p:sp>
      <p:sp>
        <p:nvSpPr>
          <p:cNvPr id="3" name="TextBox 2"/>
          <p:cNvSpPr txBox="1"/>
          <p:nvPr/>
        </p:nvSpPr>
        <p:spPr>
          <a:xfrm>
            <a:off x="365760" y="868680"/>
            <a:ext cx="8412480" cy="8229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Our BP error / supervised error: 0.65 on the faintest pixels, 2.1 at 0.3–1×, 9 at 3–10×, 25 at 10–32×.</a:t>
            </a:r>
          </a:p>
          <a:p>
            <a:pPr algn="l" marL="182880" indent="-182880">
              <a:spcAft>
                <a:spcPts val="400"/>
              </a:spcAft>
              <a:buClr>
                <a:srgbClr val="333333"/>
              </a:buClr>
              <a:buChar char="•"/>
            </a:pPr>
            <a:r>
              <a:rPr sz="1200" b="0" i="0">
                <a:solidFill>
                  <a:srgbClr val="333333"/>
                </a:solidFill>
              </a:rPr>
              <a:t>Supervised gets relatively better as pixels brighten; we get worse above ~3×. ElasticNet: 1.3–2.5 below 10×, ~6 at 10–32×.</a:t>
            </a:r>
          </a:p>
        </p:txBody>
      </p:sp>
      <p:pic>
        <p:nvPicPr>
          <p:cNvPr id="4" name="Picture 3" descr="fig2_relative_error_by_brightness.png"/>
          <p:cNvPicPr>
            <a:picLocks noChangeAspect="1"/>
          </p:cNvPicPr>
          <p:nvPr/>
        </p:nvPicPr>
        <p:blipFill>
          <a:blip r:embed="rId2"/>
          <a:stretch>
            <a:fillRect/>
          </a:stretch>
        </p:blipFill>
        <p:spPr>
          <a:xfrm>
            <a:off x="1435395" y="1691640"/>
            <a:ext cx="6273209" cy="26974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flare cores, the model under-predicts and runs too cool</a:t>
            </a:r>
          </a:p>
        </p:txBody>
      </p:sp>
      <p:sp>
        <p:nvSpPr>
          <p:cNvPr id="3" name="TextBox 2"/>
          <p:cNvSpPr txBox="1"/>
          <p:nvPr/>
        </p:nvSpPr>
        <p:spPr>
          <a:xfrm>
            <a:off x="365760" y="914400"/>
            <a:ext cx="329184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BP flare cores: 15% of the solver's emission, peak 12% as high, 0.6 dex too cool.</a:t>
            </a:r>
          </a:p>
          <a:p>
            <a:pPr algn="l" marL="182880" indent="-182880">
              <a:spcAft>
                <a:spcPts val="1000"/>
              </a:spcAft>
              <a:buClr>
                <a:srgbClr val="333333"/>
              </a:buClr>
              <a:buChar char="•"/>
            </a:pPr>
            <a:r>
              <a:rPr sz="1250" b="0" i="0">
                <a:solidFill>
                  <a:srgbClr val="333333"/>
                </a:solidFill>
              </a:rPr>
              <a:t>89% of our flare-core DEMs have extra peaks (solver 18%); those spurious peaks are 81% of our BP error.</a:t>
            </a:r>
          </a:p>
          <a:p>
            <a:pPr algn="l" marL="182880" indent="-182880">
              <a:spcAft>
                <a:spcPts val="1000"/>
              </a:spcAft>
              <a:buClr>
                <a:srgbClr val="333333"/>
              </a:buClr>
              <a:buChar char="•"/>
            </a:pPr>
            <a:r>
              <a:rPr sz="1250" b="0" i="0">
                <a:solidFill>
                  <a:srgbClr val="333333"/>
                </a:solidFill>
              </a:rPr>
              <a:t>It tracks the solver's peak height up to a peak of ~50, then falls away.</a:t>
            </a:r>
          </a:p>
        </p:txBody>
      </p:sp>
      <p:pic>
        <p:nvPicPr>
          <p:cNvPr id="4" name="Picture 3" descr="fig4_example_curves_bp.png"/>
          <p:cNvPicPr>
            <a:picLocks noChangeAspect="1"/>
          </p:cNvPicPr>
          <p:nvPr/>
        </p:nvPicPr>
        <p:blipFill>
          <a:blip r:embed="rId3"/>
          <a:stretch>
            <a:fillRect/>
          </a:stretch>
        </p:blipFill>
        <p:spPr>
          <a:xfrm>
            <a:off x="3749039" y="990600"/>
            <a:ext cx="5029200" cy="3185160"/>
          </a:xfrm>
          <a:prstGeom prst="rect">
            <a:avLst/>
          </a:prstGeom>
        </p:spPr>
      </p:pic>
      <p:sp>
        <p:nvSpPr>
          <p:cNvPr id="5" name="TextBox 4"/>
          <p:cNvSpPr txBox="1"/>
          <p:nvPr/>
        </p:nvSpPr>
        <p:spPr>
          <a:xfrm>
            <a:off x="3749039" y="4206240"/>
            <a:ext cx="5029200" cy="274320"/>
          </a:xfrm>
          <a:prstGeom prst="rect">
            <a:avLst/>
          </a:prstGeom>
          <a:noFill/>
        </p:spPr>
        <p:txBody>
          <a:bodyPr wrap="square" anchor="t" lIns="0" rIns="0" tIns="0" bIns="0">
            <a:spAutoFit/>
          </a:bodyPr>
          <a:lstStyle/>
          <a:p>
            <a:pPr algn="l">
              <a:spcAft>
                <a:spcPts val="0"/>
              </a:spcAft>
            </a:pPr>
            <a:r>
              <a:rPr sz="950" b="0" i="1">
                <a:solidFill>
                  <a:srgbClr val="6B6B6B"/>
                </a:solidFill>
              </a:rPr>
              <a:t>Random BP pixels, top rows flare cores. Black solver, blue ours, orange supervised.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flare cores, the model fails its own objective</a:t>
            </a:r>
          </a:p>
        </p:txBody>
      </p:sp>
      <p:sp>
        <p:nvSpPr>
          <p:cNvPr id="3" name="TextBox 2"/>
          <p:cNvSpPr txBox="1"/>
          <p:nvPr/>
        </p:nvSpPr>
        <p:spPr>
          <a:xfrm>
            <a:off x="365760" y="86868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The solver's DEM reproduces 92% of the observed 94 Å; ours reproduces 7% (131 Å: 35%). The cool channels are fit to within a few percent.</a:t>
            </a:r>
          </a:p>
          <a:p>
            <a:pPr algn="l" marL="182880" indent="-182880">
              <a:spcAft>
                <a:spcPts val="400"/>
              </a:spcAft>
              <a:buClr>
                <a:srgbClr val="333333"/>
              </a:buClr>
              <a:buChar char="•"/>
            </a:pPr>
            <a:r>
              <a:rPr sz="1200" b="1" i="0">
                <a:solidFill>
                  <a:srgbClr val="57068C"/>
                </a:solidFill>
              </a:rPr>
              <a:t>So better DEMs exist inside our basis: a training problem, not a representation limit.</a:t>
            </a:r>
          </a:p>
        </p:txBody>
      </p:sp>
      <p:pic>
        <p:nvPicPr>
          <p:cNvPr id="4" name="Picture 3" descr="fig5_aia_fit_flare_cores.png"/>
          <p:cNvPicPr>
            <a:picLocks noChangeAspect="1"/>
          </p:cNvPicPr>
          <p:nvPr/>
        </p:nvPicPr>
        <p:blipFill>
          <a:blip r:embed="rId3"/>
          <a:stretch>
            <a:fillRect/>
          </a:stretch>
        </p:blipFill>
        <p:spPr>
          <a:xfrm>
            <a:off x="1334386" y="1737360"/>
            <a:ext cx="6475227" cy="26517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Not solver noise, not missed double peaks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0.3%</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Bright error comes from the solver's own spread across its 5 targets (ENet 4.8%)</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1.3%</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comes from missing the solver's second peak</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Solver noise: re-solving under photon noise barely moves the solver at bright pixels, so it is not the label.</a:t>
            </a:r>
          </a:p>
          <a:p>
            <a:pPr algn="l" marL="182880" indent="-182880">
              <a:spcAft>
                <a:spcPts val="1200"/>
              </a:spcAft>
              <a:buClr>
                <a:srgbClr val="333333"/>
              </a:buClr>
              <a:buChar char="•"/>
            </a:pPr>
            <a:r>
              <a:rPr sz="1300" b="0" i="0">
                <a:solidFill>
                  <a:srgbClr val="333333"/>
                </a:solidFill>
              </a:rPr>
              <a:t>Missed double peaks: small.</a:t>
            </a:r>
          </a:p>
          <a:p>
            <a:pPr algn="l" marL="182880" indent="-182880">
              <a:spcAft>
                <a:spcPts val="1200"/>
              </a:spcAft>
              <a:buClr>
                <a:srgbClr val="333333"/>
              </a:buClr>
              <a:buChar char="•"/>
            </a:pPr>
            <a:r>
              <a:rPr sz="1300" b="1" i="0">
                <a:solidFill>
                  <a:srgbClr val="57068C"/>
                </a:solidFill>
              </a:rPr>
              <a:t>What remains is the flare-core shortfall and the spurious peaks.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8</a:t>
            </a:r>
            <a:br/>
            <a:r>
              <a:rPr sz="4100"/>
              <a:t>Lessons and next steps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learned, and what to decide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Rounded Rectangle 2"/>
          <p:cNvSpPr/>
          <p:nvPr/>
        </p:nvSpPr>
        <p:spPr>
          <a:xfrm>
            <a:off x="36576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1. Train on the objective</a:t>
            </a:r>
          </a:p>
        </p:txBody>
      </p:sp>
      <p:sp>
        <p:nvSpPr>
          <p:cNvPr id="5" name="TextBox 4"/>
          <p:cNvSpPr txBox="1"/>
          <p:nvPr/>
        </p:nvSpPr>
        <p:spPr>
          <a:xfrm>
            <a:off x="530352" y="1481328"/>
            <a:ext cx="2353056" cy="868680"/>
          </a:xfrm>
          <a:prstGeom prst="rect">
            <a:avLst/>
          </a:prstGeom>
          <a:noFill/>
        </p:spPr>
        <p:txBody>
          <a:bodyPr wrap="square" anchor="t" lIns="0" rIns="0" tIns="0" bIns="0">
            <a:spAutoFit/>
          </a:bodyPr>
          <a:lstStyle/>
          <a:p>
            <a:pPr algn="l">
              <a:spcAft>
                <a:spcPts val="600"/>
              </a:spcAft>
            </a:pPr>
            <a:r>
              <a:rPr sz="1250" b="0" i="0">
                <a:solidFill>
                  <a:srgbClr val="333333"/>
                </a:solidFill>
              </a:rPr>
              <a:t>The solver's own objective reproduces its DEMs without labels.</a:t>
            </a:r>
          </a:p>
        </p:txBody>
      </p:sp>
      <p:sp>
        <p:nvSpPr>
          <p:cNvPr id="6" name="Rounded Rectangle 5"/>
          <p:cNvSpPr/>
          <p:nvPr/>
        </p:nvSpPr>
        <p:spPr>
          <a:xfrm>
            <a:off x="323088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547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2. Simple scales</a:t>
            </a:r>
          </a:p>
        </p:txBody>
      </p:sp>
      <p:sp>
        <p:nvSpPr>
          <p:cNvPr id="8" name="TextBox 7"/>
          <p:cNvSpPr txBox="1"/>
          <p:nvPr/>
        </p:nvSpPr>
        <p:spPr>
          <a:xfrm>
            <a:off x="3395472" y="1481328"/>
            <a:ext cx="2353056" cy="868680"/>
          </a:xfrm>
          <a:prstGeom prst="rect">
            <a:avLst/>
          </a:prstGeom>
          <a:noFill/>
        </p:spPr>
        <p:txBody>
          <a:bodyPr wrap="square" anchor="t" lIns="0" rIns="0" tIns="0" bIns="0">
            <a:spAutoFit/>
          </a:bodyPr>
          <a:lstStyle/>
          <a:p>
            <a:pPr algn="l">
              <a:spcAft>
                <a:spcPts val="600"/>
              </a:spcAft>
            </a:pPr>
            <a:r>
              <a:rPr sz="1250" b="0" i="0">
                <a:solidFill>
                  <a:srgbClr val="333333"/>
                </a:solidFill>
              </a:rPr>
              <a:t>A 176k centre-pixel MLP; the patch CNN's edge vanished on unseen days.</a:t>
            </a:r>
          </a:p>
        </p:txBody>
      </p:sp>
      <p:sp>
        <p:nvSpPr>
          <p:cNvPr id="9" name="Rounded Rectangle 8"/>
          <p:cNvSpPr/>
          <p:nvPr/>
        </p:nvSpPr>
        <p:spPr>
          <a:xfrm>
            <a:off x="609600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059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3. Heavy tails</a:t>
            </a:r>
          </a:p>
        </p:txBody>
      </p:sp>
      <p:sp>
        <p:nvSpPr>
          <p:cNvPr id="11" name="TextBox 10"/>
          <p:cNvSpPr txBox="1"/>
          <p:nvPr/>
        </p:nvSpPr>
        <p:spPr>
          <a:xfrm>
            <a:off x="6260592" y="1481328"/>
            <a:ext cx="2353056" cy="868680"/>
          </a:xfrm>
          <a:prstGeom prst="rect">
            <a:avLst/>
          </a:prstGeom>
          <a:noFill/>
        </p:spPr>
        <p:txBody>
          <a:bodyPr wrap="square" anchor="t" lIns="0" rIns="0" tIns="0" bIns="0">
            <a:spAutoFit/>
          </a:bodyPr>
          <a:lstStyle/>
          <a:p>
            <a:pPr algn="l">
              <a:spcAft>
                <a:spcPts val="600"/>
              </a:spcAft>
            </a:pPr>
            <a:r>
              <a:rPr sz="1250" b="0" i="0">
                <a:solidFill>
                  <a:srgbClr val="333333"/>
                </a:solidFill>
              </a:rPr>
              <a:t>Report medians and percentiles: a handful of pixels can own the mean.</a:t>
            </a:r>
          </a:p>
        </p:txBody>
      </p:sp>
      <p:sp>
        <p:nvSpPr>
          <p:cNvPr id="12" name="Rounded Rectangle 11"/>
          <p:cNvSpPr/>
          <p:nvPr/>
        </p:nvSpPr>
        <p:spPr>
          <a:xfrm>
            <a:off x="36576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4. The open failure</a:t>
            </a:r>
          </a:p>
        </p:txBody>
      </p:sp>
      <p:sp>
        <p:nvSpPr>
          <p:cNvPr id="14" name="TextBox 13"/>
          <p:cNvSpPr txBox="1"/>
          <p:nvPr/>
        </p:nvSpPr>
        <p:spPr>
          <a:xfrm>
            <a:off x="530352" y="3081528"/>
            <a:ext cx="2353056" cy="868680"/>
          </a:xfrm>
          <a:prstGeom prst="rect">
            <a:avLst/>
          </a:prstGeom>
          <a:noFill/>
        </p:spPr>
        <p:txBody>
          <a:bodyPr wrap="square" anchor="t" lIns="0" rIns="0" tIns="0" bIns="0">
            <a:spAutoFit/>
          </a:bodyPr>
          <a:lstStyle/>
          <a:p>
            <a:pPr algn="l">
              <a:spcAft>
                <a:spcPts val="600"/>
              </a:spcAft>
            </a:pPr>
            <a:r>
              <a:rPr sz="1250" b="0" i="0">
                <a:solidFill>
                  <a:srgbClr val="333333"/>
                </a:solidFill>
              </a:rPr>
              <a:t>Flare cores. The model misses the hot channels there: a training problem.</a:t>
            </a:r>
          </a:p>
        </p:txBody>
      </p:sp>
      <p:sp>
        <p:nvSpPr>
          <p:cNvPr id="15" name="Rounded Rectangle 14"/>
          <p:cNvSpPr/>
          <p:nvPr/>
        </p:nvSpPr>
        <p:spPr>
          <a:xfrm>
            <a:off x="323088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47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5. Tried, didn't help</a:t>
            </a:r>
          </a:p>
        </p:txBody>
      </p:sp>
      <p:sp>
        <p:nvSpPr>
          <p:cNvPr id="17" name="TextBox 16"/>
          <p:cNvSpPr txBox="1"/>
          <p:nvPr/>
        </p:nvSpPr>
        <p:spPr>
          <a:xfrm>
            <a:off x="3395472" y="3081528"/>
            <a:ext cx="2353056" cy="868680"/>
          </a:xfrm>
          <a:prstGeom prst="rect">
            <a:avLst/>
          </a:prstGeom>
          <a:noFill/>
        </p:spPr>
        <p:txBody>
          <a:bodyPr wrap="square" anchor="t" lIns="0" rIns="0" tIns="0" bIns="0">
            <a:spAutoFit/>
          </a:bodyPr>
          <a:lstStyle/>
          <a:p>
            <a:pPr algn="l">
              <a:spcAft>
                <a:spcPts val="600"/>
              </a:spcAft>
            </a:pPr>
            <a:r>
              <a:rPr sz="1250" b="0" i="0">
                <a:solidFill>
                  <a:srgbClr val="333333"/>
                </a:solidFill>
              </a:rPr>
              <a:t>The supervised model's sqrt + Fourier input; fresh pixels vs one fixed sample.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Oversample or up-weight the brightest pixels; handle the pathological pixels that dominate the loss.</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Direct DEM output</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Predict the 18 bins instead of 54 basis weights (deferred).</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Uncertainty</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distribution over DEMs, trained on the solver's noisy re-solves.</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AIA + XRT</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For the hot plasma AIA barely constrains.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For discussion</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0" i="0">
                <a:solidFill>
                  <a:srgbClr val="333333"/>
                </a:solidFill>
              </a:rPr>
              <a:t>Which metric should lead the paper? DEM MSE is set by 0.01% of pixels; the median, W1 and AIA reconstruction tell a different story.</a:t>
            </a:r>
          </a:p>
          <a:p>
            <a:pPr algn="l" marL="182880" indent="-182880">
              <a:spcAft>
                <a:spcPts val="1400"/>
              </a:spcAft>
              <a:buClr>
                <a:srgbClr val="333333"/>
              </a:buClr>
              <a:buChar char="•"/>
            </a:pPr>
            <a:r>
              <a:rPr sz="1400" b="0" i="0">
                <a:solidFill>
                  <a:srgbClr val="333333"/>
                </a:solidFill>
              </a:rPr>
              <a:t>Is fixing flare cores worth changing the training objective, or do we report it as the known limitation?</a:t>
            </a:r>
          </a:p>
          <a:p>
            <a:pPr algn="l" marL="182880" indent="-182880">
              <a:spcAft>
                <a:spcPts val="1400"/>
              </a:spcAft>
              <a:buClr>
                <a:srgbClr val="333333"/>
              </a:buClr>
              <a:buChar char="•"/>
            </a:pPr>
            <a:r>
              <a:rPr sz="1400" b="0" i="0">
                <a:solidFill>
                  <a:srgbClr val="333333"/>
                </a:solidFill>
              </a:rPr>
              <a:t>Next model change: up-weight flare cores, or predict the 18 bins directly?</a:t>
            </a:r>
          </a:p>
          <a:p>
            <a:pPr algn="l" marL="182880" indent="-182880">
              <a:spcAft>
                <a:spcPts val="1400"/>
              </a:spcAft>
              <a:buClr>
                <a:srgbClr val="333333"/>
              </a:buClr>
              <a:buChar char="•"/>
            </a:pPr>
            <a:r>
              <a:rPr sz="1400" b="0" i="0">
                <a:solidFill>
                  <a:srgbClr val="333333"/>
                </a:solidFill>
              </a:rPr>
              <a:t>Is AIA + XRT in scope for this paper?</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