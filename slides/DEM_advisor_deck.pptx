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Lst>
  <p:sldSz cy="5143500" cx="9144000"/>
  <p:notesSz cx="6858000" cy="9144000"/>
  <p:embeddedFontLst>
    <p:embeddedFont>
      <p:font typeface="Montserrat SemiBold"/>
      <p:regular r:id="rId8"/>
      <p:bold r:id="rId9"/>
      <p:italic r:id="rId10"/>
      <p:boldItalic r:id="rId11"/>
    </p:embeddedFont>
    <p:embeddedFont>
      <p:font typeface="Montserrat"/>
      <p:regular r:id="rId12"/>
      <p:bold r:id="rId13"/>
      <p:italic r:id="rId14"/>
      <p:boldItalic r:id="rId15"/>
    </p:embeddedFont>
    <p:embeddedFont>
      <p:font typeface="Frank Ruhl Libre"/>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MontserratSemiBold-regular.fntdata"/><Relationship Id="rId9" Type="http://schemas.openxmlformats.org/officeDocument/2006/relationships/font" Target="fonts/MontserratSemiBold-bold.fntdata"/><Relationship Id="rId10" Type="http://schemas.openxmlformats.org/officeDocument/2006/relationships/font" Target="fonts/MontserratSemiBold-italic.fntdata"/><Relationship Id="rId11" Type="http://schemas.openxmlformats.org/officeDocument/2006/relationships/font" Target="fonts/MontserratSemiBold-boldItalic.fntdata"/><Relationship Id="rId12" Type="http://schemas.openxmlformats.org/officeDocument/2006/relationships/font" Target="fonts/Montserrat-regular.fntdata"/><Relationship Id="rId13" Type="http://schemas.openxmlformats.org/officeDocument/2006/relationships/font" Target="fonts/Montserrat-bold.fntdata"/><Relationship Id="rId14" Type="http://schemas.openxmlformats.org/officeDocument/2006/relationships/font" Target="fonts/Montserrat-italic.fntdata"/><Relationship Id="rId15" Type="http://schemas.openxmlformats.org/officeDocument/2006/relationships/font" Target="fonts/Montserrat-boldItalic.fntdata"/><Relationship Id="rId16" Type="http://schemas.openxmlformats.org/officeDocument/2006/relationships/font" Target="fonts/FrankRuhlLibre-regular.fntdata"/><Relationship Id="rId17" Type="http://schemas.openxmlformats.org/officeDocument/2006/relationships/font" Target="fonts/FrankRuhlLibre-bold.fntdata"/><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333333"/>
                </a:solidFill>
              </a:rPr>
              <a:t>Recall of BP's multi-peaked pixels, by model size (%)</a:t>
            </a:r>
          </a:p>
        </c:rich>
      </c:tx>
      <c:layout/>
      <c:overlay val="0"/>
    </c:title>
    <c:autoTitleDeleted val="0"/>
    <c:plotArea>
      <c:barChart>
        <c:barDir val="col"/>
        <c:grouping val="clustered"/>
        <c:ser>
          <c:idx val="0"/>
          <c:order val="0"/>
          <c:tx>
            <c:strRef>
              <c:f>Sheet1!$B$1</c:f>
              <c:strCache>
                <c:ptCount val="1"/>
                <c:pt idx="0">
                  <c:v>Recall of BP multi-peaked pixels (%)</c:v>
                </c:pt>
              </c:strCache>
            </c:strRef>
          </c:tx>
          <c:dPt>
            <c:idx val="0"/>
            <c:spPr>
              <a:solidFill>
                <a:srgbClr val="B9B4C2"/>
              </a:solidFill>
            </c:spPr>
          </c:dPt>
          <c:dPt>
            <c:idx val="1"/>
            <c:spPr>
              <a:solidFill>
                <a:srgbClr val="57068C"/>
              </a:solidFill>
            </c:spPr>
          </c:dPt>
          <c:dPt>
            <c:idx val="2"/>
            <c:spPr>
              <a:solidFill>
                <a:srgbClr val="B9B4C2"/>
              </a:solidFill>
            </c:spPr>
          </c:dPt>
          <c:dPt>
            <c:idx val="3"/>
            <c:spPr>
              <a:solidFill>
                <a:srgbClr val="B9B4C2"/>
              </a:solidFill>
            </c:spPr>
          </c:dPt>
          <c:dPt>
            <c:idx val="4"/>
            <c:spPr>
              <a:solidFill>
                <a:srgbClr val="B9B4C2"/>
              </a:solidFill>
            </c:spPr>
          </c:dPt>
          <c:dPt>
            <c:idx val="5"/>
            <c:spPr>
              <a:solidFill>
                <a:srgbClr val="B9B4C2"/>
              </a:solidFill>
            </c:spPr>
          </c:dPt>
          <c:dPt>
            <c:idx val="6"/>
            <c:spPr>
              <a:solidFill>
                <a:srgbClr val="B9B4C2"/>
              </a:solidFill>
            </c:spPr>
          </c:dPt>
          <c:dPt>
            <c:idx val="7"/>
            <c:spPr>
              <a:solidFill>
                <a:srgbClr val="B9B4C2"/>
              </a:solidFill>
            </c:spPr>
          </c:dPt>
          <c:cat>
            <c:strRef>
              <c:f>Sheet1!$A$2:$A$9</c:f>
              <c:strCache>
                <c:ptCount val="8"/>
                <c:pt idx="0">
                  <c:v>87k</c:v>
                </c:pt>
                <c:pt idx="1">
                  <c:v>176k</c:v>
                </c:pt>
                <c:pt idx="2">
                  <c:v>360k</c:v>
                </c:pt>
                <c:pt idx="3">
                  <c:v>722k</c:v>
                </c:pt>
                <c:pt idx="4">
                  <c:v>1.4M</c:v>
                </c:pt>
                <c:pt idx="5">
                  <c:v>2.8M</c:v>
                </c:pt>
                <c:pt idx="6">
                  <c:v>5.6M</c:v>
                </c:pt>
                <c:pt idx="7">
                  <c:v>11.2M</c:v>
                </c:pt>
              </c:strCache>
            </c:strRef>
          </c:cat>
          <c:val>
            <c:numRef>
              <c:f>Sheet1!$B$2:$B$9</c:f>
              <c:numCache>
                <c:formatCode>General</c:formatCode>
                <c:ptCount val="8"/>
                <c:pt idx="0">
                  <c:v>8.2</c:v>
                </c:pt>
                <c:pt idx="1">
                  <c:v>26.4</c:v>
                </c:pt>
                <c:pt idx="2">
                  <c:v>27.5</c:v>
                </c:pt>
                <c:pt idx="3">
                  <c:v>28.4</c:v>
                </c:pt>
                <c:pt idx="4">
                  <c:v>29.3</c:v>
                </c:pt>
                <c:pt idx="5">
                  <c:v>29.9</c:v>
                </c:pt>
                <c:pt idx="6">
                  <c:v>28.5</c:v>
                </c:pt>
                <c:pt idx="7">
                  <c:v>28.7</c:v>
                </c:pt>
              </c:numCache>
            </c:numRef>
          </c:val>
        </c:ser>
        <c:dLbls>
          <c:numFmt formatCode="0.0" sourceLinked="0"/>
          <c:txPr>
            <a:bodyPr/>
            <a:lstStyle/>
            <a:p>
              <a:pPr>
                <a:defRPr sz="1000">
                  <a:solidFill>
                    <a:srgbClr val="333333"/>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333333"/>
                </a:solidFill>
              </a:defRPr>
            </a:pPr>
          </a:p>
        </c:txPr>
        <c:crossAx val="-2113994440"/>
        <c:crosses val="autoZero"/>
        <c:auto val="1"/>
        <c:lblAlgn val="ctr"/>
        <c:lblOffset val="100"/>
        <c:noMultiLvlLbl val="0"/>
      </c:catAx>
      <c:valAx>
        <c:axId val="-2113994440"/>
        <c:scaling>
          <c:max val="35.0"/>
          <c:min val="0.0"/>
        </c:scaling>
        <c:delete val="0"/>
        <c:axPos val="l"/>
        <c:majorGridlines>
          <c:spPr>
            <a:ln>
              <a:solidFill>
                <a:srgbClr val="E6E5E0"/>
              </a:solidFill>
            </a:ln>
          </c:spPr>
        </c:majorGridlines>
        <c:majorTickMark val="out"/>
        <c:minorTickMark val="none"/>
        <c:tickLblPos val="nextTo"/>
        <c:spPr>
          <a:ln>
            <a:noFill/>
          </a:ln>
        </c:spPr>
        <c:txPr>
          <a:bodyPr/>
          <a:lstStyle/>
          <a:p>
            <a:pPr>
              <a:defRPr sz="1000">
                <a:solidFill>
                  <a:srgbClr val="6B6B6B"/>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What we built since June, what each experiment taught us, how it compares with the supervised model, and the one failure mode that remains.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Four parts. Most of the time goes to parts 3 and 4.</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Same physics as the solvers. The network maps each pixel's six AIA intensities to 54 non-negative basis weights; the fixed basis gives an 18-bin DEM (logT 5.5 to 7.2); the AIA response projects it back to six intensities. The loss is the solver's own objective: for BP a barrier version of the tolerance band |RDx - o| &lt;= t sigma plus an L1 term; for ENet the ElasticNet objective. Solver DEMs are never used in training, only to evaluate. Data: 1,223 Hofmeister-deconvolved timestamps, split by timestamp 917 / 153 / 153.</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June. Direct per-pixel optimisation of five differentiable losses on four timestamps, compared with BP. Barrier and barrier-fit track BP's temperature structure and were closest to BP on MAE and Wasserstein distance. Chi-square smooth, entropy and Tikhonov reconstruct AIA better but drift from BP's shape because they lack its sparsity term. L-BFGS and Adam reach the same curves; SGD often fails to converge.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Mid-June. A per-pixel network from the six intensities, trained directly on the barrier loss over about 221k pixels from four timestamps. The loss converged, but individual curves oscillated compared with BP and with direct optimisation. Six numbers constrain eighteen bins, so small errors in the overlapping basis functions show up as wiggles. This is what pushed us toward giving the network spatial context.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Late June. The patch CNN sees each pixel's 9x9 neighbourhood. Built in three steps: one image, then amortised across four timestamps, then with neighbourhood masking (10% best). Curves became smooth and single-peaked at the right temperatures, with sparsity close to BP's. Caveat at the time: validation pixels came from the same four images, so this was not yet a test on unseen days.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July. Capacity-matched ablation (~1.5M params): a centre-pixel MLP also gave smooth curves, so the old noise was largely a capacity effect. In-sample the CNN looked best (1.70 vs MLP 1.89, BP 1.79). Leave-one-timestamp-out reversed that: the MLP won 2 of 4 held-out days, including the hard X1.6 flare, tied one, lost the quiet Sun. Lesson: test on unseen days. The flare fold showed peak shifts to lower temperature, a first sign of the bright-pixel weakness we analyse later.</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End of July. Generated BP and ENet labels for 1,223 deconvolved timestamps, for evaluation only. BP's --zerochill flag disabled its tolerance relaxation, leaving 10.2% of pixels unsolved, mostly bright active-region and flare pixels; removing it gave 0.02%. The first full-disk training runs then predicted identically zero: intensities span six decades, the first forward pass overshot the band by orders of magnitude, and the softplus output died (zero gradient). Fixes: log input, LR warmup, a softplus floor that keeps a gradient, a small output-layer init, and a guard that stops on collapse. A 64-block smoke test never drew the bright pixels that triggered it.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August 2. 153 unseen test timestamps, about 5M pixels. Test reproduced validation to the third decimal, so no overfitting. The centre-pixel MLP beat the patch CNN at every percentile of the training objective; the CNN's apparent win on the mean came from one pixel that was 94% of the MLP's mean. Since then we report percentiles and per-band results, never a bare mean. The MLP became the production architecture.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August 3 to 7. Swept the MLP from 10k to 11.2M parameters on both losses, scored on the test split. Averages barely move across sizes, but recall of BP's multi-peaked pixels collapses below 176k (26% to 8%), which is what decided the size. Above 176k nothing we report improves: recall peaks at 2.8M, precision stays near 81%, sparsity creeps toward BP while AIA fit slowly worsens. 176k became production: 8x smaller than the 1.43M model.</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August. 14% of test pixels have two interior BP peaks (rising to 30% in the brightest decile). When the model draws two peaks it is right 80% of the time against a 14% base rate, but it recalls only about 30%; misses are mostly close, unequal peaks. Re-solving BP 30 times under photon noise moves BP's own answer as much as our prediction differs from it (ratio 0.98 at bimodal pixels, 0.69 at unimodal ones). So most of the bimodal gap is the label's own irreproducibility. Caveat for claims: detecting peaks is not reproducing curves.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September. Matched comparison with the supervised BP and ENet models on the full shared test set: 153 held-out timestamps, the same pixels and the same Bright mask for both. The label-free ENet model was retrained with the matched objective (alpha = 0.001). Label-free has the better W1 and AIA MSE on both tracks and is better on everything except DEM MSE on ENet. The BP DEM MSE gap (4.19 vs 0.91) is what the rest of the talk explains. Live viewer: triborough.cs.nyu.edu/hsr3649/demdemo/webapp/compare.html</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BP track. The website mean says label-free is 4.6x worse; the median pixel says it is about 4x better. Both are true because squared error lets a few huge errors dominate: the worst 1% of pixels hold 97.8% of label-free's error, and Bright pixels hold 98.8%. On the typical Bright pixel label-free is still worse (2.82 vs 1.78), so there is a real Bright weakness, but the mean exaggerates it enormously.</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Pixels sorted by brightness: the largest of the six channel ratios, observed over that channel's top-5% cutoff (1x is the Bright line). The 69,283 pixels at 32x or more, 0.01% of 705M, hold 89.4% of label-free error and 90.0% of supervised error. Their DEMs are thousands of times larger than typical, and squared error grows with that square, so they dominate any squared-error score. The headline 4.63x gap equals the gap on this bucket (4.59x). These pixels are over the cutoff in all six channels, usually led by 94 A.</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Relative error per band: total squared error over total squared solver DEM, so the size effect cancels. Supervised gets relatively better as pixels brighten; label-free improves to about 3x, then turns worse (0.46 at 10-32x, 0.80 at 32x+). On the faint half of the Sun label-free is better on BP. ENet is within 27% of supervised in every band below 10x.</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Randomly drawn pixels from a seeded sample, not hand-picked. Top two rows are flare cores (32x and above), bottom row ordinary Bright pixels. Solver and supervised both have a tall hot peak near logT 6.8 to 6.9; label-free nearly misses it, with a small bump near 6.3 and a low tail near 7.0. At these pixels label-free predicts 41% of the solver's emission, a quarter of its peak height, 0.17 dex cooler, multi-peaked 83% of the time (solver 18%).</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Predicted peak over solver peak, by solver peak height; 1 is a perfect match. Label-free holds 0.8 to 0.9 up to a solver peak of about 100, then falls to 0.33, 0.21, 0.19 and 0.11. Supervised stays near 0.9. So this is saturation at the top end, not regression to the mean. On BP, supervised has its own weak end: it over-predicts the faintest DEMs, which is why label-free wins on faint pixels. Those values are near zero, so they carry little error.</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DEM projected through the AIA response and compared with the observation at flare cores. The BP solver reproduces all six channels within 8%, so a DEM that fits exists. Label-free fits 171, 193 and 211 A to 2% but reproduces only 24% of 94 A, 76% of 131 A and 66% of 335 A; 98% of flare-core pixels fall short in 94 A by more than 10%. The loss asks for the right answer and training does not deliver it on these rare pixels: a training problem. ENet is murkier, since the ENet solver itself reaches only 55% of 94 A there.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Solver noise: where a block was re-solved 2 to 5 times, the spread of BP's answers is an unavoidable floor. It explains 0.4% of label-free's Bright error on BP (1.5% for supervised; 5.7% and 9.1% on ENet). Double peaks: missing BP's second peak costs about 1% of the error. Drawing extra peaks where BP has one costs label-free 22% of its BP error and supervised 0.9%, because label-free's extra peaks sit on the huge flare-core DEMs.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five lessons, in the order we learned them.</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Running now: the production BP model with the supervised model's input path, square root of the intensities plus Fourier features at 12 frequencies. Our model uses log1p, which squeezes a flare core (~1e4) and a bright active region (~500) to 9.2 vs 6.2; the square root keeps them at 100 vs 22. Success: flare-core 94 A fit rising from 0.24 toward 0.92 without losing the faint half. If it is not enough, show the model flare-core pixels more often or weight them more. Either way, report by brightness band plus the median.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2.pn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bg>
      <p:bgPr>
        <a:solidFill>
          <a:srgbClr val="220337"/>
        </a:solidFill>
      </p:bgPr>
    </p:bg>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0" l="0" r="0" t="0"/>
          <a:stretch/>
        </p:blipFill>
        <p:spPr>
          <a:xfrm>
            <a:off x="0" y="0"/>
            <a:ext cx="9144003" cy="5143501"/>
          </a:xfrm>
          <a:prstGeom prst="rect">
            <a:avLst/>
          </a:prstGeom>
          <a:noFill/>
          <a:ln>
            <a:noFill/>
          </a:ln>
        </p:spPr>
      </p:pic>
      <p:pic>
        <p:nvPicPr>
          <p:cNvPr id="10" name="Google Shape;10;p2"/>
          <p:cNvPicPr preferRelativeResize="0"/>
          <p:nvPr/>
        </p:nvPicPr>
        <p:blipFill rotWithShape="1">
          <a:blip r:embed="rId3">
            <a:alphaModFix/>
          </a:blip>
          <a:srcRect b="0" l="0" r="0" t="0"/>
          <a:stretch/>
        </p:blipFill>
        <p:spPr>
          <a:xfrm>
            <a:off x="4047363" y="427947"/>
            <a:ext cx="1049175" cy="356100"/>
          </a:xfrm>
          <a:prstGeom prst="rect">
            <a:avLst/>
          </a:prstGeom>
          <a:noFill/>
          <a:ln>
            <a:noFill/>
          </a:ln>
        </p:spPr>
      </p:pic>
      <p:sp>
        <p:nvSpPr>
          <p:cNvPr id="11" name="Google Shape;11;p2"/>
          <p:cNvSpPr txBox="1"/>
          <p:nvPr>
            <p:ph type="title"/>
          </p:nvPr>
        </p:nvSpPr>
        <p:spPr>
          <a:xfrm>
            <a:off x="904850" y="1253682"/>
            <a:ext cx="7333800" cy="15951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None/>
              <a:defRPr sz="7200">
                <a:solidFill>
                  <a:schemeClr val="accent2"/>
                </a:solidFill>
              </a:defRPr>
            </a:lvl1pPr>
            <a:lvl2pPr lvl="1">
              <a:spcBef>
                <a:spcPts val="0"/>
              </a:spcBef>
              <a:spcAft>
                <a:spcPts val="0"/>
              </a:spcAft>
              <a:buNone/>
              <a:defRPr>
                <a:solidFill>
                  <a:srgbClr val="FFFFFF"/>
                </a:solidFill>
              </a:defRPr>
            </a:lvl2pPr>
            <a:lvl3pPr lvl="2">
              <a:spcBef>
                <a:spcPts val="0"/>
              </a:spcBef>
              <a:spcAft>
                <a:spcPts val="0"/>
              </a:spcAft>
              <a:buNone/>
              <a:defRPr>
                <a:solidFill>
                  <a:srgbClr val="FFFFFF"/>
                </a:solidFill>
              </a:defRPr>
            </a:lvl3pPr>
            <a:lvl4pPr lvl="3">
              <a:spcBef>
                <a:spcPts val="0"/>
              </a:spcBef>
              <a:spcAft>
                <a:spcPts val="0"/>
              </a:spcAft>
              <a:buNone/>
              <a:defRPr>
                <a:solidFill>
                  <a:srgbClr val="FFFFFF"/>
                </a:solidFill>
              </a:defRPr>
            </a:lvl4pPr>
            <a:lvl5pPr lvl="4">
              <a:spcBef>
                <a:spcPts val="0"/>
              </a:spcBef>
              <a:spcAft>
                <a:spcPts val="0"/>
              </a:spcAft>
              <a:buNone/>
              <a:defRPr>
                <a:solidFill>
                  <a:srgbClr val="FFFFFF"/>
                </a:solidFill>
              </a:defRPr>
            </a:lvl5pPr>
            <a:lvl6pPr lvl="5">
              <a:spcBef>
                <a:spcPts val="0"/>
              </a:spcBef>
              <a:spcAft>
                <a:spcPts val="0"/>
              </a:spcAft>
              <a:buNone/>
              <a:defRPr>
                <a:solidFill>
                  <a:srgbClr val="FFFFFF"/>
                </a:solidFill>
              </a:defRPr>
            </a:lvl6pPr>
            <a:lvl7pPr lvl="6">
              <a:spcBef>
                <a:spcPts val="0"/>
              </a:spcBef>
              <a:spcAft>
                <a:spcPts val="0"/>
              </a:spcAft>
              <a:buNone/>
              <a:defRPr>
                <a:solidFill>
                  <a:srgbClr val="FFFFFF"/>
                </a:solidFill>
              </a:defRPr>
            </a:lvl7pPr>
            <a:lvl8pPr lvl="7">
              <a:spcBef>
                <a:spcPts val="0"/>
              </a:spcBef>
              <a:spcAft>
                <a:spcPts val="0"/>
              </a:spcAft>
              <a:buNone/>
              <a:defRPr>
                <a:solidFill>
                  <a:srgbClr val="FFFFFF"/>
                </a:solidFill>
              </a:defRPr>
            </a:lvl8pPr>
            <a:lvl9pPr lvl="8">
              <a:spcBef>
                <a:spcPts val="0"/>
              </a:spcBef>
              <a:spcAft>
                <a:spcPts val="0"/>
              </a:spcAft>
              <a:buNone/>
              <a:defRPr>
                <a:solidFill>
                  <a:srgbClr val="FFFFFF"/>
                </a:solidFill>
              </a:defRPr>
            </a:lvl9pPr>
          </a:lstStyle>
          <a:p/>
        </p:txBody>
      </p:sp>
      <p:sp>
        <p:nvSpPr>
          <p:cNvPr id="12" name="Google Shape;12;p2"/>
          <p:cNvSpPr txBox="1"/>
          <p:nvPr>
            <p:ph idx="1" type="body"/>
          </p:nvPr>
        </p:nvSpPr>
        <p:spPr>
          <a:xfrm>
            <a:off x="2496200" y="4275729"/>
            <a:ext cx="4151400" cy="304500"/>
          </a:xfrm>
          <a:prstGeom prst="rect">
            <a:avLst/>
          </a:prstGeom>
        </p:spPr>
        <p:txBody>
          <a:bodyPr anchorCtr="0" anchor="t" bIns="91425" lIns="91425" spcFirstLastPara="1" rIns="91425" wrap="square" tIns="91425">
            <a:noAutofit/>
          </a:bodyPr>
          <a:lstStyle>
            <a:lvl1pPr indent="-292100" lvl="0" marL="4572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1pPr>
            <a:lvl2pPr indent="-292100" lvl="1" marL="9144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2pPr>
            <a:lvl3pPr indent="-292100" lvl="2" marL="13716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3pPr>
            <a:lvl4pPr indent="-292100" lvl="3" marL="18288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4pPr>
            <a:lvl5pPr indent="-292100" lvl="4" marL="22860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5pPr>
            <a:lvl6pPr indent="-292100" lvl="5" marL="27432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6pPr>
            <a:lvl7pPr indent="-292100" lvl="6" marL="32004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7pPr>
            <a:lvl8pPr indent="-292100" lvl="7" marL="36576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8pPr>
            <a:lvl9pPr indent="-292100" lvl="8" marL="4114800" rtl="0" algn="ctr">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9pPr>
          </a:lstStyle>
          <a:p/>
        </p:txBody>
      </p:sp>
      <p:sp>
        <p:nvSpPr>
          <p:cNvPr id="13" name="Google Shape;13;p2"/>
          <p:cNvSpPr txBox="1"/>
          <p:nvPr>
            <p:ph idx="2" type="subTitle"/>
          </p:nvPr>
        </p:nvSpPr>
        <p:spPr>
          <a:xfrm>
            <a:off x="2496200" y="2791614"/>
            <a:ext cx="4151400" cy="700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500">
                <a:solidFill>
                  <a:schemeClr val="accent2"/>
                </a:solidFill>
              </a:defRPr>
            </a:lvl1pPr>
            <a:lvl2pPr lvl="1" rtl="0">
              <a:spcBef>
                <a:spcPts val="1600"/>
              </a:spcBef>
              <a:spcAft>
                <a:spcPts val="0"/>
              </a:spcAft>
              <a:buNone/>
              <a:defRPr>
                <a:solidFill>
                  <a:schemeClr val="accent2"/>
                </a:solidFill>
              </a:defRPr>
            </a:lvl2pPr>
            <a:lvl3pPr lvl="2" rtl="0">
              <a:spcBef>
                <a:spcPts val="1600"/>
              </a:spcBef>
              <a:spcAft>
                <a:spcPts val="0"/>
              </a:spcAft>
              <a:buNone/>
              <a:defRPr>
                <a:solidFill>
                  <a:schemeClr val="accent2"/>
                </a:solidFill>
              </a:defRPr>
            </a:lvl3pPr>
            <a:lvl4pPr lvl="3" rtl="0">
              <a:spcBef>
                <a:spcPts val="1600"/>
              </a:spcBef>
              <a:spcAft>
                <a:spcPts val="0"/>
              </a:spcAft>
              <a:buNone/>
              <a:defRPr>
                <a:solidFill>
                  <a:schemeClr val="accent2"/>
                </a:solidFill>
              </a:defRPr>
            </a:lvl4pPr>
            <a:lvl5pPr lvl="4" rtl="0">
              <a:spcBef>
                <a:spcPts val="1600"/>
              </a:spcBef>
              <a:spcAft>
                <a:spcPts val="0"/>
              </a:spcAft>
              <a:buNone/>
              <a:defRPr>
                <a:solidFill>
                  <a:schemeClr val="accent2"/>
                </a:solidFill>
              </a:defRPr>
            </a:lvl5pPr>
            <a:lvl6pPr lvl="5" rtl="0">
              <a:spcBef>
                <a:spcPts val="1600"/>
              </a:spcBef>
              <a:spcAft>
                <a:spcPts val="0"/>
              </a:spcAft>
              <a:buNone/>
              <a:defRPr>
                <a:solidFill>
                  <a:schemeClr val="accent2"/>
                </a:solidFill>
              </a:defRPr>
            </a:lvl6pPr>
            <a:lvl7pPr lvl="6" rtl="0">
              <a:spcBef>
                <a:spcPts val="1600"/>
              </a:spcBef>
              <a:spcAft>
                <a:spcPts val="0"/>
              </a:spcAft>
              <a:buNone/>
              <a:defRPr>
                <a:solidFill>
                  <a:schemeClr val="accent2"/>
                </a:solidFill>
              </a:defRPr>
            </a:lvl7pPr>
            <a:lvl8pPr lvl="7" rtl="0">
              <a:spcBef>
                <a:spcPts val="1600"/>
              </a:spcBef>
              <a:spcAft>
                <a:spcPts val="0"/>
              </a:spcAft>
              <a:buNone/>
              <a:defRPr>
                <a:solidFill>
                  <a:schemeClr val="accent2"/>
                </a:solidFill>
              </a:defRPr>
            </a:lvl8pPr>
            <a:lvl9pPr lvl="8" rtl="0">
              <a:spcBef>
                <a:spcPts val="1600"/>
              </a:spcBef>
              <a:spcAft>
                <a:spcPts val="1600"/>
              </a:spcAft>
              <a:buNone/>
              <a:defRPr>
                <a:solidFill>
                  <a:schemeClr val="accent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_1_1_1">
    <p:bg>
      <p:bgPr>
        <a:solidFill>
          <a:srgbClr val="220337"/>
        </a:solidFill>
      </p:bgPr>
    </p:bg>
    <p:spTree>
      <p:nvGrpSpPr>
        <p:cNvPr id="14" name="Shape 14"/>
        <p:cNvGrpSpPr/>
        <p:nvPr/>
      </p:nvGrpSpPr>
      <p:grpSpPr>
        <a:xfrm>
          <a:off x="0" y="0"/>
          <a:ext cx="0" cy="0"/>
          <a:chOff x="0" y="0"/>
          <a:chExt cx="0" cy="0"/>
        </a:xfrm>
      </p:grpSpPr>
      <p:pic>
        <p:nvPicPr>
          <p:cNvPr id="15" name="Google Shape;15;p3"/>
          <p:cNvPicPr preferRelativeResize="0"/>
          <p:nvPr/>
        </p:nvPicPr>
        <p:blipFill rotWithShape="1">
          <a:blip r:embed="rId2">
            <a:alphaModFix/>
          </a:blip>
          <a:srcRect b="367" l="308" r="328" t="357"/>
          <a:stretch/>
        </p:blipFill>
        <p:spPr>
          <a:xfrm>
            <a:off x="0" y="250"/>
            <a:ext cx="9143997" cy="5143501"/>
          </a:xfrm>
          <a:prstGeom prst="rect">
            <a:avLst/>
          </a:prstGeom>
          <a:noFill/>
          <a:ln>
            <a:noFill/>
          </a:ln>
        </p:spPr>
      </p:pic>
      <p:pic>
        <p:nvPicPr>
          <p:cNvPr descr="New York University logo" id="16" name="Google Shape;16;p3"/>
          <p:cNvPicPr preferRelativeResize="0"/>
          <p:nvPr/>
        </p:nvPicPr>
        <p:blipFill rotWithShape="1">
          <a:blip r:embed="rId3">
            <a:alphaModFix/>
          </a:blip>
          <a:srcRect b="0" l="0" r="0" t="0"/>
          <a:stretch/>
        </p:blipFill>
        <p:spPr>
          <a:xfrm>
            <a:off x="4047363" y="427947"/>
            <a:ext cx="1049175" cy="356100"/>
          </a:xfrm>
          <a:prstGeom prst="rect">
            <a:avLst/>
          </a:prstGeom>
          <a:noFill/>
          <a:ln>
            <a:noFill/>
          </a:ln>
        </p:spPr>
      </p:pic>
      <p:sp>
        <p:nvSpPr>
          <p:cNvPr id="17" name="Google Shape;17;p3"/>
          <p:cNvSpPr txBox="1"/>
          <p:nvPr>
            <p:ph type="title"/>
          </p:nvPr>
        </p:nvSpPr>
        <p:spPr>
          <a:xfrm>
            <a:off x="904850" y="1253682"/>
            <a:ext cx="7333800" cy="1595100"/>
          </a:xfrm>
          <a:prstGeom prst="rect">
            <a:avLst/>
          </a:prstGeom>
        </p:spPr>
        <p:txBody>
          <a:bodyPr anchorCtr="0" anchor="ctr" bIns="91425" lIns="91425" spcFirstLastPara="1" rIns="91425" wrap="square" tIns="91425">
            <a:noAutofit/>
          </a:bodyPr>
          <a:lstStyle>
            <a:lvl1pPr lvl="0" rtl="0" algn="ctr">
              <a:lnSpc>
                <a:spcPct val="80000"/>
              </a:lnSpc>
              <a:spcBef>
                <a:spcPts val="0"/>
              </a:spcBef>
              <a:spcAft>
                <a:spcPts val="0"/>
              </a:spcAft>
              <a:buNone/>
              <a:defRPr sz="7200">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p:txBody>
      </p:sp>
      <p:sp>
        <p:nvSpPr>
          <p:cNvPr id="18" name="Google Shape;18;p3"/>
          <p:cNvSpPr txBox="1"/>
          <p:nvPr>
            <p:ph idx="1" type="body"/>
          </p:nvPr>
        </p:nvSpPr>
        <p:spPr>
          <a:xfrm>
            <a:off x="2496200" y="4275729"/>
            <a:ext cx="4151400" cy="304500"/>
          </a:xfrm>
          <a:prstGeom prst="rect">
            <a:avLst/>
          </a:prstGeom>
        </p:spPr>
        <p:txBody>
          <a:bodyPr anchorCtr="0" anchor="t" bIns="91425" lIns="91425" spcFirstLastPara="1" rIns="91425" wrap="square" tIns="91425">
            <a:noAutofit/>
          </a:bodyPr>
          <a:lstStyle>
            <a:lvl1pPr indent="-292100" lvl="0" marL="4572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1pPr>
            <a:lvl2pPr indent="-292100" lvl="1" marL="9144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2pPr>
            <a:lvl3pPr indent="-292100" lvl="2" marL="13716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3pPr>
            <a:lvl4pPr indent="-292100" lvl="3" marL="18288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4pPr>
            <a:lvl5pPr indent="-292100" lvl="4" marL="22860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5pPr>
            <a:lvl6pPr indent="-292100" lvl="5" marL="27432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6pPr>
            <a:lvl7pPr indent="-292100" lvl="6" marL="32004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7pPr>
            <a:lvl8pPr indent="-292100" lvl="7" marL="36576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8pPr>
            <a:lvl9pPr indent="-292100" lvl="8" marL="4114800" rtl="0" algn="ctr">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9pPr>
          </a:lstStyle>
          <a:p/>
        </p:txBody>
      </p:sp>
      <p:sp>
        <p:nvSpPr>
          <p:cNvPr id="19" name="Google Shape;19;p3"/>
          <p:cNvSpPr txBox="1"/>
          <p:nvPr>
            <p:ph idx="2" type="subTitle"/>
          </p:nvPr>
        </p:nvSpPr>
        <p:spPr>
          <a:xfrm>
            <a:off x="2496200" y="2791614"/>
            <a:ext cx="4151400" cy="700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500">
                <a:solidFill>
                  <a:srgbClr val="FFFFFF"/>
                </a:solidFill>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2"/>
        </a:solidFill>
      </p:bgPr>
    </p:bg>
    <p:spTree>
      <p:nvGrpSpPr>
        <p:cNvPr id="20" name="Shape 20"/>
        <p:cNvGrpSpPr/>
        <p:nvPr/>
      </p:nvGrpSpPr>
      <p:grpSpPr>
        <a:xfrm>
          <a:off x="0" y="0"/>
          <a:ext cx="0" cy="0"/>
          <a:chOff x="0" y="0"/>
          <a:chExt cx="0" cy="0"/>
        </a:xfrm>
      </p:grpSpPr>
      <p:pic>
        <p:nvPicPr>
          <p:cNvPr id="21" name="Google Shape;21;p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22" name="Google Shape;22;p4"/>
          <p:cNvSpPr txBox="1"/>
          <p:nvPr>
            <p:ph type="title"/>
          </p:nvPr>
        </p:nvSpPr>
        <p:spPr>
          <a:xfrm>
            <a:off x="1506000" y="1385509"/>
            <a:ext cx="6131700" cy="1638600"/>
          </a:xfrm>
          <a:prstGeom prst="rect">
            <a:avLst/>
          </a:prstGeom>
        </p:spPr>
        <p:txBody>
          <a:bodyPr anchorCtr="0" anchor="b" bIns="91425" lIns="91425" spcFirstLastPara="1" rIns="91425" wrap="square" tIns="91425">
            <a:noAutofit/>
          </a:bodyPr>
          <a:lstStyle>
            <a:lvl1pPr lvl="0" algn="ctr">
              <a:lnSpc>
                <a:spcPct val="80000"/>
              </a:lnSpc>
              <a:spcBef>
                <a:spcPts val="0"/>
              </a:spcBef>
              <a:spcAft>
                <a:spcPts val="0"/>
              </a:spcAft>
              <a:buNone/>
              <a:defRPr sz="6000"/>
            </a:lvl1pPr>
            <a:lvl2pPr lvl="1">
              <a:spcBef>
                <a:spcPts val="0"/>
              </a:spcBef>
              <a:spcAft>
                <a:spcPts val="0"/>
              </a:spcAft>
              <a:buNone/>
              <a:defRPr>
                <a:latin typeface="Montserrat"/>
                <a:ea typeface="Montserrat"/>
                <a:cs typeface="Montserrat"/>
                <a:sym typeface="Montserrat"/>
              </a:defRPr>
            </a:lvl2pPr>
            <a:lvl3pPr lvl="2">
              <a:spcBef>
                <a:spcPts val="0"/>
              </a:spcBef>
              <a:spcAft>
                <a:spcPts val="0"/>
              </a:spcAft>
              <a:buNone/>
              <a:defRPr>
                <a:latin typeface="Montserrat"/>
                <a:ea typeface="Montserrat"/>
                <a:cs typeface="Montserrat"/>
                <a:sym typeface="Montserrat"/>
              </a:defRPr>
            </a:lvl3pPr>
            <a:lvl4pPr lvl="3">
              <a:spcBef>
                <a:spcPts val="0"/>
              </a:spcBef>
              <a:spcAft>
                <a:spcPts val="0"/>
              </a:spcAft>
              <a:buNone/>
              <a:defRPr>
                <a:latin typeface="Montserrat"/>
                <a:ea typeface="Montserrat"/>
                <a:cs typeface="Montserrat"/>
                <a:sym typeface="Montserrat"/>
              </a:defRPr>
            </a:lvl4pPr>
            <a:lvl5pPr lvl="4">
              <a:spcBef>
                <a:spcPts val="0"/>
              </a:spcBef>
              <a:spcAft>
                <a:spcPts val="0"/>
              </a:spcAft>
              <a:buNone/>
              <a:defRPr>
                <a:latin typeface="Montserrat"/>
                <a:ea typeface="Montserrat"/>
                <a:cs typeface="Montserrat"/>
                <a:sym typeface="Montserrat"/>
              </a:defRPr>
            </a:lvl5pPr>
            <a:lvl6pPr lvl="5">
              <a:spcBef>
                <a:spcPts val="0"/>
              </a:spcBef>
              <a:spcAft>
                <a:spcPts val="0"/>
              </a:spcAft>
              <a:buNone/>
              <a:defRPr>
                <a:latin typeface="Montserrat"/>
                <a:ea typeface="Montserrat"/>
                <a:cs typeface="Montserrat"/>
                <a:sym typeface="Montserrat"/>
              </a:defRPr>
            </a:lvl6pPr>
            <a:lvl7pPr lvl="6">
              <a:spcBef>
                <a:spcPts val="0"/>
              </a:spcBef>
              <a:spcAft>
                <a:spcPts val="0"/>
              </a:spcAft>
              <a:buNone/>
              <a:defRPr>
                <a:latin typeface="Montserrat"/>
                <a:ea typeface="Montserrat"/>
                <a:cs typeface="Montserrat"/>
                <a:sym typeface="Montserrat"/>
              </a:defRPr>
            </a:lvl7pPr>
            <a:lvl8pPr lvl="7">
              <a:spcBef>
                <a:spcPts val="0"/>
              </a:spcBef>
              <a:spcAft>
                <a:spcPts val="0"/>
              </a:spcAft>
              <a:buNone/>
              <a:defRPr>
                <a:latin typeface="Montserrat"/>
                <a:ea typeface="Montserrat"/>
                <a:cs typeface="Montserrat"/>
                <a:sym typeface="Montserrat"/>
              </a:defRPr>
            </a:lvl8pPr>
            <a:lvl9pPr lvl="8">
              <a:spcBef>
                <a:spcPts val="0"/>
              </a:spcBef>
              <a:spcAft>
                <a:spcPts val="0"/>
              </a:spcAft>
              <a:buNone/>
              <a:defRPr>
                <a:latin typeface="Montserrat"/>
                <a:ea typeface="Montserrat"/>
                <a:cs typeface="Montserrat"/>
                <a:sym typeface="Montserrat"/>
              </a:defRPr>
            </a:lvl9pPr>
          </a:lstStyle>
          <a:p/>
        </p:txBody>
      </p:sp>
      <p:sp>
        <p:nvSpPr>
          <p:cNvPr id="23" name="Google Shape;23;p4"/>
          <p:cNvSpPr txBox="1"/>
          <p:nvPr>
            <p:ph idx="1" type="subTitle"/>
          </p:nvPr>
        </p:nvSpPr>
        <p:spPr>
          <a:xfrm>
            <a:off x="2462575" y="2959018"/>
            <a:ext cx="4218600" cy="7341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solidFill>
                  <a:schemeClr val="dk1"/>
                </a:solidFill>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5"/>
          <p:cNvSpPr txBox="1"/>
          <p:nvPr/>
        </p:nvSpPr>
        <p:spPr>
          <a:xfrm>
            <a:off x="4583948"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pic>
        <p:nvPicPr>
          <p:cNvPr descr=" " id="26" name="Google Shape;26;p5"/>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27" name="Google Shape;27;p5"/>
          <p:cNvSpPr txBox="1"/>
          <p:nvPr>
            <p:ph type="title"/>
          </p:nvPr>
        </p:nvSpPr>
        <p:spPr>
          <a:xfrm>
            <a:off x="311700" y="587975"/>
            <a:ext cx="6551100" cy="6579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Clr>
                <a:srgbClr val="57068C"/>
              </a:buClr>
              <a:buSzPts val="4800"/>
              <a:buNone/>
              <a:defRPr sz="4800">
                <a:solidFill>
                  <a:srgbClr val="57068C"/>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5"/>
          <p:cNvSpPr txBox="1"/>
          <p:nvPr>
            <p:ph idx="1" type="body"/>
          </p:nvPr>
        </p:nvSpPr>
        <p:spPr>
          <a:xfrm>
            <a:off x="311700" y="1448400"/>
            <a:ext cx="6551100" cy="2246700"/>
          </a:xfrm>
          <a:prstGeom prst="rect">
            <a:avLst/>
          </a:prstGeom>
        </p:spPr>
        <p:txBody>
          <a:bodyPr anchorCtr="0" anchor="t" bIns="91425" lIns="91425" spcFirstLastPara="1" rIns="91425" wrap="square" tIns="91425">
            <a:noAutofit/>
          </a:bodyPr>
          <a:lstStyle>
            <a:lvl1pPr indent="-342900" lvl="0" marL="457200">
              <a:lnSpc>
                <a:spcPct val="125000"/>
              </a:lnSpc>
              <a:spcBef>
                <a:spcPts val="0"/>
              </a:spcBef>
              <a:spcAft>
                <a:spcPts val="0"/>
              </a:spcAft>
              <a:buSzPts val="1800"/>
              <a:buChar char="●"/>
              <a:defRPr/>
            </a:lvl1pPr>
            <a:lvl2pPr indent="-317500" lvl="1" marL="914400">
              <a:spcBef>
                <a:spcPts val="1000"/>
              </a:spcBef>
              <a:spcAft>
                <a:spcPts val="0"/>
              </a:spcAft>
              <a:buSzPts val="1400"/>
              <a:buChar char="○"/>
              <a:defRPr/>
            </a:lvl2pPr>
            <a:lvl3pPr indent="-317500" lvl="2" marL="1371600">
              <a:spcBef>
                <a:spcPts val="1000"/>
              </a:spcBef>
              <a:spcAft>
                <a:spcPts val="0"/>
              </a:spcAft>
              <a:buSzPts val="1400"/>
              <a:buChar char="■"/>
              <a:defRPr/>
            </a:lvl3pPr>
            <a:lvl4pPr indent="-317500" lvl="3" marL="1828800">
              <a:spcBef>
                <a:spcPts val="1000"/>
              </a:spcBef>
              <a:spcAft>
                <a:spcPts val="0"/>
              </a:spcAft>
              <a:buSzPts val="1400"/>
              <a:buChar char="●"/>
              <a:defRPr/>
            </a:lvl4pPr>
            <a:lvl5pPr indent="-317500" lvl="4" marL="2286000">
              <a:spcBef>
                <a:spcPts val="1000"/>
              </a:spcBef>
              <a:spcAft>
                <a:spcPts val="0"/>
              </a:spcAft>
              <a:buSzPts val="14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pic>
        <p:nvPicPr>
          <p:cNvPr id="29" name="Google Shape;29;p5"/>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extLst>
    <p:ext uri="{DCECCB84-F9BA-43D5-87BE-67443E8EF086}">
      <p15:sldGuideLst>
        <p15:guide id="1" orient="horz" pos="432">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6"/>
          <p:cNvSpPr txBox="1"/>
          <p:nvPr>
            <p:ph type="title"/>
          </p:nvPr>
        </p:nvSpPr>
        <p:spPr>
          <a:xfrm>
            <a:off x="311700" y="587970"/>
            <a:ext cx="4945500" cy="113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rgbClr val="57068C"/>
              </a:buClr>
              <a:buSzPts val="4800"/>
              <a:buNone/>
              <a:defRPr sz="4800">
                <a:solidFill>
                  <a:srgbClr val="57068C"/>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6"/>
          <p:cNvSpPr txBox="1"/>
          <p:nvPr>
            <p:ph idx="1" type="body"/>
          </p:nvPr>
        </p:nvSpPr>
        <p:spPr>
          <a:xfrm>
            <a:off x="311700" y="2467949"/>
            <a:ext cx="3999900" cy="1807800"/>
          </a:xfrm>
          <a:prstGeom prst="rect">
            <a:avLst/>
          </a:prstGeom>
        </p:spPr>
        <p:txBody>
          <a:bodyPr anchorCtr="0" anchor="t" bIns="91425" lIns="91425" spcFirstLastPara="1" rIns="91425" wrap="square" tIns="91425">
            <a:noAutofit/>
          </a:bodyPr>
          <a:lstStyle>
            <a:lvl1pPr indent="-304800" lvl="0" marL="457200">
              <a:lnSpc>
                <a:spcPct val="125000"/>
              </a:lnSpc>
              <a:spcBef>
                <a:spcPts val="0"/>
              </a:spcBef>
              <a:spcAft>
                <a:spcPts val="0"/>
              </a:spcAft>
              <a:buSzPts val="1200"/>
              <a:buChar char="●"/>
              <a:defRPr sz="1200"/>
            </a:lvl1pPr>
            <a:lvl2pPr indent="-304800" lvl="1" marL="914400">
              <a:lnSpc>
                <a:spcPct val="125000"/>
              </a:lnSpc>
              <a:spcBef>
                <a:spcPts val="800"/>
              </a:spcBef>
              <a:spcAft>
                <a:spcPts val="0"/>
              </a:spcAft>
              <a:buSzPts val="1200"/>
              <a:buChar char="○"/>
              <a:defRPr sz="1200"/>
            </a:lvl2pPr>
            <a:lvl3pPr indent="-304800" lvl="2" marL="1371600">
              <a:lnSpc>
                <a:spcPct val="125000"/>
              </a:lnSpc>
              <a:spcBef>
                <a:spcPts val="800"/>
              </a:spcBef>
              <a:spcAft>
                <a:spcPts val="0"/>
              </a:spcAft>
              <a:buSzPts val="1200"/>
              <a:buChar char="■"/>
              <a:defRPr sz="1200"/>
            </a:lvl3pPr>
            <a:lvl4pPr indent="-304800" lvl="3" marL="1828800">
              <a:lnSpc>
                <a:spcPct val="125000"/>
              </a:lnSpc>
              <a:spcBef>
                <a:spcPts val="800"/>
              </a:spcBef>
              <a:spcAft>
                <a:spcPts val="0"/>
              </a:spcAft>
              <a:buSzPts val="1200"/>
              <a:buChar char="●"/>
              <a:defRPr sz="1200"/>
            </a:lvl4pPr>
            <a:lvl5pPr indent="-304800" lvl="4" marL="2286000">
              <a:lnSpc>
                <a:spcPct val="125000"/>
              </a:lnSpc>
              <a:spcBef>
                <a:spcPts val="800"/>
              </a:spcBef>
              <a:spcAft>
                <a:spcPts val="0"/>
              </a:spcAft>
              <a:buSzPts val="1200"/>
              <a:buChar char="○"/>
              <a:defRPr sz="1200"/>
            </a:lvl5pPr>
            <a:lvl6pPr indent="-304800" lvl="5" marL="2743200">
              <a:lnSpc>
                <a:spcPct val="125000"/>
              </a:lnSpc>
              <a:spcBef>
                <a:spcPts val="800"/>
              </a:spcBef>
              <a:spcAft>
                <a:spcPts val="0"/>
              </a:spcAft>
              <a:buSzPts val="1200"/>
              <a:buChar char="■"/>
              <a:defRPr sz="1200"/>
            </a:lvl6pPr>
            <a:lvl7pPr indent="-304800" lvl="6" marL="3200400">
              <a:lnSpc>
                <a:spcPct val="125000"/>
              </a:lnSpc>
              <a:spcBef>
                <a:spcPts val="800"/>
              </a:spcBef>
              <a:spcAft>
                <a:spcPts val="0"/>
              </a:spcAft>
              <a:buSzPts val="1200"/>
              <a:buChar char="●"/>
              <a:defRPr sz="1200"/>
            </a:lvl7pPr>
            <a:lvl8pPr indent="-304800" lvl="7" marL="3657600">
              <a:lnSpc>
                <a:spcPct val="125000"/>
              </a:lnSpc>
              <a:spcBef>
                <a:spcPts val="800"/>
              </a:spcBef>
              <a:spcAft>
                <a:spcPts val="0"/>
              </a:spcAft>
              <a:buSzPts val="1200"/>
              <a:buChar char="○"/>
              <a:defRPr sz="1200"/>
            </a:lvl8pPr>
            <a:lvl9pPr indent="-304800" lvl="8" marL="4114800">
              <a:lnSpc>
                <a:spcPct val="125000"/>
              </a:lnSpc>
              <a:spcBef>
                <a:spcPts val="800"/>
              </a:spcBef>
              <a:spcAft>
                <a:spcPts val="800"/>
              </a:spcAft>
              <a:buSzPts val="1200"/>
              <a:buChar char="■"/>
              <a:defRPr sz="1200"/>
            </a:lvl9pPr>
          </a:lstStyle>
          <a:p/>
        </p:txBody>
      </p:sp>
      <p:sp>
        <p:nvSpPr>
          <p:cNvPr id="33" name="Google Shape;33;p6"/>
          <p:cNvSpPr txBox="1"/>
          <p:nvPr>
            <p:ph idx="2" type="body"/>
          </p:nvPr>
        </p:nvSpPr>
        <p:spPr>
          <a:xfrm>
            <a:off x="4619925" y="2467949"/>
            <a:ext cx="3999900" cy="1807800"/>
          </a:xfrm>
          <a:prstGeom prst="rect">
            <a:avLst/>
          </a:prstGeom>
        </p:spPr>
        <p:txBody>
          <a:bodyPr anchorCtr="0" anchor="t" bIns="91425" lIns="91425" spcFirstLastPara="1" rIns="91425" wrap="square" tIns="91425">
            <a:noAutofit/>
          </a:bodyPr>
          <a:lstStyle>
            <a:lvl1pPr indent="-304800" lvl="0" marL="457200">
              <a:lnSpc>
                <a:spcPct val="125000"/>
              </a:lnSpc>
              <a:spcBef>
                <a:spcPts val="0"/>
              </a:spcBef>
              <a:spcAft>
                <a:spcPts val="0"/>
              </a:spcAft>
              <a:buSzPts val="1200"/>
              <a:buChar char="●"/>
              <a:defRPr sz="1200"/>
            </a:lvl1pPr>
            <a:lvl2pPr indent="-304800" lvl="1" marL="914400">
              <a:lnSpc>
                <a:spcPct val="125000"/>
              </a:lnSpc>
              <a:spcBef>
                <a:spcPts val="800"/>
              </a:spcBef>
              <a:spcAft>
                <a:spcPts val="0"/>
              </a:spcAft>
              <a:buSzPts val="1200"/>
              <a:buChar char="○"/>
              <a:defRPr sz="1200"/>
            </a:lvl2pPr>
            <a:lvl3pPr indent="-304800" lvl="2" marL="1371600">
              <a:lnSpc>
                <a:spcPct val="125000"/>
              </a:lnSpc>
              <a:spcBef>
                <a:spcPts val="800"/>
              </a:spcBef>
              <a:spcAft>
                <a:spcPts val="0"/>
              </a:spcAft>
              <a:buSzPts val="1200"/>
              <a:buChar char="■"/>
              <a:defRPr sz="1200"/>
            </a:lvl3pPr>
            <a:lvl4pPr indent="-304800" lvl="3" marL="1828800">
              <a:lnSpc>
                <a:spcPct val="125000"/>
              </a:lnSpc>
              <a:spcBef>
                <a:spcPts val="800"/>
              </a:spcBef>
              <a:spcAft>
                <a:spcPts val="0"/>
              </a:spcAft>
              <a:buSzPts val="1200"/>
              <a:buChar char="●"/>
              <a:defRPr sz="1200"/>
            </a:lvl4pPr>
            <a:lvl5pPr indent="-304800" lvl="4" marL="2286000">
              <a:lnSpc>
                <a:spcPct val="125000"/>
              </a:lnSpc>
              <a:spcBef>
                <a:spcPts val="800"/>
              </a:spcBef>
              <a:spcAft>
                <a:spcPts val="0"/>
              </a:spcAft>
              <a:buSzPts val="1200"/>
              <a:buChar char="○"/>
              <a:defRPr sz="1200"/>
            </a:lvl5pPr>
            <a:lvl6pPr indent="-304800" lvl="5" marL="2743200">
              <a:lnSpc>
                <a:spcPct val="125000"/>
              </a:lnSpc>
              <a:spcBef>
                <a:spcPts val="800"/>
              </a:spcBef>
              <a:spcAft>
                <a:spcPts val="0"/>
              </a:spcAft>
              <a:buSzPts val="1200"/>
              <a:buChar char="■"/>
              <a:defRPr sz="1200"/>
            </a:lvl6pPr>
            <a:lvl7pPr indent="-304800" lvl="6" marL="3200400">
              <a:lnSpc>
                <a:spcPct val="125000"/>
              </a:lnSpc>
              <a:spcBef>
                <a:spcPts val="800"/>
              </a:spcBef>
              <a:spcAft>
                <a:spcPts val="0"/>
              </a:spcAft>
              <a:buSzPts val="1200"/>
              <a:buChar char="●"/>
              <a:defRPr sz="1200"/>
            </a:lvl7pPr>
            <a:lvl8pPr indent="-304800" lvl="7" marL="3657600">
              <a:lnSpc>
                <a:spcPct val="125000"/>
              </a:lnSpc>
              <a:spcBef>
                <a:spcPts val="800"/>
              </a:spcBef>
              <a:spcAft>
                <a:spcPts val="0"/>
              </a:spcAft>
              <a:buSzPts val="1200"/>
              <a:buChar char="○"/>
              <a:defRPr sz="1200"/>
            </a:lvl8pPr>
            <a:lvl9pPr indent="-304800" lvl="8" marL="4114800">
              <a:lnSpc>
                <a:spcPct val="125000"/>
              </a:lnSpc>
              <a:spcBef>
                <a:spcPts val="800"/>
              </a:spcBef>
              <a:spcAft>
                <a:spcPts val="800"/>
              </a:spcAft>
              <a:buSzPts val="1200"/>
              <a:buChar char="■"/>
              <a:defRPr sz="1200"/>
            </a:lvl9pPr>
          </a:lstStyle>
          <a:p/>
        </p:txBody>
      </p:sp>
      <p:pic>
        <p:nvPicPr>
          <p:cNvPr descr=" " id="34" name="Google Shape;34;p6"/>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35" name="Google Shape;35;p6"/>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36" name="Google Shape;36;p6"/>
          <p:cNvSpPr txBox="1"/>
          <p:nvPr>
            <p:ph idx="3" type="subTitle"/>
          </p:nvPr>
        </p:nvSpPr>
        <p:spPr>
          <a:xfrm>
            <a:off x="311700" y="2054620"/>
            <a:ext cx="3999900" cy="411600"/>
          </a:xfrm>
          <a:prstGeom prst="rect">
            <a:avLst/>
          </a:prstGeom>
        </p:spPr>
        <p:txBody>
          <a:bodyPr anchorCtr="0" anchor="t" bIns="91425" lIns="91425" spcFirstLastPara="1" rIns="91425" wrap="square" tIns="91425">
            <a:noAutofit/>
          </a:bodyPr>
          <a:lstStyle>
            <a:lvl1pPr lvl="0">
              <a:spcBef>
                <a:spcPts val="0"/>
              </a:spcBef>
              <a:spcAft>
                <a:spcPts val="0"/>
              </a:spcAft>
              <a:buNone/>
              <a:defRPr b="1" sz="1400">
                <a:solidFill>
                  <a:schemeClr val="dk1"/>
                </a:solidFill>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7" name="Google Shape;37;p6"/>
          <p:cNvSpPr txBox="1"/>
          <p:nvPr>
            <p:ph idx="4" type="subTitle"/>
          </p:nvPr>
        </p:nvSpPr>
        <p:spPr>
          <a:xfrm>
            <a:off x="4619925" y="2054620"/>
            <a:ext cx="3999900" cy="411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1400">
                <a:solidFill>
                  <a:schemeClr val="dk1"/>
                </a:solidFill>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pic>
        <p:nvPicPr>
          <p:cNvPr id="38" name="Google Shape;38;p6"/>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7"/>
          <p:cNvSpPr txBox="1"/>
          <p:nvPr>
            <p:ph type="title"/>
          </p:nvPr>
        </p:nvSpPr>
        <p:spPr>
          <a:xfrm>
            <a:off x="311700" y="530680"/>
            <a:ext cx="8424900" cy="572700"/>
          </a:xfrm>
          <a:prstGeom prst="rect">
            <a:avLst/>
          </a:prstGeom>
        </p:spPr>
        <p:txBody>
          <a:bodyPr anchorCtr="0" anchor="t" bIns="91425" lIns="91425" spcFirstLastPara="1" rIns="91425" wrap="square" tIns="91425">
            <a:noAutofit/>
          </a:bodyPr>
          <a:lstStyle>
            <a:lvl1pPr lvl="0">
              <a:spcBef>
                <a:spcPts val="0"/>
              </a:spcBef>
              <a:spcAft>
                <a:spcPts val="0"/>
              </a:spcAft>
              <a:buClr>
                <a:srgbClr val="57068C"/>
              </a:buClr>
              <a:buSzPts val="3600"/>
              <a:buNone/>
              <a:defRPr>
                <a:solidFill>
                  <a:srgbClr val="57068C"/>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descr=" " id="41" name="Google Shape;41;p7"/>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42" name="Google Shape;42;p7"/>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pic>
        <p:nvPicPr>
          <p:cNvPr id="43" name="Google Shape;43;p7"/>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8"/>
          <p:cNvSpPr txBox="1"/>
          <p:nvPr>
            <p:ph type="title"/>
          </p:nvPr>
        </p:nvSpPr>
        <p:spPr>
          <a:xfrm>
            <a:off x="311700" y="708000"/>
            <a:ext cx="3132300" cy="755700"/>
          </a:xfrm>
          <a:prstGeom prst="rect">
            <a:avLst/>
          </a:prstGeom>
        </p:spPr>
        <p:txBody>
          <a:bodyPr anchorCtr="0" anchor="b" bIns="91425" lIns="91425" spcFirstLastPara="1" rIns="91425" wrap="square" tIns="91425">
            <a:noAutofit/>
          </a:bodyPr>
          <a:lstStyle>
            <a:lvl1pPr lvl="0">
              <a:spcBef>
                <a:spcPts val="0"/>
              </a:spcBef>
              <a:spcAft>
                <a:spcPts val="0"/>
              </a:spcAft>
              <a:buClr>
                <a:srgbClr val="57068C"/>
              </a:buClr>
              <a:buSzPts val="2400"/>
              <a:buNone/>
              <a:defRPr sz="2400">
                <a:solidFill>
                  <a:srgbClr val="57068C"/>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8"/>
          <p:cNvSpPr txBox="1"/>
          <p:nvPr>
            <p:ph idx="1" type="body"/>
          </p:nvPr>
        </p:nvSpPr>
        <p:spPr>
          <a:xfrm>
            <a:off x="311700" y="1542000"/>
            <a:ext cx="3054600" cy="2886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pic>
        <p:nvPicPr>
          <p:cNvPr descr=" " id="47" name="Google Shape;47;p8"/>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48" name="Google Shape;48;p8"/>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pic>
        <p:nvPicPr>
          <p:cNvPr id="49" name="Google Shape;49;p8"/>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extLst>
    <p:ext uri="{DCECCB84-F9BA-43D5-87BE-67443E8EF086}">
      <p15:sldGuideLst>
        <p15:guide id="1" orient="horz" pos="432">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0" name="Shape 50"/>
        <p:cNvGrpSpPr/>
        <p:nvPr/>
      </p:nvGrpSpPr>
      <p:grpSpPr>
        <a:xfrm>
          <a:off x="0" y="0"/>
          <a:ext cx="0" cy="0"/>
          <a:chOff x="0" y="0"/>
          <a:chExt cx="0" cy="0"/>
        </a:xfrm>
      </p:grpSpPr>
      <p:sp>
        <p:nvSpPr>
          <p:cNvPr id="51" name="Google Shape;51;p9"/>
          <p:cNvSpPr txBox="1"/>
          <p:nvPr>
            <p:ph type="title"/>
          </p:nvPr>
        </p:nvSpPr>
        <p:spPr>
          <a:xfrm>
            <a:off x="1772975" y="528144"/>
            <a:ext cx="5597700" cy="2475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rgbClr val="57068C"/>
              </a:buClr>
              <a:buSzPts val="5600"/>
              <a:buNone/>
              <a:defRPr sz="5600">
                <a:solidFill>
                  <a:srgbClr val="57068C"/>
                </a:solidFill>
              </a:defRPr>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pic>
        <p:nvPicPr>
          <p:cNvPr descr=" " id="52" name="Google Shape;52;p9"/>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53" name="Google Shape;53;p9"/>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54" name="Google Shape;54;p9"/>
          <p:cNvSpPr txBox="1"/>
          <p:nvPr>
            <p:ph idx="1" type="body"/>
          </p:nvPr>
        </p:nvSpPr>
        <p:spPr>
          <a:xfrm>
            <a:off x="2120250" y="2660325"/>
            <a:ext cx="4903500" cy="1615500"/>
          </a:xfrm>
          <a:prstGeom prst="rect">
            <a:avLst/>
          </a:prstGeom>
        </p:spPr>
        <p:txBody>
          <a:bodyPr anchorCtr="0" anchor="t" bIns="91425" lIns="91425" spcFirstLastPara="1" rIns="91425" wrap="square" tIns="91425">
            <a:noAutofit/>
          </a:bodyPr>
          <a:lstStyle>
            <a:lvl1pPr indent="-330200" lvl="0" marL="457200" algn="ctr">
              <a:lnSpc>
                <a:spcPct val="125000"/>
              </a:lnSpc>
              <a:spcBef>
                <a:spcPts val="0"/>
              </a:spcBef>
              <a:spcAft>
                <a:spcPts val="0"/>
              </a:spcAft>
              <a:buSzPts val="1600"/>
              <a:buChar char="●"/>
              <a:defRPr sz="1600"/>
            </a:lvl1pPr>
            <a:lvl2pPr indent="-330200" lvl="1" marL="914400" algn="ctr">
              <a:lnSpc>
                <a:spcPct val="125000"/>
              </a:lnSpc>
              <a:spcBef>
                <a:spcPts val="0"/>
              </a:spcBef>
              <a:spcAft>
                <a:spcPts val="0"/>
              </a:spcAft>
              <a:buSzPts val="1600"/>
              <a:buChar char="○"/>
              <a:defRPr sz="1600"/>
            </a:lvl2pPr>
            <a:lvl3pPr indent="-330200" lvl="2" marL="1371600" algn="ctr">
              <a:lnSpc>
                <a:spcPct val="125000"/>
              </a:lnSpc>
              <a:spcBef>
                <a:spcPts val="0"/>
              </a:spcBef>
              <a:spcAft>
                <a:spcPts val="0"/>
              </a:spcAft>
              <a:buSzPts val="1600"/>
              <a:buChar char="■"/>
              <a:defRPr sz="1600"/>
            </a:lvl3pPr>
            <a:lvl4pPr indent="-330200" lvl="3" marL="1828800" algn="ctr">
              <a:lnSpc>
                <a:spcPct val="125000"/>
              </a:lnSpc>
              <a:spcBef>
                <a:spcPts val="0"/>
              </a:spcBef>
              <a:spcAft>
                <a:spcPts val="0"/>
              </a:spcAft>
              <a:buSzPts val="1600"/>
              <a:buChar char="●"/>
              <a:defRPr sz="1600"/>
            </a:lvl4pPr>
            <a:lvl5pPr indent="-330200" lvl="4" marL="2286000" algn="ctr">
              <a:lnSpc>
                <a:spcPct val="125000"/>
              </a:lnSpc>
              <a:spcBef>
                <a:spcPts val="0"/>
              </a:spcBef>
              <a:spcAft>
                <a:spcPts val="0"/>
              </a:spcAft>
              <a:buSzPts val="1600"/>
              <a:buChar char="○"/>
              <a:defRPr sz="1600"/>
            </a:lvl5pPr>
            <a:lvl6pPr indent="-330200" lvl="5" marL="2743200" algn="ctr">
              <a:lnSpc>
                <a:spcPct val="125000"/>
              </a:lnSpc>
              <a:spcBef>
                <a:spcPts val="0"/>
              </a:spcBef>
              <a:spcAft>
                <a:spcPts val="0"/>
              </a:spcAft>
              <a:buSzPts val="1600"/>
              <a:buChar char="■"/>
              <a:defRPr sz="1600"/>
            </a:lvl6pPr>
            <a:lvl7pPr indent="-330200" lvl="6" marL="3200400" algn="ctr">
              <a:lnSpc>
                <a:spcPct val="125000"/>
              </a:lnSpc>
              <a:spcBef>
                <a:spcPts val="0"/>
              </a:spcBef>
              <a:spcAft>
                <a:spcPts val="0"/>
              </a:spcAft>
              <a:buSzPts val="1600"/>
              <a:buChar char="●"/>
              <a:defRPr sz="1600"/>
            </a:lvl7pPr>
            <a:lvl8pPr indent="-330200" lvl="7" marL="3657600" algn="ctr">
              <a:lnSpc>
                <a:spcPct val="125000"/>
              </a:lnSpc>
              <a:spcBef>
                <a:spcPts val="0"/>
              </a:spcBef>
              <a:spcAft>
                <a:spcPts val="0"/>
              </a:spcAft>
              <a:buSzPts val="1600"/>
              <a:buChar char="○"/>
              <a:defRPr sz="1600"/>
            </a:lvl8pPr>
            <a:lvl9pPr indent="-330200" lvl="8" marL="4114800" algn="ctr">
              <a:lnSpc>
                <a:spcPct val="125000"/>
              </a:lnSpc>
              <a:spcBef>
                <a:spcPts val="0"/>
              </a:spcBef>
              <a:spcAft>
                <a:spcPts val="0"/>
              </a:spcAft>
              <a:buSzPts val="1600"/>
              <a:buChar char="■"/>
              <a:defRPr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5" name="Shape 55"/>
        <p:cNvGrpSpPr/>
        <p:nvPr/>
      </p:nvGrpSpPr>
      <p:grpSpPr>
        <a:xfrm>
          <a:off x="0" y="0"/>
          <a:ext cx="0" cy="0"/>
          <a:chOff x="0" y="0"/>
          <a:chExt cx="0" cy="0"/>
        </a:xfrm>
      </p:grpSpPr>
      <p:sp>
        <p:nvSpPr>
          <p:cNvPr descr=" " id="56" name="Google Shape;5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txBox="1"/>
          <p:nvPr>
            <p:ph type="title"/>
          </p:nvPr>
        </p:nvSpPr>
        <p:spPr>
          <a:xfrm>
            <a:off x="294375" y="1233175"/>
            <a:ext cx="4079100" cy="14823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rgbClr val="57068C"/>
              </a:buClr>
              <a:buSzPts val="3600"/>
              <a:buNone/>
              <a:defRPr sz="3600">
                <a:solidFill>
                  <a:srgbClr val="57068C"/>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8" name="Google Shape;58;p10"/>
          <p:cNvSpPr txBox="1"/>
          <p:nvPr>
            <p:ph idx="1" type="subTitle"/>
          </p:nvPr>
        </p:nvSpPr>
        <p:spPr>
          <a:xfrm>
            <a:off x="294375" y="2803075"/>
            <a:ext cx="3616800" cy="1235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9A6ABA"/>
              </a:buClr>
              <a:buSzPts val="1800"/>
              <a:buNone/>
              <a:defRPr>
                <a:solidFill>
                  <a:srgbClr val="9A6ABA"/>
                </a:solidFill>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59" name="Google Shape;59;p10"/>
          <p:cNvSpPr txBox="1"/>
          <p:nvPr>
            <p:ph idx="2" type="body"/>
          </p:nvPr>
        </p:nvSpPr>
        <p:spPr>
          <a:xfrm>
            <a:off x="4939500" y="724075"/>
            <a:ext cx="3837000" cy="35517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pic>
        <p:nvPicPr>
          <p:cNvPr descr=" " id="60" name="Google Shape;60;p10"/>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61" name="Google Shape;61;p10"/>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2" name="Shape 62"/>
        <p:cNvGrpSpPr/>
        <p:nvPr/>
      </p:nvGrpSpPr>
      <p:grpSpPr>
        <a:xfrm>
          <a:off x="0" y="0"/>
          <a:ext cx="0" cy="0"/>
          <a:chOff x="0" y="0"/>
          <a:chExt cx="0" cy="0"/>
        </a:xfrm>
      </p:grpSpPr>
      <p:pic>
        <p:nvPicPr>
          <p:cNvPr descr=" " id="63" name="Google Shape;63;p11"/>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64" name="Google Shape;64;p11"/>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65" name="Google Shape;65;p11"/>
          <p:cNvSpPr txBox="1"/>
          <p:nvPr>
            <p:ph type="title"/>
          </p:nvPr>
        </p:nvSpPr>
        <p:spPr>
          <a:xfrm>
            <a:off x="311700" y="3619355"/>
            <a:ext cx="4511700" cy="605100"/>
          </a:xfrm>
          <a:prstGeom prst="rect">
            <a:avLst/>
          </a:prstGeom>
        </p:spPr>
        <p:txBody>
          <a:bodyPr anchorCtr="0" anchor="b" bIns="91425" lIns="91425" spcFirstLastPara="1" rIns="91425" wrap="square" tIns="91425">
            <a:noAutofit/>
          </a:bodyPr>
          <a:lstStyle>
            <a:lvl1pPr lvl="0">
              <a:spcBef>
                <a:spcPts val="0"/>
              </a:spcBef>
              <a:spcAft>
                <a:spcPts val="0"/>
              </a:spcAft>
              <a:buClr>
                <a:srgbClr val="333333"/>
              </a:buClr>
              <a:buSzPts val="1800"/>
              <a:buFont typeface="Montserrat"/>
              <a:buNone/>
              <a:defRPr b="0" sz="1800">
                <a:solidFill>
                  <a:srgbClr val="333333"/>
                </a:solidFill>
                <a:latin typeface="Montserrat"/>
                <a:ea typeface="Montserrat"/>
                <a:cs typeface="Montserrat"/>
                <a:sym typeface="Montserrat"/>
              </a:defRPr>
            </a:lvl1pPr>
            <a:lvl2pPr lvl="1">
              <a:spcBef>
                <a:spcPts val="0"/>
              </a:spcBef>
              <a:spcAft>
                <a:spcPts val="0"/>
              </a:spcAft>
              <a:buSzPts val="2800"/>
              <a:buNone/>
              <a:defRPr>
                <a:latin typeface="Montserrat"/>
                <a:ea typeface="Montserrat"/>
                <a:cs typeface="Montserrat"/>
                <a:sym typeface="Montserrat"/>
              </a:defRPr>
            </a:lvl2pPr>
            <a:lvl3pPr lvl="2">
              <a:spcBef>
                <a:spcPts val="0"/>
              </a:spcBef>
              <a:spcAft>
                <a:spcPts val="0"/>
              </a:spcAft>
              <a:buSzPts val="2800"/>
              <a:buNone/>
              <a:defRPr>
                <a:latin typeface="Montserrat"/>
                <a:ea typeface="Montserrat"/>
                <a:cs typeface="Montserrat"/>
                <a:sym typeface="Montserrat"/>
              </a:defRPr>
            </a:lvl3pPr>
            <a:lvl4pPr lvl="3">
              <a:spcBef>
                <a:spcPts val="0"/>
              </a:spcBef>
              <a:spcAft>
                <a:spcPts val="0"/>
              </a:spcAft>
              <a:buSzPts val="2800"/>
              <a:buNone/>
              <a:defRPr>
                <a:latin typeface="Montserrat"/>
                <a:ea typeface="Montserrat"/>
                <a:cs typeface="Montserrat"/>
                <a:sym typeface="Montserrat"/>
              </a:defRPr>
            </a:lvl4pPr>
            <a:lvl5pPr lvl="4">
              <a:spcBef>
                <a:spcPts val="0"/>
              </a:spcBef>
              <a:spcAft>
                <a:spcPts val="0"/>
              </a:spcAft>
              <a:buSzPts val="2800"/>
              <a:buNone/>
              <a:defRPr>
                <a:latin typeface="Montserrat"/>
                <a:ea typeface="Montserrat"/>
                <a:cs typeface="Montserrat"/>
                <a:sym typeface="Montserrat"/>
              </a:defRPr>
            </a:lvl5pPr>
            <a:lvl6pPr lvl="5">
              <a:spcBef>
                <a:spcPts val="0"/>
              </a:spcBef>
              <a:spcAft>
                <a:spcPts val="0"/>
              </a:spcAft>
              <a:buSzPts val="2800"/>
              <a:buNone/>
              <a:defRPr>
                <a:latin typeface="Montserrat"/>
                <a:ea typeface="Montserrat"/>
                <a:cs typeface="Montserrat"/>
                <a:sym typeface="Montserrat"/>
              </a:defRPr>
            </a:lvl6pPr>
            <a:lvl7pPr lvl="6">
              <a:spcBef>
                <a:spcPts val="0"/>
              </a:spcBef>
              <a:spcAft>
                <a:spcPts val="0"/>
              </a:spcAft>
              <a:buSzPts val="2800"/>
              <a:buNone/>
              <a:defRPr>
                <a:latin typeface="Montserrat"/>
                <a:ea typeface="Montserrat"/>
                <a:cs typeface="Montserrat"/>
                <a:sym typeface="Montserrat"/>
              </a:defRPr>
            </a:lvl7pPr>
            <a:lvl8pPr lvl="7">
              <a:spcBef>
                <a:spcPts val="0"/>
              </a:spcBef>
              <a:spcAft>
                <a:spcPts val="0"/>
              </a:spcAft>
              <a:buSzPts val="2800"/>
              <a:buNone/>
              <a:defRPr>
                <a:latin typeface="Montserrat"/>
                <a:ea typeface="Montserrat"/>
                <a:cs typeface="Montserrat"/>
                <a:sym typeface="Montserrat"/>
              </a:defRPr>
            </a:lvl8pPr>
            <a:lvl9pPr lvl="8">
              <a:spcBef>
                <a:spcPts val="0"/>
              </a:spcBef>
              <a:spcAft>
                <a:spcPts val="0"/>
              </a:spcAft>
              <a:buSzPts val="2800"/>
              <a:buNone/>
              <a:defRPr>
                <a:latin typeface="Montserrat"/>
                <a:ea typeface="Montserrat"/>
                <a:cs typeface="Montserrat"/>
                <a:sym typeface="Montserrat"/>
              </a:defRPr>
            </a:lvl9pPr>
          </a:lstStyle>
          <a:p/>
        </p:txBody>
      </p:sp>
      <p:pic>
        <p:nvPicPr>
          <p:cNvPr id="66" name="Google Shape;66;p11"/>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7" name="Shape 67"/>
        <p:cNvGrpSpPr/>
        <p:nvPr/>
      </p:nvGrpSpPr>
      <p:grpSpPr>
        <a:xfrm>
          <a:off x="0" y="0"/>
          <a:ext cx="0" cy="0"/>
          <a:chOff x="0" y="0"/>
          <a:chExt cx="0" cy="0"/>
        </a:xfrm>
      </p:grpSpPr>
      <p:pic>
        <p:nvPicPr>
          <p:cNvPr id="68" name="Google Shape;68;p12"/>
          <p:cNvPicPr preferRelativeResize="0"/>
          <p:nvPr/>
        </p:nvPicPr>
        <p:blipFill rotWithShape="1">
          <a:blip r:embed="rId2">
            <a:alphaModFix/>
          </a:blip>
          <a:srcRect b="0" l="0" r="0" t="0"/>
          <a:stretch/>
        </p:blipFill>
        <p:spPr>
          <a:xfrm>
            <a:off x="3965" y="0"/>
            <a:ext cx="9136072" cy="5143501"/>
          </a:xfrm>
          <a:prstGeom prst="rect">
            <a:avLst/>
          </a:prstGeom>
          <a:noFill/>
          <a:ln>
            <a:noFill/>
          </a:ln>
        </p:spPr>
      </p:pic>
      <p:sp>
        <p:nvSpPr>
          <p:cNvPr id="69" name="Google Shape;69;p12"/>
          <p:cNvSpPr txBox="1"/>
          <p:nvPr>
            <p:ph hasCustomPrompt="1" type="title"/>
          </p:nvPr>
        </p:nvSpPr>
        <p:spPr>
          <a:xfrm>
            <a:off x="311700" y="606575"/>
            <a:ext cx="8520600" cy="16710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57068C"/>
              </a:buClr>
              <a:buSzPts val="13000"/>
              <a:buNone/>
              <a:defRPr sz="13000">
                <a:solidFill>
                  <a:srgbClr val="57068C"/>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0" name="Google Shape;70;p12"/>
          <p:cNvSpPr txBox="1"/>
          <p:nvPr>
            <p:ph idx="1" type="body"/>
          </p:nvPr>
        </p:nvSpPr>
        <p:spPr>
          <a:xfrm>
            <a:off x="3007950" y="3094875"/>
            <a:ext cx="3128100" cy="1186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sz="1100"/>
            </a:lvl1pPr>
            <a:lvl2pPr indent="-298450" lvl="1" marL="914400" algn="ctr">
              <a:spcBef>
                <a:spcPts val="0"/>
              </a:spcBef>
              <a:spcAft>
                <a:spcPts val="0"/>
              </a:spcAft>
              <a:buSzPts val="1100"/>
              <a:buChar char="○"/>
              <a:defRPr sz="1100"/>
            </a:lvl2pPr>
            <a:lvl3pPr indent="-298450" lvl="2" marL="1371600" algn="ctr">
              <a:spcBef>
                <a:spcPts val="0"/>
              </a:spcBef>
              <a:spcAft>
                <a:spcPts val="0"/>
              </a:spcAft>
              <a:buSzPts val="1100"/>
              <a:buChar char="■"/>
              <a:defRPr sz="1100"/>
            </a:lvl3pPr>
            <a:lvl4pPr indent="-298450" lvl="3" marL="1828800" algn="ctr">
              <a:spcBef>
                <a:spcPts val="0"/>
              </a:spcBef>
              <a:spcAft>
                <a:spcPts val="0"/>
              </a:spcAft>
              <a:buSzPts val="1100"/>
              <a:buChar char="●"/>
              <a:defRPr sz="1100"/>
            </a:lvl4pPr>
            <a:lvl5pPr indent="-298450" lvl="4" marL="2286000" algn="ctr">
              <a:spcBef>
                <a:spcPts val="0"/>
              </a:spcBef>
              <a:spcAft>
                <a:spcPts val="0"/>
              </a:spcAft>
              <a:buSzPts val="1100"/>
              <a:buChar char="○"/>
              <a:defRPr sz="1100"/>
            </a:lvl5pPr>
            <a:lvl6pPr indent="-298450" lvl="5" marL="2743200" algn="ctr">
              <a:spcBef>
                <a:spcPts val="0"/>
              </a:spcBef>
              <a:spcAft>
                <a:spcPts val="0"/>
              </a:spcAft>
              <a:buSzPts val="1100"/>
              <a:buChar char="■"/>
              <a:defRPr sz="1100"/>
            </a:lvl6pPr>
            <a:lvl7pPr indent="-298450" lvl="6" marL="3200400" algn="ctr">
              <a:spcBef>
                <a:spcPts val="0"/>
              </a:spcBef>
              <a:spcAft>
                <a:spcPts val="0"/>
              </a:spcAft>
              <a:buSzPts val="1100"/>
              <a:buChar char="●"/>
              <a:defRPr sz="1100"/>
            </a:lvl7pPr>
            <a:lvl8pPr indent="-298450" lvl="7" marL="3657600" algn="ctr">
              <a:spcBef>
                <a:spcPts val="0"/>
              </a:spcBef>
              <a:spcAft>
                <a:spcPts val="0"/>
              </a:spcAft>
              <a:buSzPts val="1100"/>
              <a:buChar char="○"/>
              <a:defRPr sz="1100"/>
            </a:lvl8pPr>
            <a:lvl9pPr indent="-298450" lvl="8" marL="4114800" algn="ctr">
              <a:spcBef>
                <a:spcPts val="0"/>
              </a:spcBef>
              <a:spcAft>
                <a:spcPts val="0"/>
              </a:spcAft>
              <a:buSzPts val="1100"/>
              <a:buChar char="■"/>
              <a:defRPr sz="1100"/>
            </a:lvl9pPr>
          </a:lstStyle>
          <a:p/>
        </p:txBody>
      </p:sp>
      <p:pic>
        <p:nvPicPr>
          <p:cNvPr descr=" " id="71" name="Google Shape;71;p12"/>
          <p:cNvPicPr preferRelativeResize="0"/>
          <p:nvPr/>
        </p:nvPicPr>
        <p:blipFill>
          <a:blip r:embed="rId3">
            <a:alphaModFix/>
          </a:blip>
          <a:stretch>
            <a:fillRect/>
          </a:stretch>
        </p:blipFill>
        <p:spPr>
          <a:xfrm>
            <a:off x="407175" y="4539121"/>
            <a:ext cx="776077" cy="263400"/>
          </a:xfrm>
          <a:prstGeom prst="rect">
            <a:avLst/>
          </a:prstGeom>
          <a:noFill/>
          <a:ln>
            <a:noFill/>
          </a:ln>
        </p:spPr>
      </p:pic>
      <p:sp>
        <p:nvSpPr>
          <p:cNvPr id="72" name="Google Shape;72;p12"/>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73" name="Google Shape;73;p12"/>
          <p:cNvSpPr txBox="1"/>
          <p:nvPr>
            <p:ph idx="2" type="subTitle"/>
          </p:nvPr>
        </p:nvSpPr>
        <p:spPr>
          <a:xfrm>
            <a:off x="1429500" y="2353776"/>
            <a:ext cx="6285000" cy="4638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b="1" sz="2800">
                <a:solidFill>
                  <a:schemeClr val="accent1"/>
                </a:solidFill>
                <a:latin typeface="Frank Ruhl Libre"/>
                <a:ea typeface="Frank Ruhl Libre"/>
                <a:cs typeface="Frank Ruhl Libre"/>
                <a:sym typeface="Frank Ruhl Libre"/>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p:cSld name="CUSTOM">
    <p:spTree>
      <p:nvGrpSpPr>
        <p:cNvPr id="74" name="Shape 74"/>
        <p:cNvGrpSpPr/>
        <p:nvPr/>
      </p:nvGrpSpPr>
      <p:grpSpPr>
        <a:xfrm>
          <a:off x="0" y="0"/>
          <a:ext cx="0" cy="0"/>
          <a:chOff x="0" y="0"/>
          <a:chExt cx="0" cy="0"/>
        </a:xfrm>
      </p:grpSpPr>
      <p:pic>
        <p:nvPicPr>
          <p:cNvPr id="75" name="Google Shape;75;p13"/>
          <p:cNvPicPr preferRelativeResize="0"/>
          <p:nvPr/>
        </p:nvPicPr>
        <p:blipFill>
          <a:blip r:embed="rId2">
            <a:alphaModFix/>
          </a:blip>
          <a:stretch>
            <a:fillRect/>
          </a:stretch>
        </p:blipFill>
        <p:spPr>
          <a:xfrm>
            <a:off x="0" y="0"/>
            <a:ext cx="9143997" cy="5143510"/>
          </a:xfrm>
          <a:prstGeom prst="rect">
            <a:avLst/>
          </a:prstGeom>
          <a:noFill/>
          <a:ln>
            <a:noFill/>
          </a:ln>
        </p:spPr>
      </p:pic>
      <p:pic>
        <p:nvPicPr>
          <p:cNvPr descr=" " id="76" name="Google Shape;76;p13"/>
          <p:cNvPicPr preferRelativeResize="0"/>
          <p:nvPr/>
        </p:nvPicPr>
        <p:blipFill>
          <a:blip r:embed="rId3">
            <a:alphaModFix/>
          </a:blip>
          <a:stretch>
            <a:fillRect/>
          </a:stretch>
        </p:blipFill>
        <p:spPr>
          <a:xfrm>
            <a:off x="407175" y="4539121"/>
            <a:ext cx="776077" cy="263400"/>
          </a:xfrm>
          <a:prstGeom prst="rect">
            <a:avLst/>
          </a:prstGeom>
          <a:noFill/>
          <a:ln>
            <a:noFill/>
          </a:ln>
        </p:spPr>
      </p:pic>
      <p:sp>
        <p:nvSpPr>
          <p:cNvPr id="77" name="Google Shape;77;p13"/>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78" name="Google Shape;78;p13"/>
          <p:cNvSpPr txBox="1"/>
          <p:nvPr>
            <p:ph type="title"/>
          </p:nvPr>
        </p:nvSpPr>
        <p:spPr>
          <a:xfrm>
            <a:off x="4969800" y="1412750"/>
            <a:ext cx="3766800" cy="1374600"/>
          </a:xfrm>
          <a:prstGeom prst="rect">
            <a:avLst/>
          </a:prstGeom>
        </p:spPr>
        <p:txBody>
          <a:bodyPr anchorCtr="0" anchor="b" bIns="91425" lIns="91425" spcFirstLastPara="1" rIns="91425" wrap="square" tIns="91425">
            <a:noAutofit/>
          </a:bodyPr>
          <a:lstStyle>
            <a:lvl1pPr lvl="0" rtl="0">
              <a:lnSpc>
                <a:spcPct val="80000"/>
              </a:lnSpc>
              <a:spcBef>
                <a:spcPts val="0"/>
              </a:spcBef>
              <a:spcAft>
                <a:spcPts val="0"/>
              </a:spcAft>
              <a:buClr>
                <a:srgbClr val="57068C"/>
              </a:buClr>
              <a:buSzPts val="3600"/>
              <a:buNone/>
              <a:defRPr>
                <a:solidFill>
                  <a:srgbClr val="57068C"/>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9" name="Google Shape;79;p13"/>
          <p:cNvSpPr txBox="1"/>
          <p:nvPr>
            <p:ph idx="1" type="body"/>
          </p:nvPr>
        </p:nvSpPr>
        <p:spPr>
          <a:xfrm>
            <a:off x="4969675" y="2901150"/>
            <a:ext cx="3766800" cy="1374600"/>
          </a:xfrm>
          <a:prstGeom prst="rect">
            <a:avLst/>
          </a:prstGeom>
        </p:spPr>
        <p:txBody>
          <a:bodyPr anchorCtr="0" anchor="t" bIns="91425" lIns="91425" spcFirstLastPara="1" rIns="91425" wrap="square" tIns="91425">
            <a:noAutofit/>
          </a:bodyPr>
          <a:lstStyle>
            <a:lvl1pPr indent="-298450" lvl="0" marL="457200" rtl="0">
              <a:lnSpc>
                <a:spcPct val="125000"/>
              </a:lnSpc>
              <a:spcBef>
                <a:spcPts val="0"/>
              </a:spcBef>
              <a:spcAft>
                <a:spcPts val="0"/>
              </a:spcAft>
              <a:buSzPts val="1100"/>
              <a:buChar char="●"/>
              <a:defRPr sz="1100"/>
            </a:lvl1pPr>
            <a:lvl2pPr indent="-298450" lvl="1" marL="914400" rtl="0">
              <a:lnSpc>
                <a:spcPct val="125000"/>
              </a:lnSpc>
              <a:spcBef>
                <a:spcPts val="800"/>
              </a:spcBef>
              <a:spcAft>
                <a:spcPts val="0"/>
              </a:spcAft>
              <a:buSzPts val="1100"/>
              <a:buChar char="○"/>
              <a:defRPr sz="1100"/>
            </a:lvl2pPr>
            <a:lvl3pPr indent="-298450" lvl="2" marL="1371600" rtl="0">
              <a:lnSpc>
                <a:spcPct val="125000"/>
              </a:lnSpc>
              <a:spcBef>
                <a:spcPts val="800"/>
              </a:spcBef>
              <a:spcAft>
                <a:spcPts val="0"/>
              </a:spcAft>
              <a:buSzPts val="1100"/>
              <a:buChar char="■"/>
              <a:defRPr sz="1100"/>
            </a:lvl3pPr>
            <a:lvl4pPr indent="-298450" lvl="3" marL="1828800" rtl="0">
              <a:lnSpc>
                <a:spcPct val="125000"/>
              </a:lnSpc>
              <a:spcBef>
                <a:spcPts val="800"/>
              </a:spcBef>
              <a:spcAft>
                <a:spcPts val="0"/>
              </a:spcAft>
              <a:buSzPts val="1100"/>
              <a:buChar char="●"/>
              <a:defRPr sz="1100"/>
            </a:lvl4pPr>
            <a:lvl5pPr indent="-298450" lvl="4" marL="2286000" rtl="0">
              <a:lnSpc>
                <a:spcPct val="125000"/>
              </a:lnSpc>
              <a:spcBef>
                <a:spcPts val="800"/>
              </a:spcBef>
              <a:spcAft>
                <a:spcPts val="0"/>
              </a:spcAft>
              <a:buSzPts val="1100"/>
              <a:buChar char="○"/>
              <a:defRPr sz="1100"/>
            </a:lvl5pPr>
            <a:lvl6pPr indent="-298450" lvl="5" marL="2743200" rtl="0">
              <a:lnSpc>
                <a:spcPct val="125000"/>
              </a:lnSpc>
              <a:spcBef>
                <a:spcPts val="800"/>
              </a:spcBef>
              <a:spcAft>
                <a:spcPts val="0"/>
              </a:spcAft>
              <a:buSzPts val="1100"/>
              <a:buChar char="■"/>
              <a:defRPr sz="1100"/>
            </a:lvl6pPr>
            <a:lvl7pPr indent="-298450" lvl="6" marL="3200400" rtl="0">
              <a:lnSpc>
                <a:spcPct val="125000"/>
              </a:lnSpc>
              <a:spcBef>
                <a:spcPts val="800"/>
              </a:spcBef>
              <a:spcAft>
                <a:spcPts val="0"/>
              </a:spcAft>
              <a:buSzPts val="1100"/>
              <a:buChar char="●"/>
              <a:defRPr sz="1100"/>
            </a:lvl7pPr>
            <a:lvl8pPr indent="-298450" lvl="7" marL="3657600" rtl="0">
              <a:lnSpc>
                <a:spcPct val="125000"/>
              </a:lnSpc>
              <a:spcBef>
                <a:spcPts val="800"/>
              </a:spcBef>
              <a:spcAft>
                <a:spcPts val="0"/>
              </a:spcAft>
              <a:buSzPts val="1100"/>
              <a:buChar char="○"/>
              <a:defRPr sz="1100"/>
            </a:lvl8pPr>
            <a:lvl9pPr indent="-298450" lvl="8" marL="4114800" rtl="0">
              <a:lnSpc>
                <a:spcPct val="125000"/>
              </a:lnSpc>
              <a:spcBef>
                <a:spcPts val="800"/>
              </a:spcBef>
              <a:spcAft>
                <a:spcPts val="800"/>
              </a:spcAft>
              <a:buSzPts val="1100"/>
              <a:buChar char="■"/>
              <a:defRPr sz="11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1">
    <p:spTree>
      <p:nvGrpSpPr>
        <p:cNvPr id="80" name="Shape 80"/>
        <p:cNvGrpSpPr/>
        <p:nvPr/>
      </p:nvGrpSpPr>
      <p:grpSpPr>
        <a:xfrm>
          <a:off x="0" y="0"/>
          <a:ext cx="0" cy="0"/>
          <a:chOff x="0" y="0"/>
          <a:chExt cx="0" cy="0"/>
        </a:xfrm>
      </p:grpSpPr>
      <p:pic>
        <p:nvPicPr>
          <p:cNvPr descr=" " id="81" name="Google Shape;81;p14"/>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82" name="Google Shape;82;p14"/>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83" name="Google Shape;83;p14"/>
          <p:cNvSpPr txBox="1"/>
          <p:nvPr>
            <p:ph type="title"/>
          </p:nvPr>
        </p:nvSpPr>
        <p:spPr>
          <a:xfrm>
            <a:off x="311700" y="587975"/>
            <a:ext cx="3610800" cy="8916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Clr>
                <a:srgbClr val="57068C"/>
              </a:buClr>
              <a:buSzPts val="4000"/>
              <a:buNone/>
              <a:defRPr sz="4000">
                <a:solidFill>
                  <a:srgbClr val="57068C"/>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 name="Google Shape;84;p14"/>
          <p:cNvSpPr txBox="1"/>
          <p:nvPr>
            <p:ph idx="1" type="body"/>
          </p:nvPr>
        </p:nvSpPr>
        <p:spPr>
          <a:xfrm>
            <a:off x="311700" y="1836175"/>
            <a:ext cx="3610800" cy="2439600"/>
          </a:xfrm>
          <a:prstGeom prst="rect">
            <a:avLst/>
          </a:prstGeom>
        </p:spPr>
        <p:txBody>
          <a:bodyPr anchorCtr="0" anchor="t" bIns="91425" lIns="91425" spcFirstLastPara="1" rIns="91425" wrap="square" tIns="91425">
            <a:noAutofit/>
          </a:bodyPr>
          <a:lstStyle>
            <a:lvl1pPr indent="-317500" lvl="0" marL="457200" rtl="0">
              <a:lnSpc>
                <a:spcPct val="125000"/>
              </a:lnSpc>
              <a:spcBef>
                <a:spcPts val="0"/>
              </a:spcBef>
              <a:spcAft>
                <a:spcPts val="0"/>
              </a:spcAft>
              <a:buSzPts val="1400"/>
              <a:buChar char="●"/>
              <a:defRPr sz="1400"/>
            </a:lvl1pPr>
            <a:lvl2pPr indent="-317500" lvl="1" marL="914400" rtl="0">
              <a:lnSpc>
                <a:spcPct val="125000"/>
              </a:lnSpc>
              <a:spcBef>
                <a:spcPts val="800"/>
              </a:spcBef>
              <a:spcAft>
                <a:spcPts val="0"/>
              </a:spcAft>
              <a:buSzPts val="1400"/>
              <a:buChar char="○"/>
              <a:defRPr/>
            </a:lvl2pPr>
            <a:lvl3pPr indent="-317500" lvl="2" marL="1371600" rtl="0">
              <a:lnSpc>
                <a:spcPct val="125000"/>
              </a:lnSpc>
              <a:spcBef>
                <a:spcPts val="800"/>
              </a:spcBef>
              <a:spcAft>
                <a:spcPts val="0"/>
              </a:spcAft>
              <a:buSzPts val="1400"/>
              <a:buChar char="■"/>
              <a:defRPr/>
            </a:lvl3pPr>
            <a:lvl4pPr indent="-317500" lvl="3" marL="1828800" rtl="0">
              <a:lnSpc>
                <a:spcPct val="125000"/>
              </a:lnSpc>
              <a:spcBef>
                <a:spcPts val="800"/>
              </a:spcBef>
              <a:spcAft>
                <a:spcPts val="0"/>
              </a:spcAft>
              <a:buSzPts val="1400"/>
              <a:buChar char="●"/>
              <a:defRPr/>
            </a:lvl4pPr>
            <a:lvl5pPr indent="-317500" lvl="4" marL="2286000" rtl="0">
              <a:lnSpc>
                <a:spcPct val="125000"/>
              </a:lnSpc>
              <a:spcBef>
                <a:spcPts val="800"/>
              </a:spcBef>
              <a:spcAft>
                <a:spcPts val="0"/>
              </a:spcAft>
              <a:buSzPts val="1400"/>
              <a:buChar char="○"/>
              <a:defRPr/>
            </a:lvl5pPr>
            <a:lvl6pPr indent="-317500" lvl="5" marL="2743200" rtl="0">
              <a:lnSpc>
                <a:spcPct val="125000"/>
              </a:lnSpc>
              <a:spcBef>
                <a:spcPts val="800"/>
              </a:spcBef>
              <a:spcAft>
                <a:spcPts val="0"/>
              </a:spcAft>
              <a:buSzPts val="1400"/>
              <a:buChar char="■"/>
              <a:defRPr/>
            </a:lvl6pPr>
            <a:lvl7pPr indent="-317500" lvl="6" marL="3200400" rtl="0">
              <a:lnSpc>
                <a:spcPct val="125000"/>
              </a:lnSpc>
              <a:spcBef>
                <a:spcPts val="800"/>
              </a:spcBef>
              <a:spcAft>
                <a:spcPts val="0"/>
              </a:spcAft>
              <a:buSzPts val="1400"/>
              <a:buChar char="●"/>
              <a:defRPr/>
            </a:lvl7pPr>
            <a:lvl8pPr indent="-317500" lvl="7" marL="3657600" rtl="0">
              <a:lnSpc>
                <a:spcPct val="125000"/>
              </a:lnSpc>
              <a:spcBef>
                <a:spcPts val="800"/>
              </a:spcBef>
              <a:spcAft>
                <a:spcPts val="0"/>
              </a:spcAft>
              <a:buSzPts val="1400"/>
              <a:buChar char="○"/>
              <a:defRPr/>
            </a:lvl8pPr>
            <a:lvl9pPr indent="-317500" lvl="8" marL="4114800" rtl="0">
              <a:lnSpc>
                <a:spcPct val="125000"/>
              </a:lnSpc>
              <a:spcBef>
                <a:spcPts val="800"/>
              </a:spcBef>
              <a:spcAft>
                <a:spcPts val="800"/>
              </a:spcAft>
              <a:buSzPts val="1400"/>
              <a:buChar char="■"/>
              <a:defRPr/>
            </a:lvl9pPr>
          </a:lstStyle>
          <a:p/>
        </p:txBody>
      </p:sp>
      <p:sp>
        <p:nvSpPr>
          <p:cNvPr id="85" name="Google Shape;85;p14"/>
          <p:cNvSpPr txBox="1"/>
          <p:nvPr/>
        </p:nvSpPr>
        <p:spPr>
          <a:xfrm>
            <a:off x="5958050" y="683000"/>
            <a:ext cx="2778600" cy="109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latin typeface="Montserrat"/>
              <a:ea typeface="Montserrat"/>
              <a:cs typeface="Montserrat"/>
              <a:sym typeface="Montserrat"/>
            </a:endParaRPr>
          </a:p>
        </p:txBody>
      </p:sp>
      <p:sp>
        <p:nvSpPr>
          <p:cNvPr id="86" name="Google Shape;86;p14"/>
          <p:cNvSpPr txBox="1"/>
          <p:nvPr>
            <p:ph idx="2" type="body"/>
          </p:nvPr>
        </p:nvSpPr>
        <p:spPr>
          <a:xfrm>
            <a:off x="5824575" y="683050"/>
            <a:ext cx="2911800" cy="10968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600"/>
              </a:spcBef>
              <a:spcAft>
                <a:spcPts val="0"/>
              </a:spcAft>
              <a:buSzPts val="1000"/>
              <a:buChar char="○"/>
              <a:defRPr sz="1000"/>
            </a:lvl2pPr>
            <a:lvl3pPr indent="-292100" lvl="2" marL="1371600">
              <a:spcBef>
                <a:spcPts val="600"/>
              </a:spcBef>
              <a:spcAft>
                <a:spcPts val="0"/>
              </a:spcAft>
              <a:buSzPts val="1000"/>
              <a:buChar char="■"/>
              <a:defRPr sz="1000"/>
            </a:lvl3pPr>
            <a:lvl4pPr indent="-292100" lvl="3" marL="1828800">
              <a:spcBef>
                <a:spcPts val="600"/>
              </a:spcBef>
              <a:spcAft>
                <a:spcPts val="0"/>
              </a:spcAft>
              <a:buSzPts val="1000"/>
              <a:buChar char="●"/>
              <a:defRPr sz="1000"/>
            </a:lvl4pPr>
            <a:lvl5pPr indent="-292100" lvl="4" marL="2286000">
              <a:spcBef>
                <a:spcPts val="600"/>
              </a:spcBef>
              <a:spcAft>
                <a:spcPts val="0"/>
              </a:spcAft>
              <a:buSzPts val="1000"/>
              <a:buChar char="○"/>
              <a:defRPr sz="1000"/>
            </a:lvl5pPr>
            <a:lvl6pPr indent="-292100" lvl="5" marL="2743200">
              <a:spcBef>
                <a:spcPts val="600"/>
              </a:spcBef>
              <a:spcAft>
                <a:spcPts val="0"/>
              </a:spcAft>
              <a:buSzPts val="1000"/>
              <a:buChar char="■"/>
              <a:defRPr sz="1000"/>
            </a:lvl6pPr>
            <a:lvl7pPr indent="-292100" lvl="6" marL="3200400">
              <a:spcBef>
                <a:spcPts val="600"/>
              </a:spcBef>
              <a:spcAft>
                <a:spcPts val="0"/>
              </a:spcAft>
              <a:buSzPts val="1000"/>
              <a:buChar char="●"/>
              <a:defRPr sz="1000"/>
            </a:lvl7pPr>
            <a:lvl8pPr indent="-292100" lvl="7" marL="3657600">
              <a:spcBef>
                <a:spcPts val="600"/>
              </a:spcBef>
              <a:spcAft>
                <a:spcPts val="0"/>
              </a:spcAft>
              <a:buSzPts val="1000"/>
              <a:buChar char="○"/>
              <a:defRPr sz="1000"/>
            </a:lvl8pPr>
            <a:lvl9pPr indent="-292100" lvl="8" marL="4114800">
              <a:spcBef>
                <a:spcPts val="600"/>
              </a:spcBef>
              <a:spcAft>
                <a:spcPts val="600"/>
              </a:spcAft>
              <a:buSzPts val="1000"/>
              <a:buChar char="■"/>
              <a:defRPr sz="1000"/>
            </a:lvl9pPr>
          </a:lstStyle>
          <a:p/>
        </p:txBody>
      </p:sp>
      <p:sp>
        <p:nvSpPr>
          <p:cNvPr id="87" name="Google Shape;87;p14"/>
          <p:cNvSpPr txBox="1"/>
          <p:nvPr>
            <p:ph idx="3" type="body"/>
          </p:nvPr>
        </p:nvSpPr>
        <p:spPr>
          <a:xfrm>
            <a:off x="5824575" y="1931875"/>
            <a:ext cx="2911800" cy="1096800"/>
          </a:xfrm>
          <a:prstGeom prst="rect">
            <a:avLst/>
          </a:prstGeom>
        </p:spPr>
        <p:txBody>
          <a:bodyPr anchorCtr="0" anchor="ctr" bIns="91425" lIns="91425" spcFirstLastPara="1" rIns="91425" wrap="square" tIns="91425">
            <a:noAutofit/>
          </a:bodyPr>
          <a:lstStyle>
            <a:lvl1pPr indent="-292100" lvl="0" marL="457200" rtl="0">
              <a:spcBef>
                <a:spcPts val="0"/>
              </a:spcBef>
              <a:spcAft>
                <a:spcPts val="0"/>
              </a:spcAft>
              <a:buSzPts val="1000"/>
              <a:buChar char="●"/>
              <a:defRPr sz="1000"/>
            </a:lvl1pPr>
            <a:lvl2pPr indent="-292100" lvl="1" marL="914400" rtl="0">
              <a:spcBef>
                <a:spcPts val="600"/>
              </a:spcBef>
              <a:spcAft>
                <a:spcPts val="0"/>
              </a:spcAft>
              <a:buSzPts val="1000"/>
              <a:buChar char="○"/>
              <a:defRPr sz="1000"/>
            </a:lvl2pPr>
            <a:lvl3pPr indent="-292100" lvl="2" marL="1371600" rtl="0">
              <a:spcBef>
                <a:spcPts val="600"/>
              </a:spcBef>
              <a:spcAft>
                <a:spcPts val="0"/>
              </a:spcAft>
              <a:buSzPts val="1000"/>
              <a:buChar char="■"/>
              <a:defRPr sz="1000"/>
            </a:lvl3pPr>
            <a:lvl4pPr indent="-292100" lvl="3" marL="1828800" rtl="0">
              <a:spcBef>
                <a:spcPts val="600"/>
              </a:spcBef>
              <a:spcAft>
                <a:spcPts val="0"/>
              </a:spcAft>
              <a:buSzPts val="1000"/>
              <a:buChar char="●"/>
              <a:defRPr sz="1000"/>
            </a:lvl4pPr>
            <a:lvl5pPr indent="-292100" lvl="4" marL="2286000" rtl="0">
              <a:spcBef>
                <a:spcPts val="600"/>
              </a:spcBef>
              <a:spcAft>
                <a:spcPts val="0"/>
              </a:spcAft>
              <a:buSzPts val="1000"/>
              <a:buChar char="○"/>
              <a:defRPr sz="1000"/>
            </a:lvl5pPr>
            <a:lvl6pPr indent="-292100" lvl="5" marL="2743200" rtl="0">
              <a:spcBef>
                <a:spcPts val="600"/>
              </a:spcBef>
              <a:spcAft>
                <a:spcPts val="0"/>
              </a:spcAft>
              <a:buSzPts val="1000"/>
              <a:buChar char="■"/>
              <a:defRPr sz="1000"/>
            </a:lvl6pPr>
            <a:lvl7pPr indent="-292100" lvl="6" marL="3200400" rtl="0">
              <a:spcBef>
                <a:spcPts val="600"/>
              </a:spcBef>
              <a:spcAft>
                <a:spcPts val="0"/>
              </a:spcAft>
              <a:buSzPts val="1000"/>
              <a:buChar char="●"/>
              <a:defRPr sz="1000"/>
            </a:lvl7pPr>
            <a:lvl8pPr indent="-292100" lvl="7" marL="3657600" rtl="0">
              <a:spcBef>
                <a:spcPts val="600"/>
              </a:spcBef>
              <a:spcAft>
                <a:spcPts val="0"/>
              </a:spcAft>
              <a:buSzPts val="1000"/>
              <a:buChar char="○"/>
              <a:defRPr sz="1000"/>
            </a:lvl8pPr>
            <a:lvl9pPr indent="-292100" lvl="8" marL="4114800" rtl="0">
              <a:spcBef>
                <a:spcPts val="600"/>
              </a:spcBef>
              <a:spcAft>
                <a:spcPts val="600"/>
              </a:spcAft>
              <a:buSzPts val="1000"/>
              <a:buChar char="■"/>
              <a:defRPr sz="1000"/>
            </a:lvl9pPr>
          </a:lstStyle>
          <a:p/>
        </p:txBody>
      </p:sp>
      <p:sp>
        <p:nvSpPr>
          <p:cNvPr id="88" name="Google Shape;88;p14"/>
          <p:cNvSpPr txBox="1"/>
          <p:nvPr>
            <p:ph idx="4" type="body"/>
          </p:nvPr>
        </p:nvSpPr>
        <p:spPr>
          <a:xfrm>
            <a:off x="5824575" y="3180700"/>
            <a:ext cx="2911800" cy="1096800"/>
          </a:xfrm>
          <a:prstGeom prst="rect">
            <a:avLst/>
          </a:prstGeom>
        </p:spPr>
        <p:txBody>
          <a:bodyPr anchorCtr="0" anchor="ctr" bIns="91425" lIns="91425" spcFirstLastPara="1" rIns="91425" wrap="square" tIns="91425">
            <a:noAutofit/>
          </a:bodyPr>
          <a:lstStyle>
            <a:lvl1pPr indent="-292100" lvl="0" marL="457200" rtl="0">
              <a:spcBef>
                <a:spcPts val="0"/>
              </a:spcBef>
              <a:spcAft>
                <a:spcPts val="0"/>
              </a:spcAft>
              <a:buSzPts val="1000"/>
              <a:buChar char="●"/>
              <a:defRPr sz="1000"/>
            </a:lvl1pPr>
            <a:lvl2pPr indent="-292100" lvl="1" marL="914400" rtl="0">
              <a:spcBef>
                <a:spcPts val="600"/>
              </a:spcBef>
              <a:spcAft>
                <a:spcPts val="0"/>
              </a:spcAft>
              <a:buSzPts val="1000"/>
              <a:buChar char="○"/>
              <a:defRPr sz="1000"/>
            </a:lvl2pPr>
            <a:lvl3pPr indent="-292100" lvl="2" marL="1371600" rtl="0">
              <a:spcBef>
                <a:spcPts val="600"/>
              </a:spcBef>
              <a:spcAft>
                <a:spcPts val="0"/>
              </a:spcAft>
              <a:buSzPts val="1000"/>
              <a:buChar char="■"/>
              <a:defRPr sz="1000"/>
            </a:lvl3pPr>
            <a:lvl4pPr indent="-292100" lvl="3" marL="1828800" rtl="0">
              <a:spcBef>
                <a:spcPts val="600"/>
              </a:spcBef>
              <a:spcAft>
                <a:spcPts val="0"/>
              </a:spcAft>
              <a:buSzPts val="1000"/>
              <a:buChar char="●"/>
              <a:defRPr sz="1000"/>
            </a:lvl4pPr>
            <a:lvl5pPr indent="-292100" lvl="4" marL="2286000" rtl="0">
              <a:spcBef>
                <a:spcPts val="600"/>
              </a:spcBef>
              <a:spcAft>
                <a:spcPts val="0"/>
              </a:spcAft>
              <a:buSzPts val="1000"/>
              <a:buChar char="○"/>
              <a:defRPr sz="1000"/>
            </a:lvl5pPr>
            <a:lvl6pPr indent="-292100" lvl="5" marL="2743200" rtl="0">
              <a:spcBef>
                <a:spcPts val="600"/>
              </a:spcBef>
              <a:spcAft>
                <a:spcPts val="0"/>
              </a:spcAft>
              <a:buSzPts val="1000"/>
              <a:buChar char="■"/>
              <a:defRPr sz="1000"/>
            </a:lvl6pPr>
            <a:lvl7pPr indent="-292100" lvl="6" marL="3200400" rtl="0">
              <a:spcBef>
                <a:spcPts val="600"/>
              </a:spcBef>
              <a:spcAft>
                <a:spcPts val="0"/>
              </a:spcAft>
              <a:buSzPts val="1000"/>
              <a:buChar char="●"/>
              <a:defRPr sz="1000"/>
            </a:lvl7pPr>
            <a:lvl8pPr indent="-292100" lvl="7" marL="3657600" rtl="0">
              <a:spcBef>
                <a:spcPts val="600"/>
              </a:spcBef>
              <a:spcAft>
                <a:spcPts val="0"/>
              </a:spcAft>
              <a:buSzPts val="1000"/>
              <a:buChar char="○"/>
              <a:defRPr sz="1000"/>
            </a:lvl8pPr>
            <a:lvl9pPr indent="-292100" lvl="8" marL="4114800" rtl="0">
              <a:spcBef>
                <a:spcPts val="600"/>
              </a:spcBef>
              <a:spcAft>
                <a:spcPts val="600"/>
              </a:spcAft>
              <a:buSzPts val="1000"/>
              <a:buChar char="■"/>
              <a:defRPr sz="1000"/>
            </a:lvl9pPr>
          </a:lstStyle>
          <a:p/>
        </p:txBody>
      </p:sp>
      <p:pic>
        <p:nvPicPr>
          <p:cNvPr id="89" name="Google Shape;89;p14"/>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extLst>
    <p:ext uri="{DCECCB84-F9BA-43D5-87BE-67443E8EF086}">
      <p15:sldGuideLst>
        <p15:guide id="1" pos="2880">
          <p15:clr>
            <a:srgbClr val="FA7B17"/>
          </p15:clr>
        </p15:guide>
        <p15:guide id="2" orient="horz" pos="4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2">
    <p:bg>
      <p:bgPr>
        <a:solidFill>
          <a:srgbClr val="220337"/>
        </a:solidFill>
      </p:bgPr>
    </p:bg>
    <p:spTree>
      <p:nvGrpSpPr>
        <p:cNvPr id="90" name="Shape 90"/>
        <p:cNvGrpSpPr/>
        <p:nvPr/>
      </p:nvGrpSpPr>
      <p:grpSpPr>
        <a:xfrm>
          <a:off x="0" y="0"/>
          <a:ext cx="0" cy="0"/>
          <a:chOff x="0" y="0"/>
          <a:chExt cx="0" cy="0"/>
        </a:xfrm>
      </p:grpSpPr>
      <p:pic>
        <p:nvPicPr>
          <p:cNvPr id="91" name="Google Shape;91;p15"/>
          <p:cNvPicPr preferRelativeResize="0"/>
          <p:nvPr/>
        </p:nvPicPr>
        <p:blipFill>
          <a:blip r:embed="rId2">
            <a:alphaModFix/>
          </a:blip>
          <a:stretch>
            <a:fillRect/>
          </a:stretch>
        </p:blipFill>
        <p:spPr>
          <a:xfrm>
            <a:off x="0" y="0"/>
            <a:ext cx="9144003" cy="5143501"/>
          </a:xfrm>
          <a:prstGeom prst="rect">
            <a:avLst/>
          </a:prstGeom>
          <a:noFill/>
          <a:ln>
            <a:noFill/>
          </a:ln>
        </p:spPr>
      </p:pic>
      <p:pic>
        <p:nvPicPr>
          <p:cNvPr descr=" " id="92" name="Google Shape;92;p15"/>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93" name="Google Shape;93;p15"/>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rgbClr val="FFFFFF"/>
                </a:solidFill>
                <a:latin typeface="Montserrat"/>
                <a:ea typeface="Montserrat"/>
                <a:cs typeface="Montserrat"/>
                <a:sym typeface="Montserrat"/>
              </a:rPr>
              <a:t>‹#›</a:t>
            </a:fld>
            <a:endParaRPr b="1" sz="700">
              <a:solidFill>
                <a:srgbClr val="FFFFFF"/>
              </a:solidFill>
              <a:latin typeface="Montserrat"/>
              <a:ea typeface="Montserrat"/>
              <a:cs typeface="Montserrat"/>
              <a:sym typeface="Montserrat"/>
            </a:endParaRPr>
          </a:p>
        </p:txBody>
      </p:sp>
      <p:sp>
        <p:nvSpPr>
          <p:cNvPr id="94" name="Google Shape;94;p15"/>
          <p:cNvSpPr txBox="1"/>
          <p:nvPr>
            <p:ph type="title"/>
          </p:nvPr>
        </p:nvSpPr>
        <p:spPr>
          <a:xfrm>
            <a:off x="904850" y="1264532"/>
            <a:ext cx="6710700" cy="1595100"/>
          </a:xfrm>
          <a:prstGeom prst="rect">
            <a:avLst/>
          </a:prstGeom>
        </p:spPr>
        <p:txBody>
          <a:bodyPr anchorCtr="0" anchor="ctr" bIns="91425" lIns="91425" spcFirstLastPara="1" rIns="91425" wrap="square" tIns="91425">
            <a:noAutofit/>
          </a:bodyPr>
          <a:lstStyle>
            <a:lvl1pPr lvl="0" rtl="0">
              <a:lnSpc>
                <a:spcPct val="80000"/>
              </a:lnSpc>
              <a:spcBef>
                <a:spcPts val="0"/>
              </a:spcBef>
              <a:spcAft>
                <a:spcPts val="0"/>
              </a:spcAft>
              <a:buNone/>
              <a:defRPr sz="6000">
                <a:solidFill>
                  <a:schemeClr val="dk1"/>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p:txBody>
      </p:sp>
      <p:sp>
        <p:nvSpPr>
          <p:cNvPr id="95" name="Google Shape;95;p15"/>
          <p:cNvSpPr txBox="1"/>
          <p:nvPr>
            <p:ph idx="1" type="subTitle"/>
          </p:nvPr>
        </p:nvSpPr>
        <p:spPr>
          <a:xfrm>
            <a:off x="974919" y="3029082"/>
            <a:ext cx="3715200" cy="500700"/>
          </a:xfrm>
          <a:prstGeom prst="rect">
            <a:avLst/>
          </a:prstGeom>
        </p:spPr>
        <p:txBody>
          <a:bodyPr anchorCtr="0" anchor="t" bIns="91425" lIns="91425" spcFirstLastPara="1" rIns="91425" wrap="square" tIns="91425">
            <a:noAutofit/>
          </a:bodyPr>
          <a:lstStyle>
            <a:lvl1pPr lvl="0">
              <a:spcBef>
                <a:spcPts val="0"/>
              </a:spcBef>
              <a:spcAft>
                <a:spcPts val="0"/>
              </a:spcAft>
              <a:buNone/>
              <a:defRPr>
                <a:solidFill>
                  <a:schemeClr val="dk1"/>
                </a:solidFill>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pic>
        <p:nvPicPr>
          <p:cNvPr descr=" " id="96" name="Google Shape;96;p15"/>
          <p:cNvPicPr preferRelativeResize="0"/>
          <p:nvPr/>
        </p:nvPicPr>
        <p:blipFill>
          <a:blip r:embed="rId4">
            <a:alphaModFix/>
          </a:blip>
          <a:stretch>
            <a:fillRect/>
          </a:stretch>
        </p:blipFill>
        <p:spPr>
          <a:xfrm>
            <a:off x="407175" y="4539121"/>
            <a:ext cx="776077" cy="2634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CUSTOM_3">
    <p:bg>
      <p:bgPr>
        <a:solidFill>
          <a:schemeClr val="lt2"/>
        </a:solidFill>
      </p:bgPr>
    </p:bg>
    <p:spTree>
      <p:nvGrpSpPr>
        <p:cNvPr id="97" name="Shape 97"/>
        <p:cNvGrpSpPr/>
        <p:nvPr/>
      </p:nvGrpSpPr>
      <p:grpSpPr>
        <a:xfrm>
          <a:off x="0" y="0"/>
          <a:ext cx="0" cy="0"/>
          <a:chOff x="0" y="0"/>
          <a:chExt cx="0" cy="0"/>
        </a:xfrm>
      </p:grpSpPr>
      <p:pic>
        <p:nvPicPr>
          <p:cNvPr id="98" name="Google Shape;98;p16"/>
          <p:cNvPicPr preferRelativeResize="0"/>
          <p:nvPr/>
        </p:nvPicPr>
        <p:blipFill>
          <a:blip r:embed="rId2">
            <a:alphaModFix/>
          </a:blip>
          <a:stretch>
            <a:fillRect/>
          </a:stretch>
        </p:blipFill>
        <p:spPr>
          <a:xfrm>
            <a:off x="-62802" y="-34225"/>
            <a:ext cx="9269596" cy="5180999"/>
          </a:xfrm>
          <a:prstGeom prst="rect">
            <a:avLst/>
          </a:prstGeom>
          <a:noFill/>
          <a:ln>
            <a:noFill/>
          </a:ln>
        </p:spPr>
      </p:pic>
      <p:pic>
        <p:nvPicPr>
          <p:cNvPr descr=" " id="99" name="Google Shape;99;p16"/>
          <p:cNvPicPr preferRelativeResize="0"/>
          <p:nvPr/>
        </p:nvPicPr>
        <p:blipFill>
          <a:blip r:embed="rId3">
            <a:alphaModFix/>
          </a:blip>
          <a:stretch>
            <a:fillRect/>
          </a:stretch>
        </p:blipFill>
        <p:spPr>
          <a:xfrm>
            <a:off x="407175" y="4539121"/>
            <a:ext cx="776077" cy="263400"/>
          </a:xfrm>
          <a:prstGeom prst="rect">
            <a:avLst/>
          </a:prstGeom>
          <a:noFill/>
          <a:ln>
            <a:noFill/>
          </a:ln>
        </p:spPr>
      </p:pic>
      <p:sp>
        <p:nvSpPr>
          <p:cNvPr id="100" name="Google Shape;100;p16"/>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
        <p:nvSpPr>
          <p:cNvPr id="101" name="Google Shape;101;p16"/>
          <p:cNvSpPr txBox="1"/>
          <p:nvPr>
            <p:ph type="title"/>
          </p:nvPr>
        </p:nvSpPr>
        <p:spPr>
          <a:xfrm>
            <a:off x="592275" y="522825"/>
            <a:ext cx="8144400" cy="3753000"/>
          </a:xfrm>
          <a:prstGeom prst="rect">
            <a:avLst/>
          </a:prstGeom>
        </p:spPr>
        <p:txBody>
          <a:bodyPr anchorCtr="0" anchor="ctr" bIns="91425" lIns="91425" spcFirstLastPara="1" rIns="91425" wrap="square" tIns="91425">
            <a:noAutofit/>
          </a:bodyPr>
          <a:lstStyle>
            <a:lvl1pPr lvl="0" rtl="0">
              <a:lnSpc>
                <a:spcPct val="80000"/>
              </a:lnSpc>
              <a:spcBef>
                <a:spcPts val="0"/>
              </a:spcBef>
              <a:spcAft>
                <a:spcPts val="0"/>
              </a:spcAft>
              <a:buNone/>
              <a:defRPr sz="6000">
                <a:solidFill>
                  <a:schemeClr val="dk1"/>
                </a:solidFill>
              </a:defRPr>
            </a:lvl1pPr>
            <a:lvl2pPr lvl="1" rtl="0">
              <a:spcBef>
                <a:spcPts val="0"/>
              </a:spcBef>
              <a:spcAft>
                <a:spcPts val="0"/>
              </a:spcAft>
              <a:buNone/>
              <a:defRPr>
                <a:solidFill>
                  <a:schemeClr val="dk1"/>
                </a:solidFill>
              </a:defRPr>
            </a:lvl2pPr>
            <a:lvl3pPr lvl="2" rtl="0">
              <a:spcBef>
                <a:spcPts val="0"/>
              </a:spcBef>
              <a:spcAft>
                <a:spcPts val="0"/>
              </a:spcAft>
              <a:buNone/>
              <a:defRPr>
                <a:solidFill>
                  <a:schemeClr val="dk1"/>
                </a:solidFill>
              </a:defRPr>
            </a:lvl3pPr>
            <a:lvl4pPr lvl="3" rtl="0">
              <a:spcBef>
                <a:spcPts val="0"/>
              </a:spcBef>
              <a:spcAft>
                <a:spcPts val="0"/>
              </a:spcAft>
              <a:buNone/>
              <a:defRPr>
                <a:solidFill>
                  <a:schemeClr val="dk1"/>
                </a:solidFill>
              </a:defRPr>
            </a:lvl4pPr>
            <a:lvl5pPr lvl="4" rtl="0">
              <a:spcBef>
                <a:spcPts val="0"/>
              </a:spcBef>
              <a:spcAft>
                <a:spcPts val="0"/>
              </a:spcAft>
              <a:buNone/>
              <a:defRPr>
                <a:solidFill>
                  <a:schemeClr val="dk1"/>
                </a:solidFill>
              </a:defRPr>
            </a:lvl5pPr>
            <a:lvl6pPr lvl="5" rtl="0">
              <a:spcBef>
                <a:spcPts val="0"/>
              </a:spcBef>
              <a:spcAft>
                <a:spcPts val="0"/>
              </a:spcAft>
              <a:buNone/>
              <a:defRPr>
                <a:solidFill>
                  <a:schemeClr val="dk1"/>
                </a:solidFill>
              </a:defRPr>
            </a:lvl6pPr>
            <a:lvl7pPr lvl="6" rtl="0">
              <a:spcBef>
                <a:spcPts val="0"/>
              </a:spcBef>
              <a:spcAft>
                <a:spcPts val="0"/>
              </a:spcAft>
              <a:buNone/>
              <a:defRPr>
                <a:solidFill>
                  <a:schemeClr val="dk1"/>
                </a:solidFill>
              </a:defRPr>
            </a:lvl7pPr>
            <a:lvl8pPr lvl="7" rtl="0">
              <a:spcBef>
                <a:spcPts val="0"/>
              </a:spcBef>
              <a:spcAft>
                <a:spcPts val="0"/>
              </a:spcAft>
              <a:buNone/>
              <a:defRPr>
                <a:solidFill>
                  <a:schemeClr val="dk1"/>
                </a:solidFill>
              </a:defRPr>
            </a:lvl8pPr>
            <a:lvl9pPr lvl="8" rtl="0">
              <a:spcBef>
                <a:spcPts val="0"/>
              </a:spcBef>
              <a:spcAft>
                <a:spcPts val="0"/>
              </a:spcAft>
              <a:buNone/>
              <a:defRPr>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folio" type="blank">
  <p:cSld name="BLANK">
    <p:spTree>
      <p:nvGrpSpPr>
        <p:cNvPr id="102" name="Shape 102"/>
        <p:cNvGrpSpPr/>
        <p:nvPr/>
      </p:nvGrpSpPr>
      <p:grpSpPr>
        <a:xfrm>
          <a:off x="0" y="0"/>
          <a:ext cx="0" cy="0"/>
          <a:chOff x="0" y="0"/>
          <a:chExt cx="0" cy="0"/>
        </a:xfrm>
      </p:grpSpPr>
      <p:pic>
        <p:nvPicPr>
          <p:cNvPr descr=" " id="103" name="Google Shape;103;p17"/>
          <p:cNvPicPr preferRelativeResize="0"/>
          <p:nvPr/>
        </p:nvPicPr>
        <p:blipFill>
          <a:blip r:embed="rId2">
            <a:alphaModFix/>
          </a:blip>
          <a:stretch>
            <a:fillRect/>
          </a:stretch>
        </p:blipFill>
        <p:spPr>
          <a:xfrm>
            <a:off x="407175" y="4539121"/>
            <a:ext cx="776077" cy="263400"/>
          </a:xfrm>
          <a:prstGeom prst="rect">
            <a:avLst/>
          </a:prstGeom>
          <a:noFill/>
          <a:ln>
            <a:noFill/>
          </a:ln>
        </p:spPr>
      </p:pic>
      <p:sp>
        <p:nvSpPr>
          <p:cNvPr id="104" name="Google Shape;104;p17"/>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sz="700">
                <a:solidFill>
                  <a:schemeClr val="accent2"/>
                </a:solidFill>
                <a:latin typeface="Montserrat"/>
                <a:ea typeface="Montserrat"/>
                <a:cs typeface="Montserrat"/>
                <a:sym typeface="Montserrat"/>
              </a:rPr>
              <a:t>‹#›</a:t>
            </a:fld>
            <a:endParaRPr b="1" sz="700">
              <a:solidFill>
                <a:schemeClr val="accent2"/>
              </a:solidFill>
              <a:latin typeface="Montserrat"/>
              <a:ea typeface="Montserrat"/>
              <a:cs typeface="Montserrat"/>
              <a:sym typeface="Montserra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105" name="Shape 10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68825"/>
            <a:ext cx="8424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57068C"/>
              </a:buClr>
              <a:buSzPts val="3600"/>
              <a:buFont typeface="Frank Ruhl Libre"/>
              <a:buNone/>
              <a:defRPr b="1" sz="3600">
                <a:solidFill>
                  <a:srgbClr val="57068C"/>
                </a:solidFill>
                <a:latin typeface="Frank Ruhl Libre"/>
                <a:ea typeface="Frank Ruhl Libre"/>
                <a:cs typeface="Frank Ruhl Libre"/>
                <a:sym typeface="Frank Ruhl Libr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424900" cy="31233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rgbClr val="57068C"/>
              </a:buClr>
              <a:buSzPts val="1800"/>
              <a:buFont typeface="Montserrat"/>
              <a:buChar char="●"/>
              <a:defRPr sz="1800">
                <a:solidFill>
                  <a:srgbClr val="333333"/>
                </a:solidFill>
                <a:latin typeface="Montserrat"/>
                <a:ea typeface="Montserrat"/>
                <a:cs typeface="Montserrat"/>
                <a:sym typeface="Montserrat"/>
              </a:defRPr>
            </a:lvl1pPr>
            <a:lvl2pPr indent="-317500" lvl="1" marL="9144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2pPr>
            <a:lvl3pPr indent="-317500" lvl="2" marL="13716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3pPr>
            <a:lvl4pPr indent="-317500" lvl="3" marL="18288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4pPr>
            <a:lvl5pPr indent="-317500" lvl="4" marL="22860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5pPr>
            <a:lvl6pPr indent="-317500" lvl="5" marL="27432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6pPr>
            <a:lvl7pPr indent="-317500" lvl="6" marL="32004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7pPr>
            <a:lvl8pPr indent="-317500" lvl="7" marL="3657600">
              <a:lnSpc>
                <a:spcPct val="115000"/>
              </a:lnSpc>
              <a:spcBef>
                <a:spcPts val="1600"/>
              </a:spcBef>
              <a:spcAft>
                <a:spcPts val="0"/>
              </a:spcAft>
              <a:buClr>
                <a:srgbClr val="57068C"/>
              </a:buClr>
              <a:buSzPts val="1400"/>
              <a:buFont typeface="Montserrat"/>
              <a:buChar char="○"/>
              <a:defRPr>
                <a:solidFill>
                  <a:srgbClr val="333333"/>
                </a:solidFill>
                <a:latin typeface="Montserrat"/>
                <a:ea typeface="Montserrat"/>
                <a:cs typeface="Montserrat"/>
                <a:sym typeface="Montserrat"/>
              </a:defRPr>
            </a:lvl8pPr>
            <a:lvl9pPr indent="-317500" lvl="8" marL="4114800">
              <a:lnSpc>
                <a:spcPct val="115000"/>
              </a:lnSpc>
              <a:spcBef>
                <a:spcPts val="1600"/>
              </a:spcBef>
              <a:spcAft>
                <a:spcPts val="1600"/>
              </a:spcAft>
              <a:buClr>
                <a:srgbClr val="57068C"/>
              </a:buClr>
              <a:buSzPts val="1400"/>
              <a:buFont typeface="Montserrat"/>
              <a:buChar char="■"/>
              <a:defRPr>
                <a:solidFill>
                  <a:srgbClr val="333333"/>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56">
          <p15:clr>
            <a:srgbClr val="EA4335"/>
          </p15:clr>
        </p15:guide>
        <p15:guide id="2" orient="horz" pos="3025">
          <p15:clr>
            <a:srgbClr val="EA4335"/>
          </p15:clr>
        </p15:guide>
        <p15:guide id="3" pos="5503">
          <p15:clr>
            <a:srgbClr val="EA4335"/>
          </p15:clr>
        </p15:guide>
        <p15:guide id="4" orient="horz" pos="269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904850" y="1253682"/>
            <a:ext cx="7333800" cy="1595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Predicting DEM label-free</a:t>
            </a:r>
            <a:endParaRPr/>
          </a:p>
        </p:txBody>
      </p:sp>
      <p:sp>
        <p:nvSpPr>
          <p:cNvPr id="111" name="TextBox 110"/>
          <p:cNvSpPr txBox="1"/>
          <p:nvPr/>
        </p:nvSpPr>
        <p:spPr>
          <a:xfrm>
            <a:off x="914400" y="2880360"/>
            <a:ext cx="7315200" cy="731520"/>
          </a:xfrm>
          <a:prstGeom prst="rect">
            <a:avLst/>
          </a:prstGeom>
          <a:noFill/>
        </p:spPr>
        <p:txBody>
          <a:bodyPr wrap="square" anchor="t" lIns="0" rIns="0" tIns="0" bIns="0">
            <a:spAutoFit/>
          </a:bodyPr>
          <a:lstStyle/>
          <a:p>
            <a:pPr algn="ctr">
              <a:spcAft>
                <a:spcPts val="400"/>
              </a:spcAft>
            </a:pPr>
            <a:r>
              <a:rPr sz="1500" b="0" i="0">
                <a:solidFill>
                  <a:srgbClr val="330662"/>
                </a:solidFill>
              </a:rPr>
              <a:t>A neural DEM inversion trained on the solver's objective, not its labels</a:t>
            </a:r>
          </a:p>
          <a:p>
            <a:pPr algn="ctr">
              <a:spcAft>
                <a:spcPts val="400"/>
              </a:spcAft>
            </a:pPr>
            <a:r>
              <a:rPr sz="1200" b="0" i="0">
                <a:solidFill>
                  <a:srgbClr val="6B6B6B"/>
                </a:solidFill>
              </a:rPr>
              <a:t>Progress update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Outline</a:t>
            </a:r>
          </a:p>
        </p:txBody>
      </p:sp>
      <p:sp>
        <p:nvSpPr>
          <p:cNvPr id="3" name="Rounded Rectangle 2"/>
          <p:cNvSpPr/>
          <p:nvPr/>
        </p:nvSpPr>
        <p:spPr>
          <a:xfrm>
            <a:off x="365760" y="1463040"/>
            <a:ext cx="1965960" cy="20116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48640" y="1691640"/>
            <a:ext cx="457200" cy="457200"/>
          </a:xfrm>
          <a:prstGeom prst="ellipse">
            <a:avLst/>
          </a:prstGeom>
          <a:solidFill>
            <a:srgbClr val="57068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rPr>
              <a:t>1</a:t>
            </a:r>
          </a:p>
        </p:txBody>
      </p:sp>
      <p:sp>
        <p:nvSpPr>
          <p:cNvPr id="5" name="TextBox 4"/>
          <p:cNvSpPr txBox="1"/>
          <p:nvPr/>
        </p:nvSpPr>
        <p:spPr>
          <a:xfrm>
            <a:off x="548640" y="2331720"/>
            <a:ext cx="1600200" cy="365760"/>
          </a:xfrm>
          <a:prstGeom prst="rect">
            <a:avLst/>
          </a:prstGeom>
          <a:noFill/>
        </p:spPr>
        <p:txBody>
          <a:bodyPr wrap="square" anchor="t" lIns="0" rIns="0" tIns="0" bIns="0">
            <a:spAutoFit/>
          </a:bodyPr>
          <a:lstStyle/>
          <a:p>
            <a:pPr algn="l">
              <a:spcAft>
                <a:spcPts val="600"/>
              </a:spcAft>
            </a:pPr>
            <a:r>
              <a:rPr sz="1500" b="1" i="0">
                <a:solidFill>
                  <a:srgbClr val="57068C"/>
                </a:solidFill>
              </a:rPr>
              <a:t>Approach</a:t>
            </a:r>
          </a:p>
        </p:txBody>
      </p:sp>
      <p:sp>
        <p:nvSpPr>
          <p:cNvPr id="6" name="TextBox 5"/>
          <p:cNvSpPr txBox="1"/>
          <p:nvPr/>
        </p:nvSpPr>
        <p:spPr>
          <a:xfrm>
            <a:off x="548640" y="2697480"/>
            <a:ext cx="1600200" cy="731520"/>
          </a:xfrm>
          <a:prstGeom prst="rect">
            <a:avLst/>
          </a:prstGeom>
          <a:noFill/>
        </p:spPr>
        <p:txBody>
          <a:bodyPr wrap="square" anchor="t" lIns="0" rIns="0" tIns="0" bIns="0">
            <a:spAutoFit/>
          </a:bodyPr>
          <a:lstStyle/>
          <a:p>
            <a:pPr algn="l">
              <a:spcAft>
                <a:spcPts val="600"/>
              </a:spcAft>
            </a:pPr>
            <a:r>
              <a:rPr sz="1150" b="0" i="0">
                <a:solidFill>
                  <a:srgbClr val="333333"/>
                </a:solidFill>
              </a:rPr>
              <a:t>Train on the solver's objective</a:t>
            </a:r>
          </a:p>
        </p:txBody>
      </p:sp>
      <p:sp>
        <p:nvSpPr>
          <p:cNvPr id="7" name="Rounded Rectangle 6"/>
          <p:cNvSpPr/>
          <p:nvPr/>
        </p:nvSpPr>
        <p:spPr>
          <a:xfrm>
            <a:off x="2514600" y="1463040"/>
            <a:ext cx="1965960" cy="20116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697480" y="1691640"/>
            <a:ext cx="457200" cy="457200"/>
          </a:xfrm>
          <a:prstGeom prst="ellipse">
            <a:avLst/>
          </a:prstGeom>
          <a:solidFill>
            <a:srgbClr val="57068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rPr>
              <a:t>2</a:t>
            </a:r>
          </a:p>
        </p:txBody>
      </p:sp>
      <p:sp>
        <p:nvSpPr>
          <p:cNvPr id="9" name="TextBox 8"/>
          <p:cNvSpPr txBox="1"/>
          <p:nvPr/>
        </p:nvSpPr>
        <p:spPr>
          <a:xfrm>
            <a:off x="2697480" y="2331720"/>
            <a:ext cx="1600200" cy="365760"/>
          </a:xfrm>
          <a:prstGeom prst="rect">
            <a:avLst/>
          </a:prstGeom>
          <a:noFill/>
        </p:spPr>
        <p:txBody>
          <a:bodyPr wrap="square" anchor="t" lIns="0" rIns="0" tIns="0" bIns="0">
            <a:spAutoFit/>
          </a:bodyPr>
          <a:lstStyle/>
          <a:p>
            <a:pPr algn="l">
              <a:spcAft>
                <a:spcPts val="600"/>
              </a:spcAft>
            </a:pPr>
            <a:r>
              <a:rPr sz="1500" b="1" i="0">
                <a:solidFill>
                  <a:srgbClr val="57068C"/>
                </a:solidFill>
              </a:rPr>
              <a:t>What we tried</a:t>
            </a:r>
          </a:p>
        </p:txBody>
      </p:sp>
      <p:sp>
        <p:nvSpPr>
          <p:cNvPr id="10" name="TextBox 9"/>
          <p:cNvSpPr txBox="1"/>
          <p:nvPr/>
        </p:nvSpPr>
        <p:spPr>
          <a:xfrm>
            <a:off x="2697480" y="2697480"/>
            <a:ext cx="1600200" cy="731520"/>
          </a:xfrm>
          <a:prstGeom prst="rect">
            <a:avLst/>
          </a:prstGeom>
          <a:noFill/>
        </p:spPr>
        <p:txBody>
          <a:bodyPr wrap="square" anchor="t" lIns="0" rIns="0" tIns="0" bIns="0">
            <a:spAutoFit/>
          </a:bodyPr>
          <a:lstStyle/>
          <a:p>
            <a:pPr algn="l">
              <a:spcAft>
                <a:spcPts val="600"/>
              </a:spcAft>
            </a:pPr>
            <a:r>
              <a:rPr sz="1150" b="0" i="0">
                <a:solidFill>
                  <a:srgbClr val="333333"/>
                </a:solidFill>
              </a:rPr>
              <a:t>Losses, architectures, scale, model size</a:t>
            </a:r>
          </a:p>
        </p:txBody>
      </p:sp>
      <p:sp>
        <p:nvSpPr>
          <p:cNvPr id="11" name="Rounded Rectangle 10"/>
          <p:cNvSpPr/>
          <p:nvPr/>
        </p:nvSpPr>
        <p:spPr>
          <a:xfrm>
            <a:off x="4663440" y="1463040"/>
            <a:ext cx="1965960" cy="20116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846320" y="1691640"/>
            <a:ext cx="457200" cy="457200"/>
          </a:xfrm>
          <a:prstGeom prst="ellipse">
            <a:avLst/>
          </a:prstGeom>
          <a:solidFill>
            <a:srgbClr val="57068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rPr>
              <a:t>3</a:t>
            </a:r>
          </a:p>
        </p:txBody>
      </p:sp>
      <p:sp>
        <p:nvSpPr>
          <p:cNvPr id="13" name="TextBox 12"/>
          <p:cNvSpPr txBox="1"/>
          <p:nvPr/>
        </p:nvSpPr>
        <p:spPr>
          <a:xfrm>
            <a:off x="4846320" y="2331720"/>
            <a:ext cx="1600200" cy="365760"/>
          </a:xfrm>
          <a:prstGeom prst="rect">
            <a:avLst/>
          </a:prstGeom>
          <a:noFill/>
        </p:spPr>
        <p:txBody>
          <a:bodyPr wrap="square" anchor="t" lIns="0" rIns="0" tIns="0" bIns="0">
            <a:spAutoFit/>
          </a:bodyPr>
          <a:lstStyle/>
          <a:p>
            <a:pPr algn="l">
              <a:spcAft>
                <a:spcPts val="600"/>
              </a:spcAft>
            </a:pPr>
            <a:r>
              <a:rPr sz="1500" b="1" i="0">
                <a:solidFill>
                  <a:srgbClr val="57068C"/>
                </a:solidFill>
              </a:rPr>
              <a:t>How it compares</a:t>
            </a:r>
          </a:p>
        </p:txBody>
      </p:sp>
      <p:sp>
        <p:nvSpPr>
          <p:cNvPr id="14" name="TextBox 13"/>
          <p:cNvSpPr txBox="1"/>
          <p:nvPr/>
        </p:nvSpPr>
        <p:spPr>
          <a:xfrm>
            <a:off x="4846320" y="2697480"/>
            <a:ext cx="1600200" cy="731520"/>
          </a:xfrm>
          <a:prstGeom prst="rect">
            <a:avLst/>
          </a:prstGeom>
          <a:noFill/>
        </p:spPr>
        <p:txBody>
          <a:bodyPr wrap="square" anchor="t" lIns="0" rIns="0" tIns="0" bIns="0">
            <a:spAutoFit/>
          </a:bodyPr>
          <a:lstStyle/>
          <a:p>
            <a:pPr algn="l">
              <a:spcAft>
                <a:spcPts val="600"/>
              </a:spcAft>
            </a:pPr>
            <a:r>
              <a:rPr sz="1150" b="0" i="0">
                <a:solidFill>
                  <a:srgbClr val="333333"/>
                </a:solidFill>
              </a:rPr>
              <a:t>Matched test against the supervised model</a:t>
            </a:r>
          </a:p>
        </p:txBody>
      </p:sp>
      <p:sp>
        <p:nvSpPr>
          <p:cNvPr id="15" name="Rounded Rectangle 14"/>
          <p:cNvSpPr/>
          <p:nvPr/>
        </p:nvSpPr>
        <p:spPr>
          <a:xfrm>
            <a:off x="6812280" y="1463040"/>
            <a:ext cx="1965960" cy="20116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995160" y="1691640"/>
            <a:ext cx="457200" cy="457200"/>
          </a:xfrm>
          <a:prstGeom prst="ellipse">
            <a:avLst/>
          </a:prstGeom>
          <a:solidFill>
            <a:srgbClr val="57068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rPr>
              <a:t>4</a:t>
            </a:r>
          </a:p>
        </p:txBody>
      </p:sp>
      <p:sp>
        <p:nvSpPr>
          <p:cNvPr id="17" name="TextBox 16"/>
          <p:cNvSpPr txBox="1"/>
          <p:nvPr/>
        </p:nvSpPr>
        <p:spPr>
          <a:xfrm>
            <a:off x="6995160" y="2331720"/>
            <a:ext cx="1600200" cy="365760"/>
          </a:xfrm>
          <a:prstGeom prst="rect">
            <a:avLst/>
          </a:prstGeom>
          <a:noFill/>
        </p:spPr>
        <p:txBody>
          <a:bodyPr wrap="square" anchor="t" lIns="0" rIns="0" tIns="0" bIns="0">
            <a:spAutoFit/>
          </a:bodyPr>
          <a:lstStyle/>
          <a:p>
            <a:pPr algn="l">
              <a:spcAft>
                <a:spcPts val="600"/>
              </a:spcAft>
            </a:pPr>
            <a:r>
              <a:rPr sz="1500" b="1" i="0">
                <a:solidFill>
                  <a:srgbClr val="57068C"/>
                </a:solidFill>
              </a:rPr>
              <a:t>Where it fails</a:t>
            </a:r>
          </a:p>
        </p:txBody>
      </p:sp>
      <p:sp>
        <p:nvSpPr>
          <p:cNvPr id="18" name="TextBox 17"/>
          <p:cNvSpPr txBox="1"/>
          <p:nvPr/>
        </p:nvSpPr>
        <p:spPr>
          <a:xfrm>
            <a:off x="6995160" y="2697480"/>
            <a:ext cx="1600200" cy="731520"/>
          </a:xfrm>
          <a:prstGeom prst="rect">
            <a:avLst/>
          </a:prstGeom>
          <a:noFill/>
        </p:spPr>
        <p:txBody>
          <a:bodyPr wrap="square" anchor="t" lIns="0" rIns="0" tIns="0" bIns="0">
            <a:spAutoFit/>
          </a:bodyPr>
          <a:lstStyle/>
          <a:p>
            <a:pPr algn="l">
              <a:spcAft>
                <a:spcPts val="600"/>
              </a:spcAft>
            </a:pPr>
            <a:r>
              <a:rPr sz="1150" b="0" i="0">
                <a:solidFill>
                  <a:srgbClr val="333333"/>
                </a:solidFill>
              </a:rPr>
              <a:t>Bright pixels, traced to flare cores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Approach: learn the solver's objective, not its answers</a:t>
            </a:r>
          </a:p>
        </p:txBody>
      </p:sp>
      <p:sp>
        <p:nvSpPr>
          <p:cNvPr id="3" name="Rounded Rectangle 2"/>
          <p:cNvSpPr/>
          <p:nvPr/>
        </p:nvSpPr>
        <p:spPr>
          <a:xfrm>
            <a:off x="365760" y="1234440"/>
            <a:ext cx="1371600" cy="8686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57068C"/>
                </a:solidFill>
              </a:rPr>
              <a:t>Observed AIA</a:t>
            </a:r>
          </a:p>
          <a:p>
            <a:pPr algn="ctr"/>
            <a:r>
              <a:rPr sz="1000">
                <a:solidFill>
                  <a:srgbClr val="333333"/>
                </a:solidFill>
              </a:rPr>
              <a:t>6 channels</a:t>
            </a:r>
          </a:p>
        </p:txBody>
      </p:sp>
      <p:sp>
        <p:nvSpPr>
          <p:cNvPr id="4" name="Rounded Rectangle 3"/>
          <p:cNvSpPr/>
          <p:nvPr/>
        </p:nvSpPr>
        <p:spPr>
          <a:xfrm>
            <a:off x="2125980" y="1234440"/>
            <a:ext cx="1371600" cy="868680"/>
          </a:xfrm>
          <a:prstGeom prst="roundRect">
            <a:avLst>
              <a:gd name="adj" fmla="val 6000"/>
            </a:avLst>
          </a:prstGeom>
          <a:solidFill>
            <a:srgbClr val="57068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FFFFFF"/>
                </a:solidFill>
              </a:rPr>
              <a:t>MLP</a:t>
            </a:r>
          </a:p>
          <a:p>
            <a:pPr algn="ctr"/>
            <a:r>
              <a:rPr sz="1000">
                <a:solidFill>
                  <a:srgbClr val="FFFFFF"/>
                </a:solidFill>
              </a:rPr>
              <a:t>176k params, per pixel</a:t>
            </a:r>
          </a:p>
        </p:txBody>
      </p:sp>
      <p:sp>
        <p:nvSpPr>
          <p:cNvPr id="5" name="Rounded Rectangle 4"/>
          <p:cNvSpPr/>
          <p:nvPr/>
        </p:nvSpPr>
        <p:spPr>
          <a:xfrm>
            <a:off x="3886200" y="1234440"/>
            <a:ext cx="1371600" cy="8686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57068C"/>
                </a:solidFill>
              </a:rPr>
              <a:t>Basis weights</a:t>
            </a:r>
          </a:p>
          <a:p>
            <a:pPr algn="ctr"/>
            <a:r>
              <a:rPr sz="1000">
                <a:solidFill>
                  <a:srgbClr val="333333"/>
                </a:solidFill>
              </a:rPr>
              <a:t>54, all ≥ 0</a:t>
            </a:r>
          </a:p>
        </p:txBody>
      </p:sp>
      <p:sp>
        <p:nvSpPr>
          <p:cNvPr id="6" name="Rounded Rectangle 5"/>
          <p:cNvSpPr/>
          <p:nvPr/>
        </p:nvSpPr>
        <p:spPr>
          <a:xfrm>
            <a:off x="5646420" y="1234440"/>
            <a:ext cx="1371600" cy="8686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57068C"/>
                </a:solidFill>
              </a:rPr>
              <a:t>DEM</a:t>
            </a:r>
          </a:p>
          <a:p>
            <a:pPr algn="ctr"/>
            <a:r>
              <a:rPr sz="1000">
                <a:solidFill>
                  <a:srgbClr val="333333"/>
                </a:solidFill>
              </a:rPr>
              <a:t>18 bins, logT 5.5–7.2</a:t>
            </a:r>
          </a:p>
        </p:txBody>
      </p:sp>
      <p:sp>
        <p:nvSpPr>
          <p:cNvPr id="7" name="Rounded Rectangle 6"/>
          <p:cNvSpPr/>
          <p:nvPr/>
        </p:nvSpPr>
        <p:spPr>
          <a:xfrm>
            <a:off x="7406640" y="1234440"/>
            <a:ext cx="1371600" cy="86868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57068C"/>
                </a:solidFill>
              </a:rPr>
              <a:t>Predicted AIA</a:t>
            </a:r>
          </a:p>
          <a:p>
            <a:pPr algn="ctr"/>
            <a:r>
              <a:rPr sz="1000">
                <a:solidFill>
                  <a:srgbClr val="333333"/>
                </a:solidFill>
              </a:rPr>
              <a:t>via response R</a:t>
            </a:r>
          </a:p>
        </p:txBody>
      </p:sp>
      <p:cxnSp>
        <p:nvCxnSpPr>
          <p:cNvPr id="8" name="Connector 7"/>
          <p:cNvCxnSpPr/>
          <p:nvPr/>
        </p:nvCxnSpPr>
        <p:spPr>
          <a:xfrm>
            <a:off x="1737360" y="1668780"/>
            <a:ext cx="388620" cy="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97580" y="1668780"/>
            <a:ext cx="388620" cy="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257800" y="1668780"/>
            <a:ext cx="388620" cy="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018020" y="1668780"/>
            <a:ext cx="388620" cy="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125980" y="2606040"/>
            <a:ext cx="6652260" cy="566928"/>
          </a:xfrm>
          <a:prstGeom prst="roundRect">
            <a:avLst>
              <a:gd name="adj" fmla="val 6000"/>
            </a:avLst>
          </a:prstGeom>
          <a:solidFill>
            <a:srgbClr val="E3D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57068C"/>
                </a:solidFill>
              </a:rPr>
              <a:t>Loss = the solver's objective on predicted vs observed AIA</a:t>
            </a:r>
          </a:p>
          <a:p>
            <a:pPr algn="ctr"/>
            <a:r>
              <a:rPr sz="1000">
                <a:solidFill>
                  <a:srgbClr val="333333"/>
                </a:solidFill>
              </a:rPr>
              <a:t>BP: fit within the noise band + L1 sparsity   ·   ENet: ElasticNet</a:t>
            </a:r>
          </a:p>
        </p:txBody>
      </p:sp>
      <p:cxnSp>
        <p:nvCxnSpPr>
          <p:cNvPr id="13" name="Connector 12"/>
          <p:cNvCxnSpPr/>
          <p:nvPr/>
        </p:nvCxnSpPr>
        <p:spPr>
          <a:xfrm>
            <a:off x="8092440" y="2103120"/>
            <a:ext cx="0" cy="50292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560" y="2103120"/>
            <a:ext cx="0" cy="786384"/>
          </a:xfrm>
          <a:prstGeom prst="line">
            <a:avLst/>
          </a:prstGeom>
          <a:ln w="19050">
            <a:solidFill>
              <a:srgbClr val="57068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560" y="2889504"/>
            <a:ext cx="1074420" cy="0"/>
          </a:xfrm>
          <a:prstGeom prst="line">
            <a:avLst/>
          </a:prstGeom>
          <a:ln w="19050">
            <a:solidFill>
              <a:srgbClr val="57068C"/>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65760" y="3429000"/>
            <a:ext cx="8412480" cy="914400"/>
          </a:xfrm>
          <a:prstGeom prst="rect">
            <a:avLst/>
          </a:prstGeom>
          <a:noFill/>
        </p:spPr>
        <p:txBody>
          <a:bodyPr wrap="square" anchor="t" lIns="0" rIns="0" tIns="0" bIns="0">
            <a:spAutoFit/>
          </a:bodyPr>
          <a:lstStyle/>
          <a:p>
            <a:pPr algn="l" marL="182880" indent="-182880">
              <a:spcAft>
                <a:spcPts val="600"/>
              </a:spcAft>
              <a:buClr>
                <a:srgbClr val="333333"/>
              </a:buClr>
              <a:buChar char="•"/>
            </a:pPr>
            <a:r>
              <a:rPr sz="1250" b="0" i="0">
                <a:solidFill>
                  <a:srgbClr val="333333"/>
                </a:solidFill>
              </a:rPr>
              <a:t>Solver DEMs are never used in training, only to evaluate.</a:t>
            </a:r>
          </a:p>
          <a:p>
            <a:pPr algn="l" marL="182880" indent="-182880">
              <a:spcAft>
                <a:spcPts val="600"/>
              </a:spcAft>
              <a:buClr>
                <a:srgbClr val="333333"/>
              </a:buClr>
              <a:buChar char="•"/>
            </a:pPr>
            <a:r>
              <a:rPr sz="1250" b="0" i="0">
                <a:solidFill>
                  <a:srgbClr val="333333"/>
                </a:solidFill>
              </a:rPr>
              <a:t>1,223 timestamps, split by day: 917 train, 153 validation, 153 test.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Barrier-style losses reproduce BP; fit-only losses do not</a:t>
            </a:r>
          </a:p>
        </p:txBody>
      </p:sp>
      <p:sp>
        <p:nvSpPr>
          <p:cNvPr id="3" name="TextBox 2"/>
          <p:cNvSpPr txBox="1"/>
          <p:nvPr/>
        </p:nvSpPr>
        <p:spPr>
          <a:xfrm>
            <a:off x="365760" y="914400"/>
            <a:ext cx="8412480" cy="1097280"/>
          </a:xfrm>
          <a:prstGeom prst="rect">
            <a:avLst/>
          </a:prstGeom>
          <a:noFill/>
        </p:spPr>
        <p:txBody>
          <a:bodyPr wrap="square" anchor="t" lIns="0" rIns="0" tIns="0" bIns="0">
            <a:spAutoFit/>
          </a:bodyPr>
          <a:lstStyle/>
          <a:p>
            <a:pPr algn="l" marL="182880" indent="-182880">
              <a:spcAft>
                <a:spcPts val="600"/>
              </a:spcAft>
              <a:buClr>
                <a:srgbClr val="333333"/>
              </a:buClr>
              <a:buChar char="•"/>
            </a:pPr>
            <a:r>
              <a:rPr sz="1300" b="0" i="0">
                <a:solidFill>
                  <a:srgbClr val="333333"/>
                </a:solidFill>
              </a:rPr>
              <a:t>Optimised 5 differentiable losses directly per pixel, against BP.</a:t>
            </a:r>
          </a:p>
          <a:p>
            <a:pPr algn="l" marL="182880" indent="-182880">
              <a:spcAft>
                <a:spcPts val="600"/>
              </a:spcAft>
              <a:buClr>
                <a:srgbClr val="333333"/>
              </a:buClr>
              <a:buChar char="•"/>
            </a:pPr>
            <a:r>
              <a:rPr sz="1300" b="0" i="0">
                <a:solidFill>
                  <a:srgbClr val="333333"/>
                </a:solidFill>
              </a:rPr>
              <a:t>Fit-only losses reconstruct AIA better but lose BP's sparse shape.</a:t>
            </a:r>
          </a:p>
          <a:p>
            <a:pPr algn="l" marL="182880" indent="-182880">
              <a:spcAft>
                <a:spcPts val="600"/>
              </a:spcAft>
              <a:buClr>
                <a:srgbClr val="333333"/>
              </a:buClr>
              <a:buChar char="•"/>
            </a:pPr>
            <a:r>
              <a:rPr sz="1300" b="1" i="0">
                <a:solidFill>
                  <a:srgbClr val="57068C"/>
                </a:solidFill>
              </a:rPr>
              <a:t>Lesson: the sparsity term, not the AIA fit, makes a DEM BP-like.</a:t>
            </a:r>
          </a:p>
        </p:txBody>
      </p:sp>
      <p:pic>
        <p:nvPicPr>
          <p:cNvPr id="4" name="Picture 3" descr="20140910_1731_mean_logt.png"/>
          <p:cNvPicPr>
            <a:picLocks noChangeAspect="1"/>
          </p:cNvPicPr>
          <p:nvPr/>
        </p:nvPicPr>
        <p:blipFill>
          <a:blip r:embed="rId3"/>
          <a:stretch>
            <a:fillRect/>
          </a:stretch>
        </p:blipFill>
        <p:spPr>
          <a:xfrm>
            <a:off x="365760" y="2417945"/>
            <a:ext cx="8412480" cy="1382029"/>
          </a:xfrm>
          <a:prstGeom prst="rect">
            <a:avLst/>
          </a:prstGeom>
        </p:spPr>
      </p:pic>
      <p:sp>
        <p:nvSpPr>
          <p:cNvPr id="5" name="TextBox 4"/>
          <p:cNvSpPr txBox="1"/>
          <p:nvPr/>
        </p:nvSpPr>
        <p:spPr>
          <a:xfrm>
            <a:off x="365760" y="4114800"/>
            <a:ext cx="8412480" cy="274320"/>
          </a:xfrm>
          <a:prstGeom prst="rect">
            <a:avLst/>
          </a:prstGeom>
          <a:noFill/>
        </p:spPr>
        <p:txBody>
          <a:bodyPr wrap="square" anchor="t" lIns="0" rIns="0" tIns="0" bIns="0">
            <a:spAutoFit/>
          </a:bodyPr>
          <a:lstStyle/>
          <a:p>
            <a:pPr algn="l">
              <a:spcAft>
                <a:spcPts val="0"/>
              </a:spcAft>
            </a:pPr>
            <a:r>
              <a:rPr sz="950" b="0" i="1">
                <a:solidFill>
                  <a:srgbClr val="6B6B6B"/>
                </a:solidFill>
              </a:rPr>
              <a:t>Mean logT maps, X1.6 flare timestamp. Left to right: BP, barrier, barrier-fit, χ² smooth, entropy, Tikhonov.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A 6-channel network fit the loss but drew noisy DEMs</a:t>
            </a:r>
          </a:p>
        </p:txBody>
      </p:sp>
      <p:sp>
        <p:nvSpPr>
          <p:cNvPr id="3" name="TextBox 2"/>
          <p:cNvSpPr txBox="1"/>
          <p:nvPr/>
        </p:nvSpPr>
        <p:spPr>
          <a:xfrm>
            <a:off x="365760" y="914400"/>
            <a:ext cx="3840480" cy="3108960"/>
          </a:xfrm>
          <a:prstGeom prst="rect">
            <a:avLst/>
          </a:prstGeom>
          <a:noFill/>
        </p:spPr>
        <p:txBody>
          <a:bodyPr wrap="square" anchor="t" lIns="0" rIns="0" tIns="0" bIns="0">
            <a:spAutoFit/>
          </a:bodyPr>
          <a:lstStyle/>
          <a:p>
            <a:pPr algn="l" marL="182880" indent="-182880">
              <a:spcAft>
                <a:spcPts val="1000"/>
              </a:spcAft>
              <a:buClr>
                <a:srgbClr val="333333"/>
              </a:buClr>
              <a:buChar char="•"/>
            </a:pPr>
            <a:r>
              <a:rPr sz="1300" b="0" i="0">
                <a:solidFill>
                  <a:srgbClr val="333333"/>
                </a:solidFill>
              </a:rPr>
              <a:t>Trained on the barrier loss over ~221k pixels from 4 timestamps.</a:t>
            </a:r>
          </a:p>
          <a:p>
            <a:pPr algn="l" marL="182880" indent="-182880">
              <a:spcAft>
                <a:spcPts val="1000"/>
              </a:spcAft>
              <a:buClr>
                <a:srgbClr val="333333"/>
              </a:buClr>
              <a:buChar char="•"/>
            </a:pPr>
            <a:r>
              <a:rPr sz="1300" b="0" i="0">
                <a:solidFill>
                  <a:srgbClr val="333333"/>
                </a:solidFill>
              </a:rPr>
              <a:t>The loss converged, yet per-pixel curves oscillated.</a:t>
            </a:r>
          </a:p>
          <a:p>
            <a:pPr algn="l" marL="182880" indent="-182880">
              <a:spcAft>
                <a:spcPts val="1000"/>
              </a:spcAft>
              <a:buClr>
                <a:srgbClr val="333333"/>
              </a:buClr>
              <a:buChar char="•"/>
            </a:pPr>
            <a:r>
              <a:rPr sz="1300" b="0" i="0">
                <a:solidFill>
                  <a:srgbClr val="333333"/>
                </a:solidFill>
              </a:rPr>
              <a:t>Six numbers constrain 18 bins: small basis errors become wiggles.</a:t>
            </a:r>
          </a:p>
          <a:p>
            <a:pPr algn="l" marL="182880" indent="-182880">
              <a:spcAft>
                <a:spcPts val="1000"/>
              </a:spcAft>
              <a:buClr>
                <a:srgbClr val="333333"/>
              </a:buClr>
              <a:buChar char="•"/>
            </a:pPr>
            <a:r>
              <a:rPr sz="1300" b="1" i="0">
                <a:solidFill>
                  <a:srgbClr val="57068C"/>
                </a:solidFill>
              </a:rPr>
              <a:t>Next question: does spatial context help?</a:t>
            </a:r>
          </a:p>
        </p:txBody>
      </p:sp>
      <p:pic>
        <p:nvPicPr>
          <p:cNvPr id="4" name="Picture 3" descr="noisy_nn.png"/>
          <p:cNvPicPr>
            <a:picLocks noChangeAspect="1"/>
          </p:cNvPicPr>
          <p:nvPr/>
        </p:nvPicPr>
        <p:blipFill>
          <a:blip r:embed="rId3"/>
          <a:stretch>
            <a:fillRect/>
          </a:stretch>
        </p:blipFill>
        <p:spPr>
          <a:xfrm>
            <a:off x="4638555" y="914400"/>
            <a:ext cx="3890249" cy="3246120"/>
          </a:xfrm>
          <a:prstGeom prst="rect">
            <a:avLst/>
          </a:prstGeom>
        </p:spPr>
      </p:pic>
      <p:sp>
        <p:nvSpPr>
          <p:cNvPr id="5" name="TextBox 4"/>
          <p:cNvSpPr txBox="1"/>
          <p:nvPr/>
        </p:nvSpPr>
        <p:spPr>
          <a:xfrm>
            <a:off x="4389120" y="4187952"/>
            <a:ext cx="4389120" cy="274320"/>
          </a:xfrm>
          <a:prstGeom prst="rect">
            <a:avLst/>
          </a:prstGeom>
          <a:noFill/>
        </p:spPr>
        <p:txBody>
          <a:bodyPr wrap="square" anchor="t" lIns="0" rIns="0" tIns="0" bIns="0">
            <a:spAutoFit/>
          </a:bodyPr>
          <a:lstStyle/>
          <a:p>
            <a:pPr algn="l">
              <a:spcAft>
                <a:spcPts val="0"/>
              </a:spcAft>
            </a:pPr>
            <a:r>
              <a:rPr sz="950" b="0" i="1">
                <a:solidFill>
                  <a:srgbClr val="6B6B6B"/>
                </a:solidFill>
              </a:rPr>
              <a:t>BP (black) against the network and direct optimisation, X2.1 flare.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Seeing the neighbourhood gave smooth, BP-like curves</a:t>
            </a:r>
          </a:p>
        </p:txBody>
      </p:sp>
      <p:sp>
        <p:nvSpPr>
          <p:cNvPr id="3" name="TextBox 2"/>
          <p:cNvSpPr txBox="1"/>
          <p:nvPr/>
        </p:nvSpPr>
        <p:spPr>
          <a:xfrm>
            <a:off x="365760" y="914400"/>
            <a:ext cx="3931920" cy="1280160"/>
          </a:xfrm>
          <a:prstGeom prst="rect">
            <a:avLst/>
          </a:prstGeom>
          <a:noFill/>
        </p:spPr>
        <p:txBody>
          <a:bodyPr wrap="square" anchor="t" lIns="0" rIns="0" tIns="0" bIns="0">
            <a:spAutoFit/>
          </a:bodyPr>
          <a:lstStyle/>
          <a:p>
            <a:pPr algn="l" marL="182880" indent="-182880">
              <a:spcAft>
                <a:spcPts val="600"/>
              </a:spcAft>
              <a:buClr>
                <a:srgbClr val="333333"/>
              </a:buClr>
              <a:buChar char="•"/>
            </a:pPr>
            <a:r>
              <a:rPr sz="1300" b="0" i="0">
                <a:solidFill>
                  <a:srgbClr val="333333"/>
                </a:solidFill>
              </a:rPr>
              <a:t>Patch CNN: each pixel sees its 9×9 neighbourhood.</a:t>
            </a:r>
          </a:p>
          <a:p>
            <a:pPr algn="l" marL="182880" indent="-182880">
              <a:spcAft>
                <a:spcPts val="600"/>
              </a:spcAft>
              <a:buClr>
                <a:srgbClr val="333333"/>
              </a:buClr>
              <a:buChar char="•"/>
            </a:pPr>
            <a:r>
              <a:rPr sz="1300" b="0" i="0">
                <a:solidFill>
                  <a:srgbClr val="333333"/>
                </a:solidFill>
              </a:rPr>
              <a:t>One image, then 4 timestamps, then neighbourhood masking.</a:t>
            </a:r>
          </a:p>
          <a:p>
            <a:pPr algn="l" marL="182880" indent="-182880">
              <a:spcAft>
                <a:spcPts val="600"/>
              </a:spcAft>
              <a:buClr>
                <a:srgbClr val="333333"/>
              </a:buClr>
              <a:buChar char="•"/>
            </a:pPr>
            <a:r>
              <a:rPr sz="1300" b="1" i="0">
                <a:solidFill>
                  <a:srgbClr val="57068C"/>
                </a:solidFill>
              </a:rPr>
              <a:t>Caveat: held-out pixels of seen images, not unseen days.</a:t>
            </a:r>
          </a:p>
        </p:txBody>
      </p:sp>
      <p:graphicFrame>
        <p:nvGraphicFramePr>
          <p:cNvPr id="4" name="Table 3"/>
          <p:cNvGraphicFramePr>
            <a:graphicFrameLocks noGrp="1"/>
          </p:cNvGraphicFramePr>
          <p:nvPr/>
        </p:nvGraphicFramePr>
        <p:xfrm>
          <a:off x="365760" y="2423160"/>
          <a:ext cx="3931919" cy="1371600"/>
        </p:xfrm>
        <a:graphic>
          <a:graphicData uri="http://schemas.openxmlformats.org/drawingml/2006/table">
            <a:tbl>
              <a:tblPr firstRow="1" bandRow="1"/>
              <a:tblGrid>
                <a:gridCol w="2059577"/>
                <a:gridCol w="936171"/>
                <a:gridCol w="936171"/>
              </a:tblGrid>
              <a:tr h="274320">
                <a:tc>
                  <a:txBody>
                    <a:bodyPr wrap="square"/>
                    <a:lstStyle/>
                    <a:p>
                      <a:pPr algn="l"/>
                      <a:r>
                        <a:rPr sz="1050" b="1">
                          <a:solidFill>
                            <a:srgbClr val="FFFFFF"/>
                          </a:solidFill>
                        </a:rPr>
                        <a:t>Timestamp</a:t>
                      </a:r>
                    </a:p>
                  </a:txBody>
                  <a:tcPr marL="54864" marR="54864" marT="18288" marB="18288" anchor="ctr">
                    <a:lnL w="0">
                      <a:noFill/>
                    </a:lnL>
                    <a:lnR w="0">
                      <a:noFill/>
                    </a:lnR>
                    <a:lnT w="0">
                      <a:noFill/>
                    </a:lnT>
                    <a:lnB w="6350">
                      <a:solidFill>
                        <a:srgbClr val="D9D3E3"/>
                      </a:solidFill>
                    </a:lnB>
                    <a:solidFill>
                      <a:srgbClr val="57068C"/>
                    </a:solidFill>
                  </a:tcPr>
                </a:tc>
                <a:tc>
                  <a:txBody>
                    <a:bodyPr wrap="square"/>
                    <a:lstStyle/>
                    <a:p>
                      <a:pPr algn="r"/>
                      <a:r>
                        <a:rPr sz="1050" b="1">
                          <a:solidFill>
                            <a:srgbClr val="FFFFFF"/>
                          </a:solidFill>
                        </a:rPr>
                        <a:t>Network</a:t>
                      </a:r>
                    </a:p>
                  </a:txBody>
                  <a:tcPr marL="54864" marR="54864" marT="18288" marB="18288" anchor="ctr">
                    <a:lnL w="0">
                      <a:noFill/>
                    </a:lnL>
                    <a:lnR w="0">
                      <a:noFill/>
                    </a:lnR>
                    <a:lnT w="0">
                      <a:noFill/>
                    </a:lnT>
                    <a:lnB w="6350">
                      <a:solidFill>
                        <a:srgbClr val="D9D3E3"/>
                      </a:solidFill>
                    </a:lnB>
                    <a:solidFill>
                      <a:srgbClr val="57068C"/>
                    </a:solidFill>
                  </a:tcPr>
                </a:tc>
                <a:tc>
                  <a:txBody>
                    <a:bodyPr wrap="square"/>
                    <a:lstStyle/>
                    <a:p>
                      <a:pPr algn="r"/>
                      <a:r>
                        <a:rPr sz="1050" b="1">
                          <a:solidFill>
                            <a:srgbClr val="FFFFFF"/>
                          </a:solidFill>
                        </a:rPr>
                        <a:t>BP</a:t>
                      </a:r>
                    </a:p>
                  </a:txBody>
                  <a:tcPr marL="54864" marR="54864" marT="18288" marB="18288" anchor="ctr">
                    <a:lnL w="0">
                      <a:noFill/>
                    </a:lnL>
                    <a:lnR w="0">
                      <a:noFill/>
                    </a:lnR>
                    <a:lnT w="0">
                      <a:noFill/>
                    </a:lnT>
                    <a:lnB w="6350">
                      <a:solidFill>
                        <a:srgbClr val="D9D3E3"/>
                      </a:solidFill>
                    </a:lnB>
                    <a:solidFill>
                      <a:srgbClr val="57068C"/>
                    </a:solidFill>
                  </a:tcPr>
                </a:tc>
              </a:tr>
              <a:tr h="274320">
                <a:tc>
                  <a:txBody>
                    <a:bodyPr wrap="square"/>
                    <a:lstStyle/>
                    <a:p>
                      <a:pPr algn="l"/>
                      <a:r>
                        <a:rPr sz="1050" b="0">
                          <a:solidFill>
                            <a:srgbClr val="333333"/>
                          </a:solidFill>
                        </a:rPr>
                        <a:t>X2.1 flare</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1.84</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1.97</a:t>
                      </a:r>
                    </a:p>
                  </a:txBody>
                  <a:tcPr marL="54864" marR="54864" marT="18288" marB="18288" anchor="ctr">
                    <a:lnL w="0">
                      <a:noFill/>
                    </a:lnL>
                    <a:lnR w="0">
                      <a:noFill/>
                    </a:lnR>
                    <a:lnT w="0">
                      <a:noFill/>
                    </a:lnT>
                    <a:lnB w="6350">
                      <a:solidFill>
                        <a:srgbClr val="D9D3E3"/>
                      </a:solidFill>
                    </a:lnB>
                    <a:solidFill>
                      <a:srgbClr val="FFFFFF"/>
                    </a:solidFill>
                  </a:tcPr>
                </a:tc>
              </a:tr>
              <a:tr h="274320">
                <a:tc>
                  <a:txBody>
                    <a:bodyPr wrap="square"/>
                    <a:lstStyle/>
                    <a:p>
                      <a:pPr algn="l"/>
                      <a:r>
                        <a:rPr sz="1050" b="0">
                          <a:solidFill>
                            <a:srgbClr val="333333"/>
                          </a:solidFill>
                        </a:rPr>
                        <a:t>Quiet Sun</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1.58</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1.67</a:t>
                      </a:r>
                    </a:p>
                  </a:txBody>
                  <a:tcPr marL="54864" marR="54864" marT="18288" marB="18288" anchor="ctr">
                    <a:lnL w="0">
                      <a:noFill/>
                    </a:lnL>
                    <a:lnR w="0">
                      <a:noFill/>
                    </a:lnR>
                    <a:lnT w="0">
                      <a:noFill/>
                    </a:lnT>
                    <a:lnB w="6350">
                      <a:solidFill>
                        <a:srgbClr val="D9D3E3"/>
                      </a:solidFill>
                    </a:lnB>
                    <a:solidFill>
                      <a:srgbClr val="FFFFFF"/>
                    </a:solidFill>
                  </a:tcPr>
                </a:tc>
              </a:tr>
              <a:tr h="274320">
                <a:tc>
                  <a:txBody>
                    <a:bodyPr wrap="square"/>
                    <a:lstStyle/>
                    <a:p>
                      <a:pPr algn="l"/>
                      <a:r>
                        <a:rPr sz="1050" b="0">
                          <a:solidFill>
                            <a:srgbClr val="333333"/>
                          </a:solidFill>
                        </a:rPr>
                        <a:t>Moderate activity</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1.47</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1.82</a:t>
                      </a:r>
                    </a:p>
                  </a:txBody>
                  <a:tcPr marL="54864" marR="54864" marT="18288" marB="18288" anchor="ctr">
                    <a:lnL w="0">
                      <a:noFill/>
                    </a:lnL>
                    <a:lnR w="0">
                      <a:noFill/>
                    </a:lnR>
                    <a:lnT w="0">
                      <a:noFill/>
                    </a:lnT>
                    <a:lnB w="6350">
                      <a:solidFill>
                        <a:srgbClr val="D9D3E3"/>
                      </a:solidFill>
                    </a:lnB>
                    <a:solidFill>
                      <a:srgbClr val="FFFFFF"/>
                    </a:solidFill>
                  </a:tcPr>
                </a:tc>
              </a:tr>
              <a:tr h="274320">
                <a:tc>
                  <a:txBody>
                    <a:bodyPr wrap="square"/>
                    <a:lstStyle/>
                    <a:p>
                      <a:pPr algn="l"/>
                      <a:r>
                        <a:rPr sz="1050" b="0">
                          <a:solidFill>
                            <a:srgbClr val="333333"/>
                          </a:solidFill>
                        </a:rPr>
                        <a:t>X1.6 flare</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1.86</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1.71</a:t>
                      </a:r>
                    </a:p>
                  </a:txBody>
                  <a:tcPr marL="54864" marR="54864" marT="18288" marB="18288" anchor="ctr">
                    <a:lnL w="0">
                      <a:noFill/>
                    </a:lnL>
                    <a:lnR w="0">
                      <a:noFill/>
                    </a:lnR>
                    <a:lnT w="0">
                      <a:noFill/>
                    </a:lnT>
                    <a:lnB w="6350">
                      <a:solidFill>
                        <a:srgbClr val="D9D3E3"/>
                      </a:solidFill>
                    </a:lnB>
                    <a:solidFill>
                      <a:srgbClr val="FFFFFF"/>
                    </a:solidFill>
                  </a:tcPr>
                </a:tc>
              </a:tr>
            </a:tbl>
          </a:graphicData>
        </a:graphic>
      </p:graphicFrame>
      <p:sp>
        <p:nvSpPr>
          <p:cNvPr id="5" name="TextBox 4"/>
          <p:cNvSpPr txBox="1"/>
          <p:nvPr/>
        </p:nvSpPr>
        <p:spPr>
          <a:xfrm>
            <a:off x="365760" y="3840480"/>
            <a:ext cx="3931920" cy="274320"/>
          </a:xfrm>
          <a:prstGeom prst="rect">
            <a:avLst/>
          </a:prstGeom>
          <a:noFill/>
        </p:spPr>
        <p:txBody>
          <a:bodyPr wrap="square" anchor="t" lIns="0" rIns="0" tIns="0" bIns="0">
            <a:spAutoFit/>
          </a:bodyPr>
          <a:lstStyle/>
          <a:p>
            <a:pPr algn="l">
              <a:spcAft>
                <a:spcPts val="0"/>
              </a:spcAft>
            </a:pPr>
            <a:r>
              <a:rPr sz="950" b="0" i="1">
                <a:solidFill>
                  <a:srgbClr val="6B6B6B"/>
                </a:solidFill>
              </a:rPr>
              <a:t>Sparsity of basis weights on held-out pixels; lower is sparser.</a:t>
            </a:r>
          </a:p>
        </p:txBody>
      </p:sp>
      <p:pic>
        <p:nvPicPr>
          <p:cNvPr id="6" name="Picture 5" descr="patch_cnn.png"/>
          <p:cNvPicPr>
            <a:picLocks noChangeAspect="1"/>
          </p:cNvPicPr>
          <p:nvPr/>
        </p:nvPicPr>
        <p:blipFill>
          <a:blip r:embed="rId3"/>
          <a:stretch>
            <a:fillRect/>
          </a:stretch>
        </p:blipFill>
        <p:spPr>
          <a:xfrm>
            <a:off x="5246285" y="914400"/>
            <a:ext cx="2857669" cy="3246120"/>
          </a:xfrm>
          <a:prstGeom prst="rect">
            <a:avLst/>
          </a:prstGeom>
        </p:spPr>
      </p:pic>
      <p:sp>
        <p:nvSpPr>
          <p:cNvPr id="7" name="TextBox 6"/>
          <p:cNvSpPr txBox="1"/>
          <p:nvPr/>
        </p:nvSpPr>
        <p:spPr>
          <a:xfrm>
            <a:off x="4572000" y="4187952"/>
            <a:ext cx="4206240" cy="274320"/>
          </a:xfrm>
          <a:prstGeom prst="rect">
            <a:avLst/>
          </a:prstGeom>
          <a:noFill/>
        </p:spPr>
        <p:txBody>
          <a:bodyPr wrap="square" anchor="t" lIns="0" rIns="0" tIns="0" bIns="0">
            <a:spAutoFit/>
          </a:bodyPr>
          <a:lstStyle/>
          <a:p>
            <a:pPr algn="l">
              <a:spcAft>
                <a:spcPts val="0"/>
              </a:spcAft>
            </a:pPr>
            <a:r>
              <a:rPr sz="950" b="0" i="1">
                <a:solidFill>
                  <a:srgbClr val="6B6B6B"/>
                </a:solidFill>
              </a:rPr>
              <a:t>BP (black) and the patch CNN, X2.1 flare.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On unseen days, the patch CNN's advantage disappeared</a:t>
            </a:r>
          </a:p>
        </p:txBody>
      </p:sp>
      <p:sp>
        <p:nvSpPr>
          <p:cNvPr id="3" name="TextBox 2"/>
          <p:cNvSpPr txBox="1"/>
          <p:nvPr/>
        </p:nvSpPr>
        <p:spPr>
          <a:xfrm>
            <a:off x="365760" y="914400"/>
            <a:ext cx="3931920" cy="1463040"/>
          </a:xfrm>
          <a:prstGeom prst="rect">
            <a:avLst/>
          </a:prstGeom>
          <a:noFill/>
        </p:spPr>
        <p:txBody>
          <a:bodyPr wrap="square" anchor="t" lIns="0" rIns="0" tIns="0" bIns="0">
            <a:spAutoFit/>
          </a:bodyPr>
          <a:lstStyle/>
          <a:p>
            <a:pPr algn="l" marL="182880" indent="-182880">
              <a:spcAft>
                <a:spcPts val="600"/>
              </a:spcAft>
              <a:buClr>
                <a:srgbClr val="333333"/>
              </a:buClr>
              <a:buChar char="•"/>
            </a:pPr>
            <a:r>
              <a:rPr sz="1300" b="0" i="0">
                <a:solidFill>
                  <a:srgbClr val="333333"/>
                </a:solidFill>
              </a:rPr>
              <a:t>Capacity-matched ablation: a centre-pixel MLP is smooth too.</a:t>
            </a:r>
          </a:p>
          <a:p>
            <a:pPr algn="l" marL="182880" indent="-182880">
              <a:spcAft>
                <a:spcPts val="600"/>
              </a:spcAft>
              <a:buClr>
                <a:srgbClr val="333333"/>
              </a:buClr>
              <a:buChar char="•"/>
            </a:pPr>
            <a:r>
              <a:rPr sz="1300" b="0" i="0">
                <a:solidFill>
                  <a:srgbClr val="333333"/>
                </a:solidFill>
              </a:rPr>
              <a:t>Leave one day out: MLP wins 2 of 4, ties 1, incl. the flare.</a:t>
            </a:r>
          </a:p>
          <a:p>
            <a:pPr algn="l" marL="182880" indent="-182880">
              <a:spcAft>
                <a:spcPts val="600"/>
              </a:spcAft>
              <a:buClr>
                <a:srgbClr val="333333"/>
              </a:buClr>
              <a:buChar char="•"/>
            </a:pPr>
            <a:r>
              <a:rPr sz="1300" b="1" i="0">
                <a:solidFill>
                  <a:srgbClr val="57068C"/>
                </a:solidFill>
              </a:rPr>
              <a:t>Lesson: in-sample scores flattered the CNN.</a:t>
            </a:r>
          </a:p>
        </p:txBody>
      </p:sp>
      <p:graphicFrame>
        <p:nvGraphicFramePr>
          <p:cNvPr id="4" name="Table 3"/>
          <p:cNvGraphicFramePr>
            <a:graphicFrameLocks noGrp="1"/>
          </p:cNvGraphicFramePr>
          <p:nvPr/>
        </p:nvGraphicFramePr>
        <p:xfrm>
          <a:off x="365760" y="2423160"/>
          <a:ext cx="3931918" cy="1371600"/>
        </p:xfrm>
        <a:graphic>
          <a:graphicData uri="http://schemas.openxmlformats.org/drawingml/2006/table">
            <a:tbl>
              <a:tblPr firstRow="1" bandRow="1"/>
              <a:tblGrid>
                <a:gridCol w="1872342"/>
                <a:gridCol w="1029788"/>
                <a:gridCol w="1029788"/>
              </a:tblGrid>
              <a:tr h="274320">
                <a:tc>
                  <a:txBody>
                    <a:bodyPr wrap="square"/>
                    <a:lstStyle/>
                    <a:p>
                      <a:pPr algn="l"/>
                      <a:r>
                        <a:rPr sz="1050" b="1">
                          <a:solidFill>
                            <a:srgbClr val="FFFFFF"/>
                          </a:solidFill>
                        </a:rPr>
                        <a:t>Held-out day</a:t>
                      </a:r>
                    </a:p>
                  </a:txBody>
                  <a:tcPr marL="54864" marR="54864" marT="18288" marB="18288" anchor="ctr">
                    <a:lnL w="0">
                      <a:noFill/>
                    </a:lnL>
                    <a:lnR w="0">
                      <a:noFill/>
                    </a:lnR>
                    <a:lnT w="0">
                      <a:noFill/>
                    </a:lnT>
                    <a:lnB w="6350">
                      <a:solidFill>
                        <a:srgbClr val="D9D3E3"/>
                      </a:solidFill>
                    </a:lnB>
                    <a:solidFill>
                      <a:srgbClr val="57068C"/>
                    </a:solidFill>
                  </a:tcPr>
                </a:tc>
                <a:tc>
                  <a:txBody>
                    <a:bodyPr wrap="square"/>
                    <a:lstStyle/>
                    <a:p>
                      <a:pPr algn="r"/>
                      <a:r>
                        <a:rPr sz="1050" b="1">
                          <a:solidFill>
                            <a:srgbClr val="FFFFFF"/>
                          </a:solidFill>
                        </a:rPr>
                        <a:t>Patch CNN</a:t>
                      </a:r>
                    </a:p>
                  </a:txBody>
                  <a:tcPr marL="54864" marR="54864" marT="18288" marB="18288" anchor="ctr">
                    <a:lnL w="0">
                      <a:noFill/>
                    </a:lnL>
                    <a:lnR w="0">
                      <a:noFill/>
                    </a:lnR>
                    <a:lnT w="0">
                      <a:noFill/>
                    </a:lnT>
                    <a:lnB w="6350">
                      <a:solidFill>
                        <a:srgbClr val="D9D3E3"/>
                      </a:solidFill>
                    </a:lnB>
                    <a:solidFill>
                      <a:srgbClr val="57068C"/>
                    </a:solidFill>
                  </a:tcPr>
                </a:tc>
                <a:tc>
                  <a:txBody>
                    <a:bodyPr wrap="square"/>
                    <a:lstStyle/>
                    <a:p>
                      <a:pPr algn="r"/>
                      <a:r>
                        <a:rPr sz="1050" b="1">
                          <a:solidFill>
                            <a:srgbClr val="FFFFFF"/>
                          </a:solidFill>
                        </a:rPr>
                        <a:t>Centre MLP</a:t>
                      </a:r>
                    </a:p>
                  </a:txBody>
                  <a:tcPr marL="54864" marR="54864" marT="18288" marB="18288" anchor="ctr">
                    <a:lnL w="0">
                      <a:noFill/>
                    </a:lnL>
                    <a:lnR w="0">
                      <a:noFill/>
                    </a:lnR>
                    <a:lnT w="0">
                      <a:noFill/>
                    </a:lnT>
                    <a:lnB w="6350">
                      <a:solidFill>
                        <a:srgbClr val="D9D3E3"/>
                      </a:solidFill>
                    </a:lnB>
                    <a:solidFill>
                      <a:srgbClr val="57068C"/>
                    </a:solidFill>
                  </a:tcPr>
                </a:tc>
              </a:tr>
              <a:tr h="274320">
                <a:tc>
                  <a:txBody>
                    <a:bodyPr wrap="square"/>
                    <a:lstStyle/>
                    <a:p>
                      <a:pPr algn="l"/>
                      <a:r>
                        <a:rPr sz="1050" b="0">
                          <a:solidFill>
                            <a:srgbClr val="333333"/>
                          </a:solidFill>
                        </a:rPr>
                        <a:t>X2.1 flare</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1.64</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1.59</a:t>
                      </a:r>
                    </a:p>
                  </a:txBody>
                  <a:tcPr marL="54864" marR="54864" marT="18288" marB="18288" anchor="ctr">
                    <a:lnL w="0">
                      <a:noFill/>
                    </a:lnL>
                    <a:lnR w="0">
                      <a:noFill/>
                    </a:lnR>
                    <a:lnT w="0">
                      <a:noFill/>
                    </a:lnT>
                    <a:lnB w="6350">
                      <a:solidFill>
                        <a:srgbClr val="D9D3E3"/>
                      </a:solidFill>
                    </a:lnB>
                    <a:solidFill>
                      <a:srgbClr val="FFFFFF"/>
                    </a:solidFill>
                  </a:tcPr>
                </a:tc>
              </a:tr>
              <a:tr h="274320">
                <a:tc>
                  <a:txBody>
                    <a:bodyPr wrap="square"/>
                    <a:lstStyle/>
                    <a:p>
                      <a:pPr algn="l"/>
                      <a:r>
                        <a:rPr sz="1050" b="0">
                          <a:solidFill>
                            <a:srgbClr val="333333"/>
                          </a:solidFill>
                        </a:rPr>
                        <a:t>Quiet Sun</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1.61</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1.78</a:t>
                      </a:r>
                    </a:p>
                  </a:txBody>
                  <a:tcPr marL="54864" marR="54864" marT="18288" marB="18288" anchor="ctr">
                    <a:lnL w="0">
                      <a:noFill/>
                    </a:lnL>
                    <a:lnR w="0">
                      <a:noFill/>
                    </a:lnR>
                    <a:lnT w="0">
                      <a:noFill/>
                    </a:lnT>
                    <a:lnB w="6350">
                      <a:solidFill>
                        <a:srgbClr val="D9D3E3"/>
                      </a:solidFill>
                    </a:lnB>
                    <a:solidFill>
                      <a:srgbClr val="FFFFFF"/>
                    </a:solidFill>
                  </a:tcPr>
                </a:tc>
              </a:tr>
              <a:tr h="274320">
                <a:tc>
                  <a:txBody>
                    <a:bodyPr wrap="square"/>
                    <a:lstStyle/>
                    <a:p>
                      <a:pPr algn="l"/>
                      <a:r>
                        <a:rPr sz="1050" b="0">
                          <a:solidFill>
                            <a:srgbClr val="333333"/>
                          </a:solidFill>
                        </a:rPr>
                        <a:t>Moderate activity</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1.83</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1.83</a:t>
                      </a:r>
                    </a:p>
                  </a:txBody>
                  <a:tcPr marL="54864" marR="54864" marT="18288" marB="18288" anchor="ctr">
                    <a:lnL w="0">
                      <a:noFill/>
                    </a:lnL>
                    <a:lnR w="0">
                      <a:noFill/>
                    </a:lnR>
                    <a:lnT w="0">
                      <a:noFill/>
                    </a:lnT>
                    <a:lnB w="6350">
                      <a:solidFill>
                        <a:srgbClr val="D9D3E3"/>
                      </a:solidFill>
                    </a:lnB>
                    <a:solidFill>
                      <a:srgbClr val="FFFFFF"/>
                    </a:solidFill>
                  </a:tcPr>
                </a:tc>
              </a:tr>
              <a:tr h="274320">
                <a:tc>
                  <a:txBody>
                    <a:bodyPr wrap="square"/>
                    <a:lstStyle/>
                    <a:p>
                      <a:pPr algn="l"/>
                      <a:r>
                        <a:rPr sz="1050" b="0">
                          <a:solidFill>
                            <a:srgbClr val="333333"/>
                          </a:solidFill>
                        </a:rPr>
                        <a:t>X1.6 flare</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2.31</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050" b="0">
                          <a:solidFill>
                            <a:srgbClr val="333333"/>
                          </a:solidFill>
                        </a:rPr>
                        <a:t>1.96</a:t>
                      </a:r>
                    </a:p>
                  </a:txBody>
                  <a:tcPr marL="54864" marR="54864" marT="18288" marB="18288" anchor="ctr">
                    <a:lnL w="0">
                      <a:noFill/>
                    </a:lnL>
                    <a:lnR w="0">
                      <a:noFill/>
                    </a:lnR>
                    <a:lnT w="0">
                      <a:noFill/>
                    </a:lnT>
                    <a:lnB w="6350">
                      <a:solidFill>
                        <a:srgbClr val="D9D3E3"/>
                      </a:solidFill>
                    </a:lnB>
                    <a:solidFill>
                      <a:srgbClr val="FFFFFF"/>
                    </a:solidFill>
                  </a:tcPr>
                </a:tc>
              </a:tr>
            </a:tbl>
          </a:graphicData>
        </a:graphic>
      </p:graphicFrame>
      <p:sp>
        <p:nvSpPr>
          <p:cNvPr id="5" name="TextBox 4"/>
          <p:cNvSpPr txBox="1"/>
          <p:nvPr/>
        </p:nvSpPr>
        <p:spPr>
          <a:xfrm>
            <a:off x="365760" y="3840480"/>
            <a:ext cx="3931920" cy="274320"/>
          </a:xfrm>
          <a:prstGeom prst="rect">
            <a:avLst/>
          </a:prstGeom>
          <a:noFill/>
        </p:spPr>
        <p:txBody>
          <a:bodyPr wrap="square" anchor="t" lIns="0" rIns="0" tIns="0" bIns="0">
            <a:spAutoFit/>
          </a:bodyPr>
          <a:lstStyle/>
          <a:p>
            <a:pPr algn="l">
              <a:spcAft>
                <a:spcPts val="0"/>
              </a:spcAft>
            </a:pPr>
            <a:r>
              <a:rPr sz="950" b="0" i="1">
                <a:solidFill>
                  <a:srgbClr val="6B6B6B"/>
                </a:solidFill>
              </a:rPr>
              <a:t>Held-out sparsity, lower is sparser; BP is about 1.8.</a:t>
            </a:r>
          </a:p>
        </p:txBody>
      </p:sp>
      <p:pic>
        <p:nvPicPr>
          <p:cNvPr id="6" name="Picture 5" descr="loo_flare.png"/>
          <p:cNvPicPr>
            <a:picLocks noChangeAspect="1"/>
          </p:cNvPicPr>
          <p:nvPr/>
        </p:nvPicPr>
        <p:blipFill>
          <a:blip r:embed="rId3"/>
          <a:stretch>
            <a:fillRect/>
          </a:stretch>
        </p:blipFill>
        <p:spPr>
          <a:xfrm>
            <a:off x="5047492" y="914400"/>
            <a:ext cx="3255255" cy="3246120"/>
          </a:xfrm>
          <a:prstGeom prst="rect">
            <a:avLst/>
          </a:prstGeom>
        </p:spPr>
      </p:pic>
      <p:sp>
        <p:nvSpPr>
          <p:cNvPr id="7" name="TextBox 6"/>
          <p:cNvSpPr txBox="1"/>
          <p:nvPr/>
        </p:nvSpPr>
        <p:spPr>
          <a:xfrm>
            <a:off x="4572000" y="4187952"/>
            <a:ext cx="4206240" cy="274320"/>
          </a:xfrm>
          <a:prstGeom prst="rect">
            <a:avLst/>
          </a:prstGeom>
          <a:noFill/>
        </p:spPr>
        <p:txBody>
          <a:bodyPr wrap="square" anchor="t" lIns="0" rIns="0" tIns="0" bIns="0">
            <a:spAutoFit/>
          </a:bodyPr>
          <a:lstStyle/>
          <a:p>
            <a:pPr algn="l">
              <a:spcAft>
                <a:spcPts val="0"/>
              </a:spcAft>
            </a:pPr>
            <a:r>
              <a:rPr sz="950" b="0" i="1">
                <a:solidFill>
                  <a:srgbClr val="6B6B6B"/>
                </a:solidFill>
              </a:rPr>
              <a:t>X1.6 flare held out: BP (black), CNN and MLP (dashed).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Scaling to full disk: one silent failure, one fix</a:t>
            </a:r>
          </a:p>
        </p:txBody>
      </p:sp>
      <p:sp>
        <p:nvSpPr>
          <p:cNvPr id="3" name="Rounded Rectangle 2"/>
          <p:cNvSpPr/>
          <p:nvPr/>
        </p:nvSpPr>
        <p:spPr>
          <a:xfrm>
            <a:off x="365760" y="914400"/>
            <a:ext cx="4069080" cy="210312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097280"/>
            <a:ext cx="3611880" cy="548640"/>
          </a:xfrm>
          <a:prstGeom prst="rect">
            <a:avLst/>
          </a:prstGeom>
          <a:noFill/>
        </p:spPr>
        <p:txBody>
          <a:bodyPr wrap="square" anchor="t" lIns="0" rIns="0" tIns="0" bIns="0">
            <a:spAutoFit/>
          </a:bodyPr>
          <a:lstStyle/>
          <a:p>
            <a:pPr algn="l">
              <a:spcAft>
                <a:spcPts val="600"/>
              </a:spcAft>
            </a:pPr>
            <a:r>
              <a:rPr sz="2800" b="1" i="0">
                <a:solidFill>
                  <a:srgbClr val="57068C"/>
                </a:solidFill>
              </a:rPr>
              <a:t>10.2% → 0.02%</a:t>
            </a:r>
          </a:p>
        </p:txBody>
      </p:sp>
      <p:sp>
        <p:nvSpPr>
          <p:cNvPr id="5" name="TextBox 4"/>
          <p:cNvSpPr txBox="1"/>
          <p:nvPr/>
        </p:nvSpPr>
        <p:spPr>
          <a:xfrm>
            <a:off x="594360" y="1691640"/>
            <a:ext cx="3611880" cy="365760"/>
          </a:xfrm>
          <a:prstGeom prst="rect">
            <a:avLst/>
          </a:prstGeom>
          <a:noFill/>
        </p:spPr>
        <p:txBody>
          <a:bodyPr wrap="square" anchor="t" lIns="0" rIns="0" tIns="0" bIns="0">
            <a:spAutoFit/>
          </a:bodyPr>
          <a:lstStyle/>
          <a:p>
            <a:pPr algn="l">
              <a:spcAft>
                <a:spcPts val="600"/>
              </a:spcAft>
            </a:pPr>
            <a:r>
              <a:rPr sz="1300" b="1" i="0">
                <a:solidFill>
                  <a:srgbClr val="333333"/>
                </a:solidFill>
              </a:rPr>
              <a:t>Unsolved BP pixels</a:t>
            </a:r>
          </a:p>
        </p:txBody>
      </p:sp>
      <p:sp>
        <p:nvSpPr>
          <p:cNvPr id="6" name="TextBox 5"/>
          <p:cNvSpPr txBox="1"/>
          <p:nvPr/>
        </p:nvSpPr>
        <p:spPr>
          <a:xfrm>
            <a:off x="594360" y="2103120"/>
            <a:ext cx="3611880" cy="1188720"/>
          </a:xfrm>
          <a:prstGeom prst="rect">
            <a:avLst/>
          </a:prstGeom>
          <a:noFill/>
        </p:spPr>
        <p:txBody>
          <a:bodyPr wrap="square" anchor="t" lIns="0" rIns="0" tIns="0" bIns="0">
            <a:spAutoFit/>
          </a:bodyPr>
          <a:lstStyle/>
          <a:p>
            <a:pPr algn="l">
              <a:spcAft>
                <a:spcPts val="600"/>
              </a:spcAft>
            </a:pPr>
            <a:r>
              <a:rPr sz="1150" b="0" i="0">
                <a:solidFill>
                  <a:srgbClr val="333333"/>
                </a:solidFill>
              </a:rPr>
              <a:t>Restoring BP's tolerance relaxation recovered the active-region and flare pixels it was dropping.</a:t>
            </a:r>
          </a:p>
        </p:txBody>
      </p:sp>
      <p:sp>
        <p:nvSpPr>
          <p:cNvPr id="7" name="Rounded Rectangle 6"/>
          <p:cNvSpPr/>
          <p:nvPr/>
        </p:nvSpPr>
        <p:spPr>
          <a:xfrm>
            <a:off x="4709160" y="914400"/>
            <a:ext cx="4069080" cy="210312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37760" y="1097280"/>
            <a:ext cx="3611880" cy="548640"/>
          </a:xfrm>
          <a:prstGeom prst="rect">
            <a:avLst/>
          </a:prstGeom>
          <a:noFill/>
        </p:spPr>
        <p:txBody>
          <a:bodyPr wrap="square" anchor="t" lIns="0" rIns="0" tIns="0" bIns="0">
            <a:spAutoFit/>
          </a:bodyPr>
          <a:lstStyle/>
          <a:p>
            <a:pPr algn="l">
              <a:spcAft>
                <a:spcPts val="600"/>
              </a:spcAft>
            </a:pPr>
            <a:r>
              <a:rPr sz="2800" b="1" i="0">
                <a:solidFill>
                  <a:srgbClr val="57068C"/>
                </a:solidFill>
              </a:rPr>
              <a:t>5 × 10¹³</a:t>
            </a:r>
          </a:p>
        </p:txBody>
      </p:sp>
      <p:sp>
        <p:nvSpPr>
          <p:cNvPr id="9" name="TextBox 8"/>
          <p:cNvSpPr txBox="1"/>
          <p:nvPr/>
        </p:nvSpPr>
        <p:spPr>
          <a:xfrm>
            <a:off x="4937760" y="1691640"/>
            <a:ext cx="3611880" cy="365760"/>
          </a:xfrm>
          <a:prstGeom prst="rect">
            <a:avLst/>
          </a:prstGeom>
          <a:noFill/>
        </p:spPr>
        <p:txBody>
          <a:bodyPr wrap="square" anchor="t" lIns="0" rIns="0" tIns="0" bIns="0">
            <a:spAutoFit/>
          </a:bodyPr>
          <a:lstStyle/>
          <a:p>
            <a:pPr algn="l">
              <a:spcAft>
                <a:spcPts val="600"/>
              </a:spcAft>
            </a:pPr>
            <a:r>
              <a:rPr sz="1300" b="1" i="0">
                <a:solidFill>
                  <a:srgbClr val="333333"/>
                </a:solidFill>
              </a:rPr>
              <a:t>Loss at step 0 of the first full-disk run</a:t>
            </a:r>
          </a:p>
        </p:txBody>
      </p:sp>
      <p:sp>
        <p:nvSpPr>
          <p:cNvPr id="10" name="TextBox 9"/>
          <p:cNvSpPr txBox="1"/>
          <p:nvPr/>
        </p:nvSpPr>
        <p:spPr>
          <a:xfrm>
            <a:off x="4937760" y="2103120"/>
            <a:ext cx="3611880" cy="1188720"/>
          </a:xfrm>
          <a:prstGeom prst="rect">
            <a:avLst/>
          </a:prstGeom>
          <a:noFill/>
        </p:spPr>
        <p:txBody>
          <a:bodyPr wrap="square" anchor="t" lIns="0" rIns="0" tIns="0" bIns="0">
            <a:spAutoFit/>
          </a:bodyPr>
          <a:lstStyle/>
          <a:p>
            <a:pPr algn="l">
              <a:spcAft>
                <a:spcPts val="600"/>
              </a:spcAft>
            </a:pPr>
            <a:r>
              <a:rPr sz="1150" b="0" i="0">
                <a:solidFill>
                  <a:srgbClr val="333333"/>
                </a:solidFill>
              </a:rPr>
              <a:t>Six decades of input range killed the output layer; the networks predicted zeros. Fixed with a log input, warmup and a safe output init.</a:t>
            </a:r>
          </a:p>
        </p:txBody>
      </p:sp>
      <p:sp>
        <p:nvSpPr>
          <p:cNvPr id="11" name="TextBox 10"/>
          <p:cNvSpPr txBox="1"/>
          <p:nvPr/>
        </p:nvSpPr>
        <p:spPr>
          <a:xfrm>
            <a:off x="365760" y="3291840"/>
            <a:ext cx="8412480" cy="457200"/>
          </a:xfrm>
          <a:prstGeom prst="rect">
            <a:avLst/>
          </a:prstGeom>
          <a:noFill/>
        </p:spPr>
        <p:txBody>
          <a:bodyPr wrap="square" anchor="t" lIns="0" rIns="0" tIns="0" bIns="0">
            <a:spAutoFit/>
          </a:bodyPr>
          <a:lstStyle/>
          <a:p>
            <a:pPr algn="l">
              <a:spcAft>
                <a:spcPts val="600"/>
              </a:spcAft>
            </a:pPr>
            <a:r>
              <a:rPr sz="1250" b="1" i="0">
                <a:solidFill>
                  <a:srgbClr val="57068C"/>
                </a:solidFill>
              </a:rPr>
              <a:t>Lesson: a short smoke test never saw the bright pixels that broke training.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At scale the simple MLP won, and the mean loss misled</a:t>
            </a:r>
          </a:p>
        </p:txBody>
      </p:sp>
      <p:sp>
        <p:nvSpPr>
          <p:cNvPr id="3" name="TextBox 2"/>
          <p:cNvSpPr txBox="1"/>
          <p:nvPr/>
        </p:nvSpPr>
        <p:spPr>
          <a:xfrm>
            <a:off x="365760" y="914400"/>
            <a:ext cx="3657600" cy="3017520"/>
          </a:xfrm>
          <a:prstGeom prst="rect">
            <a:avLst/>
          </a:prstGeom>
          <a:noFill/>
        </p:spPr>
        <p:txBody>
          <a:bodyPr wrap="square" anchor="t" lIns="0" rIns="0" tIns="0" bIns="0">
            <a:spAutoFit/>
          </a:bodyPr>
          <a:lstStyle/>
          <a:p>
            <a:pPr algn="l" marL="182880" indent="-182880">
              <a:spcAft>
                <a:spcPts val="1000"/>
              </a:spcAft>
              <a:buClr>
                <a:srgbClr val="333333"/>
              </a:buClr>
              <a:buChar char="•"/>
            </a:pPr>
            <a:r>
              <a:rPr sz="1300" b="0" i="0">
                <a:solidFill>
                  <a:srgbClr val="333333"/>
                </a:solidFill>
              </a:rPr>
              <a:t>153 unseen test days: test matched validation to 3 decimals.</a:t>
            </a:r>
          </a:p>
          <a:p>
            <a:pPr algn="l" marL="182880" indent="-182880">
              <a:spcAft>
                <a:spcPts val="1000"/>
              </a:spcAft>
              <a:buClr>
                <a:srgbClr val="333333"/>
              </a:buClr>
              <a:buChar char="•"/>
            </a:pPr>
            <a:r>
              <a:rPr sz="1300" b="0" i="0">
                <a:solidFill>
                  <a:srgbClr val="333333"/>
                </a:solidFill>
              </a:rPr>
              <a:t>The MLP beat the CNN at every percentile of the objective.</a:t>
            </a:r>
          </a:p>
          <a:p>
            <a:pPr algn="l" marL="182880" indent="-182880">
              <a:spcAft>
                <a:spcPts val="1000"/>
              </a:spcAft>
              <a:buClr>
                <a:srgbClr val="333333"/>
              </a:buClr>
              <a:buChar char="•"/>
            </a:pPr>
            <a:r>
              <a:rPr sz="1300" b="0" i="0">
                <a:solidFill>
                  <a:srgbClr val="333333"/>
                </a:solidFill>
              </a:rPr>
              <a:t>One pixel in 5 million was 94% of the MLP's mean loss.</a:t>
            </a:r>
          </a:p>
          <a:p>
            <a:pPr algn="l" marL="182880" indent="-182880">
              <a:spcAft>
                <a:spcPts val="1000"/>
              </a:spcAft>
              <a:buClr>
                <a:srgbClr val="333333"/>
              </a:buClr>
              <a:buChar char="•"/>
            </a:pPr>
            <a:r>
              <a:rPr sz="1300" b="1" i="0">
                <a:solidFill>
                  <a:srgbClr val="57068C"/>
                </a:solidFill>
              </a:rPr>
              <a:t>Lesson: report percentiles, not means.</a:t>
            </a:r>
          </a:p>
        </p:txBody>
      </p:sp>
      <p:graphicFrame>
        <p:nvGraphicFramePr>
          <p:cNvPr id="4" name="Table 3"/>
          <p:cNvGraphicFramePr>
            <a:graphicFrameLocks noGrp="1"/>
          </p:cNvGraphicFramePr>
          <p:nvPr/>
        </p:nvGraphicFramePr>
        <p:xfrm>
          <a:off x="4343400" y="1051560"/>
          <a:ext cx="4434840" cy="1975104"/>
        </p:xfrm>
        <a:graphic>
          <a:graphicData uri="http://schemas.openxmlformats.org/drawingml/2006/table">
            <a:tbl>
              <a:tblPr firstRow="1" bandRow="1"/>
              <a:tblGrid>
                <a:gridCol w="2217420"/>
                <a:gridCol w="1108710"/>
                <a:gridCol w="1108710"/>
              </a:tblGrid>
              <a:tr h="329184">
                <a:tc>
                  <a:txBody>
                    <a:bodyPr wrap="square"/>
                    <a:lstStyle/>
                    <a:p>
                      <a:pPr algn="l"/>
                      <a:r>
                        <a:rPr sz="1100" b="1">
                          <a:solidFill>
                            <a:srgbClr val="FFFFFF"/>
                          </a:solidFill>
                        </a:rPr>
                        <a:t>BP objective, test split</a:t>
                      </a:r>
                    </a:p>
                  </a:txBody>
                  <a:tcPr marL="54864" marR="54864" marT="18288" marB="18288" anchor="ctr">
                    <a:lnL w="0">
                      <a:noFill/>
                    </a:lnL>
                    <a:lnR w="0">
                      <a:noFill/>
                    </a:lnR>
                    <a:lnT w="0">
                      <a:noFill/>
                    </a:lnT>
                    <a:lnB w="6350">
                      <a:solidFill>
                        <a:srgbClr val="D9D3E3"/>
                      </a:solidFill>
                    </a:lnB>
                    <a:solidFill>
                      <a:srgbClr val="57068C"/>
                    </a:solidFill>
                  </a:tcPr>
                </a:tc>
                <a:tc>
                  <a:txBody>
                    <a:bodyPr wrap="square"/>
                    <a:lstStyle/>
                    <a:p>
                      <a:pPr algn="r"/>
                      <a:r>
                        <a:rPr sz="1100" b="1">
                          <a:solidFill>
                            <a:srgbClr val="FFFFFF"/>
                          </a:solidFill>
                        </a:rPr>
                        <a:t>Centre MLP</a:t>
                      </a:r>
                    </a:p>
                  </a:txBody>
                  <a:tcPr marL="54864" marR="54864" marT="18288" marB="18288" anchor="ctr">
                    <a:lnL w="0">
                      <a:noFill/>
                    </a:lnL>
                    <a:lnR w="0">
                      <a:noFill/>
                    </a:lnR>
                    <a:lnT w="0">
                      <a:noFill/>
                    </a:lnT>
                    <a:lnB w="6350">
                      <a:solidFill>
                        <a:srgbClr val="D9D3E3"/>
                      </a:solidFill>
                    </a:lnB>
                    <a:solidFill>
                      <a:srgbClr val="57068C"/>
                    </a:solidFill>
                  </a:tcPr>
                </a:tc>
                <a:tc>
                  <a:txBody>
                    <a:bodyPr wrap="square"/>
                    <a:lstStyle/>
                    <a:p>
                      <a:pPr algn="r"/>
                      <a:r>
                        <a:rPr sz="1100" b="1">
                          <a:solidFill>
                            <a:srgbClr val="FFFFFF"/>
                          </a:solidFill>
                        </a:rPr>
                        <a:t>Patch CNN</a:t>
                      </a:r>
                    </a:p>
                  </a:txBody>
                  <a:tcPr marL="54864" marR="54864" marT="18288" marB="18288" anchor="ctr">
                    <a:lnL w="0">
                      <a:noFill/>
                    </a:lnL>
                    <a:lnR w="0">
                      <a:noFill/>
                    </a:lnR>
                    <a:lnT w="0">
                      <a:noFill/>
                    </a:lnT>
                    <a:lnB w="6350">
                      <a:solidFill>
                        <a:srgbClr val="D9D3E3"/>
                      </a:solidFill>
                    </a:lnB>
                    <a:solidFill>
                      <a:srgbClr val="57068C"/>
                    </a:solidFill>
                  </a:tcPr>
                </a:tc>
              </a:tr>
              <a:tr h="329184">
                <a:tc>
                  <a:txBody>
                    <a:bodyPr wrap="square"/>
                    <a:lstStyle/>
                    <a:p>
                      <a:pPr algn="l"/>
                      <a:r>
                        <a:rPr sz="1100" b="0">
                          <a:solidFill>
                            <a:srgbClr val="333333"/>
                          </a:solidFill>
                        </a:rPr>
                        <a:t>Sparsity (BP 1.79)</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1.91</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1.98</a:t>
                      </a:r>
                    </a:p>
                  </a:txBody>
                  <a:tcPr marL="54864" marR="54864" marT="18288" marB="18288" anchor="ctr">
                    <a:lnL w="0">
                      <a:noFill/>
                    </a:lnL>
                    <a:lnR w="0">
                      <a:noFill/>
                    </a:lnR>
                    <a:lnT w="0">
                      <a:noFill/>
                    </a:lnT>
                    <a:lnB w="6350">
                      <a:solidFill>
                        <a:srgbClr val="D9D3E3"/>
                      </a:solidFill>
                    </a:lnB>
                    <a:solidFill>
                      <a:srgbClr val="FFFFFF"/>
                    </a:solidFill>
                  </a:tcPr>
                </a:tc>
              </a:tr>
              <a:tr h="329184">
                <a:tc>
                  <a:txBody>
                    <a:bodyPr wrap="square"/>
                    <a:lstStyle/>
                    <a:p>
                      <a:pPr algn="l"/>
                      <a:r>
                        <a:rPr sz="1100" b="0">
                          <a:solidFill>
                            <a:srgbClr val="333333"/>
                          </a:solidFill>
                        </a:rPr>
                        <a:t>Median loss</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0.98</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1.01</a:t>
                      </a:r>
                    </a:p>
                  </a:txBody>
                  <a:tcPr marL="54864" marR="54864" marT="18288" marB="18288" anchor="ctr">
                    <a:lnL w="0">
                      <a:noFill/>
                    </a:lnL>
                    <a:lnR w="0">
                      <a:noFill/>
                    </a:lnR>
                    <a:lnT w="0">
                      <a:noFill/>
                    </a:lnT>
                    <a:lnB w="6350">
                      <a:solidFill>
                        <a:srgbClr val="D9D3E3"/>
                      </a:solidFill>
                    </a:lnB>
                    <a:solidFill>
                      <a:srgbClr val="FFFFFF"/>
                    </a:solidFill>
                  </a:tcPr>
                </a:tc>
              </a:tr>
              <a:tr h="329184">
                <a:tc>
                  <a:txBody>
                    <a:bodyPr wrap="square"/>
                    <a:lstStyle/>
                    <a:p>
                      <a:pPr algn="l"/>
                      <a:r>
                        <a:rPr sz="1100" b="0">
                          <a:solidFill>
                            <a:srgbClr val="333333"/>
                          </a:solidFill>
                        </a:rPr>
                        <a:t>99th percentile</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17.9</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18.8</a:t>
                      </a:r>
                    </a:p>
                  </a:txBody>
                  <a:tcPr marL="54864" marR="54864" marT="18288" marB="18288" anchor="ctr">
                    <a:lnL w="0">
                      <a:noFill/>
                    </a:lnL>
                    <a:lnR w="0">
                      <a:noFill/>
                    </a:lnR>
                    <a:lnT w="0">
                      <a:noFill/>
                    </a:lnT>
                    <a:lnB w="6350">
                      <a:solidFill>
                        <a:srgbClr val="D9D3E3"/>
                      </a:solidFill>
                    </a:lnB>
                    <a:solidFill>
                      <a:srgbClr val="FFFFFF"/>
                    </a:solidFill>
                  </a:tcPr>
                </a:tc>
              </a:tr>
              <a:tr h="329184">
                <a:tc>
                  <a:txBody>
                    <a:bodyPr wrap="square"/>
                    <a:lstStyle/>
                    <a:p>
                      <a:pPr algn="l"/>
                      <a:r>
                        <a:rPr sz="1100" b="0">
                          <a:solidFill>
                            <a:srgbClr val="333333"/>
                          </a:solidFill>
                        </a:rPr>
                        <a:t>99.99th percentile</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148</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00" b="0">
                          <a:solidFill>
                            <a:srgbClr val="333333"/>
                          </a:solidFill>
                        </a:rPr>
                        <a:t>255</a:t>
                      </a:r>
                    </a:p>
                  </a:txBody>
                  <a:tcPr marL="54864" marR="54864" marT="18288" marB="18288" anchor="ctr">
                    <a:lnL w="0">
                      <a:noFill/>
                    </a:lnL>
                    <a:lnR w="0">
                      <a:noFill/>
                    </a:lnR>
                    <a:lnT w="0">
                      <a:noFill/>
                    </a:lnT>
                    <a:lnB w="6350">
                      <a:solidFill>
                        <a:srgbClr val="D9D3E3"/>
                      </a:solidFill>
                    </a:lnB>
                    <a:solidFill>
                      <a:srgbClr val="FFFFFF"/>
                    </a:solidFill>
                  </a:tcPr>
                </a:tc>
              </a:tr>
              <a:tr h="329184">
                <a:tc>
                  <a:txBody>
                    <a:bodyPr wrap="square"/>
                    <a:lstStyle/>
                    <a:p>
                      <a:pPr algn="l"/>
                      <a:r>
                        <a:rPr sz="1100" b="1">
                          <a:solidFill>
                            <a:srgbClr val="333333"/>
                          </a:solidFill>
                        </a:rPr>
                        <a:t>Mean loss</a:t>
                      </a:r>
                    </a:p>
                  </a:txBody>
                  <a:tcPr marL="54864" marR="54864" marT="18288" marB="18288" anchor="ctr">
                    <a:lnL w="0">
                      <a:noFill/>
                    </a:lnL>
                    <a:lnR w="0">
                      <a:noFill/>
                    </a:lnR>
                    <a:lnT w="0">
                      <a:noFill/>
                    </a:lnT>
                    <a:lnB w="6350">
                      <a:solidFill>
                        <a:srgbClr val="D9D3E3"/>
                      </a:solidFill>
                    </a:lnB>
                    <a:solidFill>
                      <a:srgbClr val="E3DFE9"/>
                    </a:solidFill>
                  </a:tcPr>
                </a:tc>
                <a:tc>
                  <a:txBody>
                    <a:bodyPr wrap="square"/>
                    <a:lstStyle/>
                    <a:p>
                      <a:pPr algn="r"/>
                      <a:r>
                        <a:rPr sz="1100" b="0">
                          <a:solidFill>
                            <a:srgbClr val="333333"/>
                          </a:solidFill>
                        </a:rPr>
                        <a:t>44.3</a:t>
                      </a:r>
                    </a:p>
                  </a:txBody>
                  <a:tcPr marL="54864" marR="54864" marT="18288" marB="18288" anchor="ctr">
                    <a:lnL w="0">
                      <a:noFill/>
                    </a:lnL>
                    <a:lnR w="0">
                      <a:noFill/>
                    </a:lnR>
                    <a:lnT w="0">
                      <a:noFill/>
                    </a:lnT>
                    <a:lnB w="6350">
                      <a:solidFill>
                        <a:srgbClr val="D9D3E3"/>
                      </a:solidFill>
                    </a:lnB>
                    <a:solidFill>
                      <a:srgbClr val="E3DFE9"/>
                    </a:solidFill>
                  </a:tcPr>
                </a:tc>
                <a:tc>
                  <a:txBody>
                    <a:bodyPr wrap="square"/>
                    <a:lstStyle/>
                    <a:p>
                      <a:pPr algn="r"/>
                      <a:r>
                        <a:rPr sz="1100" b="0">
                          <a:solidFill>
                            <a:srgbClr val="333333"/>
                          </a:solidFill>
                        </a:rPr>
                        <a:t>11.3</a:t>
                      </a:r>
                    </a:p>
                  </a:txBody>
                  <a:tcPr marL="54864" marR="54864" marT="18288" marB="18288" anchor="ctr">
                    <a:lnL w="0">
                      <a:noFill/>
                    </a:lnL>
                    <a:lnR w="0">
                      <a:noFill/>
                    </a:lnR>
                    <a:lnT w="0">
                      <a:noFill/>
                    </a:lnT>
                    <a:lnB w="6350">
                      <a:solidFill>
                        <a:srgbClr val="D9D3E3"/>
                      </a:solidFill>
                    </a:lnB>
                    <a:solidFill>
                      <a:srgbClr val="E3DFE9"/>
                    </a:solidFill>
                  </a:tcPr>
                </a:tc>
              </a:tr>
            </a:tbl>
          </a:graphicData>
        </a:graphic>
      </p:graphicFrame>
      <p:sp>
        <p:nvSpPr>
          <p:cNvPr id="5" name="TextBox 4"/>
          <p:cNvSpPr txBox="1"/>
          <p:nvPr/>
        </p:nvSpPr>
        <p:spPr>
          <a:xfrm>
            <a:off x="4343400" y="3108960"/>
            <a:ext cx="4434840" cy="274320"/>
          </a:xfrm>
          <a:prstGeom prst="rect">
            <a:avLst/>
          </a:prstGeom>
          <a:noFill/>
        </p:spPr>
        <p:txBody>
          <a:bodyPr wrap="square" anchor="t" lIns="0" rIns="0" tIns="0" bIns="0">
            <a:spAutoFit/>
          </a:bodyPr>
          <a:lstStyle/>
          <a:p>
            <a:pPr algn="l">
              <a:spcAft>
                <a:spcPts val="0"/>
              </a:spcAft>
            </a:pPr>
            <a:r>
              <a:rPr sz="950" b="0" i="1">
                <a:solidFill>
                  <a:srgbClr val="6B6B6B"/>
                </a:solidFill>
              </a:rPr>
              <a:t>Lower is better. The mean ranks them backwards.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176k parameters suffice; more capacity doesn't help</a:t>
            </a:r>
          </a:p>
        </p:txBody>
      </p:sp>
      <p:graphicFrame>
        <p:nvGraphicFramePr>
          <p:cNvPr id="3" name="Chart 2"/>
          <p:cNvGraphicFramePr>
            <a:graphicFrameLocks noGrp="1"/>
          </p:cNvGraphicFramePr>
          <p:nvPr/>
        </p:nvGraphicFramePr>
        <p:xfrm>
          <a:off x="365760" y="914400"/>
          <a:ext cx="4937760" cy="3200400"/>
        </p:xfrm>
        <a:graphic>
          <a:graphicData uri="http://schemas.openxmlformats.org/drawingml/2006/chart">
            <c:chart xmlns:c="http://schemas.openxmlformats.org/drawingml/2006/chart" r:id="rId3"/>
          </a:graphicData>
        </a:graphic>
      </p:graphicFrame>
      <p:sp>
        <p:nvSpPr>
          <p:cNvPr id="4" name="TextBox 3"/>
          <p:cNvSpPr txBox="1"/>
          <p:nvPr/>
        </p:nvSpPr>
        <p:spPr>
          <a:xfrm>
            <a:off x="5532120" y="1097280"/>
            <a:ext cx="3246120" cy="2926080"/>
          </a:xfrm>
          <a:prstGeom prst="rect">
            <a:avLst/>
          </a:prstGeom>
          <a:noFill/>
        </p:spPr>
        <p:txBody>
          <a:bodyPr wrap="square" anchor="t" lIns="0" rIns="0" tIns="0" bIns="0">
            <a:spAutoFit/>
          </a:bodyPr>
          <a:lstStyle/>
          <a:p>
            <a:pPr algn="l" marL="182880" indent="-182880">
              <a:spcAft>
                <a:spcPts val="1000"/>
              </a:spcAft>
              <a:buClr>
                <a:srgbClr val="333333"/>
              </a:buClr>
              <a:buChar char="•"/>
            </a:pPr>
            <a:r>
              <a:rPr sz="1300" b="0" i="0">
                <a:solidFill>
                  <a:srgbClr val="333333"/>
                </a:solidFill>
              </a:rPr>
              <a:t>Swept 10k to 11.2M parameters.</a:t>
            </a:r>
          </a:p>
          <a:p>
            <a:pPr algn="l" marL="182880" indent="-182880">
              <a:spcAft>
                <a:spcPts val="1000"/>
              </a:spcAft>
              <a:buClr>
                <a:srgbClr val="333333"/>
              </a:buClr>
              <a:buChar char="•"/>
            </a:pPr>
            <a:r>
              <a:rPr sz="1300" b="0" i="0">
                <a:solidFill>
                  <a:srgbClr val="333333"/>
                </a:solidFill>
              </a:rPr>
              <a:t>Below 176k the multi-peaked pixels are lost while averages barely move.</a:t>
            </a:r>
          </a:p>
          <a:p>
            <a:pPr algn="l" marL="182880" indent="-182880">
              <a:spcAft>
                <a:spcPts val="1000"/>
              </a:spcAft>
              <a:buClr>
                <a:srgbClr val="333333"/>
              </a:buClr>
              <a:buChar char="•"/>
            </a:pPr>
            <a:r>
              <a:rPr sz="1300" b="0" i="0">
                <a:solidFill>
                  <a:srgbClr val="333333"/>
                </a:solidFill>
              </a:rPr>
              <a:t>Above it, nothing we report improves.</a:t>
            </a:r>
          </a:p>
          <a:p>
            <a:pPr algn="l" marL="182880" indent="-182880">
              <a:spcAft>
                <a:spcPts val="1000"/>
              </a:spcAft>
              <a:buClr>
                <a:srgbClr val="333333"/>
              </a:buClr>
              <a:buChar char="•"/>
            </a:pPr>
            <a:r>
              <a:rPr sz="1300" b="1" i="0">
                <a:solidFill>
                  <a:srgbClr val="57068C"/>
                </a:solidFill>
              </a:rPr>
              <a:t>176k became production: 8× smaller.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Multi-peaked DEMs: precise but partial, and mostly noise</a:t>
            </a:r>
          </a:p>
        </p:txBody>
      </p:sp>
      <p:sp>
        <p:nvSpPr>
          <p:cNvPr id="3" name="Rounded Rectangle 2"/>
          <p:cNvSpPr/>
          <p:nvPr/>
        </p:nvSpPr>
        <p:spPr>
          <a:xfrm>
            <a:off x="365760" y="914400"/>
            <a:ext cx="1874519" cy="105156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05840"/>
            <a:ext cx="1600199" cy="457200"/>
          </a:xfrm>
          <a:prstGeom prst="rect">
            <a:avLst/>
          </a:prstGeom>
          <a:noFill/>
        </p:spPr>
        <p:txBody>
          <a:bodyPr wrap="square" anchor="t" lIns="0" rIns="0" tIns="0" bIns="0">
            <a:spAutoFit/>
          </a:bodyPr>
          <a:lstStyle/>
          <a:p>
            <a:pPr algn="l">
              <a:spcAft>
                <a:spcPts val="600"/>
              </a:spcAft>
            </a:pPr>
            <a:r>
              <a:rPr sz="2600" b="1" i="0">
                <a:solidFill>
                  <a:srgbClr val="57068C"/>
                </a:solidFill>
              </a:rPr>
              <a:t>14%</a:t>
            </a:r>
          </a:p>
        </p:txBody>
      </p:sp>
      <p:sp>
        <p:nvSpPr>
          <p:cNvPr id="5" name="TextBox 4"/>
          <p:cNvSpPr txBox="1"/>
          <p:nvPr/>
        </p:nvSpPr>
        <p:spPr>
          <a:xfrm>
            <a:off x="502920" y="1463040"/>
            <a:ext cx="1600199" cy="457200"/>
          </a:xfrm>
          <a:prstGeom prst="rect">
            <a:avLst/>
          </a:prstGeom>
          <a:noFill/>
        </p:spPr>
        <p:txBody>
          <a:bodyPr wrap="square" anchor="t" lIns="0" rIns="0" tIns="0" bIns="0">
            <a:spAutoFit/>
          </a:bodyPr>
          <a:lstStyle/>
          <a:p>
            <a:pPr algn="l">
              <a:spcAft>
                <a:spcPts val="0"/>
              </a:spcAft>
            </a:pPr>
            <a:r>
              <a:rPr sz="1050" b="0" i="0">
                <a:solidFill>
                  <a:srgbClr val="333333"/>
                </a:solidFill>
              </a:rPr>
              <a:t>of test pixels have two interior BP peaks</a:t>
            </a:r>
          </a:p>
        </p:txBody>
      </p:sp>
      <p:sp>
        <p:nvSpPr>
          <p:cNvPr id="6" name="Rounded Rectangle 5"/>
          <p:cNvSpPr/>
          <p:nvPr/>
        </p:nvSpPr>
        <p:spPr>
          <a:xfrm>
            <a:off x="2377439" y="914400"/>
            <a:ext cx="1874519" cy="105156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4599" y="1005840"/>
            <a:ext cx="1600199" cy="457200"/>
          </a:xfrm>
          <a:prstGeom prst="rect">
            <a:avLst/>
          </a:prstGeom>
          <a:noFill/>
        </p:spPr>
        <p:txBody>
          <a:bodyPr wrap="square" anchor="t" lIns="0" rIns="0" tIns="0" bIns="0">
            <a:spAutoFit/>
          </a:bodyPr>
          <a:lstStyle/>
          <a:p>
            <a:pPr algn="l">
              <a:spcAft>
                <a:spcPts val="600"/>
              </a:spcAft>
            </a:pPr>
            <a:r>
              <a:rPr sz="2600" b="1" i="0">
                <a:solidFill>
                  <a:srgbClr val="57068C"/>
                </a:solidFill>
              </a:rPr>
              <a:t>80%</a:t>
            </a:r>
          </a:p>
        </p:txBody>
      </p:sp>
      <p:sp>
        <p:nvSpPr>
          <p:cNvPr id="8" name="TextBox 7"/>
          <p:cNvSpPr txBox="1"/>
          <p:nvPr/>
        </p:nvSpPr>
        <p:spPr>
          <a:xfrm>
            <a:off x="2514599" y="1463040"/>
            <a:ext cx="1600199" cy="457200"/>
          </a:xfrm>
          <a:prstGeom prst="rect">
            <a:avLst/>
          </a:prstGeom>
          <a:noFill/>
        </p:spPr>
        <p:txBody>
          <a:bodyPr wrap="square" anchor="t" lIns="0" rIns="0" tIns="0" bIns="0">
            <a:spAutoFit/>
          </a:bodyPr>
          <a:lstStyle/>
          <a:p>
            <a:pPr algn="l">
              <a:spcAft>
                <a:spcPts val="0"/>
              </a:spcAft>
            </a:pPr>
            <a:r>
              <a:rPr sz="1050" b="0" i="0">
                <a:solidFill>
                  <a:srgbClr val="333333"/>
                </a:solidFill>
              </a:rPr>
              <a:t>precision when the model draws two peaks</a:t>
            </a:r>
          </a:p>
        </p:txBody>
      </p:sp>
      <p:sp>
        <p:nvSpPr>
          <p:cNvPr id="9" name="Rounded Rectangle 8"/>
          <p:cNvSpPr/>
          <p:nvPr/>
        </p:nvSpPr>
        <p:spPr>
          <a:xfrm>
            <a:off x="365760" y="2103120"/>
            <a:ext cx="1874519" cy="105156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194560"/>
            <a:ext cx="1600199" cy="457200"/>
          </a:xfrm>
          <a:prstGeom prst="rect">
            <a:avLst/>
          </a:prstGeom>
          <a:noFill/>
        </p:spPr>
        <p:txBody>
          <a:bodyPr wrap="square" anchor="t" lIns="0" rIns="0" tIns="0" bIns="0">
            <a:spAutoFit/>
          </a:bodyPr>
          <a:lstStyle/>
          <a:p>
            <a:pPr algn="l">
              <a:spcAft>
                <a:spcPts val="600"/>
              </a:spcAft>
            </a:pPr>
            <a:r>
              <a:rPr sz="2600" b="1" i="0">
                <a:solidFill>
                  <a:srgbClr val="57068C"/>
                </a:solidFill>
              </a:rPr>
              <a:t>~30%</a:t>
            </a:r>
          </a:p>
        </p:txBody>
      </p:sp>
      <p:sp>
        <p:nvSpPr>
          <p:cNvPr id="11" name="TextBox 10"/>
          <p:cNvSpPr txBox="1"/>
          <p:nvPr/>
        </p:nvSpPr>
        <p:spPr>
          <a:xfrm>
            <a:off x="502920" y="2651760"/>
            <a:ext cx="1600199" cy="457200"/>
          </a:xfrm>
          <a:prstGeom prst="rect">
            <a:avLst/>
          </a:prstGeom>
          <a:noFill/>
        </p:spPr>
        <p:txBody>
          <a:bodyPr wrap="square" anchor="t" lIns="0" rIns="0" tIns="0" bIns="0">
            <a:spAutoFit/>
          </a:bodyPr>
          <a:lstStyle/>
          <a:p>
            <a:pPr algn="l">
              <a:spcAft>
                <a:spcPts val="0"/>
              </a:spcAft>
            </a:pPr>
            <a:r>
              <a:rPr sz="1050" b="0" i="0">
                <a:solidFill>
                  <a:srgbClr val="333333"/>
                </a:solidFill>
              </a:rPr>
              <a:t>of BP's double peaks recalled</a:t>
            </a:r>
          </a:p>
        </p:txBody>
      </p:sp>
      <p:sp>
        <p:nvSpPr>
          <p:cNvPr id="12" name="Rounded Rectangle 11"/>
          <p:cNvSpPr/>
          <p:nvPr/>
        </p:nvSpPr>
        <p:spPr>
          <a:xfrm>
            <a:off x="2377439" y="2103120"/>
            <a:ext cx="1874519" cy="105156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4599" y="2194560"/>
            <a:ext cx="1600199" cy="457200"/>
          </a:xfrm>
          <a:prstGeom prst="rect">
            <a:avLst/>
          </a:prstGeom>
          <a:noFill/>
        </p:spPr>
        <p:txBody>
          <a:bodyPr wrap="square" anchor="t" lIns="0" rIns="0" tIns="0" bIns="0">
            <a:spAutoFit/>
          </a:bodyPr>
          <a:lstStyle/>
          <a:p>
            <a:pPr algn="l">
              <a:spcAft>
                <a:spcPts val="600"/>
              </a:spcAft>
            </a:pPr>
            <a:r>
              <a:rPr sz="2600" b="1" i="0">
                <a:solidFill>
                  <a:srgbClr val="57068C"/>
                </a:solidFill>
              </a:rPr>
              <a:t>0.98×</a:t>
            </a:r>
          </a:p>
        </p:txBody>
      </p:sp>
      <p:sp>
        <p:nvSpPr>
          <p:cNvPr id="14" name="TextBox 13"/>
          <p:cNvSpPr txBox="1"/>
          <p:nvPr/>
        </p:nvSpPr>
        <p:spPr>
          <a:xfrm>
            <a:off x="2514599" y="2651760"/>
            <a:ext cx="1600199" cy="457200"/>
          </a:xfrm>
          <a:prstGeom prst="rect">
            <a:avLst/>
          </a:prstGeom>
          <a:noFill/>
        </p:spPr>
        <p:txBody>
          <a:bodyPr wrap="square" anchor="t" lIns="0" rIns="0" tIns="0" bIns="0">
            <a:spAutoFit/>
          </a:bodyPr>
          <a:lstStyle/>
          <a:p>
            <a:pPr algn="l">
              <a:spcAft>
                <a:spcPts val="0"/>
              </a:spcAft>
            </a:pPr>
            <a:r>
              <a:rPr sz="1050" b="0" i="0">
                <a:solidFill>
                  <a:srgbClr val="333333"/>
                </a:solidFill>
              </a:rPr>
              <a:t>model–BP gap vs BP's own scatter under noise</a:t>
            </a:r>
          </a:p>
        </p:txBody>
      </p:sp>
      <p:sp>
        <p:nvSpPr>
          <p:cNvPr id="15" name="TextBox 14"/>
          <p:cNvSpPr txBox="1"/>
          <p:nvPr/>
        </p:nvSpPr>
        <p:spPr>
          <a:xfrm>
            <a:off x="365760" y="3429000"/>
            <a:ext cx="3886200" cy="731520"/>
          </a:xfrm>
          <a:prstGeom prst="rect">
            <a:avLst/>
          </a:prstGeom>
          <a:noFill/>
        </p:spPr>
        <p:txBody>
          <a:bodyPr wrap="square" anchor="t" lIns="0" rIns="0" tIns="0" bIns="0">
            <a:spAutoFit/>
          </a:bodyPr>
          <a:lstStyle/>
          <a:p>
            <a:pPr algn="l">
              <a:spcAft>
                <a:spcPts val="600"/>
              </a:spcAft>
            </a:pPr>
            <a:r>
              <a:rPr sz="1250" b="1" i="0">
                <a:solidFill>
                  <a:srgbClr val="57068C"/>
                </a:solidFill>
              </a:rPr>
              <a:t>Most of the bimodal gap is the label's own noise.</a:t>
            </a:r>
          </a:p>
        </p:txBody>
      </p:sp>
      <p:pic>
        <p:nvPicPr>
          <p:cNvPr id="16" name="Picture 15" descr="bimodal.png"/>
          <p:cNvPicPr>
            <a:picLocks noChangeAspect="1"/>
          </p:cNvPicPr>
          <p:nvPr/>
        </p:nvPicPr>
        <p:blipFill>
          <a:blip r:embed="rId3"/>
          <a:stretch>
            <a:fillRect/>
          </a:stretch>
        </p:blipFill>
        <p:spPr>
          <a:xfrm>
            <a:off x="4480560" y="919421"/>
            <a:ext cx="4297680" cy="3236077"/>
          </a:xfrm>
          <a:prstGeom prst="rect">
            <a:avLst/>
          </a:prstGeom>
        </p:spPr>
      </p:pic>
      <p:sp>
        <p:nvSpPr>
          <p:cNvPr id="17" name="TextBox 16"/>
          <p:cNvSpPr txBox="1"/>
          <p:nvPr/>
        </p:nvSpPr>
        <p:spPr>
          <a:xfrm>
            <a:off x="4480560" y="4187952"/>
            <a:ext cx="4297680" cy="274320"/>
          </a:xfrm>
          <a:prstGeom prst="rect">
            <a:avLst/>
          </a:prstGeom>
          <a:noFill/>
        </p:spPr>
        <p:txBody>
          <a:bodyPr wrap="square" anchor="t" lIns="0" rIns="0" tIns="0" bIns="0">
            <a:spAutoFit/>
          </a:bodyPr>
          <a:lstStyle/>
          <a:p>
            <a:pPr algn="l">
              <a:spcAft>
                <a:spcPts val="0"/>
              </a:spcAft>
            </a:pPr>
            <a:r>
              <a:rPr sz="950" b="0" i="1">
                <a:solidFill>
                  <a:srgbClr val="6B6B6B"/>
                </a:solidFill>
              </a:rPr>
              <a:t>BP (black), its noisy re-solves (grey), networks (dashed).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Versus supervised: worse DEM MSE, better W1 and AIA MSE</a:t>
            </a:r>
          </a:p>
        </p:txBody>
      </p:sp>
      <p:graphicFrame>
        <p:nvGraphicFramePr>
          <p:cNvPr id="3" name="Table 2"/>
          <p:cNvGraphicFramePr>
            <a:graphicFrameLocks noGrp="1"/>
          </p:cNvGraphicFramePr>
          <p:nvPr/>
        </p:nvGraphicFramePr>
        <p:xfrm>
          <a:off x="365760" y="914400"/>
          <a:ext cx="8412478" cy="1828800"/>
        </p:xfrm>
        <a:graphic>
          <a:graphicData uri="http://schemas.openxmlformats.org/drawingml/2006/table">
            <a:tbl>
              <a:tblPr firstRow="1" bandRow="1"/>
              <a:tblGrid>
                <a:gridCol w="947885"/>
                <a:gridCol w="1540313"/>
                <a:gridCol w="1184856"/>
                <a:gridCol w="1184856"/>
                <a:gridCol w="1184856"/>
                <a:gridCol w="1184856"/>
                <a:gridCol w="1184856"/>
              </a:tblGrid>
              <a:tr h="365760">
                <a:tc>
                  <a:txBody>
                    <a:bodyPr wrap="square"/>
                    <a:lstStyle/>
                    <a:p>
                      <a:pPr algn="l"/>
                      <a:r>
                        <a:rPr sz="1150" b="1">
                          <a:solidFill>
                            <a:srgbClr val="FFFFFF"/>
                          </a:solidFill>
                        </a:rPr>
                        <a:t>Track</a:t>
                      </a:r>
                    </a:p>
                  </a:txBody>
                  <a:tcPr marL="54864" marR="54864" marT="18288" marB="18288" anchor="ctr">
                    <a:lnL w="0">
                      <a:noFill/>
                    </a:lnL>
                    <a:lnR w="0">
                      <a:noFill/>
                    </a:lnR>
                    <a:lnT w="0">
                      <a:noFill/>
                    </a:lnT>
                    <a:lnB w="6350">
                      <a:solidFill>
                        <a:srgbClr val="D9D3E3"/>
                      </a:solidFill>
                    </a:lnB>
                    <a:solidFill>
                      <a:srgbClr val="57068C"/>
                    </a:solidFill>
                  </a:tcPr>
                </a:tc>
                <a:tc>
                  <a:txBody>
                    <a:bodyPr wrap="square"/>
                    <a:lstStyle/>
                    <a:p>
                      <a:pPr algn="l"/>
                      <a:r>
                        <a:rPr sz="1150" b="1">
                          <a:solidFill>
                            <a:srgbClr val="FFFFFF"/>
                          </a:solidFill>
                        </a:rPr>
                        <a:t>Model</a:t>
                      </a:r>
                    </a:p>
                  </a:txBody>
                  <a:tcPr marL="54864" marR="54864" marT="18288" marB="18288"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DEM MSE</a:t>
                      </a:r>
                    </a:p>
                  </a:txBody>
                  <a:tcPr marL="54864" marR="54864" marT="18288" marB="18288"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EM error %</a:t>
                      </a:r>
                    </a:p>
                  </a:txBody>
                  <a:tcPr marL="54864" marR="54864" marT="18288" marB="18288"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W1 (dex)</a:t>
                      </a:r>
                    </a:p>
                  </a:txBody>
                  <a:tcPr marL="54864" marR="54864" marT="18288" marB="18288"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AIA MAE</a:t>
                      </a:r>
                    </a:p>
                  </a:txBody>
                  <a:tcPr marL="54864" marR="54864" marT="18288" marB="18288"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AIA MSE</a:t>
                      </a:r>
                    </a:p>
                  </a:txBody>
                  <a:tcPr marL="54864" marR="54864" marT="18288" marB="18288" anchor="ctr">
                    <a:lnL w="0">
                      <a:noFill/>
                    </a:lnL>
                    <a:lnR w="0">
                      <a:noFill/>
                    </a:lnR>
                    <a:lnT w="0">
                      <a:noFill/>
                    </a:lnT>
                    <a:lnB w="6350">
                      <a:solidFill>
                        <a:srgbClr val="D9D3E3"/>
                      </a:solidFill>
                    </a:lnB>
                    <a:solidFill>
                      <a:srgbClr val="57068C"/>
                    </a:solidFill>
                  </a:tcPr>
                </a:tc>
              </a:tr>
              <a:tr h="365760">
                <a:tc>
                  <a:txBody>
                    <a:bodyPr wrap="square"/>
                    <a:lstStyle/>
                    <a:p>
                      <a:pPr algn="l"/>
                      <a:r>
                        <a:rPr sz="1150" b="0">
                          <a:solidFill>
                            <a:srgbClr val="333333"/>
                          </a:solidFill>
                        </a:rPr>
                        <a:t>BP</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l"/>
                      <a:r>
                        <a:rPr sz="1150" b="0">
                          <a:solidFill>
                            <a:srgbClr val="333333"/>
                          </a:solidFill>
                        </a:rPr>
                        <a:t>Supervised</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0.906</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14.3</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0.133</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2.95</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156.7</a:t>
                      </a:r>
                    </a:p>
                  </a:txBody>
                  <a:tcPr marL="54864" marR="54864" marT="18288" marB="18288" anchor="ctr">
                    <a:lnL w="0">
                      <a:noFill/>
                    </a:lnL>
                    <a:lnR w="0">
                      <a:noFill/>
                    </a:lnR>
                    <a:lnT w="0">
                      <a:noFill/>
                    </a:lnT>
                    <a:lnB w="6350">
                      <a:solidFill>
                        <a:srgbClr val="D9D3E3"/>
                      </a:solidFill>
                    </a:lnB>
                    <a:solidFill>
                      <a:srgbClr val="FFFFFF"/>
                    </a:solidFill>
                  </a:tcPr>
                </a:tc>
              </a:tr>
              <a:tr h="365760">
                <a:tc>
                  <a:txBody>
                    <a:bodyPr wrap="square"/>
                    <a:lstStyle/>
                    <a:p>
                      <a:pPr algn="l"/>
                      <a:r>
                        <a:rPr sz="1150" b="1">
                          <a:solidFill>
                            <a:srgbClr val="333333"/>
                          </a:solidFill>
                        </a:rPr>
                        <a:t>BP</a:t>
                      </a:r>
                    </a:p>
                  </a:txBody>
                  <a:tcPr marL="54864" marR="54864" marT="18288" marB="18288" anchor="ctr">
                    <a:lnL w="0">
                      <a:noFill/>
                    </a:lnL>
                    <a:lnR w="0">
                      <a:noFill/>
                    </a:lnR>
                    <a:lnT w="0">
                      <a:noFill/>
                    </a:lnT>
                    <a:lnB w="6350">
                      <a:solidFill>
                        <a:srgbClr val="D9D3E3"/>
                      </a:solidFill>
                    </a:lnB>
                    <a:solidFill>
                      <a:srgbClr val="E3DFE9"/>
                    </a:solidFill>
                  </a:tcPr>
                </a:tc>
                <a:tc>
                  <a:txBody>
                    <a:bodyPr wrap="square"/>
                    <a:lstStyle/>
                    <a:p>
                      <a:pPr algn="l"/>
                      <a:r>
                        <a:rPr sz="1150" b="0">
                          <a:solidFill>
                            <a:srgbClr val="333333"/>
                          </a:solidFill>
                        </a:rPr>
                        <a:t>Label-free</a:t>
                      </a:r>
                    </a:p>
                  </a:txBody>
                  <a:tcPr marL="54864" marR="54864" marT="18288" marB="18288"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4.191</a:t>
                      </a:r>
                    </a:p>
                  </a:txBody>
                  <a:tcPr marL="54864" marR="54864" marT="18288" marB="18288"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20.2</a:t>
                      </a:r>
                    </a:p>
                  </a:txBody>
                  <a:tcPr marL="54864" marR="54864" marT="18288" marB="18288"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0.085</a:t>
                      </a:r>
                    </a:p>
                  </a:txBody>
                  <a:tcPr marL="54864" marR="54864" marT="18288" marB="18288"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4.32</a:t>
                      </a:r>
                    </a:p>
                  </a:txBody>
                  <a:tcPr marL="54864" marR="54864" marT="18288" marB="18288"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82.6</a:t>
                      </a:r>
                    </a:p>
                  </a:txBody>
                  <a:tcPr marL="54864" marR="54864" marT="18288" marB="18288" anchor="ctr">
                    <a:lnL w="0">
                      <a:noFill/>
                    </a:lnL>
                    <a:lnR w="0">
                      <a:noFill/>
                    </a:lnR>
                    <a:lnT w="0">
                      <a:noFill/>
                    </a:lnT>
                    <a:lnB w="6350">
                      <a:solidFill>
                        <a:srgbClr val="D9D3E3"/>
                      </a:solidFill>
                    </a:lnB>
                    <a:solidFill>
                      <a:srgbClr val="E3DFE9"/>
                    </a:solidFill>
                  </a:tcPr>
                </a:tc>
              </a:tr>
              <a:tr h="365760">
                <a:tc>
                  <a:txBody>
                    <a:bodyPr wrap="square"/>
                    <a:lstStyle/>
                    <a:p>
                      <a:pPr algn="l"/>
                      <a:r>
                        <a:rPr sz="1150" b="0">
                          <a:solidFill>
                            <a:srgbClr val="333333"/>
                          </a:solidFill>
                        </a:rPr>
                        <a:t>ENet</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l"/>
                      <a:r>
                        <a:rPr sz="1150" b="0">
                          <a:solidFill>
                            <a:srgbClr val="333333"/>
                          </a:solidFill>
                        </a:rPr>
                        <a:t>Supervised</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0.318</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18.0</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0.121</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6.32</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597.8</a:t>
                      </a:r>
                    </a:p>
                  </a:txBody>
                  <a:tcPr marL="54864" marR="54864" marT="18288" marB="18288" anchor="ctr">
                    <a:lnL w="0">
                      <a:noFill/>
                    </a:lnL>
                    <a:lnR w="0">
                      <a:noFill/>
                    </a:lnR>
                    <a:lnT w="0">
                      <a:noFill/>
                    </a:lnT>
                    <a:lnB w="6350">
                      <a:solidFill>
                        <a:srgbClr val="D9D3E3"/>
                      </a:solidFill>
                    </a:lnB>
                    <a:solidFill>
                      <a:srgbClr val="FFFFFF"/>
                    </a:solidFill>
                  </a:tcPr>
                </a:tc>
              </a:tr>
              <a:tr h="365760">
                <a:tc>
                  <a:txBody>
                    <a:bodyPr wrap="square"/>
                    <a:lstStyle/>
                    <a:p>
                      <a:pPr algn="l"/>
                      <a:r>
                        <a:rPr sz="1150" b="1">
                          <a:solidFill>
                            <a:srgbClr val="333333"/>
                          </a:solidFill>
                        </a:rPr>
                        <a:t>ENet</a:t>
                      </a:r>
                    </a:p>
                  </a:txBody>
                  <a:tcPr marL="54864" marR="54864" marT="18288" marB="18288" anchor="ctr">
                    <a:lnL w="0">
                      <a:noFill/>
                    </a:lnL>
                    <a:lnR w="0">
                      <a:noFill/>
                    </a:lnR>
                    <a:lnT w="0">
                      <a:noFill/>
                    </a:lnT>
                    <a:lnB w="6350">
                      <a:solidFill>
                        <a:srgbClr val="D9D3E3"/>
                      </a:solidFill>
                    </a:lnB>
                    <a:solidFill>
                      <a:srgbClr val="E3DFE9"/>
                    </a:solidFill>
                  </a:tcPr>
                </a:tc>
                <a:tc>
                  <a:txBody>
                    <a:bodyPr wrap="square"/>
                    <a:lstStyle/>
                    <a:p>
                      <a:pPr algn="l"/>
                      <a:r>
                        <a:rPr sz="1150" b="0">
                          <a:solidFill>
                            <a:srgbClr val="333333"/>
                          </a:solidFill>
                        </a:rPr>
                        <a:t>Label-free</a:t>
                      </a:r>
                    </a:p>
                  </a:txBody>
                  <a:tcPr marL="54864" marR="54864" marT="18288" marB="18288"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0.588</a:t>
                      </a:r>
                    </a:p>
                  </a:txBody>
                  <a:tcPr marL="54864" marR="54864" marT="18288" marB="18288"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13.5</a:t>
                      </a:r>
                    </a:p>
                  </a:txBody>
                  <a:tcPr marL="54864" marR="54864" marT="18288" marB="18288"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0.118</a:t>
                      </a:r>
                    </a:p>
                  </a:txBody>
                  <a:tcPr marL="54864" marR="54864" marT="18288" marB="18288"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0.67</a:t>
                      </a:r>
                    </a:p>
                  </a:txBody>
                  <a:tcPr marL="54864" marR="54864" marT="18288" marB="18288" anchor="ctr">
                    <a:lnL w="0">
                      <a:noFill/>
                    </a:lnL>
                    <a:lnR w="0">
                      <a:noFill/>
                    </a:lnR>
                    <a:lnT w="0">
                      <a:noFill/>
                    </a:lnT>
                    <a:lnB w="6350">
                      <a:solidFill>
                        <a:srgbClr val="D9D3E3"/>
                      </a:solidFill>
                    </a:lnB>
                    <a:solidFill>
                      <a:srgbClr val="E3DFE9"/>
                    </a:solidFill>
                  </a:tcPr>
                </a:tc>
                <a:tc>
                  <a:txBody>
                    <a:bodyPr wrap="square"/>
                    <a:lstStyle/>
                    <a:p>
                      <a:pPr algn="r"/>
                      <a:r>
                        <a:rPr sz="1150" b="0">
                          <a:solidFill>
                            <a:srgbClr val="333333"/>
                          </a:solidFill>
                        </a:rPr>
                        <a:t>193.4</a:t>
                      </a:r>
                    </a:p>
                  </a:txBody>
                  <a:tcPr marL="54864" marR="54864" marT="18288" marB="18288" anchor="ctr">
                    <a:lnL w="0">
                      <a:noFill/>
                    </a:lnL>
                    <a:lnR w="0">
                      <a:noFill/>
                    </a:lnR>
                    <a:lnT w="0">
                      <a:noFill/>
                    </a:lnT>
                    <a:lnB w="6350">
                      <a:solidFill>
                        <a:srgbClr val="D9D3E3"/>
                      </a:solidFill>
                    </a:lnB>
                    <a:solidFill>
                      <a:srgbClr val="E3DFE9"/>
                    </a:solidFill>
                  </a:tcPr>
                </a:tc>
              </a:tr>
            </a:tbl>
          </a:graphicData>
        </a:graphic>
      </p:graphicFrame>
      <p:sp>
        <p:nvSpPr>
          <p:cNvPr id="4" name="TextBox 3"/>
          <p:cNvSpPr txBox="1"/>
          <p:nvPr/>
        </p:nvSpPr>
        <p:spPr>
          <a:xfrm>
            <a:off x="365760" y="2788920"/>
            <a:ext cx="8412480" cy="274320"/>
          </a:xfrm>
          <a:prstGeom prst="rect">
            <a:avLst/>
          </a:prstGeom>
          <a:noFill/>
        </p:spPr>
        <p:txBody>
          <a:bodyPr wrap="square" anchor="t" lIns="0" rIns="0" tIns="0" bIns="0">
            <a:spAutoFit/>
          </a:bodyPr>
          <a:lstStyle/>
          <a:p>
            <a:pPr algn="l">
              <a:spcAft>
                <a:spcPts val="0"/>
              </a:spcAft>
            </a:pPr>
            <a:r>
              <a:rPr sz="950" b="0" i="1">
                <a:solidFill>
                  <a:srgbClr val="6B6B6B"/>
                </a:solidFill>
              </a:rPr>
              <a:t>Lower is better. 153 held-out days, same pixels for both models.</a:t>
            </a:r>
          </a:p>
        </p:txBody>
      </p:sp>
      <p:sp>
        <p:nvSpPr>
          <p:cNvPr id="5" name="TextBox 4"/>
          <p:cNvSpPr txBox="1"/>
          <p:nvPr/>
        </p:nvSpPr>
        <p:spPr>
          <a:xfrm>
            <a:off x="365760" y="3154680"/>
            <a:ext cx="8412480" cy="1097280"/>
          </a:xfrm>
          <a:prstGeom prst="rect">
            <a:avLst/>
          </a:prstGeom>
          <a:noFill/>
        </p:spPr>
        <p:txBody>
          <a:bodyPr wrap="square" anchor="t" lIns="0" rIns="0" tIns="0" bIns="0">
            <a:spAutoFit/>
          </a:bodyPr>
          <a:lstStyle/>
          <a:p>
            <a:pPr algn="l" marL="182880" indent="-182880">
              <a:spcAft>
                <a:spcPts val="600"/>
              </a:spcAft>
              <a:buClr>
                <a:srgbClr val="333333"/>
              </a:buClr>
              <a:buChar char="•"/>
            </a:pPr>
            <a:r>
              <a:rPr sz="1300" b="0" i="0">
                <a:solidFill>
                  <a:srgbClr val="333333"/>
                </a:solidFill>
              </a:rPr>
              <a:t>Label-free: lower W1 and AIA MSE on both tracks; on ENet, better on all but DEM MSE.</a:t>
            </a:r>
          </a:p>
          <a:p>
            <a:pPr algn="l" marL="182880" indent="-182880">
              <a:spcAft>
                <a:spcPts val="600"/>
              </a:spcAft>
              <a:buClr>
                <a:srgbClr val="333333"/>
              </a:buClr>
              <a:buChar char="•"/>
            </a:pPr>
            <a:r>
              <a:rPr sz="1300" b="1" i="0">
                <a:solidFill>
                  <a:srgbClr val="57068C"/>
                </a:solidFill>
              </a:rPr>
              <a:t>The BP DEM MSE gap is what the rest of this talk explains.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The mean and the median tell opposite stories</a:t>
            </a:r>
          </a:p>
        </p:txBody>
      </p:sp>
      <p:graphicFrame>
        <p:nvGraphicFramePr>
          <p:cNvPr id="3" name="Table 2"/>
          <p:cNvGraphicFramePr>
            <a:graphicFrameLocks noGrp="1"/>
          </p:cNvGraphicFramePr>
          <p:nvPr/>
        </p:nvGraphicFramePr>
        <p:xfrm>
          <a:off x="365760" y="914400"/>
          <a:ext cx="4846317" cy="2304288"/>
        </p:xfrm>
        <a:graphic>
          <a:graphicData uri="http://schemas.openxmlformats.org/drawingml/2006/table">
            <a:tbl>
              <a:tblPr firstRow="1" bandRow="1"/>
              <a:tblGrid>
                <a:gridCol w="2625089"/>
                <a:gridCol w="1110614"/>
                <a:gridCol w="1110614"/>
              </a:tblGrid>
              <a:tr h="384048">
                <a:tc>
                  <a:txBody>
                    <a:bodyPr wrap="square"/>
                    <a:lstStyle/>
                    <a:p>
                      <a:pPr algn="l"/>
                      <a:r>
                        <a:rPr sz="1150" b="1">
                          <a:solidFill>
                            <a:srgbClr val="FFFFFF"/>
                          </a:solidFill>
                        </a:rPr>
                        <a:t>BP track</a:t>
                      </a:r>
                    </a:p>
                  </a:txBody>
                  <a:tcPr marL="54864" marR="54864" marT="18288" marB="18288"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Label-free</a:t>
                      </a:r>
                    </a:p>
                  </a:txBody>
                  <a:tcPr marL="54864" marR="54864" marT="18288" marB="18288" anchor="ctr">
                    <a:lnL w="0">
                      <a:noFill/>
                    </a:lnL>
                    <a:lnR w="0">
                      <a:noFill/>
                    </a:lnR>
                    <a:lnT w="0">
                      <a:noFill/>
                    </a:lnT>
                    <a:lnB w="6350">
                      <a:solidFill>
                        <a:srgbClr val="D9D3E3"/>
                      </a:solidFill>
                    </a:lnB>
                    <a:solidFill>
                      <a:srgbClr val="57068C"/>
                    </a:solidFill>
                  </a:tcPr>
                </a:tc>
                <a:tc>
                  <a:txBody>
                    <a:bodyPr wrap="square"/>
                    <a:lstStyle/>
                    <a:p>
                      <a:pPr algn="r"/>
                      <a:r>
                        <a:rPr sz="1150" b="1">
                          <a:solidFill>
                            <a:srgbClr val="FFFFFF"/>
                          </a:solidFill>
                        </a:rPr>
                        <a:t>Supervised</a:t>
                      </a:r>
                    </a:p>
                  </a:txBody>
                  <a:tcPr marL="54864" marR="54864" marT="18288" marB="18288" anchor="ctr">
                    <a:lnL w="0">
                      <a:noFill/>
                    </a:lnL>
                    <a:lnR w="0">
                      <a:noFill/>
                    </a:lnR>
                    <a:lnT w="0">
                      <a:noFill/>
                    </a:lnT>
                    <a:lnB w="6350">
                      <a:solidFill>
                        <a:srgbClr val="D9D3E3"/>
                      </a:solidFill>
                    </a:lnB>
                    <a:solidFill>
                      <a:srgbClr val="57068C"/>
                    </a:solidFill>
                  </a:tcPr>
                </a:tc>
              </a:tr>
              <a:tr h="384048">
                <a:tc>
                  <a:txBody>
                    <a:bodyPr wrap="square"/>
                    <a:lstStyle/>
                    <a:p>
                      <a:pPr algn="l"/>
                      <a:r>
                        <a:rPr sz="1150" b="0">
                          <a:solidFill>
                            <a:srgbClr val="333333"/>
                          </a:solidFill>
                        </a:rPr>
                        <a:t>DEM MSE (website mean)</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4.19</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0.906</a:t>
                      </a:r>
                    </a:p>
                  </a:txBody>
                  <a:tcPr marL="54864" marR="54864" marT="18288" marB="18288" anchor="ctr">
                    <a:lnL w="0">
                      <a:noFill/>
                    </a:lnL>
                    <a:lnR w="0">
                      <a:noFill/>
                    </a:lnR>
                    <a:lnT w="0">
                      <a:noFill/>
                    </a:lnT>
                    <a:lnB w="6350">
                      <a:solidFill>
                        <a:srgbClr val="D9D3E3"/>
                      </a:solidFill>
                    </a:lnB>
                    <a:solidFill>
                      <a:srgbClr val="FFFFFF"/>
                    </a:solidFill>
                  </a:tcPr>
                </a:tc>
              </a:tr>
              <a:tr h="384048">
                <a:tc>
                  <a:txBody>
                    <a:bodyPr wrap="square"/>
                    <a:lstStyle/>
                    <a:p>
                      <a:pPr algn="l"/>
                      <a:r>
                        <a:rPr sz="1150" b="0">
                          <a:solidFill>
                            <a:srgbClr val="333333"/>
                          </a:solidFill>
                        </a:rPr>
                        <a:t>Median pixel error</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0.026</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0.112</a:t>
                      </a:r>
                    </a:p>
                  </a:txBody>
                  <a:tcPr marL="54864" marR="54864" marT="18288" marB="18288" anchor="ctr">
                    <a:lnL w="0">
                      <a:noFill/>
                    </a:lnL>
                    <a:lnR w="0">
                      <a:noFill/>
                    </a:lnR>
                    <a:lnT w="0">
                      <a:noFill/>
                    </a:lnT>
                    <a:lnB w="6350">
                      <a:solidFill>
                        <a:srgbClr val="D9D3E3"/>
                      </a:solidFill>
                    </a:lnB>
                    <a:solidFill>
                      <a:srgbClr val="FFFFFF"/>
                    </a:solidFill>
                  </a:tcPr>
                </a:tc>
              </a:tr>
              <a:tr h="384048">
                <a:tc>
                  <a:txBody>
                    <a:bodyPr wrap="square"/>
                    <a:lstStyle/>
                    <a:p>
                      <a:pPr algn="l"/>
                      <a:r>
                        <a:rPr sz="1150" b="0">
                          <a:solidFill>
                            <a:srgbClr val="333333"/>
                          </a:solidFill>
                        </a:rPr>
                        <a:t>Median, Quiet pixels</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0.016</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0.085</a:t>
                      </a:r>
                    </a:p>
                  </a:txBody>
                  <a:tcPr marL="54864" marR="54864" marT="18288" marB="18288" anchor="ctr">
                    <a:lnL w="0">
                      <a:noFill/>
                    </a:lnL>
                    <a:lnR w="0">
                      <a:noFill/>
                    </a:lnR>
                    <a:lnT w="0">
                      <a:noFill/>
                    </a:lnT>
                    <a:lnB w="6350">
                      <a:solidFill>
                        <a:srgbClr val="D9D3E3"/>
                      </a:solidFill>
                    </a:lnB>
                    <a:solidFill>
                      <a:srgbClr val="FFFFFF"/>
                    </a:solidFill>
                  </a:tcPr>
                </a:tc>
              </a:tr>
              <a:tr h="384048">
                <a:tc>
                  <a:txBody>
                    <a:bodyPr wrap="square"/>
                    <a:lstStyle/>
                    <a:p>
                      <a:pPr algn="l"/>
                      <a:r>
                        <a:rPr sz="1150" b="0">
                          <a:solidFill>
                            <a:srgbClr val="333333"/>
                          </a:solidFill>
                        </a:rPr>
                        <a:t>Median, Bright pixels</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2.82</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1.78</a:t>
                      </a:r>
                    </a:p>
                  </a:txBody>
                  <a:tcPr marL="54864" marR="54864" marT="18288" marB="18288" anchor="ctr">
                    <a:lnL w="0">
                      <a:noFill/>
                    </a:lnL>
                    <a:lnR w="0">
                      <a:noFill/>
                    </a:lnR>
                    <a:lnT w="0">
                      <a:noFill/>
                    </a:lnT>
                    <a:lnB w="6350">
                      <a:solidFill>
                        <a:srgbClr val="D9D3E3"/>
                      </a:solidFill>
                    </a:lnB>
                    <a:solidFill>
                      <a:srgbClr val="FFFFFF"/>
                    </a:solidFill>
                  </a:tcPr>
                </a:tc>
              </a:tr>
              <a:tr h="384048">
                <a:tc>
                  <a:txBody>
                    <a:bodyPr wrap="square"/>
                    <a:lstStyle/>
                    <a:p>
                      <a:pPr algn="l"/>
                      <a:r>
                        <a:rPr sz="1150" b="0">
                          <a:solidFill>
                            <a:srgbClr val="333333"/>
                          </a:solidFill>
                        </a:rPr>
                        <a:t>Error held by worst 1% of pixels</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97.8%</a:t>
                      </a:r>
                    </a:p>
                  </a:txBody>
                  <a:tcPr marL="54864" marR="54864" marT="18288" marB="18288" anchor="ctr">
                    <a:lnL w="0">
                      <a:noFill/>
                    </a:lnL>
                    <a:lnR w="0">
                      <a:noFill/>
                    </a:lnR>
                    <a:lnT w="0">
                      <a:noFill/>
                    </a:lnT>
                    <a:lnB w="6350">
                      <a:solidFill>
                        <a:srgbClr val="D9D3E3"/>
                      </a:solidFill>
                    </a:lnB>
                    <a:solidFill>
                      <a:srgbClr val="FFFFFF"/>
                    </a:solidFill>
                  </a:tcPr>
                </a:tc>
                <a:tc>
                  <a:txBody>
                    <a:bodyPr wrap="square"/>
                    <a:lstStyle/>
                    <a:p>
                      <a:pPr algn="r"/>
                      <a:r>
                        <a:rPr sz="1150" b="0">
                          <a:solidFill>
                            <a:srgbClr val="333333"/>
                          </a:solidFill>
                        </a:rPr>
                        <a:t>95.2%</a:t>
                      </a:r>
                    </a:p>
                  </a:txBody>
                  <a:tcPr marL="54864" marR="54864" marT="18288" marB="18288" anchor="ctr">
                    <a:lnL w="0">
                      <a:noFill/>
                    </a:lnL>
                    <a:lnR w="0">
                      <a:noFill/>
                    </a:lnR>
                    <a:lnT w="0">
                      <a:noFill/>
                    </a:lnT>
                    <a:lnB w="6350">
                      <a:solidFill>
                        <a:srgbClr val="D9D3E3"/>
                      </a:solidFill>
                    </a:lnB>
                    <a:solidFill>
                      <a:srgbClr val="FFFFFF"/>
                    </a:solidFill>
                  </a:tcPr>
                </a:tc>
              </a:tr>
            </a:tbl>
          </a:graphicData>
        </a:graphic>
      </p:graphicFrame>
      <p:sp>
        <p:nvSpPr>
          <p:cNvPr id="4" name="Rounded Rectangle 3"/>
          <p:cNvSpPr/>
          <p:nvPr/>
        </p:nvSpPr>
        <p:spPr>
          <a:xfrm>
            <a:off x="5486400" y="914400"/>
            <a:ext cx="3291840" cy="114300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23560" y="1005840"/>
            <a:ext cx="3017520" cy="457200"/>
          </a:xfrm>
          <a:prstGeom prst="rect">
            <a:avLst/>
          </a:prstGeom>
          <a:noFill/>
        </p:spPr>
        <p:txBody>
          <a:bodyPr wrap="square" anchor="t" lIns="0" rIns="0" tIns="0" bIns="0">
            <a:spAutoFit/>
          </a:bodyPr>
          <a:lstStyle/>
          <a:p>
            <a:pPr algn="l">
              <a:spcAft>
                <a:spcPts val="600"/>
              </a:spcAft>
            </a:pPr>
            <a:r>
              <a:rPr sz="2400" b="1" i="0">
                <a:solidFill>
                  <a:srgbClr val="57068C"/>
                </a:solidFill>
              </a:rPr>
              <a:t>4.6× worse</a:t>
            </a:r>
          </a:p>
        </p:txBody>
      </p:sp>
      <p:sp>
        <p:nvSpPr>
          <p:cNvPr id="6" name="TextBox 5"/>
          <p:cNvSpPr txBox="1"/>
          <p:nvPr/>
        </p:nvSpPr>
        <p:spPr>
          <a:xfrm>
            <a:off x="5623560" y="1463040"/>
            <a:ext cx="3017520" cy="548640"/>
          </a:xfrm>
          <a:prstGeom prst="rect">
            <a:avLst/>
          </a:prstGeom>
          <a:noFill/>
        </p:spPr>
        <p:txBody>
          <a:bodyPr wrap="square" anchor="t" lIns="0" rIns="0" tIns="0" bIns="0">
            <a:spAutoFit/>
          </a:bodyPr>
          <a:lstStyle/>
          <a:p>
            <a:pPr algn="l">
              <a:spcAft>
                <a:spcPts val="0"/>
              </a:spcAft>
            </a:pPr>
            <a:r>
              <a:rPr sz="1050" b="0" i="0">
                <a:solidFill>
                  <a:srgbClr val="333333"/>
                </a:solidFill>
              </a:rPr>
              <a:t>on the mean (website number)</a:t>
            </a:r>
          </a:p>
        </p:txBody>
      </p:sp>
      <p:sp>
        <p:nvSpPr>
          <p:cNvPr id="7" name="Rounded Rectangle 6"/>
          <p:cNvSpPr/>
          <p:nvPr/>
        </p:nvSpPr>
        <p:spPr>
          <a:xfrm>
            <a:off x="5486400" y="2240280"/>
            <a:ext cx="3291840" cy="114300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23560" y="2331720"/>
            <a:ext cx="3017520" cy="457200"/>
          </a:xfrm>
          <a:prstGeom prst="rect">
            <a:avLst/>
          </a:prstGeom>
          <a:noFill/>
        </p:spPr>
        <p:txBody>
          <a:bodyPr wrap="square" anchor="t" lIns="0" rIns="0" tIns="0" bIns="0">
            <a:spAutoFit/>
          </a:bodyPr>
          <a:lstStyle/>
          <a:p>
            <a:pPr algn="l">
              <a:spcAft>
                <a:spcPts val="600"/>
              </a:spcAft>
            </a:pPr>
            <a:r>
              <a:rPr sz="2400" b="1" i="0">
                <a:solidFill>
                  <a:srgbClr val="57068C"/>
                </a:solidFill>
              </a:rPr>
              <a:t>~4× better</a:t>
            </a:r>
          </a:p>
        </p:txBody>
      </p:sp>
      <p:sp>
        <p:nvSpPr>
          <p:cNvPr id="9" name="TextBox 8"/>
          <p:cNvSpPr txBox="1"/>
          <p:nvPr/>
        </p:nvSpPr>
        <p:spPr>
          <a:xfrm>
            <a:off x="5623560" y="2788920"/>
            <a:ext cx="3017520" cy="548640"/>
          </a:xfrm>
          <a:prstGeom prst="rect">
            <a:avLst/>
          </a:prstGeom>
          <a:noFill/>
        </p:spPr>
        <p:txBody>
          <a:bodyPr wrap="square" anchor="t" lIns="0" rIns="0" tIns="0" bIns="0">
            <a:spAutoFit/>
          </a:bodyPr>
          <a:lstStyle/>
          <a:p>
            <a:pPr algn="l">
              <a:spcAft>
                <a:spcPts val="0"/>
              </a:spcAft>
            </a:pPr>
            <a:r>
              <a:rPr sz="1050" b="0" i="0">
                <a:solidFill>
                  <a:srgbClr val="333333"/>
                </a:solidFill>
              </a:rPr>
              <a:t>on the typical pixel (median)</a:t>
            </a:r>
          </a:p>
        </p:txBody>
      </p:sp>
      <p:sp>
        <p:nvSpPr>
          <p:cNvPr id="10" name="TextBox 9"/>
          <p:cNvSpPr txBox="1"/>
          <p:nvPr/>
        </p:nvSpPr>
        <p:spPr>
          <a:xfrm>
            <a:off x="365760" y="3520440"/>
            <a:ext cx="8412480" cy="548640"/>
          </a:xfrm>
          <a:prstGeom prst="rect">
            <a:avLst/>
          </a:prstGeom>
          <a:noFill/>
        </p:spPr>
        <p:txBody>
          <a:bodyPr wrap="square" anchor="t" lIns="0" rIns="0" tIns="0" bIns="0">
            <a:spAutoFit/>
          </a:bodyPr>
          <a:lstStyle/>
          <a:p>
            <a:pPr algn="l">
              <a:spcAft>
                <a:spcPts val="600"/>
              </a:spcAft>
            </a:pPr>
            <a:r>
              <a:rPr sz="1250" b="1" i="0">
                <a:solidFill>
                  <a:srgbClr val="57068C"/>
                </a:solidFill>
              </a:rPr>
              <a:t>A few pixels decide the mean. Which ones?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Flare cores, 1 pixel in 10,000, hold ~90% of the error</a:t>
            </a:r>
          </a:p>
        </p:txBody>
      </p:sp>
      <p:pic>
        <p:nvPicPr>
          <p:cNvPr id="3" name="Picture 2" descr="fig1_error_share_by_brightness.png"/>
          <p:cNvPicPr>
            <a:picLocks noChangeAspect="1"/>
          </p:cNvPicPr>
          <p:nvPr/>
        </p:nvPicPr>
        <p:blipFill>
          <a:blip r:embed="rId3"/>
          <a:stretch>
            <a:fillRect/>
          </a:stretch>
        </p:blipFill>
        <p:spPr>
          <a:xfrm>
            <a:off x="365760" y="1218271"/>
            <a:ext cx="5029200" cy="2821258"/>
          </a:xfrm>
          <a:prstGeom prst="rect">
            <a:avLst/>
          </a:prstGeom>
        </p:spPr>
      </p:pic>
      <p:sp>
        <p:nvSpPr>
          <p:cNvPr id="4" name="TextBox 3"/>
          <p:cNvSpPr txBox="1"/>
          <p:nvPr/>
        </p:nvSpPr>
        <p:spPr>
          <a:xfrm>
            <a:off x="5577840" y="1005840"/>
            <a:ext cx="3200400" cy="3108960"/>
          </a:xfrm>
          <a:prstGeom prst="rect">
            <a:avLst/>
          </a:prstGeom>
          <a:noFill/>
        </p:spPr>
        <p:txBody>
          <a:bodyPr wrap="square" anchor="t" lIns="0" rIns="0" tIns="0" bIns="0">
            <a:spAutoFit/>
          </a:bodyPr>
          <a:lstStyle/>
          <a:p>
            <a:pPr algn="l" marL="182880" indent="-182880">
              <a:spcAft>
                <a:spcPts val="1000"/>
              </a:spcAft>
              <a:buClr>
                <a:srgbClr val="333333"/>
              </a:buClr>
              <a:buChar char="•"/>
            </a:pPr>
            <a:r>
              <a:rPr sz="1300" b="0" i="0">
                <a:solidFill>
                  <a:srgbClr val="333333"/>
                </a:solidFill>
              </a:rPr>
              <a:t>Brightness: largest channel over its top-5% cutoff.</a:t>
            </a:r>
          </a:p>
          <a:p>
            <a:pPr algn="l" marL="182880" indent="-182880">
              <a:spcAft>
                <a:spcPts val="1000"/>
              </a:spcAft>
              <a:buClr>
                <a:srgbClr val="333333"/>
              </a:buClr>
              <a:buChar char="•"/>
            </a:pPr>
            <a:r>
              <a:rPr sz="1300" b="0" i="0">
                <a:solidFill>
                  <a:srgbClr val="333333"/>
                </a:solidFill>
              </a:rPr>
              <a:t>Same for both models: it's the metric meeting huge DEMs.</a:t>
            </a:r>
          </a:p>
          <a:p>
            <a:pPr algn="l" marL="182880" indent="-182880">
              <a:spcAft>
                <a:spcPts val="1000"/>
              </a:spcAft>
              <a:buClr>
                <a:srgbClr val="333333"/>
              </a:buClr>
              <a:buChar char="•"/>
            </a:pPr>
            <a:r>
              <a:rPr sz="1300" b="0" i="0">
                <a:solidFill>
                  <a:srgbClr val="333333"/>
                </a:solidFill>
              </a:rPr>
              <a:t>The 4.6× headline gap is the gap on this bucket.</a:t>
            </a:r>
          </a:p>
          <a:p>
            <a:pPr algn="l" marL="182880" indent="-182880">
              <a:spcAft>
                <a:spcPts val="1000"/>
              </a:spcAft>
              <a:buClr>
                <a:srgbClr val="333333"/>
              </a:buClr>
              <a:buChar char="•"/>
            </a:pPr>
            <a:r>
              <a:rPr sz="1300" b="1" i="0">
                <a:solidFill>
                  <a:srgbClr val="57068C"/>
                </a:solidFill>
              </a:rPr>
              <a:t>Is label-free also worse relative to DEM size?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Relative to DEM size, the gap grows with brightness</a:t>
            </a:r>
          </a:p>
        </p:txBody>
      </p:sp>
      <p:pic>
        <p:nvPicPr>
          <p:cNvPr id="3" name="Picture 2" descr="fig2_relative_error_by_brightness.png"/>
          <p:cNvPicPr>
            <a:picLocks noChangeAspect="1"/>
          </p:cNvPicPr>
          <p:nvPr/>
        </p:nvPicPr>
        <p:blipFill>
          <a:blip r:embed="rId3"/>
          <a:stretch>
            <a:fillRect/>
          </a:stretch>
        </p:blipFill>
        <p:spPr>
          <a:xfrm>
            <a:off x="1063256" y="914400"/>
            <a:ext cx="7017488" cy="3017520"/>
          </a:xfrm>
          <a:prstGeom prst="rect">
            <a:avLst/>
          </a:prstGeom>
        </p:spPr>
      </p:pic>
      <p:sp>
        <p:nvSpPr>
          <p:cNvPr id="4" name="TextBox 3"/>
          <p:cNvSpPr txBox="1"/>
          <p:nvPr/>
        </p:nvSpPr>
        <p:spPr>
          <a:xfrm>
            <a:off x="365760" y="3977639"/>
            <a:ext cx="8412480" cy="457200"/>
          </a:xfrm>
          <a:prstGeom prst="rect">
            <a:avLst/>
          </a:prstGeom>
          <a:noFill/>
        </p:spPr>
        <p:txBody>
          <a:bodyPr wrap="square" anchor="t" lIns="0" rIns="0" tIns="0" bIns="0">
            <a:spAutoFit/>
          </a:bodyPr>
          <a:lstStyle/>
          <a:p>
            <a:pPr algn="l">
              <a:spcAft>
                <a:spcPts val="600"/>
              </a:spcAft>
            </a:pPr>
            <a:r>
              <a:rPr sz="1200" b="0" i="0">
                <a:solidFill>
                  <a:srgbClr val="333333"/>
                </a:solidFill>
              </a:rPr>
              <a:t>Faint half of the Sun: label-free equal or better. </a:t>
            </a:r>
            <a:r>
              <a:rPr sz="1200" b="1" i="0">
                <a:solidFill>
                  <a:srgbClr val="57068C"/>
                </a:solidFill>
              </a:rPr>
              <a:t>Flare cores: genuinely worse, not just bigger numbers.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At flare cores, label-free misses the hot plasma</a:t>
            </a:r>
          </a:p>
        </p:txBody>
      </p:sp>
      <p:pic>
        <p:nvPicPr>
          <p:cNvPr id="3" name="Picture 2" descr="fig4_example_curves_bp.png"/>
          <p:cNvPicPr>
            <a:picLocks noChangeAspect="1"/>
          </p:cNvPicPr>
          <p:nvPr/>
        </p:nvPicPr>
        <p:blipFill>
          <a:blip r:embed="rId3"/>
          <a:stretch>
            <a:fillRect/>
          </a:stretch>
        </p:blipFill>
        <p:spPr>
          <a:xfrm>
            <a:off x="365760" y="914400"/>
            <a:ext cx="5414210" cy="3429000"/>
          </a:xfrm>
          <a:prstGeom prst="rect">
            <a:avLst/>
          </a:prstGeom>
        </p:spPr>
      </p:pic>
      <p:sp>
        <p:nvSpPr>
          <p:cNvPr id="4" name="Rounded Rectangle 3"/>
          <p:cNvSpPr/>
          <p:nvPr/>
        </p:nvSpPr>
        <p:spPr>
          <a:xfrm>
            <a:off x="6263640" y="914400"/>
            <a:ext cx="2514600" cy="100584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0" y="1005840"/>
            <a:ext cx="2240280" cy="457200"/>
          </a:xfrm>
          <a:prstGeom prst="rect">
            <a:avLst/>
          </a:prstGeom>
          <a:noFill/>
        </p:spPr>
        <p:txBody>
          <a:bodyPr wrap="square" anchor="t" lIns="0" rIns="0" tIns="0" bIns="0">
            <a:spAutoFit/>
          </a:bodyPr>
          <a:lstStyle/>
          <a:p>
            <a:pPr algn="l">
              <a:spcAft>
                <a:spcPts val="600"/>
              </a:spcAft>
            </a:pPr>
            <a:r>
              <a:rPr sz="2400" b="1" i="0">
                <a:solidFill>
                  <a:srgbClr val="57068C"/>
                </a:solidFill>
              </a:rPr>
              <a:t>41%</a:t>
            </a:r>
          </a:p>
        </p:txBody>
      </p:sp>
      <p:sp>
        <p:nvSpPr>
          <p:cNvPr id="6" name="TextBox 5"/>
          <p:cNvSpPr txBox="1"/>
          <p:nvPr/>
        </p:nvSpPr>
        <p:spPr>
          <a:xfrm>
            <a:off x="6400800" y="1463040"/>
            <a:ext cx="2240280" cy="411480"/>
          </a:xfrm>
          <a:prstGeom prst="rect">
            <a:avLst/>
          </a:prstGeom>
          <a:noFill/>
        </p:spPr>
        <p:txBody>
          <a:bodyPr wrap="square" anchor="t" lIns="0" rIns="0" tIns="0" bIns="0">
            <a:spAutoFit/>
          </a:bodyPr>
          <a:lstStyle/>
          <a:p>
            <a:pPr algn="l">
              <a:spcAft>
                <a:spcPts val="0"/>
              </a:spcAft>
            </a:pPr>
            <a:r>
              <a:rPr sz="1050" b="0" i="0">
                <a:solidFill>
                  <a:srgbClr val="333333"/>
                </a:solidFill>
              </a:rPr>
              <a:t>of the solver's emission</a:t>
            </a:r>
          </a:p>
        </p:txBody>
      </p:sp>
      <p:sp>
        <p:nvSpPr>
          <p:cNvPr id="7" name="Rounded Rectangle 6"/>
          <p:cNvSpPr/>
          <p:nvPr/>
        </p:nvSpPr>
        <p:spPr>
          <a:xfrm>
            <a:off x="6263640" y="2057400"/>
            <a:ext cx="2514600" cy="100584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2148840"/>
            <a:ext cx="2240280" cy="457200"/>
          </a:xfrm>
          <a:prstGeom prst="rect">
            <a:avLst/>
          </a:prstGeom>
          <a:noFill/>
        </p:spPr>
        <p:txBody>
          <a:bodyPr wrap="square" anchor="t" lIns="0" rIns="0" tIns="0" bIns="0">
            <a:spAutoFit/>
          </a:bodyPr>
          <a:lstStyle/>
          <a:p>
            <a:pPr algn="l">
              <a:spcAft>
                <a:spcPts val="600"/>
              </a:spcAft>
            </a:pPr>
            <a:r>
              <a:rPr sz="2400" b="1" i="0">
                <a:solidFill>
                  <a:srgbClr val="57068C"/>
                </a:solidFill>
              </a:rPr>
              <a:t>0.24×</a:t>
            </a:r>
          </a:p>
        </p:txBody>
      </p:sp>
      <p:sp>
        <p:nvSpPr>
          <p:cNvPr id="9" name="TextBox 8"/>
          <p:cNvSpPr txBox="1"/>
          <p:nvPr/>
        </p:nvSpPr>
        <p:spPr>
          <a:xfrm>
            <a:off x="6400800" y="2606040"/>
            <a:ext cx="2240280" cy="411480"/>
          </a:xfrm>
          <a:prstGeom prst="rect">
            <a:avLst/>
          </a:prstGeom>
          <a:noFill/>
        </p:spPr>
        <p:txBody>
          <a:bodyPr wrap="square" anchor="t" lIns="0" rIns="0" tIns="0" bIns="0">
            <a:spAutoFit/>
          </a:bodyPr>
          <a:lstStyle/>
          <a:p>
            <a:pPr algn="l">
              <a:spcAft>
                <a:spcPts val="0"/>
              </a:spcAft>
            </a:pPr>
            <a:r>
              <a:rPr sz="1050" b="0" i="0">
                <a:solidFill>
                  <a:srgbClr val="333333"/>
                </a:solidFill>
              </a:rPr>
              <a:t>of its peak height</a:t>
            </a:r>
          </a:p>
        </p:txBody>
      </p:sp>
      <p:sp>
        <p:nvSpPr>
          <p:cNvPr id="10" name="Rounded Rectangle 9"/>
          <p:cNvSpPr/>
          <p:nvPr/>
        </p:nvSpPr>
        <p:spPr>
          <a:xfrm>
            <a:off x="6263640" y="3200400"/>
            <a:ext cx="2514600" cy="100584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3291840"/>
            <a:ext cx="2240280" cy="457200"/>
          </a:xfrm>
          <a:prstGeom prst="rect">
            <a:avLst/>
          </a:prstGeom>
          <a:noFill/>
        </p:spPr>
        <p:txBody>
          <a:bodyPr wrap="square" anchor="t" lIns="0" rIns="0" tIns="0" bIns="0">
            <a:spAutoFit/>
          </a:bodyPr>
          <a:lstStyle/>
          <a:p>
            <a:pPr algn="l">
              <a:spcAft>
                <a:spcPts val="600"/>
              </a:spcAft>
            </a:pPr>
            <a:r>
              <a:rPr sz="2400" b="1" i="0">
                <a:solidFill>
                  <a:srgbClr val="57068C"/>
                </a:solidFill>
              </a:rPr>
              <a:t>83%</a:t>
            </a:r>
          </a:p>
        </p:txBody>
      </p:sp>
      <p:sp>
        <p:nvSpPr>
          <p:cNvPr id="12" name="TextBox 11"/>
          <p:cNvSpPr txBox="1"/>
          <p:nvPr/>
        </p:nvSpPr>
        <p:spPr>
          <a:xfrm>
            <a:off x="6400800" y="3749040"/>
            <a:ext cx="2240280" cy="411480"/>
          </a:xfrm>
          <a:prstGeom prst="rect">
            <a:avLst/>
          </a:prstGeom>
          <a:noFill/>
        </p:spPr>
        <p:txBody>
          <a:bodyPr wrap="square" anchor="t" lIns="0" rIns="0" tIns="0" bIns="0">
            <a:spAutoFit/>
          </a:bodyPr>
          <a:lstStyle/>
          <a:p>
            <a:pPr algn="l">
              <a:spcAft>
                <a:spcPts val="0"/>
              </a:spcAft>
            </a:pPr>
            <a:r>
              <a:rPr sz="1050" b="0" i="0">
                <a:solidFill>
                  <a:srgbClr val="333333"/>
                </a:solidFill>
              </a:rPr>
              <a:t>of curves split into humps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It tracks the solver up to peak ~100, then saturates</a:t>
            </a:r>
          </a:p>
        </p:txBody>
      </p:sp>
      <p:pic>
        <p:nvPicPr>
          <p:cNvPr id="3" name="Picture 2" descr="fig3_peak_height_calibration.png"/>
          <p:cNvPicPr>
            <a:picLocks noChangeAspect="1"/>
          </p:cNvPicPr>
          <p:nvPr/>
        </p:nvPicPr>
        <p:blipFill>
          <a:blip r:embed="rId3"/>
          <a:stretch>
            <a:fillRect/>
          </a:stretch>
        </p:blipFill>
        <p:spPr>
          <a:xfrm>
            <a:off x="1143000" y="914400"/>
            <a:ext cx="6858000" cy="3017520"/>
          </a:xfrm>
          <a:prstGeom prst="rect">
            <a:avLst/>
          </a:prstGeom>
        </p:spPr>
      </p:pic>
      <p:sp>
        <p:nvSpPr>
          <p:cNvPr id="4" name="TextBox 3"/>
          <p:cNvSpPr txBox="1"/>
          <p:nvPr/>
        </p:nvSpPr>
        <p:spPr>
          <a:xfrm>
            <a:off x="365760" y="3977639"/>
            <a:ext cx="8412480" cy="457200"/>
          </a:xfrm>
          <a:prstGeom prst="rect">
            <a:avLst/>
          </a:prstGeom>
          <a:noFill/>
        </p:spPr>
        <p:txBody>
          <a:bodyPr wrap="square" anchor="t" lIns="0" rIns="0" tIns="0" bIns="0">
            <a:spAutoFit/>
          </a:bodyPr>
          <a:lstStyle/>
          <a:p>
            <a:pPr algn="l">
              <a:spcAft>
                <a:spcPts val="600"/>
              </a:spcAft>
            </a:pPr>
            <a:r>
              <a:rPr sz="1200" b="1" i="0">
                <a:solidFill>
                  <a:srgbClr val="57068C"/>
                </a:solidFill>
              </a:rPr>
              <a:t>Not regression to the mean: a ceiling at the tallest DEMs.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At flare cores label-free fails its own objective</a:t>
            </a:r>
          </a:p>
        </p:txBody>
      </p:sp>
      <p:pic>
        <p:nvPicPr>
          <p:cNvPr id="3" name="Picture 2" descr="fig5_aia_fit_flare_cores.png"/>
          <p:cNvPicPr>
            <a:picLocks noChangeAspect="1"/>
          </p:cNvPicPr>
          <p:nvPr/>
        </p:nvPicPr>
        <p:blipFill>
          <a:blip r:embed="rId3"/>
          <a:stretch>
            <a:fillRect/>
          </a:stretch>
        </p:blipFill>
        <p:spPr>
          <a:xfrm>
            <a:off x="365760" y="1436914"/>
            <a:ext cx="5486400" cy="2246811"/>
          </a:xfrm>
          <a:prstGeom prst="rect">
            <a:avLst/>
          </a:prstGeom>
        </p:spPr>
      </p:pic>
      <p:sp>
        <p:nvSpPr>
          <p:cNvPr id="4" name="TextBox 3"/>
          <p:cNvSpPr txBox="1"/>
          <p:nvPr/>
        </p:nvSpPr>
        <p:spPr>
          <a:xfrm>
            <a:off x="6035040" y="1005840"/>
            <a:ext cx="2743200" cy="3108960"/>
          </a:xfrm>
          <a:prstGeom prst="rect">
            <a:avLst/>
          </a:prstGeom>
          <a:noFill/>
        </p:spPr>
        <p:txBody>
          <a:bodyPr wrap="square" anchor="t" lIns="0" rIns="0" tIns="0" bIns="0">
            <a:spAutoFit/>
          </a:bodyPr>
          <a:lstStyle/>
          <a:p>
            <a:pPr algn="l" marL="182880" indent="-182880">
              <a:spcAft>
                <a:spcPts val="1000"/>
              </a:spcAft>
              <a:buClr>
                <a:srgbClr val="333333"/>
              </a:buClr>
              <a:buChar char="•"/>
            </a:pPr>
            <a:r>
              <a:rPr sz="1300" b="0" i="0">
                <a:solidFill>
                  <a:srgbClr val="333333"/>
                </a:solidFill>
              </a:rPr>
              <a:t>BP solver: all six channels within 8%.</a:t>
            </a:r>
          </a:p>
          <a:p>
            <a:pPr algn="l" marL="182880" indent="-182880">
              <a:spcAft>
                <a:spcPts val="1000"/>
              </a:spcAft>
              <a:buClr>
                <a:srgbClr val="333333"/>
              </a:buClr>
              <a:buChar char="•"/>
            </a:pPr>
            <a:r>
              <a:rPr sz="1300" b="0" i="0">
                <a:solidFill>
                  <a:srgbClr val="333333"/>
                </a:solidFill>
              </a:rPr>
              <a:t>Label-free: cool channels fit, 94 Å only 24%.</a:t>
            </a:r>
          </a:p>
          <a:p>
            <a:pPr algn="l" marL="182880" indent="-182880">
              <a:spcAft>
                <a:spcPts val="1000"/>
              </a:spcAft>
              <a:buClr>
                <a:srgbClr val="333333"/>
              </a:buClr>
              <a:buChar char="•"/>
            </a:pPr>
            <a:r>
              <a:rPr sz="1300" b="1" i="0">
                <a:solidFill>
                  <a:srgbClr val="57068C"/>
                </a:solidFill>
              </a:rPr>
              <a:t>The objective asks for the right answer; training misses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Not solver noise, not missed double peaks</a:t>
            </a:r>
          </a:p>
        </p:txBody>
      </p:sp>
      <p:sp>
        <p:nvSpPr>
          <p:cNvPr id="3" name="Rounded Rectangle 2"/>
          <p:cNvSpPr/>
          <p:nvPr/>
        </p:nvSpPr>
        <p:spPr>
          <a:xfrm>
            <a:off x="365760" y="914400"/>
            <a:ext cx="4069080" cy="196596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097280"/>
            <a:ext cx="3611880" cy="548640"/>
          </a:xfrm>
          <a:prstGeom prst="rect">
            <a:avLst/>
          </a:prstGeom>
          <a:noFill/>
        </p:spPr>
        <p:txBody>
          <a:bodyPr wrap="square" anchor="t" lIns="0" rIns="0" tIns="0" bIns="0">
            <a:spAutoFit/>
          </a:bodyPr>
          <a:lstStyle/>
          <a:p>
            <a:pPr algn="l">
              <a:spcAft>
                <a:spcPts val="600"/>
              </a:spcAft>
            </a:pPr>
            <a:r>
              <a:rPr sz="2800" b="1" i="0">
                <a:solidFill>
                  <a:srgbClr val="57068C"/>
                </a:solidFill>
              </a:rPr>
              <a:t>0.4%</a:t>
            </a:r>
          </a:p>
        </p:txBody>
      </p:sp>
      <p:sp>
        <p:nvSpPr>
          <p:cNvPr id="5" name="TextBox 4"/>
          <p:cNvSpPr txBox="1"/>
          <p:nvPr/>
        </p:nvSpPr>
        <p:spPr>
          <a:xfrm>
            <a:off x="594360" y="1691640"/>
            <a:ext cx="3611880" cy="457200"/>
          </a:xfrm>
          <a:prstGeom prst="rect">
            <a:avLst/>
          </a:prstGeom>
          <a:noFill/>
        </p:spPr>
        <p:txBody>
          <a:bodyPr wrap="square" anchor="t" lIns="0" rIns="0" tIns="0" bIns="0">
            <a:spAutoFit/>
          </a:bodyPr>
          <a:lstStyle/>
          <a:p>
            <a:pPr algn="l">
              <a:spcAft>
                <a:spcPts val="600"/>
              </a:spcAft>
            </a:pPr>
            <a:r>
              <a:rPr sz="1300" b="1" i="0">
                <a:solidFill>
                  <a:srgbClr val="333333"/>
                </a:solidFill>
              </a:rPr>
              <a:t>of the Bright error is solver noise</a:t>
            </a:r>
          </a:p>
        </p:txBody>
      </p:sp>
      <p:sp>
        <p:nvSpPr>
          <p:cNvPr id="6" name="TextBox 5"/>
          <p:cNvSpPr txBox="1"/>
          <p:nvPr/>
        </p:nvSpPr>
        <p:spPr>
          <a:xfrm>
            <a:off x="594360" y="2194560"/>
            <a:ext cx="3611880" cy="1005840"/>
          </a:xfrm>
          <a:prstGeom prst="rect">
            <a:avLst/>
          </a:prstGeom>
          <a:noFill/>
        </p:spPr>
        <p:txBody>
          <a:bodyPr wrap="square" anchor="t" lIns="0" rIns="0" tIns="0" bIns="0">
            <a:spAutoFit/>
          </a:bodyPr>
          <a:lstStyle/>
          <a:p>
            <a:pPr algn="l">
              <a:spcAft>
                <a:spcPts val="600"/>
              </a:spcAft>
            </a:pPr>
            <a:r>
              <a:rPr sz="1150" b="0" i="0">
                <a:solidFill>
                  <a:srgbClr val="333333"/>
                </a:solidFill>
              </a:rPr>
              <a:t>BP's own scatter across noisy re-solves explains almost none of it (supervised 1.5%).</a:t>
            </a:r>
          </a:p>
        </p:txBody>
      </p:sp>
      <p:sp>
        <p:nvSpPr>
          <p:cNvPr id="7" name="Rounded Rectangle 6"/>
          <p:cNvSpPr/>
          <p:nvPr/>
        </p:nvSpPr>
        <p:spPr>
          <a:xfrm>
            <a:off x="4709160" y="914400"/>
            <a:ext cx="4069080" cy="196596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37760" y="1097280"/>
            <a:ext cx="3611880" cy="548640"/>
          </a:xfrm>
          <a:prstGeom prst="rect">
            <a:avLst/>
          </a:prstGeom>
          <a:noFill/>
        </p:spPr>
        <p:txBody>
          <a:bodyPr wrap="square" anchor="t" lIns="0" rIns="0" tIns="0" bIns="0">
            <a:spAutoFit/>
          </a:bodyPr>
          <a:lstStyle/>
          <a:p>
            <a:pPr algn="l">
              <a:spcAft>
                <a:spcPts val="600"/>
              </a:spcAft>
            </a:pPr>
            <a:r>
              <a:rPr sz="2800" b="1" i="0">
                <a:solidFill>
                  <a:srgbClr val="57068C"/>
                </a:solidFill>
              </a:rPr>
              <a:t>~1%</a:t>
            </a:r>
          </a:p>
        </p:txBody>
      </p:sp>
      <p:sp>
        <p:nvSpPr>
          <p:cNvPr id="9" name="TextBox 8"/>
          <p:cNvSpPr txBox="1"/>
          <p:nvPr/>
        </p:nvSpPr>
        <p:spPr>
          <a:xfrm>
            <a:off x="4937760" y="1691640"/>
            <a:ext cx="3611880" cy="457200"/>
          </a:xfrm>
          <a:prstGeom prst="rect">
            <a:avLst/>
          </a:prstGeom>
          <a:noFill/>
        </p:spPr>
        <p:txBody>
          <a:bodyPr wrap="square" anchor="t" lIns="0" rIns="0" tIns="0" bIns="0">
            <a:spAutoFit/>
          </a:bodyPr>
          <a:lstStyle/>
          <a:p>
            <a:pPr algn="l">
              <a:spcAft>
                <a:spcPts val="600"/>
              </a:spcAft>
            </a:pPr>
            <a:r>
              <a:rPr sz="1300" b="1" i="0">
                <a:solidFill>
                  <a:srgbClr val="333333"/>
                </a:solidFill>
              </a:rPr>
              <a:t>of the error from missing BP's second peak</a:t>
            </a:r>
          </a:p>
        </p:txBody>
      </p:sp>
      <p:sp>
        <p:nvSpPr>
          <p:cNvPr id="10" name="TextBox 9"/>
          <p:cNvSpPr txBox="1"/>
          <p:nvPr/>
        </p:nvSpPr>
        <p:spPr>
          <a:xfrm>
            <a:off x="4937760" y="2194560"/>
            <a:ext cx="3611880" cy="1005840"/>
          </a:xfrm>
          <a:prstGeom prst="rect">
            <a:avLst/>
          </a:prstGeom>
          <a:noFill/>
        </p:spPr>
        <p:txBody>
          <a:bodyPr wrap="square" anchor="t" lIns="0" rIns="0" tIns="0" bIns="0">
            <a:spAutoFit/>
          </a:bodyPr>
          <a:lstStyle/>
          <a:p>
            <a:pPr algn="l">
              <a:spcAft>
                <a:spcPts val="600"/>
              </a:spcAft>
            </a:pPr>
            <a:r>
              <a:rPr sz="1150" b="0" i="0">
                <a:solidFill>
                  <a:srgbClr val="333333"/>
                </a:solidFill>
              </a:rPr>
              <a:t>Extra peaks at flare cores cost more: 22% of label-free's error, 0.9% of supervised's.</a:t>
            </a:r>
          </a:p>
        </p:txBody>
      </p:sp>
      <p:sp>
        <p:nvSpPr>
          <p:cNvPr id="11" name="TextBox 10"/>
          <p:cNvSpPr txBox="1"/>
          <p:nvPr/>
        </p:nvSpPr>
        <p:spPr>
          <a:xfrm>
            <a:off x="365760" y="3154680"/>
            <a:ext cx="8412480" cy="548640"/>
          </a:xfrm>
          <a:prstGeom prst="rect">
            <a:avLst/>
          </a:prstGeom>
          <a:noFill/>
        </p:spPr>
        <p:txBody>
          <a:bodyPr wrap="square" anchor="t" lIns="0" rIns="0" tIns="0" bIns="0">
            <a:spAutoFit/>
          </a:bodyPr>
          <a:lstStyle/>
          <a:p>
            <a:pPr algn="l">
              <a:spcAft>
                <a:spcPts val="600"/>
              </a:spcAft>
            </a:pPr>
            <a:r>
              <a:rPr sz="1250" b="1" i="0">
                <a:solidFill>
                  <a:srgbClr val="57068C"/>
                </a:solidFill>
              </a:rPr>
              <a:t>The Bright gap is real model error, concentrated in flare cores.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What we learned</a:t>
            </a:r>
          </a:p>
        </p:txBody>
      </p:sp>
      <p:sp>
        <p:nvSpPr>
          <p:cNvPr id="3" name="Oval 2"/>
          <p:cNvSpPr/>
          <p:nvPr/>
        </p:nvSpPr>
        <p:spPr>
          <a:xfrm>
            <a:off x="365760" y="914400"/>
            <a:ext cx="420624" cy="420624"/>
          </a:xfrm>
          <a:prstGeom prst="ellipse">
            <a:avLst/>
          </a:prstGeom>
          <a:solidFill>
            <a:srgbClr val="57068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1</a:t>
            </a:r>
          </a:p>
        </p:txBody>
      </p:sp>
      <p:sp>
        <p:nvSpPr>
          <p:cNvPr id="4" name="TextBox 3"/>
          <p:cNvSpPr txBox="1"/>
          <p:nvPr/>
        </p:nvSpPr>
        <p:spPr>
          <a:xfrm>
            <a:off x="1005840" y="969264"/>
            <a:ext cx="7680960" cy="457200"/>
          </a:xfrm>
          <a:prstGeom prst="rect">
            <a:avLst/>
          </a:prstGeom>
          <a:noFill/>
        </p:spPr>
        <p:txBody>
          <a:bodyPr wrap="square" anchor="ctr" lIns="0" rIns="0" tIns="0" bIns="0">
            <a:spAutoFit/>
          </a:bodyPr>
          <a:lstStyle/>
          <a:p>
            <a:pPr algn="l">
              <a:spcAft>
                <a:spcPts val="600"/>
              </a:spcAft>
            </a:pPr>
            <a:r>
              <a:rPr sz="1400" b="0" i="0">
                <a:solidFill>
                  <a:srgbClr val="333333"/>
                </a:solidFill>
              </a:rPr>
              <a:t>The sparsity term, not the AIA fit, makes a DEM BP-like.</a:t>
            </a:r>
          </a:p>
        </p:txBody>
      </p:sp>
      <p:sp>
        <p:nvSpPr>
          <p:cNvPr id="5" name="Oval 4"/>
          <p:cNvSpPr/>
          <p:nvPr/>
        </p:nvSpPr>
        <p:spPr>
          <a:xfrm>
            <a:off x="365760" y="1572768"/>
            <a:ext cx="420624" cy="420624"/>
          </a:xfrm>
          <a:prstGeom prst="ellipse">
            <a:avLst/>
          </a:prstGeom>
          <a:solidFill>
            <a:srgbClr val="57068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2</a:t>
            </a:r>
          </a:p>
        </p:txBody>
      </p:sp>
      <p:sp>
        <p:nvSpPr>
          <p:cNvPr id="6" name="TextBox 5"/>
          <p:cNvSpPr txBox="1"/>
          <p:nvPr/>
        </p:nvSpPr>
        <p:spPr>
          <a:xfrm>
            <a:off x="1005840" y="1627632"/>
            <a:ext cx="7680960" cy="457200"/>
          </a:xfrm>
          <a:prstGeom prst="rect">
            <a:avLst/>
          </a:prstGeom>
          <a:noFill/>
        </p:spPr>
        <p:txBody>
          <a:bodyPr wrap="square" anchor="ctr" lIns="0" rIns="0" tIns="0" bIns="0">
            <a:spAutoFit/>
          </a:bodyPr>
          <a:lstStyle/>
          <a:p>
            <a:pPr algn="l">
              <a:spcAft>
                <a:spcPts val="600"/>
              </a:spcAft>
            </a:pPr>
            <a:r>
              <a:rPr sz="1400" b="0" i="0">
                <a:solidFill>
                  <a:srgbClr val="333333"/>
                </a:solidFill>
              </a:rPr>
              <a:t>Test on unseen days: in-sample scores flattered the CNN.</a:t>
            </a:r>
          </a:p>
        </p:txBody>
      </p:sp>
      <p:sp>
        <p:nvSpPr>
          <p:cNvPr id="7" name="Oval 6"/>
          <p:cNvSpPr/>
          <p:nvPr/>
        </p:nvSpPr>
        <p:spPr>
          <a:xfrm>
            <a:off x="365760" y="2231136"/>
            <a:ext cx="420624" cy="420624"/>
          </a:xfrm>
          <a:prstGeom prst="ellipse">
            <a:avLst/>
          </a:prstGeom>
          <a:solidFill>
            <a:srgbClr val="57068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3</a:t>
            </a:r>
          </a:p>
        </p:txBody>
      </p:sp>
      <p:sp>
        <p:nvSpPr>
          <p:cNvPr id="8" name="TextBox 7"/>
          <p:cNvSpPr txBox="1"/>
          <p:nvPr/>
        </p:nvSpPr>
        <p:spPr>
          <a:xfrm>
            <a:off x="1005840" y="2286000"/>
            <a:ext cx="7680960" cy="457200"/>
          </a:xfrm>
          <a:prstGeom prst="rect">
            <a:avLst/>
          </a:prstGeom>
          <a:noFill/>
        </p:spPr>
        <p:txBody>
          <a:bodyPr wrap="square" anchor="ctr" lIns="0" rIns="0" tIns="0" bIns="0">
            <a:spAutoFit/>
          </a:bodyPr>
          <a:lstStyle/>
          <a:p>
            <a:pPr algn="l">
              <a:spcAft>
                <a:spcPts val="600"/>
              </a:spcAft>
            </a:pPr>
            <a:r>
              <a:rPr sz="1400" b="0" i="0">
                <a:solidFill>
                  <a:srgbClr val="333333"/>
                </a:solidFill>
              </a:rPr>
              <a:t>Means of squared errors hide everything: use percentiles and per-band results.</a:t>
            </a:r>
          </a:p>
        </p:txBody>
      </p:sp>
      <p:sp>
        <p:nvSpPr>
          <p:cNvPr id="9" name="Oval 8"/>
          <p:cNvSpPr/>
          <p:nvPr/>
        </p:nvSpPr>
        <p:spPr>
          <a:xfrm>
            <a:off x="365760" y="2889504"/>
            <a:ext cx="420624" cy="420624"/>
          </a:xfrm>
          <a:prstGeom prst="ellipse">
            <a:avLst/>
          </a:prstGeom>
          <a:solidFill>
            <a:srgbClr val="57068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4</a:t>
            </a:r>
          </a:p>
        </p:txBody>
      </p:sp>
      <p:sp>
        <p:nvSpPr>
          <p:cNvPr id="10" name="TextBox 9"/>
          <p:cNvSpPr txBox="1"/>
          <p:nvPr/>
        </p:nvSpPr>
        <p:spPr>
          <a:xfrm>
            <a:off x="1005840" y="2944368"/>
            <a:ext cx="7680960" cy="457200"/>
          </a:xfrm>
          <a:prstGeom prst="rect">
            <a:avLst/>
          </a:prstGeom>
          <a:noFill/>
        </p:spPr>
        <p:txBody>
          <a:bodyPr wrap="square" anchor="ctr" lIns="0" rIns="0" tIns="0" bIns="0">
            <a:spAutoFit/>
          </a:bodyPr>
          <a:lstStyle/>
          <a:p>
            <a:pPr algn="l">
              <a:spcAft>
                <a:spcPts val="600"/>
              </a:spcAft>
            </a:pPr>
            <a:r>
              <a:rPr sz="1400" b="0" i="0">
                <a:solidFill>
                  <a:srgbClr val="333333"/>
                </a:solidFill>
              </a:rPr>
              <a:t>176k parameters suffice; more capacity doesn't recover multi-peaked DEMs.</a:t>
            </a:r>
          </a:p>
        </p:txBody>
      </p:sp>
      <p:sp>
        <p:nvSpPr>
          <p:cNvPr id="11" name="Oval 10"/>
          <p:cNvSpPr/>
          <p:nvPr/>
        </p:nvSpPr>
        <p:spPr>
          <a:xfrm>
            <a:off x="365760" y="3547872"/>
            <a:ext cx="420624" cy="420624"/>
          </a:xfrm>
          <a:prstGeom prst="ellipse">
            <a:avLst/>
          </a:prstGeom>
          <a:solidFill>
            <a:srgbClr val="57068C"/>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5</a:t>
            </a:r>
          </a:p>
        </p:txBody>
      </p:sp>
      <p:sp>
        <p:nvSpPr>
          <p:cNvPr id="12" name="TextBox 11"/>
          <p:cNvSpPr txBox="1"/>
          <p:nvPr/>
        </p:nvSpPr>
        <p:spPr>
          <a:xfrm>
            <a:off x="1005840" y="3602736"/>
            <a:ext cx="7680960" cy="457200"/>
          </a:xfrm>
          <a:prstGeom prst="rect">
            <a:avLst/>
          </a:prstGeom>
          <a:noFill/>
        </p:spPr>
        <p:txBody>
          <a:bodyPr wrap="square" anchor="ctr" lIns="0" rIns="0" tIns="0" bIns="0">
            <a:spAutoFit/>
          </a:bodyPr>
          <a:lstStyle/>
          <a:p>
            <a:pPr algn="l">
              <a:spcAft>
                <a:spcPts val="600"/>
              </a:spcAft>
            </a:pPr>
            <a:r>
              <a:rPr sz="1400" b="0" i="0">
                <a:solidFill>
                  <a:srgbClr val="333333"/>
                </a:solidFill>
              </a:rPr>
              <a:t>The remaining gap is narrow and diagnosed: flare cores, a training problem.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5176" y="219456"/>
            <a:ext cx="8503920" cy="566928"/>
          </a:xfrm>
          <a:prstGeom prst="rect">
            <a:avLst/>
          </a:prstGeom>
          <a:noFill/>
        </p:spPr>
        <p:txBody>
          <a:bodyPr wrap="square" anchor="t" lIns="0" rIns="0" tIns="0" bIns="0">
            <a:spAutoFit/>
          </a:bodyPr>
          <a:lstStyle/>
          <a:p>
            <a:pPr algn="l">
              <a:spcAft>
                <a:spcPts val="600"/>
              </a:spcAft>
            </a:pPr>
            <a:r>
              <a:rPr sz="2000" b="1" i="0">
                <a:solidFill>
                  <a:srgbClr val="57068C"/>
                </a:solidFill>
              </a:rPr>
              <a:t>Next</a:t>
            </a:r>
          </a:p>
        </p:txBody>
      </p:sp>
      <p:sp>
        <p:nvSpPr>
          <p:cNvPr id="3" name="Rounded Rectangle 2"/>
          <p:cNvSpPr/>
          <p:nvPr/>
        </p:nvSpPr>
        <p:spPr>
          <a:xfrm>
            <a:off x="365760" y="914400"/>
            <a:ext cx="2651760" cy="2286000"/>
          </a:xfrm>
          <a:prstGeom prst="roundRect">
            <a:avLst>
              <a:gd name="adj" fmla="val 6000"/>
            </a:avLst>
          </a:prstGeom>
          <a:solidFill>
            <a:srgbClr val="570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97280"/>
            <a:ext cx="2249424" cy="411480"/>
          </a:xfrm>
          <a:prstGeom prst="rect">
            <a:avLst/>
          </a:prstGeom>
          <a:noFill/>
        </p:spPr>
        <p:txBody>
          <a:bodyPr wrap="square" anchor="t" lIns="0" rIns="0" tIns="0" bIns="0">
            <a:spAutoFit/>
          </a:bodyPr>
          <a:lstStyle/>
          <a:p>
            <a:pPr algn="l">
              <a:spcAft>
                <a:spcPts val="600"/>
              </a:spcAft>
            </a:pPr>
            <a:r>
              <a:rPr sz="1500" b="1" i="0">
                <a:solidFill>
                  <a:srgbClr val="FFFFFF"/>
                </a:solidFill>
              </a:rPr>
              <a:t>Running now</a:t>
            </a:r>
          </a:p>
        </p:txBody>
      </p:sp>
      <p:sp>
        <p:nvSpPr>
          <p:cNvPr id="5" name="TextBox 4"/>
          <p:cNvSpPr txBox="1"/>
          <p:nvPr/>
        </p:nvSpPr>
        <p:spPr>
          <a:xfrm>
            <a:off x="566928" y="1600200"/>
            <a:ext cx="2249424" cy="2194560"/>
          </a:xfrm>
          <a:prstGeom prst="rect">
            <a:avLst/>
          </a:prstGeom>
          <a:noFill/>
        </p:spPr>
        <p:txBody>
          <a:bodyPr wrap="square" anchor="t" lIns="0" rIns="0" tIns="0" bIns="0">
            <a:spAutoFit/>
          </a:bodyPr>
          <a:lstStyle/>
          <a:p>
            <a:pPr algn="l" marL="182880" indent="-182880">
              <a:spcAft>
                <a:spcPts val="1000"/>
              </a:spcAft>
              <a:buClr>
                <a:srgbClr val="FFFFFF"/>
              </a:buClr>
              <a:buChar char="•"/>
            </a:pPr>
            <a:r>
              <a:rPr sz="1200" b="0" i="0">
                <a:solidFill>
                  <a:srgbClr val="FFFFFF"/>
                </a:solidFill>
              </a:rPr>
              <a:t>Production model with the supervised input path: √intensity + Fourier features.</a:t>
            </a:r>
          </a:p>
          <a:p>
            <a:pPr algn="l" marL="182880" indent="-182880">
              <a:spcAft>
                <a:spcPts val="1000"/>
              </a:spcAft>
              <a:buClr>
                <a:srgbClr val="FFFFFF"/>
              </a:buClr>
              <a:buChar char="•"/>
            </a:pPr>
            <a:r>
              <a:rPr sz="1200" b="0" i="0">
                <a:solidFill>
                  <a:srgbClr val="FFFFFF"/>
                </a:solidFill>
              </a:rPr>
              <a:t>Target: flare-core 94 Å fit from 0.24 toward 0.92.</a:t>
            </a:r>
          </a:p>
        </p:txBody>
      </p:sp>
      <p:sp>
        <p:nvSpPr>
          <p:cNvPr id="6" name="Rounded Rectangle 5"/>
          <p:cNvSpPr/>
          <p:nvPr/>
        </p:nvSpPr>
        <p:spPr>
          <a:xfrm>
            <a:off x="3246120" y="914400"/>
            <a:ext cx="2651760" cy="228600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47288" y="1097280"/>
            <a:ext cx="2249424" cy="411480"/>
          </a:xfrm>
          <a:prstGeom prst="rect">
            <a:avLst/>
          </a:prstGeom>
          <a:noFill/>
        </p:spPr>
        <p:txBody>
          <a:bodyPr wrap="square" anchor="t" lIns="0" rIns="0" tIns="0" bIns="0">
            <a:spAutoFit/>
          </a:bodyPr>
          <a:lstStyle/>
          <a:p>
            <a:pPr algn="l">
              <a:spcAft>
                <a:spcPts val="600"/>
              </a:spcAft>
            </a:pPr>
            <a:r>
              <a:rPr sz="1500" b="1" i="0">
                <a:solidFill>
                  <a:srgbClr val="57068C"/>
                </a:solidFill>
              </a:rPr>
              <a:t>Then</a:t>
            </a:r>
          </a:p>
        </p:txBody>
      </p:sp>
      <p:sp>
        <p:nvSpPr>
          <p:cNvPr id="8" name="TextBox 7"/>
          <p:cNvSpPr txBox="1"/>
          <p:nvPr/>
        </p:nvSpPr>
        <p:spPr>
          <a:xfrm>
            <a:off x="3447288" y="1600200"/>
            <a:ext cx="2249424" cy="2194560"/>
          </a:xfrm>
          <a:prstGeom prst="rect">
            <a:avLst/>
          </a:prstGeom>
          <a:noFill/>
        </p:spPr>
        <p:txBody>
          <a:bodyPr wrap="square" anchor="t" lIns="0" rIns="0" tIns="0" bIns="0">
            <a:spAutoFit/>
          </a:bodyPr>
          <a:lstStyle/>
          <a:p>
            <a:pPr algn="l" marL="182880" indent="-182880">
              <a:spcAft>
                <a:spcPts val="1000"/>
              </a:spcAft>
              <a:buClr>
                <a:srgbClr val="333333"/>
              </a:buClr>
              <a:buChar char="•"/>
            </a:pPr>
            <a:r>
              <a:rPr sz="1200" b="0" i="0">
                <a:solidFill>
                  <a:srgbClr val="333333"/>
                </a:solidFill>
              </a:rPr>
              <a:t>If needed, oversample or up-weight flare-core pixels.</a:t>
            </a:r>
          </a:p>
          <a:p>
            <a:pPr algn="l" marL="182880" indent="-182880">
              <a:spcAft>
                <a:spcPts val="1000"/>
              </a:spcAft>
              <a:buClr>
                <a:srgbClr val="333333"/>
              </a:buClr>
              <a:buChar char="•"/>
            </a:pPr>
            <a:r>
              <a:rPr sz="1200" b="0" i="0">
                <a:solidFill>
                  <a:srgbClr val="333333"/>
                </a:solidFill>
              </a:rPr>
              <a:t>Report by brightness band plus the median.</a:t>
            </a:r>
          </a:p>
        </p:txBody>
      </p:sp>
      <p:sp>
        <p:nvSpPr>
          <p:cNvPr id="9" name="Rounded Rectangle 8"/>
          <p:cNvSpPr/>
          <p:nvPr/>
        </p:nvSpPr>
        <p:spPr>
          <a:xfrm>
            <a:off x="6126480" y="914400"/>
            <a:ext cx="2651760" cy="2286000"/>
          </a:xfrm>
          <a:prstGeom prst="roundRect">
            <a:avLst>
              <a:gd name="adj" fmla="val 6000"/>
            </a:avLst>
          </a:prstGeom>
          <a:solidFill>
            <a:srgbClr val="F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7648" y="1097280"/>
            <a:ext cx="2249424" cy="411480"/>
          </a:xfrm>
          <a:prstGeom prst="rect">
            <a:avLst/>
          </a:prstGeom>
          <a:noFill/>
        </p:spPr>
        <p:txBody>
          <a:bodyPr wrap="square" anchor="t" lIns="0" rIns="0" tIns="0" bIns="0">
            <a:spAutoFit/>
          </a:bodyPr>
          <a:lstStyle/>
          <a:p>
            <a:pPr algn="l">
              <a:spcAft>
                <a:spcPts val="600"/>
              </a:spcAft>
            </a:pPr>
            <a:r>
              <a:rPr sz="1500" b="1" i="0">
                <a:solidFill>
                  <a:srgbClr val="57068C"/>
                </a:solidFill>
              </a:rPr>
              <a:t>For discussion</a:t>
            </a:r>
          </a:p>
        </p:txBody>
      </p:sp>
      <p:sp>
        <p:nvSpPr>
          <p:cNvPr id="11" name="TextBox 10"/>
          <p:cNvSpPr txBox="1"/>
          <p:nvPr/>
        </p:nvSpPr>
        <p:spPr>
          <a:xfrm>
            <a:off x="6327648" y="1600200"/>
            <a:ext cx="2249424" cy="2194560"/>
          </a:xfrm>
          <a:prstGeom prst="rect">
            <a:avLst/>
          </a:prstGeom>
          <a:noFill/>
        </p:spPr>
        <p:txBody>
          <a:bodyPr wrap="square" anchor="t" lIns="0" rIns="0" tIns="0" bIns="0">
            <a:spAutoFit/>
          </a:bodyPr>
          <a:lstStyle/>
          <a:p>
            <a:pPr algn="l" marL="182880" indent="-182880">
              <a:spcAft>
                <a:spcPts val="1000"/>
              </a:spcAft>
              <a:buClr>
                <a:srgbClr val="333333"/>
              </a:buClr>
              <a:buChar char="•"/>
            </a:pPr>
            <a:r>
              <a:rPr sz="1200" b="0" i="0">
                <a:solidFill>
                  <a:srgbClr val="333333"/>
                </a:solidFill>
              </a:rPr>
              <a:t>Should the headline stay plain MSE?</a:t>
            </a:r>
          </a:p>
          <a:p>
            <a:pPr algn="l" marL="182880" indent="-182880">
              <a:spcAft>
                <a:spcPts val="1000"/>
              </a:spcAft>
              <a:buClr>
                <a:srgbClr val="333333"/>
              </a:buClr>
              <a:buChar char="•"/>
            </a:pPr>
            <a:r>
              <a:rPr sz="1200" b="0" i="0">
                <a:solidFill>
                  <a:srgbClr val="333333"/>
                </a:solidFill>
              </a:rPr>
              <a:t>Do flare cores matter for the science use?</a:t>
            </a:r>
          </a:p>
        </p:txBody>
      </p:sp>
    </p:spTree>
  </p:cSld>
  <p:clrMapOvr>
    <a:masterClrMapping/>
  </p:clrMapOvr>
</p:sld>
</file>

<file path=ppt/theme/theme1.xml><?xml version="1.0" encoding="utf-8"?>
<a:theme xmlns:a="http://schemas.openxmlformats.org/drawingml/2006/main" xmlns:r="http://schemas.openxmlformats.org/officeDocument/2006/relationships" name="NYU Elegant">
  <a:themeElements>
    <a:clrScheme name="Simple Light">
      <a:dk1>
        <a:srgbClr val="57068C"/>
      </a:dk1>
      <a:lt1>
        <a:srgbClr val="FFFFFF"/>
      </a:lt1>
      <a:dk2>
        <a:srgbClr val="333333"/>
      </a:dk2>
      <a:lt2>
        <a:srgbClr val="E3DFE9"/>
      </a:lt2>
      <a:accent1>
        <a:srgbClr val="9A6ABA"/>
      </a:accent1>
      <a:accent2>
        <a:srgbClr val="330662"/>
      </a:accent2>
      <a:accent3>
        <a:srgbClr val="007E8A"/>
      </a:accent3>
      <a:accent4>
        <a:srgbClr val="E97300"/>
      </a:accent4>
      <a:accent5>
        <a:srgbClr val="799A05"/>
      </a:accent5>
      <a:accent6>
        <a:srgbClr val="C50F3C"/>
      </a:accent6>
      <a:hlink>
        <a:srgbClr val="5706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